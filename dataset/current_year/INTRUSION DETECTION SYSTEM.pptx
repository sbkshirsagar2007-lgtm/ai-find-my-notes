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60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-12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22436838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21994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288647716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8179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08472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44116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4807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2601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4038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02679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40498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46606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25939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48250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83657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78726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51288062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E2B373D-9BB0-4BCC-9508-B247367DDC0A}" type="datetimeFigureOut">
              <a:rPr lang="en-IN" smtClean="0"/>
              <a:pPr/>
              <a:t>17-10-2023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ADD2AC9-1EDA-4437-8929-D097ADD95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85515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0"/>
            <a:ext cx="8676222" cy="3614669"/>
          </a:xfrm>
        </p:spPr>
        <p:txBody>
          <a:bodyPr/>
          <a:lstStyle/>
          <a:p>
            <a:r>
              <a:rPr lang="en-US" sz="6600" dirty="0" smtClean="0"/>
              <a:t>INTRUSION      	DETECTION SYSTEM</a:t>
            </a:r>
            <a:r>
              <a:rPr lang="en-US" dirty="0" smtClean="0"/>
              <a:t>											</a:t>
            </a:r>
            <a:r>
              <a:rPr lang="en-US" sz="3200" dirty="0" smtClean="0"/>
              <a:t>and honey pots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4224269"/>
            <a:ext cx="8676222" cy="1905000"/>
          </a:xfrm>
        </p:spPr>
        <p:txBody>
          <a:bodyPr/>
          <a:lstStyle/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r>
              <a:rPr lang="en-US" dirty="0" smtClean="0"/>
              <a:t>-SS19CO002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87810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intrusion?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514599"/>
            <a:ext cx="9905998" cy="3276601"/>
          </a:xfrm>
        </p:spPr>
        <p:txBody>
          <a:bodyPr anchor="t" anchorCtr="0"/>
          <a:lstStyle/>
          <a:p>
            <a:r>
              <a:rPr lang="en-IN" dirty="0">
                <a:effectLst/>
              </a:rPr>
              <a:t>Computer intrusions occur when someone tries to gain access to any part of your computer system</a:t>
            </a:r>
            <a:r>
              <a:rPr lang="en-IN" dirty="0" smtClean="0">
                <a:effectLst/>
              </a:rPr>
              <a:t>.</a:t>
            </a:r>
          </a:p>
          <a:p>
            <a:pPr marL="0" indent="0">
              <a:buNone/>
            </a:pPr>
            <a:endParaRPr lang="en-IN" dirty="0" smtClean="0">
              <a:effectLst/>
            </a:endParaRPr>
          </a:p>
          <a:p>
            <a:r>
              <a:rPr lang="en-US" dirty="0" smtClean="0"/>
              <a:t>This intrusion is done by intruders.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Outside Intruder  (Masquerader)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Inside Intruder     (Misfeasor)</a:t>
            </a:r>
          </a:p>
        </p:txBody>
      </p:sp>
    </p:spTree>
    <p:extLst>
      <p:ext uri="{BB962C8B-B14F-4D97-AF65-F5344CB8AC3E}">
        <p14:creationId xmlns="" xmlns:p14="http://schemas.microsoft.com/office/powerpoint/2010/main" val="20727733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63579"/>
          </a:xfrm>
        </p:spPr>
        <p:txBody>
          <a:bodyPr/>
          <a:lstStyle/>
          <a:p>
            <a:r>
              <a:rPr lang="en-US" dirty="0" smtClean="0"/>
              <a:t>Intruders can: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973179"/>
            <a:ext cx="9905998" cy="3818021"/>
          </a:xfrm>
        </p:spPr>
        <p:txBody>
          <a:bodyPr/>
          <a:lstStyle/>
          <a:p>
            <a:r>
              <a:rPr lang="en-IN" dirty="0" smtClean="0">
                <a:effectLst/>
              </a:rPr>
              <a:t>Access </a:t>
            </a:r>
            <a:r>
              <a:rPr lang="en-IN" dirty="0">
                <a:effectLst/>
              </a:rPr>
              <a:t>your computer to view, change, or delete information on your computer.</a:t>
            </a:r>
          </a:p>
          <a:p>
            <a:r>
              <a:rPr lang="en-IN" dirty="0">
                <a:effectLst/>
              </a:rPr>
              <a:t>Crash or slow down your computer.</a:t>
            </a:r>
          </a:p>
          <a:p>
            <a:r>
              <a:rPr lang="en-IN" dirty="0">
                <a:effectLst/>
              </a:rPr>
              <a:t>Access your private data by examining the files on your system.</a:t>
            </a:r>
          </a:p>
          <a:p>
            <a:r>
              <a:rPr lang="en-IN" dirty="0">
                <a:effectLst/>
              </a:rPr>
              <a:t>Use your computer to access other computers on the Internet.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990933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63579"/>
          </a:xfrm>
        </p:spPr>
        <p:txBody>
          <a:bodyPr>
            <a:normAutofit/>
          </a:bodyPr>
          <a:lstStyle/>
          <a:p>
            <a:r>
              <a:rPr lang="en-US" dirty="0" smtClean="0"/>
              <a:t>Intrusion detection system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165685"/>
            <a:ext cx="9905998" cy="4283241"/>
          </a:xfrm>
        </p:spPr>
        <p:txBody>
          <a:bodyPr anchor="t" anchorCtr="0">
            <a:normAutofit/>
          </a:bodyPr>
          <a:lstStyle/>
          <a:p>
            <a:r>
              <a:rPr lang="en-IN" dirty="0"/>
              <a:t>An intrusion detection system (IDS) is a device or software application that monitors a network for malicious activity or policy violations and issues alerts when such activity is discovered.</a:t>
            </a:r>
          </a:p>
          <a:p>
            <a:endParaRPr lang="en-US" dirty="0"/>
          </a:p>
          <a:p>
            <a:r>
              <a:rPr lang="en-US" dirty="0"/>
              <a:t>Malicious violations and ventures are </a:t>
            </a:r>
            <a:r>
              <a:rPr lang="en-US" dirty="0" smtClean="0"/>
              <a:t>reported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To </a:t>
            </a:r>
            <a:r>
              <a:rPr lang="en-US" dirty="0" smtClean="0"/>
              <a:t>administration</a:t>
            </a:r>
            <a:endParaRPr lang="en-US" dirty="0"/>
          </a:p>
          <a:p>
            <a:r>
              <a:rPr lang="en-IN" dirty="0">
                <a:effectLst/>
              </a:rPr>
              <a:t>Some IDS’s are capable of responding to detected intrusion upon discovery. These are classified as intrusion prevention systems (IPS).</a:t>
            </a:r>
            <a:endParaRPr lang="en-US" dirty="0" smtClean="0">
              <a:effectLst/>
            </a:endParaRPr>
          </a:p>
          <a:p>
            <a:endParaRPr lang="en-US" dirty="0" smtClean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239254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agram of Intrusion Detection System Stock Photo - Alam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23927" b="18577"/>
          <a:stretch/>
        </p:blipFill>
        <p:spPr bwMode="auto">
          <a:xfrm>
            <a:off x="1403797" y="391461"/>
            <a:ext cx="9195516" cy="609251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56447531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of intrusion detection systems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 marL="0" indent="0">
              <a:buNone/>
            </a:pPr>
            <a:r>
              <a:rPr lang="en-US" dirty="0" smtClean="0"/>
              <a:t>we Mainly have two types of Intrusion detection system:</a:t>
            </a:r>
          </a:p>
          <a:p>
            <a:pPr lvl="1"/>
            <a:r>
              <a:rPr lang="en-US" sz="2000" dirty="0" smtClean="0"/>
              <a:t>1)Network based intrusion detection system</a:t>
            </a:r>
          </a:p>
          <a:p>
            <a:pPr lvl="1"/>
            <a:r>
              <a:rPr lang="en-US" sz="2000" dirty="0" smtClean="0"/>
              <a:t>2)Host based intrusion detection system.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3424933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based intrusion detection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685675"/>
          </a:xfrm>
        </p:spPr>
        <p:txBody>
          <a:bodyPr anchor="t" anchorCtr="0">
            <a:normAutofit/>
          </a:bodyPr>
          <a:lstStyle/>
          <a:p>
            <a:r>
              <a:rPr lang="en-US" dirty="0" smtClean="0">
                <a:effectLst/>
              </a:rPr>
              <a:t>It is a Type of IDS based in network system.</a:t>
            </a:r>
            <a:endParaRPr lang="en-US" dirty="0" smtClean="0"/>
          </a:p>
          <a:p>
            <a:r>
              <a:rPr lang="en-US" dirty="0" smtClean="0">
                <a:solidFill>
                  <a:schemeClr val="accent1"/>
                </a:solidFill>
              </a:rPr>
              <a:t>what is network traffic?</a:t>
            </a:r>
          </a:p>
          <a:p>
            <a:r>
              <a:rPr lang="en-IN" dirty="0">
                <a:effectLst/>
              </a:rPr>
              <a:t>Network traffic is </a:t>
            </a:r>
            <a:r>
              <a:rPr lang="en-IN" b="1" dirty="0">
                <a:effectLst/>
              </a:rPr>
              <a:t>the amount of data moving across a computer network at any </a:t>
            </a:r>
            <a:r>
              <a:rPr lang="en-IN" b="1" dirty="0" smtClean="0">
                <a:effectLst/>
              </a:rPr>
              <a:t>given </a:t>
            </a:r>
            <a:r>
              <a:rPr lang="en-IN" b="1" dirty="0">
                <a:effectLst/>
              </a:rPr>
              <a:t>time</a:t>
            </a:r>
            <a:r>
              <a:rPr lang="en-IN" dirty="0" smtClean="0">
                <a:effectLst/>
              </a:rPr>
              <a:t>.</a:t>
            </a:r>
          </a:p>
          <a:p>
            <a:r>
              <a:rPr lang="en-IN" dirty="0">
                <a:effectLst/>
              </a:rPr>
              <a:t>NIDS is an intrusion detection system that </a:t>
            </a:r>
            <a:r>
              <a:rPr lang="en-IN" dirty="0" err="1">
                <a:effectLst/>
              </a:rPr>
              <a:t>analyzes</a:t>
            </a:r>
            <a:r>
              <a:rPr lang="en-IN" dirty="0">
                <a:effectLst/>
              </a:rPr>
              <a:t> incoming network traffic</a:t>
            </a:r>
          </a:p>
          <a:p>
            <a:r>
              <a:rPr lang="en-US" dirty="0">
                <a:effectLst/>
              </a:rPr>
              <a:t>Detects the malicious data Present in the packets</a:t>
            </a:r>
          </a:p>
          <a:p>
            <a:pPr lvl="1"/>
            <a:r>
              <a:rPr lang="en-US" dirty="0"/>
              <a:t>Captures the data</a:t>
            </a:r>
          </a:p>
          <a:p>
            <a:pPr lvl="1"/>
            <a:r>
              <a:rPr lang="en-US" dirty="0"/>
              <a:t>And Analyze it</a:t>
            </a:r>
            <a:r>
              <a:rPr lang="en-US" dirty="0" smtClean="0"/>
              <a:t>.</a:t>
            </a:r>
            <a:endParaRPr lang="en-IN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15094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in NIDS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en-IN" dirty="0" smtClean="0">
                <a:effectLst/>
              </a:rPr>
              <a:t>NIDS matches the captured traffic with the library of known attacks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Library of known attacks : </a:t>
            </a:r>
            <a:r>
              <a:rPr lang="en-US" dirty="0" smtClean="0"/>
              <a:t>Collection or list pf all known attacks on a computer network</a:t>
            </a:r>
          </a:p>
          <a:p>
            <a:r>
              <a:rPr lang="en-US" dirty="0" smtClean="0"/>
              <a:t>If match is found it means the intruder intended to do that specific attack on the system.</a:t>
            </a:r>
          </a:p>
          <a:p>
            <a:r>
              <a:rPr lang="en-IN" dirty="0">
                <a:effectLst/>
              </a:rPr>
              <a:t>Once an attack is identified or abnormal </a:t>
            </a:r>
            <a:r>
              <a:rPr lang="en-IN" dirty="0" smtClean="0">
                <a:effectLst/>
              </a:rPr>
              <a:t>behaviour </a:t>
            </a:r>
            <a:r>
              <a:rPr lang="en-IN" dirty="0">
                <a:effectLst/>
              </a:rPr>
              <a:t>is observed, the alert can be sent to the administrator. </a:t>
            </a:r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0476795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 of </a:t>
            </a:r>
            <a:r>
              <a:rPr lang="en-US" dirty="0" err="1" smtClean="0"/>
              <a:t>nids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en-US" dirty="0" smtClean="0"/>
              <a:t>Analysis very difficult in a busy network</a:t>
            </a:r>
          </a:p>
          <a:p>
            <a:r>
              <a:rPr lang="en-IN" dirty="0">
                <a:effectLst/>
              </a:rPr>
              <a:t>NIDSs cannot </a:t>
            </a:r>
            <a:r>
              <a:rPr lang="en-IN" dirty="0" err="1">
                <a:effectLst/>
              </a:rPr>
              <a:t>analyze</a:t>
            </a:r>
            <a:r>
              <a:rPr lang="en-IN" dirty="0">
                <a:effectLst/>
              </a:rPr>
              <a:t> encrypted information.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842820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 Based Intrusion detection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en-IN" dirty="0">
                <a:effectLst/>
              </a:rPr>
              <a:t> </a:t>
            </a:r>
            <a:r>
              <a:rPr lang="en-IN" dirty="0" smtClean="0">
                <a:effectLst/>
              </a:rPr>
              <a:t>Installed on an independent </a:t>
            </a:r>
            <a:r>
              <a:rPr lang="en-IN" dirty="0">
                <a:effectLst/>
              </a:rPr>
              <a:t>hosts or devices on the </a:t>
            </a:r>
            <a:r>
              <a:rPr lang="en-IN" dirty="0" smtClean="0">
                <a:effectLst/>
              </a:rPr>
              <a:t>network</a:t>
            </a:r>
          </a:p>
          <a:p>
            <a:r>
              <a:rPr lang="en-IN" dirty="0">
                <a:effectLst/>
              </a:rPr>
              <a:t>monitors the incoming and outgoing packets from the </a:t>
            </a:r>
            <a:r>
              <a:rPr lang="en-IN" dirty="0" smtClean="0">
                <a:effectLst/>
              </a:rPr>
              <a:t>device only</a:t>
            </a:r>
          </a:p>
          <a:p>
            <a:r>
              <a:rPr lang="en-IN" dirty="0" smtClean="0">
                <a:effectLst/>
              </a:rPr>
              <a:t>alerts </a:t>
            </a:r>
            <a:r>
              <a:rPr lang="en-IN" dirty="0">
                <a:effectLst/>
              </a:rPr>
              <a:t>the administrator if suspicious or malicious activity is detected</a:t>
            </a:r>
            <a:r>
              <a:rPr lang="en-IN" dirty="0" smtClean="0">
                <a:effectLst/>
              </a:rPr>
              <a:t>.</a:t>
            </a:r>
          </a:p>
          <a:p>
            <a:endParaRPr lang="en-US" dirty="0">
              <a:effectLst/>
            </a:endParaRPr>
          </a:p>
          <a:p>
            <a:endParaRPr lang="en-IN" dirty="0" smtClean="0">
              <a:effectLst/>
            </a:endParaRPr>
          </a:p>
          <a:p>
            <a:r>
              <a:rPr lang="en-US" dirty="0" smtClean="0">
                <a:solidFill>
                  <a:schemeClr val="accent2"/>
                </a:solidFill>
                <a:effectLst/>
              </a:rPr>
              <a:t>How this malicious activity is detected in HIDS?</a:t>
            </a:r>
          </a:p>
        </p:txBody>
      </p:sp>
    </p:spTree>
    <p:extLst>
      <p:ext uri="{BB962C8B-B14F-4D97-AF65-F5344CB8AC3E}">
        <p14:creationId xmlns="" xmlns:p14="http://schemas.microsoft.com/office/powerpoint/2010/main" val="136863149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IEM VS IDS: What&amp;#39;s The Difference? - PurpleSe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32" y="750659"/>
            <a:ext cx="9962148" cy="560370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319235" y="4103845"/>
            <a:ext cx="433159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It takes a snapshot of existing system files and compares it with the previous snapshot. If the analytical system files were edited or deleted, an alert is sent to the administrator to investigate</a:t>
            </a:r>
          </a:p>
        </p:txBody>
      </p:sp>
    </p:spTree>
    <p:extLst>
      <p:ext uri="{BB962C8B-B14F-4D97-AF65-F5344CB8AC3E}">
        <p14:creationId xmlns="" xmlns:p14="http://schemas.microsoft.com/office/powerpoint/2010/main" val="5018209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IDS (Host-Based Intrusion Detection System) - Bauman National Libra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122" y="964614"/>
            <a:ext cx="8266529" cy="5125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0575643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7735" y="1906073"/>
            <a:ext cx="1016143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</a:rPr>
              <a:t>Example of NIDS:</a:t>
            </a:r>
          </a:p>
          <a:p>
            <a:r>
              <a:rPr lang="en-IN" dirty="0"/>
              <a:t> An example of an NIDS is installing it on the subnet where firewalls are located in order to see if someone is trying crack the firewall</a:t>
            </a:r>
            <a:r>
              <a:rPr lang="en-IN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2800" dirty="0" smtClean="0">
                <a:solidFill>
                  <a:schemeClr val="accent1"/>
                </a:solidFill>
              </a:rPr>
              <a:t>Example of HIDS:</a:t>
            </a:r>
          </a:p>
          <a:p>
            <a:r>
              <a:rPr lang="en-IN" dirty="0"/>
              <a:t>An example of HIDS usage can be seen on mission critical machines, which are not expected to change their layout.</a:t>
            </a:r>
          </a:p>
        </p:txBody>
      </p:sp>
    </p:spTree>
    <p:extLst>
      <p:ext uri="{BB962C8B-B14F-4D97-AF65-F5344CB8AC3E}">
        <p14:creationId xmlns="" xmlns:p14="http://schemas.microsoft.com/office/powerpoint/2010/main" val="29348423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27519" y="1293373"/>
            <a:ext cx="4276301" cy="4078309"/>
          </a:xfrm>
        </p:spPr>
        <p:txBody>
          <a:bodyPr anchor="ctr" anchorCtr="0"/>
          <a:lstStyle/>
          <a:p>
            <a:r>
              <a:rPr lang="en-US" dirty="0" err="1" smtClean="0"/>
              <a:t>HoneyPot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sz="1600" dirty="0" smtClean="0">
                <a:solidFill>
                  <a:schemeClr val="tx1"/>
                </a:solidFill>
              </a:rPr>
              <a:t>-A trap to lure attackers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413164" y="9733208"/>
            <a:ext cx="5408424" cy="97818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098" name="Picture 2" descr="How to Set Up A Honeypot in 10 Minutes | by Johnny Chen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820" y="1339403"/>
            <a:ext cx="6383044" cy="398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47753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honeypot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r>
              <a:rPr lang="en-US" dirty="0" smtClean="0"/>
              <a:t>It is a </a:t>
            </a:r>
            <a:r>
              <a:rPr lang="en-IN" dirty="0" smtClean="0">
                <a:effectLst/>
              </a:rPr>
              <a:t>virtual </a:t>
            </a:r>
            <a:r>
              <a:rPr lang="en-IN" dirty="0">
                <a:effectLst/>
              </a:rPr>
              <a:t>trap to </a:t>
            </a:r>
            <a:r>
              <a:rPr lang="en-IN" dirty="0" smtClean="0">
                <a:effectLst/>
              </a:rPr>
              <a:t>lure attackers.</a:t>
            </a:r>
          </a:p>
          <a:p>
            <a:r>
              <a:rPr lang="en-IN" dirty="0" smtClean="0">
                <a:effectLst/>
              </a:rPr>
              <a:t>A compromised computer system that allows attackers to exploit vulnerabilities</a:t>
            </a:r>
          </a:p>
          <a:p>
            <a:r>
              <a:rPr lang="en-IN" dirty="0" smtClean="0">
                <a:effectLst/>
              </a:rPr>
              <a:t>To study them and  </a:t>
            </a:r>
            <a:r>
              <a:rPr lang="en-IN" dirty="0">
                <a:effectLst/>
              </a:rPr>
              <a:t>to improve </a:t>
            </a:r>
            <a:r>
              <a:rPr lang="en-IN" dirty="0" smtClean="0">
                <a:effectLst/>
              </a:rPr>
              <a:t>security </a:t>
            </a:r>
            <a:r>
              <a:rPr lang="en-IN" dirty="0">
                <a:effectLst/>
              </a:rPr>
              <a:t>policies. </a:t>
            </a:r>
            <a:endParaRPr lang="en-IN" dirty="0" smtClean="0">
              <a:effectLst/>
            </a:endParaRPr>
          </a:p>
          <a:p>
            <a:endParaRPr lang="en-US" dirty="0">
              <a:effectLst/>
            </a:endParaRPr>
          </a:p>
          <a:p>
            <a:endParaRPr lang="en-IN" dirty="0" smtClean="0">
              <a:effectLst/>
            </a:endParaRPr>
          </a:p>
          <a:p>
            <a:r>
              <a:rPr lang="en-IN" dirty="0" smtClean="0">
                <a:solidFill>
                  <a:schemeClr val="accent1"/>
                </a:solidFill>
                <a:effectLst/>
              </a:rPr>
              <a:t>We </a:t>
            </a:r>
            <a:r>
              <a:rPr lang="en-IN" dirty="0">
                <a:solidFill>
                  <a:schemeClr val="accent1"/>
                </a:solidFill>
                <a:effectLst/>
              </a:rPr>
              <a:t>can apply a honeypot to</a:t>
            </a:r>
            <a:r>
              <a:rPr lang="en-IN" dirty="0" smtClean="0">
                <a:solidFill>
                  <a:schemeClr val="accent1"/>
                </a:solidFill>
                <a:effectLst/>
              </a:rPr>
              <a:t> :</a:t>
            </a:r>
          </a:p>
        </p:txBody>
      </p:sp>
    </p:spTree>
    <p:extLst>
      <p:ext uri="{BB962C8B-B14F-4D97-AF65-F5344CB8AC3E}">
        <p14:creationId xmlns="" xmlns:p14="http://schemas.microsoft.com/office/powerpoint/2010/main" val="36390080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mprehensive Guide on Honeypo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736" y="760166"/>
            <a:ext cx="8829675" cy="52959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619998" y="913051"/>
            <a:ext cx="28247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</a:rPr>
              <a:t>computing resource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</a:rPr>
              <a:t>Software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</a:rPr>
              <a:t>Networks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</a:rPr>
              <a:t>File servers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</a:rPr>
              <a:t>routers</a:t>
            </a:r>
          </a:p>
        </p:txBody>
      </p:sp>
    </p:spTree>
    <p:extLst>
      <p:ext uri="{BB962C8B-B14F-4D97-AF65-F5344CB8AC3E}">
        <p14:creationId xmlns="" xmlns:p14="http://schemas.microsoft.com/office/powerpoint/2010/main" val="31990119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9726" y="1467852"/>
            <a:ext cx="9916443" cy="4283243"/>
          </a:xfrm>
        </p:spPr>
        <p:txBody>
          <a:bodyPr anchor="t" anchorCtr="0"/>
          <a:lstStyle/>
          <a:p>
            <a:r>
              <a:rPr lang="en-US" dirty="0" smtClean="0"/>
              <a:t>Used to understand attackers behavior pattern</a:t>
            </a:r>
          </a:p>
          <a:p>
            <a:endParaRPr lang="en-US" dirty="0" smtClean="0"/>
          </a:p>
          <a:p>
            <a:r>
              <a:rPr lang="en-IN" dirty="0">
                <a:effectLst/>
              </a:rPr>
              <a:t>Security teams can use honeypots to:</a:t>
            </a:r>
          </a:p>
          <a:p>
            <a:pPr lvl="1"/>
            <a:r>
              <a:rPr lang="en-IN" dirty="0">
                <a:effectLst/>
              </a:rPr>
              <a:t>investigate cybersecurity breaches</a:t>
            </a:r>
          </a:p>
          <a:p>
            <a:pPr lvl="1"/>
            <a:r>
              <a:rPr lang="en-IN" dirty="0">
                <a:effectLst/>
              </a:rPr>
              <a:t>collect intel on how cybercriminals operate</a:t>
            </a:r>
          </a:p>
          <a:p>
            <a:pPr lvl="1"/>
            <a:r>
              <a:rPr lang="en-IN" dirty="0">
                <a:effectLst/>
              </a:rPr>
              <a:t>reduce the risk of false positives, when compared to traditional cybersecurity measures</a:t>
            </a:r>
            <a:endParaRPr lang="en-IN" dirty="0"/>
          </a:p>
          <a:p>
            <a:endParaRPr lang="en-US" dirty="0" smtClean="0"/>
          </a:p>
          <a:p>
            <a:r>
              <a:rPr lang="en-IN" dirty="0" smtClean="0">
                <a:effectLst/>
              </a:rPr>
              <a:t>intended to look like legitimate, vulnerable systems to attract cybercriminals.</a:t>
            </a:r>
          </a:p>
        </p:txBody>
      </p:sp>
    </p:spTree>
    <p:extLst>
      <p:ext uri="{BB962C8B-B14F-4D97-AF65-F5344CB8AC3E}">
        <p14:creationId xmlns="" xmlns:p14="http://schemas.microsoft.com/office/powerpoint/2010/main" val="2663666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15453"/>
          </a:xfrm>
        </p:spPr>
        <p:txBody>
          <a:bodyPr/>
          <a:lstStyle/>
          <a:p>
            <a:r>
              <a:rPr lang="en-IN" dirty="0">
                <a:effectLst/>
              </a:rPr>
              <a:t>Production vs. Research Honeypots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636295"/>
            <a:ext cx="9905998" cy="4154905"/>
          </a:xfrm>
        </p:spPr>
        <p:txBody>
          <a:bodyPr anchor="t" anchorCtr="0"/>
          <a:lstStyle/>
          <a:p>
            <a:r>
              <a:rPr lang="en-IN" dirty="0">
                <a:effectLst/>
              </a:rPr>
              <a:t>There are two primary types of honeypot designs</a:t>
            </a:r>
            <a:r>
              <a:rPr lang="en-IN" dirty="0" smtClean="0">
                <a:effectLst/>
              </a:rPr>
              <a:t>:</a:t>
            </a:r>
          </a:p>
          <a:p>
            <a:endParaRPr lang="en-IN" dirty="0">
              <a:effectLst/>
            </a:endParaRPr>
          </a:p>
          <a:p>
            <a:r>
              <a:rPr lang="en-IN" b="1" dirty="0">
                <a:effectLst/>
              </a:rPr>
              <a:t>Production honeypots</a:t>
            </a:r>
            <a:r>
              <a:rPr lang="en-IN" dirty="0">
                <a:effectLst/>
              </a:rPr>
              <a:t>—serve as decoy systems inside fully operating networks and servers, often as part of an</a:t>
            </a:r>
            <a:r>
              <a:rPr lang="en-IN" sz="2400" b="1" dirty="0">
                <a:effectLst/>
              </a:rPr>
              <a:t> intrusion detection system (IDS). </a:t>
            </a:r>
            <a:endParaRPr lang="en-IN" sz="2400" b="1" dirty="0" smtClean="0">
              <a:effectLst/>
            </a:endParaRPr>
          </a:p>
          <a:p>
            <a:r>
              <a:rPr lang="en-IN" dirty="0" smtClean="0">
                <a:effectLst/>
              </a:rPr>
              <a:t>They </a:t>
            </a:r>
            <a:r>
              <a:rPr lang="en-IN" dirty="0">
                <a:effectLst/>
              </a:rPr>
              <a:t>deflect criminal attention from the real system </a:t>
            </a:r>
            <a:r>
              <a:rPr lang="en-IN" dirty="0" smtClean="0">
                <a:effectLst/>
              </a:rPr>
              <a:t>to analyse  </a:t>
            </a:r>
            <a:r>
              <a:rPr lang="en-IN" dirty="0">
                <a:effectLst/>
              </a:rPr>
              <a:t>malicious </a:t>
            </a:r>
            <a:r>
              <a:rPr lang="en-IN" dirty="0" smtClean="0">
                <a:effectLst/>
              </a:rPr>
              <a:t>activity.</a:t>
            </a:r>
          </a:p>
          <a:p>
            <a:endParaRPr lang="en-IN" dirty="0">
              <a:effectLst/>
            </a:endParaRPr>
          </a:p>
          <a:p>
            <a:r>
              <a:rPr lang="en-IN" b="1" dirty="0">
                <a:effectLst/>
              </a:rPr>
              <a:t>Research honeypots</a:t>
            </a:r>
            <a:r>
              <a:rPr lang="en-IN" dirty="0">
                <a:effectLst/>
              </a:rPr>
              <a:t>—used for educational purposes and security enhancement. They contain trackable data that you can trace when stolen to </a:t>
            </a:r>
            <a:r>
              <a:rPr lang="en-IN" dirty="0" err="1">
                <a:effectLst/>
              </a:rPr>
              <a:t>analyze</a:t>
            </a:r>
            <a:r>
              <a:rPr lang="en-IN" dirty="0">
                <a:effectLst/>
              </a:rPr>
              <a:t> the attack</a:t>
            </a:r>
            <a:r>
              <a:rPr lang="en-IN" dirty="0" smtClean="0">
                <a:effectLst/>
              </a:rPr>
              <a:t>.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411119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1556083"/>
          </a:xfrm>
        </p:spPr>
        <p:txBody>
          <a:bodyPr anchor="t" anchorCtr="0">
            <a:normAutofit fontScale="90000"/>
          </a:bodyPr>
          <a:lstStyle/>
          <a:p>
            <a:r>
              <a:rPr lang="en-IN" dirty="0">
                <a:effectLst/>
              </a:rPr>
              <a:t>Types of Honeypot Deployments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3768" y="2165683"/>
            <a:ext cx="10804357" cy="4259179"/>
          </a:xfrm>
        </p:spPr>
        <p:txBody>
          <a:bodyPr>
            <a:normAutofit/>
          </a:bodyPr>
          <a:lstStyle/>
          <a:p>
            <a:r>
              <a:rPr lang="en-IN" b="1" dirty="0">
                <a:effectLst/>
              </a:rPr>
              <a:t>Pure honeypots</a:t>
            </a:r>
            <a:r>
              <a:rPr lang="en-IN" dirty="0">
                <a:effectLst/>
              </a:rPr>
              <a:t>—complete production systems that monitor attacks through bug taps </a:t>
            </a:r>
            <a:r>
              <a:rPr lang="en-IN" dirty="0" smtClean="0">
                <a:effectLst/>
              </a:rPr>
              <a:t>on the </a:t>
            </a:r>
            <a:r>
              <a:rPr lang="en-IN" dirty="0">
                <a:effectLst/>
              </a:rPr>
              <a:t>link that connects the honeypot to the network. They are </a:t>
            </a:r>
            <a:r>
              <a:rPr lang="en-IN" dirty="0" smtClean="0">
                <a:effectLst/>
              </a:rPr>
              <a:t>unsophisticated.</a:t>
            </a:r>
          </a:p>
          <a:p>
            <a:r>
              <a:rPr lang="en-IN" b="1" dirty="0" smtClean="0">
                <a:effectLst/>
              </a:rPr>
              <a:t>Low-interaction honeypots</a:t>
            </a:r>
            <a:r>
              <a:rPr lang="en-IN" dirty="0" smtClean="0">
                <a:effectLst/>
              </a:rPr>
              <a:t>—imitate services and systems that frequently attract criminal attention. They offer a method for collecting data from blind attacks such as botnets and worms malware.</a:t>
            </a:r>
          </a:p>
          <a:p>
            <a:r>
              <a:rPr lang="en-IN" b="1" dirty="0" smtClean="0">
                <a:effectLst/>
              </a:rPr>
              <a:t>High-interaction </a:t>
            </a:r>
            <a:r>
              <a:rPr lang="en-IN" b="1" dirty="0">
                <a:effectLst/>
              </a:rPr>
              <a:t>honeypots</a:t>
            </a:r>
            <a:r>
              <a:rPr lang="en-IN" dirty="0">
                <a:effectLst/>
              </a:rPr>
              <a:t>—complex setups that behave like real production infrastructure. They don’t restrict the level of activity of a cybercriminal, providing extensive cybersecurity insights. However, they are higher-maintenance and require expertise and the use of additional technologies like virtual machines to ensure attackers cannot access the real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234741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Honey Pots limitations: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en-US" dirty="0" smtClean="0"/>
              <a:t>Cannot detect security breaches in legitimate systems</a:t>
            </a:r>
          </a:p>
          <a:p>
            <a:r>
              <a:rPr lang="en-US" dirty="0" smtClean="0"/>
              <a:t>Does not identify the attacker. </a:t>
            </a:r>
          </a:p>
          <a:p>
            <a:r>
              <a:rPr lang="en-US" dirty="0" smtClean="0"/>
              <a:t>After Successfully Exploiting honeypot an attacker can </a:t>
            </a:r>
            <a:r>
              <a:rPr lang="en-IN" dirty="0">
                <a:effectLst/>
              </a:rPr>
              <a:t>to infiltrate the real production network. 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60402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>
                <a:effectLst/>
              </a:rPr>
              <a:t>Honeynet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en-US" dirty="0" smtClean="0"/>
              <a:t>A Network of honeypots</a:t>
            </a:r>
          </a:p>
          <a:p>
            <a:r>
              <a:rPr lang="en-IN" dirty="0">
                <a:effectLst/>
              </a:rPr>
              <a:t>contains one or more honeypots</a:t>
            </a:r>
            <a:r>
              <a:rPr lang="en-IN" dirty="0" smtClean="0">
                <a:effectLst/>
              </a:rPr>
              <a:t>.</a:t>
            </a:r>
          </a:p>
          <a:p>
            <a:r>
              <a:rPr lang="en-IN" dirty="0" smtClean="0">
                <a:effectLst/>
              </a:rPr>
              <a:t>it </a:t>
            </a:r>
            <a:r>
              <a:rPr lang="en-IN" dirty="0">
                <a:effectLst/>
              </a:rPr>
              <a:t>looks like a real network and contains multiple systems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574897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 descr="What is a Honeypot | Honeynets, Spam Traps &amp;amp; more | Imper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52" y="821991"/>
            <a:ext cx="8831179" cy="56750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8121801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</a:t>
            </a:r>
            <a:r>
              <a:rPr lang="en-US" dirty="0" err="1" smtClean="0"/>
              <a:t>Honeynet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en-IN" dirty="0" smtClean="0">
                <a:effectLst/>
              </a:rPr>
              <a:t>it </a:t>
            </a:r>
            <a:r>
              <a:rPr lang="en-IN" dirty="0">
                <a:effectLst/>
              </a:rPr>
              <a:t>feels more like a real network, and has a larger catchment area.</a:t>
            </a:r>
          </a:p>
          <a:p>
            <a:r>
              <a:rPr lang="en-IN" dirty="0" smtClean="0">
                <a:effectLst/>
              </a:rPr>
              <a:t>better </a:t>
            </a:r>
            <a:r>
              <a:rPr lang="en-IN" dirty="0">
                <a:effectLst/>
              </a:rPr>
              <a:t>solution for </a:t>
            </a:r>
            <a:r>
              <a:rPr lang="en-IN" dirty="0" smtClean="0">
                <a:effectLst/>
              </a:rPr>
              <a:t>-</a:t>
            </a:r>
          </a:p>
          <a:p>
            <a:r>
              <a:rPr lang="en-IN" dirty="0" smtClean="0">
                <a:effectLst/>
              </a:rPr>
              <a:t>large</a:t>
            </a:r>
            <a:r>
              <a:rPr lang="en-IN" dirty="0">
                <a:effectLst/>
              </a:rPr>
              <a:t>, complex networks – it presents attackers with an alternative corporate network which can represent an attractive alternative to the real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20933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5771" y="4844716"/>
            <a:ext cx="3526840" cy="1580147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Thank you</a:t>
            </a:r>
            <a:endParaRPr lang="en-IN" sz="4400" b="1" dirty="0"/>
          </a:p>
        </p:txBody>
      </p:sp>
    </p:spTree>
    <p:extLst>
      <p:ext uri="{BB962C8B-B14F-4D97-AF65-F5344CB8AC3E}">
        <p14:creationId xmlns="" xmlns:p14="http://schemas.microsoft.com/office/powerpoint/2010/main" val="379771895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Custom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986</TotalTime>
  <Words>703</Words>
  <Application>Microsoft Office PowerPoint</Application>
  <PresentationFormat>Custom</PresentationFormat>
  <Paragraphs>103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Mesh</vt:lpstr>
      <vt:lpstr>INTRUSION       DETECTION SYSTEM           and honey pots</vt:lpstr>
      <vt:lpstr>What is intrusion?</vt:lpstr>
      <vt:lpstr>Intruders can:</vt:lpstr>
      <vt:lpstr>Intrusion detection system</vt:lpstr>
      <vt:lpstr>Slide 5</vt:lpstr>
      <vt:lpstr>Type of intrusion detection systems</vt:lpstr>
      <vt:lpstr>Network based intrusion detection system</vt:lpstr>
      <vt:lpstr>Analysis in NIDS</vt:lpstr>
      <vt:lpstr>Disadvantage of nids</vt:lpstr>
      <vt:lpstr>Host Based Intrusion detection system</vt:lpstr>
      <vt:lpstr>Slide 11</vt:lpstr>
      <vt:lpstr>Slide 12</vt:lpstr>
      <vt:lpstr>Slide 13</vt:lpstr>
      <vt:lpstr>HoneyPot   -A trap to lure attackers</vt:lpstr>
      <vt:lpstr>What is a honeypot</vt:lpstr>
      <vt:lpstr>Slide 16</vt:lpstr>
      <vt:lpstr>Slide 17</vt:lpstr>
      <vt:lpstr>Production vs. Research Honeypots </vt:lpstr>
      <vt:lpstr>Types of Honeypot Deployments </vt:lpstr>
      <vt:lpstr>Honey Pots limitations:</vt:lpstr>
      <vt:lpstr>Honeynet</vt:lpstr>
      <vt:lpstr>Slide 22</vt:lpstr>
      <vt:lpstr>Advantages of Honeynet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INTRUSION       DETECTION SYSTEM           and honey pots</dc:title>
  <dc:creator>Microsoft account</dc:creator>
  <cp:lastModifiedBy>admin</cp:lastModifiedBy>
  <cp:revision>41</cp:revision>
  <dcterms:created xsi:type="dcterms:W3CDTF">2021-11-19T15:21:13Z</dcterms:created>
  <dcterms:modified xsi:type="dcterms:W3CDTF">2023-10-17T07:41:54Z</dcterms:modified>
</cp:coreProperties>
</file>