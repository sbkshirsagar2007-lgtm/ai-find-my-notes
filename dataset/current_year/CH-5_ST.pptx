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83" r:id="rId4"/>
    <p:sldId id="303" r:id="rId5"/>
    <p:sldId id="304" r:id="rId6"/>
    <p:sldId id="305" r:id="rId7"/>
    <p:sldId id="306" r:id="rId8"/>
    <p:sldId id="307" r:id="rId9"/>
    <p:sldId id="308" r:id="rId10"/>
    <p:sldId id="309" r:id="rId11"/>
    <p:sldId id="310" r:id="rId12"/>
    <p:sldId id="311" r:id="rId13"/>
    <p:sldId id="312" r:id="rId14"/>
    <p:sldId id="313" r:id="rId15"/>
    <p:sldId id="314" r:id="rId16"/>
  </p:sldIdLst>
  <p:sldSz cx="10058400" cy="7772400"/>
  <p:notesSz cx="10058400" cy="77724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0" d="100"/>
          <a:sy n="70" d="100"/>
        </p:scale>
        <p:origin x="-2586" y="-75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4500" b="0" i="0">
                <a:solidFill>
                  <a:srgbClr val="93C500"/>
                </a:solidFill>
                <a:latin typeface="Verdana"/>
                <a:cs typeface="Verdana"/>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20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500" b="0" i="0">
                <a:solidFill>
                  <a:srgbClr val="93C500"/>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500" b="0" i="0">
                <a:solidFill>
                  <a:srgbClr val="93C500"/>
                </a:solidFill>
                <a:latin typeface="Verdana"/>
                <a:cs typeface="Verdana"/>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500" b="0" i="0">
                <a:solidFill>
                  <a:srgbClr val="93C500"/>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0058400" cy="7772400"/>
          </a:xfrm>
          <a:prstGeom prst="rect">
            <a:avLst/>
          </a:prstGeom>
        </p:spPr>
      </p:pic>
      <p:pic>
        <p:nvPicPr>
          <p:cNvPr id="17" name="bg object 17"/>
          <p:cNvPicPr/>
          <p:nvPr/>
        </p:nvPicPr>
        <p:blipFill>
          <a:blip r:embed="rId3" cstate="print"/>
          <a:stretch>
            <a:fillRect/>
          </a:stretch>
        </p:blipFill>
        <p:spPr>
          <a:xfrm>
            <a:off x="457200" y="457200"/>
            <a:ext cx="9144000" cy="3916679"/>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0058400" cy="7772400"/>
          </a:xfrm>
          <a:prstGeom prst="rect">
            <a:avLst/>
          </a:prstGeom>
        </p:spPr>
      </p:pic>
      <p:sp>
        <p:nvSpPr>
          <p:cNvPr id="17" name="bg object 17"/>
          <p:cNvSpPr/>
          <p:nvPr/>
        </p:nvSpPr>
        <p:spPr>
          <a:xfrm>
            <a:off x="1091209" y="0"/>
            <a:ext cx="1760220" cy="7772400"/>
          </a:xfrm>
          <a:custGeom>
            <a:avLst/>
            <a:gdLst/>
            <a:ahLst/>
            <a:cxnLst/>
            <a:rect l="l" t="t" r="r" b="b"/>
            <a:pathLst>
              <a:path w="1760220" h="7772400">
                <a:moveTo>
                  <a:pt x="1760220" y="0"/>
                </a:moveTo>
                <a:lnTo>
                  <a:pt x="0" y="0"/>
                </a:lnTo>
                <a:lnTo>
                  <a:pt x="0" y="7772400"/>
                </a:lnTo>
                <a:lnTo>
                  <a:pt x="1760220" y="7772400"/>
                </a:lnTo>
                <a:lnTo>
                  <a:pt x="1760220" y="0"/>
                </a:lnTo>
                <a:close/>
              </a:path>
            </a:pathLst>
          </a:custGeom>
          <a:solidFill>
            <a:srgbClr val="FFFFFF">
              <a:alpha val="10195"/>
            </a:srgbClr>
          </a:solidFill>
        </p:spPr>
        <p:txBody>
          <a:bodyPr wrap="square" lIns="0" tIns="0" rIns="0" bIns="0" rtlCol="0"/>
          <a:lstStyle/>
          <a:p>
            <a:endParaRPr/>
          </a:p>
        </p:txBody>
      </p:sp>
      <p:sp>
        <p:nvSpPr>
          <p:cNvPr id="18" name="bg object 18"/>
          <p:cNvSpPr/>
          <p:nvPr/>
        </p:nvSpPr>
        <p:spPr>
          <a:xfrm>
            <a:off x="85356" y="0"/>
            <a:ext cx="1089660" cy="7772400"/>
          </a:xfrm>
          <a:custGeom>
            <a:avLst/>
            <a:gdLst/>
            <a:ahLst/>
            <a:cxnLst/>
            <a:rect l="l" t="t" r="r" b="b"/>
            <a:pathLst>
              <a:path w="1089660" h="7772400">
                <a:moveTo>
                  <a:pt x="1089660" y="0"/>
                </a:moveTo>
                <a:lnTo>
                  <a:pt x="502920" y="0"/>
                </a:lnTo>
                <a:lnTo>
                  <a:pt x="251472" y="0"/>
                </a:lnTo>
                <a:lnTo>
                  <a:pt x="0" y="0"/>
                </a:lnTo>
                <a:lnTo>
                  <a:pt x="0" y="7772400"/>
                </a:lnTo>
                <a:lnTo>
                  <a:pt x="251472" y="7772400"/>
                </a:lnTo>
                <a:lnTo>
                  <a:pt x="502920" y="7772400"/>
                </a:lnTo>
                <a:lnTo>
                  <a:pt x="1089660" y="7772400"/>
                </a:lnTo>
                <a:lnTo>
                  <a:pt x="1089660" y="0"/>
                </a:lnTo>
                <a:close/>
              </a:path>
            </a:pathLst>
          </a:custGeom>
          <a:solidFill>
            <a:srgbClr val="FFFFFF">
              <a:alpha val="10195"/>
            </a:srgbClr>
          </a:solidFill>
        </p:spPr>
        <p:txBody>
          <a:bodyPr wrap="square" lIns="0" tIns="0" rIns="0" bIns="0" rtlCol="0"/>
          <a:lstStyle/>
          <a:p>
            <a:endParaRPr/>
          </a:p>
        </p:txBody>
      </p:sp>
      <p:sp>
        <p:nvSpPr>
          <p:cNvPr id="19" name="bg object 19"/>
          <p:cNvSpPr/>
          <p:nvPr/>
        </p:nvSpPr>
        <p:spPr>
          <a:xfrm>
            <a:off x="1556385" y="0"/>
            <a:ext cx="1760220" cy="7772400"/>
          </a:xfrm>
          <a:custGeom>
            <a:avLst/>
            <a:gdLst/>
            <a:ahLst/>
            <a:cxnLst/>
            <a:rect l="l" t="t" r="r" b="b"/>
            <a:pathLst>
              <a:path w="1760220" h="7772400">
                <a:moveTo>
                  <a:pt x="1760219" y="0"/>
                </a:moveTo>
                <a:lnTo>
                  <a:pt x="0" y="0"/>
                </a:lnTo>
                <a:lnTo>
                  <a:pt x="0" y="7772400"/>
                </a:lnTo>
                <a:lnTo>
                  <a:pt x="1760219" y="7772400"/>
                </a:lnTo>
                <a:lnTo>
                  <a:pt x="1760219" y="0"/>
                </a:lnTo>
                <a:close/>
              </a:path>
            </a:pathLst>
          </a:custGeom>
          <a:solidFill>
            <a:srgbClr val="FFFFFF">
              <a:alpha val="10195"/>
            </a:srgbClr>
          </a:solidFill>
        </p:spPr>
        <p:txBody>
          <a:bodyPr wrap="square" lIns="0" tIns="0" rIns="0" bIns="0" rtlCol="0"/>
          <a:lstStyle/>
          <a:p>
            <a:endParaRPr/>
          </a:p>
        </p:txBody>
      </p:sp>
      <p:sp>
        <p:nvSpPr>
          <p:cNvPr id="20" name="bg object 20"/>
          <p:cNvSpPr/>
          <p:nvPr/>
        </p:nvSpPr>
        <p:spPr>
          <a:xfrm>
            <a:off x="550570" y="0"/>
            <a:ext cx="1089660" cy="7772400"/>
          </a:xfrm>
          <a:custGeom>
            <a:avLst/>
            <a:gdLst/>
            <a:ahLst/>
            <a:cxnLst/>
            <a:rect l="l" t="t" r="r" b="b"/>
            <a:pathLst>
              <a:path w="1089660" h="7772400">
                <a:moveTo>
                  <a:pt x="1089647" y="0"/>
                </a:moveTo>
                <a:lnTo>
                  <a:pt x="502920" y="0"/>
                </a:lnTo>
                <a:lnTo>
                  <a:pt x="251460" y="0"/>
                </a:lnTo>
                <a:lnTo>
                  <a:pt x="0" y="0"/>
                </a:lnTo>
                <a:lnTo>
                  <a:pt x="0" y="7772400"/>
                </a:lnTo>
                <a:lnTo>
                  <a:pt x="251460" y="7772400"/>
                </a:lnTo>
                <a:lnTo>
                  <a:pt x="502920" y="7772400"/>
                </a:lnTo>
                <a:lnTo>
                  <a:pt x="1089647" y="7772400"/>
                </a:lnTo>
                <a:lnTo>
                  <a:pt x="1089647" y="0"/>
                </a:lnTo>
                <a:close/>
              </a:path>
            </a:pathLst>
          </a:custGeom>
          <a:solidFill>
            <a:srgbClr val="FFFFFF">
              <a:alpha val="10195"/>
            </a:srgbClr>
          </a:solidFill>
        </p:spPr>
        <p:txBody>
          <a:bodyPr wrap="square" lIns="0" tIns="0" rIns="0" bIns="0" rtlCol="0"/>
          <a:lstStyle/>
          <a:p>
            <a:endParaRPr/>
          </a:p>
        </p:txBody>
      </p:sp>
      <p:sp>
        <p:nvSpPr>
          <p:cNvPr id="21" name="bg object 21"/>
          <p:cNvSpPr/>
          <p:nvPr/>
        </p:nvSpPr>
        <p:spPr>
          <a:xfrm>
            <a:off x="7377683" y="0"/>
            <a:ext cx="1760220" cy="7772400"/>
          </a:xfrm>
          <a:custGeom>
            <a:avLst/>
            <a:gdLst/>
            <a:ahLst/>
            <a:cxnLst/>
            <a:rect l="l" t="t" r="r" b="b"/>
            <a:pathLst>
              <a:path w="1760220" h="7772400">
                <a:moveTo>
                  <a:pt x="1760220" y="0"/>
                </a:moveTo>
                <a:lnTo>
                  <a:pt x="0" y="0"/>
                </a:lnTo>
                <a:lnTo>
                  <a:pt x="0" y="7772400"/>
                </a:lnTo>
                <a:lnTo>
                  <a:pt x="1760220" y="7772400"/>
                </a:lnTo>
                <a:lnTo>
                  <a:pt x="1760220" y="0"/>
                </a:lnTo>
                <a:close/>
              </a:path>
            </a:pathLst>
          </a:custGeom>
          <a:solidFill>
            <a:srgbClr val="FFFFFF">
              <a:alpha val="10195"/>
            </a:srgbClr>
          </a:solidFill>
        </p:spPr>
        <p:txBody>
          <a:bodyPr wrap="square" lIns="0" tIns="0" rIns="0" bIns="0" rtlCol="0"/>
          <a:lstStyle/>
          <a:p>
            <a:endParaRPr/>
          </a:p>
        </p:txBody>
      </p:sp>
      <p:sp>
        <p:nvSpPr>
          <p:cNvPr id="22" name="bg object 22"/>
          <p:cNvSpPr/>
          <p:nvPr/>
        </p:nvSpPr>
        <p:spPr>
          <a:xfrm>
            <a:off x="9054084" y="0"/>
            <a:ext cx="1004569" cy="7772400"/>
          </a:xfrm>
          <a:custGeom>
            <a:avLst/>
            <a:gdLst/>
            <a:ahLst/>
            <a:cxnLst/>
            <a:rect l="l" t="t" r="r" b="b"/>
            <a:pathLst>
              <a:path w="1004570" h="7772400">
                <a:moveTo>
                  <a:pt x="1004316" y="0"/>
                </a:moveTo>
                <a:lnTo>
                  <a:pt x="838200" y="0"/>
                </a:lnTo>
                <a:lnTo>
                  <a:pt x="586740" y="0"/>
                </a:lnTo>
                <a:lnTo>
                  <a:pt x="0" y="0"/>
                </a:lnTo>
                <a:lnTo>
                  <a:pt x="0" y="7772400"/>
                </a:lnTo>
                <a:lnTo>
                  <a:pt x="586740" y="7772400"/>
                </a:lnTo>
                <a:lnTo>
                  <a:pt x="838200" y="7772400"/>
                </a:lnTo>
                <a:lnTo>
                  <a:pt x="1004316" y="7772400"/>
                </a:lnTo>
                <a:lnTo>
                  <a:pt x="1004316" y="0"/>
                </a:lnTo>
                <a:close/>
              </a:path>
            </a:pathLst>
          </a:custGeom>
          <a:solidFill>
            <a:srgbClr val="FFFFFF">
              <a:alpha val="10195"/>
            </a:srgbClr>
          </a:solidFill>
        </p:spPr>
        <p:txBody>
          <a:bodyPr wrap="square" lIns="0" tIns="0" rIns="0" bIns="0" rtlCol="0"/>
          <a:lstStyle/>
          <a:p>
            <a:endParaRPr/>
          </a:p>
        </p:txBody>
      </p:sp>
      <p:sp>
        <p:nvSpPr>
          <p:cNvPr id="23" name="bg object 23"/>
          <p:cNvSpPr/>
          <p:nvPr/>
        </p:nvSpPr>
        <p:spPr>
          <a:xfrm>
            <a:off x="4276344" y="0"/>
            <a:ext cx="3101340" cy="7772400"/>
          </a:xfrm>
          <a:custGeom>
            <a:avLst/>
            <a:gdLst/>
            <a:ahLst/>
            <a:cxnLst/>
            <a:rect l="l" t="t" r="r" b="b"/>
            <a:pathLst>
              <a:path w="3101340" h="7772400">
                <a:moveTo>
                  <a:pt x="3101340" y="0"/>
                </a:moveTo>
                <a:lnTo>
                  <a:pt x="0" y="0"/>
                </a:lnTo>
                <a:lnTo>
                  <a:pt x="0" y="7772400"/>
                </a:lnTo>
                <a:lnTo>
                  <a:pt x="3101340" y="7772400"/>
                </a:lnTo>
                <a:lnTo>
                  <a:pt x="3101340" y="0"/>
                </a:lnTo>
                <a:close/>
              </a:path>
            </a:pathLst>
          </a:custGeom>
          <a:solidFill>
            <a:srgbClr val="FFFFFF">
              <a:alpha val="10195"/>
            </a:srgbClr>
          </a:solidFill>
        </p:spPr>
        <p:txBody>
          <a:bodyPr wrap="square" lIns="0" tIns="0" rIns="0" bIns="0" rtlCol="0"/>
          <a:lstStyle/>
          <a:p>
            <a:endParaRPr/>
          </a:p>
        </p:txBody>
      </p:sp>
      <p:sp>
        <p:nvSpPr>
          <p:cNvPr id="24" name="bg object 24"/>
          <p:cNvSpPr/>
          <p:nvPr/>
        </p:nvSpPr>
        <p:spPr>
          <a:xfrm>
            <a:off x="3270491" y="0"/>
            <a:ext cx="1090295" cy="7772400"/>
          </a:xfrm>
          <a:custGeom>
            <a:avLst/>
            <a:gdLst/>
            <a:ahLst/>
            <a:cxnLst/>
            <a:rect l="l" t="t" r="r" b="b"/>
            <a:pathLst>
              <a:path w="1090295" h="7772400">
                <a:moveTo>
                  <a:pt x="1089672" y="0"/>
                </a:moveTo>
                <a:lnTo>
                  <a:pt x="502932" y="0"/>
                </a:lnTo>
                <a:lnTo>
                  <a:pt x="251472" y="0"/>
                </a:lnTo>
                <a:lnTo>
                  <a:pt x="0" y="0"/>
                </a:lnTo>
                <a:lnTo>
                  <a:pt x="0" y="7772400"/>
                </a:lnTo>
                <a:lnTo>
                  <a:pt x="251472" y="7772400"/>
                </a:lnTo>
                <a:lnTo>
                  <a:pt x="502932" y="7772400"/>
                </a:lnTo>
                <a:lnTo>
                  <a:pt x="1089672" y="7772400"/>
                </a:lnTo>
                <a:lnTo>
                  <a:pt x="1089672" y="0"/>
                </a:lnTo>
                <a:close/>
              </a:path>
            </a:pathLst>
          </a:custGeom>
          <a:solidFill>
            <a:srgbClr val="FFFFFF">
              <a:alpha val="10195"/>
            </a:srgbClr>
          </a:solidFill>
        </p:spPr>
        <p:txBody>
          <a:bodyPr wrap="square" lIns="0" tIns="0" rIns="0" bIns="0" rtlCol="0"/>
          <a:lstStyle/>
          <a:p>
            <a:endParaRPr/>
          </a:p>
        </p:txBody>
      </p:sp>
      <p:pic>
        <p:nvPicPr>
          <p:cNvPr id="25" name="bg object 25"/>
          <p:cNvPicPr/>
          <p:nvPr/>
        </p:nvPicPr>
        <p:blipFill>
          <a:blip r:embed="rId8" cstate="print"/>
          <a:stretch>
            <a:fillRect/>
          </a:stretch>
        </p:blipFill>
        <p:spPr>
          <a:xfrm>
            <a:off x="56062" y="252222"/>
            <a:ext cx="10008687" cy="7526528"/>
          </a:xfrm>
          <a:prstGeom prst="rect">
            <a:avLst/>
          </a:prstGeom>
        </p:spPr>
      </p:pic>
      <p:sp>
        <p:nvSpPr>
          <p:cNvPr id="26" name="bg object 26"/>
          <p:cNvSpPr/>
          <p:nvPr/>
        </p:nvSpPr>
        <p:spPr>
          <a:xfrm>
            <a:off x="502920" y="377952"/>
            <a:ext cx="9052560" cy="7010400"/>
          </a:xfrm>
          <a:custGeom>
            <a:avLst/>
            <a:gdLst/>
            <a:ahLst/>
            <a:cxnLst/>
            <a:rect l="l" t="t" r="r" b="b"/>
            <a:pathLst>
              <a:path w="9052560" h="7010400">
                <a:moveTo>
                  <a:pt x="9052560" y="0"/>
                </a:moveTo>
                <a:lnTo>
                  <a:pt x="0" y="0"/>
                </a:lnTo>
                <a:lnTo>
                  <a:pt x="0" y="7010400"/>
                </a:lnTo>
                <a:lnTo>
                  <a:pt x="9052560" y="7010400"/>
                </a:lnTo>
                <a:lnTo>
                  <a:pt x="9052560" y="0"/>
                </a:lnTo>
                <a:close/>
              </a:path>
            </a:pathLst>
          </a:custGeom>
          <a:solidFill>
            <a:srgbClr val="FFFFFF"/>
          </a:solidFill>
        </p:spPr>
        <p:txBody>
          <a:bodyPr wrap="square" lIns="0" tIns="0" rIns="0" bIns="0" rtlCol="0"/>
          <a:lstStyle/>
          <a:p>
            <a:endParaRPr/>
          </a:p>
        </p:txBody>
      </p:sp>
      <p:sp>
        <p:nvSpPr>
          <p:cNvPr id="27" name="bg object 27"/>
          <p:cNvSpPr/>
          <p:nvPr/>
        </p:nvSpPr>
        <p:spPr>
          <a:xfrm>
            <a:off x="502920" y="377952"/>
            <a:ext cx="9052560" cy="7010400"/>
          </a:xfrm>
          <a:custGeom>
            <a:avLst/>
            <a:gdLst/>
            <a:ahLst/>
            <a:cxnLst/>
            <a:rect l="l" t="t" r="r" b="b"/>
            <a:pathLst>
              <a:path w="9052560" h="7010400">
                <a:moveTo>
                  <a:pt x="0" y="7010400"/>
                </a:moveTo>
                <a:lnTo>
                  <a:pt x="9052560" y="7010400"/>
                </a:lnTo>
                <a:lnTo>
                  <a:pt x="9052560" y="0"/>
                </a:lnTo>
                <a:lnTo>
                  <a:pt x="0" y="0"/>
                </a:lnTo>
                <a:lnTo>
                  <a:pt x="0" y="7010400"/>
                </a:lnTo>
                <a:close/>
              </a:path>
            </a:pathLst>
          </a:custGeom>
          <a:ln w="6350">
            <a:solidFill>
              <a:srgbClr val="000000"/>
            </a:solidFill>
          </a:ln>
        </p:spPr>
        <p:txBody>
          <a:bodyPr wrap="square" lIns="0" tIns="0" rIns="0" bIns="0" rtlCol="0"/>
          <a:lstStyle/>
          <a:p>
            <a:endParaRPr/>
          </a:p>
        </p:txBody>
      </p:sp>
      <p:sp>
        <p:nvSpPr>
          <p:cNvPr id="28" name="bg object 28"/>
          <p:cNvSpPr/>
          <p:nvPr/>
        </p:nvSpPr>
        <p:spPr>
          <a:xfrm>
            <a:off x="5017389" y="0"/>
            <a:ext cx="4047490" cy="768350"/>
          </a:xfrm>
          <a:custGeom>
            <a:avLst/>
            <a:gdLst/>
            <a:ahLst/>
            <a:cxnLst/>
            <a:rect l="l" t="t" r="r" b="b"/>
            <a:pathLst>
              <a:path w="4047490" h="768350">
                <a:moveTo>
                  <a:pt x="4046982" y="0"/>
                </a:moveTo>
                <a:lnTo>
                  <a:pt x="0" y="0"/>
                </a:lnTo>
                <a:lnTo>
                  <a:pt x="0" y="768096"/>
                </a:lnTo>
                <a:lnTo>
                  <a:pt x="4046982" y="768096"/>
                </a:lnTo>
                <a:lnTo>
                  <a:pt x="4046982" y="0"/>
                </a:lnTo>
                <a:close/>
              </a:path>
            </a:pathLst>
          </a:custGeom>
          <a:solidFill>
            <a:srgbClr val="F5F5F5"/>
          </a:solidFill>
        </p:spPr>
        <p:txBody>
          <a:bodyPr wrap="square" lIns="0" tIns="0" rIns="0" bIns="0" rtlCol="0"/>
          <a:lstStyle/>
          <a:p>
            <a:endParaRPr/>
          </a:p>
        </p:txBody>
      </p:sp>
      <p:sp>
        <p:nvSpPr>
          <p:cNvPr id="29" name="bg object 29"/>
          <p:cNvSpPr/>
          <p:nvPr/>
        </p:nvSpPr>
        <p:spPr>
          <a:xfrm>
            <a:off x="5017389" y="0"/>
            <a:ext cx="4047490" cy="768350"/>
          </a:xfrm>
          <a:custGeom>
            <a:avLst/>
            <a:gdLst/>
            <a:ahLst/>
            <a:cxnLst/>
            <a:rect l="l" t="t" r="r" b="b"/>
            <a:pathLst>
              <a:path w="4047490" h="768350">
                <a:moveTo>
                  <a:pt x="0" y="0"/>
                </a:moveTo>
                <a:lnTo>
                  <a:pt x="0" y="768096"/>
                </a:lnTo>
                <a:lnTo>
                  <a:pt x="4046982" y="768096"/>
                </a:lnTo>
                <a:lnTo>
                  <a:pt x="4046982" y="0"/>
                </a:lnTo>
              </a:path>
            </a:pathLst>
          </a:custGeom>
          <a:ln w="15874">
            <a:solidFill>
              <a:srgbClr val="74A40F"/>
            </a:solidFill>
          </a:ln>
        </p:spPr>
        <p:txBody>
          <a:bodyPr wrap="square" lIns="0" tIns="0" rIns="0" bIns="0" rtlCol="0"/>
          <a:lstStyle/>
          <a:p>
            <a:endParaRPr/>
          </a:p>
        </p:txBody>
      </p:sp>
      <p:sp>
        <p:nvSpPr>
          <p:cNvPr id="30" name="bg object 30"/>
          <p:cNvSpPr/>
          <p:nvPr/>
        </p:nvSpPr>
        <p:spPr>
          <a:xfrm>
            <a:off x="5114035" y="0"/>
            <a:ext cx="3855720" cy="683260"/>
          </a:xfrm>
          <a:custGeom>
            <a:avLst/>
            <a:gdLst/>
            <a:ahLst/>
            <a:cxnLst/>
            <a:rect l="l" t="t" r="r" b="b"/>
            <a:pathLst>
              <a:path w="3855720" h="683260">
                <a:moveTo>
                  <a:pt x="3855719" y="0"/>
                </a:moveTo>
                <a:lnTo>
                  <a:pt x="0" y="0"/>
                </a:lnTo>
                <a:lnTo>
                  <a:pt x="0" y="682751"/>
                </a:lnTo>
                <a:lnTo>
                  <a:pt x="3855719" y="682751"/>
                </a:lnTo>
                <a:lnTo>
                  <a:pt x="3855719" y="0"/>
                </a:lnTo>
                <a:close/>
              </a:path>
            </a:pathLst>
          </a:custGeom>
          <a:solidFill>
            <a:srgbClr val="70685A"/>
          </a:solidFill>
        </p:spPr>
        <p:txBody>
          <a:bodyPr wrap="square" lIns="0" tIns="0" rIns="0" bIns="0" rtlCol="0"/>
          <a:lstStyle/>
          <a:p>
            <a:endParaRPr/>
          </a:p>
        </p:txBody>
      </p:sp>
      <p:sp>
        <p:nvSpPr>
          <p:cNvPr id="2" name="Holder 2"/>
          <p:cNvSpPr>
            <a:spLocks noGrp="1"/>
          </p:cNvSpPr>
          <p:nvPr>
            <p:ph type="title"/>
          </p:nvPr>
        </p:nvSpPr>
        <p:spPr>
          <a:xfrm>
            <a:off x="825500" y="424434"/>
            <a:ext cx="8407400" cy="1052194"/>
          </a:xfrm>
          <a:prstGeom prst="rect">
            <a:avLst/>
          </a:prstGeom>
        </p:spPr>
        <p:txBody>
          <a:bodyPr wrap="square" lIns="0" tIns="0" rIns="0" bIns="0">
            <a:spAutoFit/>
          </a:bodyPr>
          <a:lstStyle>
            <a:lvl1pPr>
              <a:defRPr sz="4500" b="0" i="0">
                <a:solidFill>
                  <a:srgbClr val="93C500"/>
                </a:solidFill>
                <a:latin typeface="Verdana"/>
                <a:cs typeface="Verdana"/>
              </a:defRPr>
            </a:lvl1pPr>
          </a:lstStyle>
          <a:p>
            <a:endParaRPr/>
          </a:p>
        </p:txBody>
      </p:sp>
      <p:sp>
        <p:nvSpPr>
          <p:cNvPr id="3" name="Holder 3"/>
          <p:cNvSpPr>
            <a:spLocks noGrp="1"/>
          </p:cNvSpPr>
          <p:nvPr>
            <p:ph type="body" idx="1"/>
          </p:nvPr>
        </p:nvSpPr>
        <p:spPr>
          <a:xfrm>
            <a:off x="972108" y="1461973"/>
            <a:ext cx="8073390" cy="2160270"/>
          </a:xfrm>
          <a:prstGeom prst="rect">
            <a:avLst/>
          </a:prstGeom>
        </p:spPr>
        <p:txBody>
          <a:bodyPr wrap="square" lIns="0" tIns="0" rIns="0" bIns="0">
            <a:spAutoFit/>
          </a:bodyPr>
          <a:lstStyle>
            <a:lvl1pPr>
              <a:defRPr sz="20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10/17/2025</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geeksforgeeks.org/software-testing/software-testing-life-cycle-stlc/" TargetMode="External"/><Relationship Id="rId2" Type="http://schemas.openxmlformats.org/officeDocument/2006/relationships/hyperlink" Target="https://www.geeksforgeeks.org/software-testing/formal-testing/" TargetMode="External"/><Relationship Id="rId1" Type="http://schemas.openxmlformats.org/officeDocument/2006/relationships/slideLayout" Target="../slideLayouts/slideLayout2.xml"/><Relationship Id="rId4" Type="http://schemas.openxmlformats.org/officeDocument/2006/relationships/hyperlink" Target="https://www.geeksforgeeks.org/software-testing/system-testing/" TargetMode="External"/></Relationships>
</file>

<file path=ppt/slides/_rels/slide7.xml.rels><?xml version="1.0" encoding="UTF-8" standalone="yes"?>
<Relationships xmlns="http://schemas.openxmlformats.org/package/2006/relationships"><Relationship Id="rId2" Type="http://schemas.openxmlformats.org/officeDocument/2006/relationships/hyperlink" Target="https://www.geeksforgeeks.org/software-engineering/product-management/"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66801" y="1315669"/>
            <a:ext cx="7772400" cy="1951816"/>
          </a:xfrm>
          <a:prstGeom prst="rect">
            <a:avLst/>
          </a:prstGeom>
        </p:spPr>
        <p:txBody>
          <a:bodyPr vert="horz" wrap="square" lIns="0" tIns="12700" rIns="0" bIns="0" rtlCol="0">
            <a:spAutoFit/>
          </a:bodyPr>
          <a:lstStyle/>
          <a:p>
            <a:pPr algn="ctr">
              <a:lnSpc>
                <a:spcPts val="5390"/>
              </a:lnSpc>
              <a:spcBef>
                <a:spcPts val="100"/>
              </a:spcBef>
            </a:pPr>
            <a:r>
              <a:rPr sz="4500" spc="-10" dirty="0">
                <a:solidFill>
                  <a:srgbClr val="93C500"/>
                </a:solidFill>
                <a:latin typeface="Verdana"/>
                <a:cs typeface="Verdana"/>
              </a:rPr>
              <a:t>CO23115</a:t>
            </a:r>
            <a:endParaRPr sz="4500" dirty="0">
              <a:latin typeface="Verdana"/>
              <a:cs typeface="Verdana"/>
            </a:endParaRPr>
          </a:p>
          <a:p>
            <a:pPr algn="ctr">
              <a:lnSpc>
                <a:spcPts val="5390"/>
              </a:lnSpc>
            </a:pPr>
            <a:r>
              <a:rPr sz="4500" spc="-145" dirty="0">
                <a:solidFill>
                  <a:srgbClr val="93C500"/>
                </a:solidFill>
                <a:latin typeface="Verdana"/>
                <a:cs typeface="Verdana"/>
              </a:rPr>
              <a:t>Software</a:t>
            </a:r>
            <a:r>
              <a:rPr sz="4500" spc="-475" dirty="0">
                <a:solidFill>
                  <a:srgbClr val="93C500"/>
                </a:solidFill>
                <a:latin typeface="Verdana"/>
                <a:cs typeface="Verdana"/>
              </a:rPr>
              <a:t> </a:t>
            </a:r>
            <a:r>
              <a:rPr sz="4500" spc="-275" dirty="0">
                <a:solidFill>
                  <a:srgbClr val="93C500"/>
                </a:solidFill>
                <a:latin typeface="Verdana"/>
                <a:cs typeface="Verdana"/>
              </a:rPr>
              <a:t>Testing</a:t>
            </a:r>
            <a:r>
              <a:rPr sz="4500" spc="-275" dirty="0">
                <a:solidFill>
                  <a:srgbClr val="93C500"/>
                </a:solidFill>
                <a:latin typeface="Cambria Math"/>
                <a:cs typeface="Cambria Math"/>
              </a:rPr>
              <a:t>‐</a:t>
            </a:r>
            <a:r>
              <a:rPr sz="4500" spc="155" dirty="0">
                <a:solidFill>
                  <a:srgbClr val="93C500"/>
                </a:solidFill>
                <a:latin typeface="Cambria Math"/>
                <a:cs typeface="Cambria Math"/>
              </a:rPr>
              <a:t> </a:t>
            </a:r>
            <a:r>
              <a:rPr sz="4500" spc="-275" dirty="0">
                <a:solidFill>
                  <a:srgbClr val="93C500"/>
                </a:solidFill>
                <a:latin typeface="Verdana"/>
                <a:cs typeface="Verdana"/>
              </a:rPr>
              <a:t>Unit</a:t>
            </a:r>
            <a:r>
              <a:rPr sz="4500" spc="-415" dirty="0">
                <a:solidFill>
                  <a:srgbClr val="93C500"/>
                </a:solidFill>
                <a:latin typeface="Verdana"/>
                <a:cs typeface="Verdana"/>
              </a:rPr>
              <a:t> </a:t>
            </a:r>
            <a:r>
              <a:rPr lang="en-US" sz="4500" spc="-425" dirty="0">
                <a:solidFill>
                  <a:srgbClr val="93C500"/>
                </a:solidFill>
                <a:latin typeface="Verdana"/>
                <a:cs typeface="Verdana"/>
              </a:rPr>
              <a:t>5</a:t>
            </a:r>
            <a:endParaRPr sz="4500" dirty="0">
              <a:latin typeface="Verdana"/>
              <a:cs typeface="Verdana"/>
            </a:endParaRPr>
          </a:p>
          <a:p>
            <a:pPr marL="487680" marR="487045" algn="ctr">
              <a:lnSpc>
                <a:spcPct val="100000"/>
              </a:lnSpc>
              <a:spcBef>
                <a:spcPts val="25"/>
              </a:spcBef>
            </a:pPr>
            <a:r>
              <a:rPr lang="en-US" sz="3600" b="1" spc="-160" dirty="0" smtClean="0">
                <a:solidFill>
                  <a:srgbClr val="93C500"/>
                </a:solidFill>
                <a:latin typeface="Verdana"/>
                <a:cs typeface="Verdana"/>
              </a:rPr>
              <a:t>Levels of Testing</a:t>
            </a:r>
            <a:r>
              <a:rPr sz="3600" b="1" spc="-285" dirty="0" smtClean="0">
                <a:solidFill>
                  <a:srgbClr val="93C500"/>
                </a:solidFill>
                <a:latin typeface="Verdana"/>
                <a:cs typeface="Verdana"/>
              </a:rPr>
              <a:t>(</a:t>
            </a:r>
            <a:r>
              <a:rPr lang="en-US" sz="3600" b="1" spc="-285" dirty="0" smtClean="0">
                <a:solidFill>
                  <a:srgbClr val="93C500"/>
                </a:solidFill>
                <a:latin typeface="Verdana"/>
                <a:cs typeface="Verdana"/>
              </a:rPr>
              <a:t>10</a:t>
            </a:r>
            <a:r>
              <a:rPr sz="3600" b="1" spc="-285" dirty="0" smtClean="0">
                <a:solidFill>
                  <a:srgbClr val="93C500"/>
                </a:solidFill>
                <a:latin typeface="Verdana"/>
                <a:cs typeface="Verdana"/>
              </a:rPr>
              <a:t>M</a:t>
            </a:r>
            <a:r>
              <a:rPr sz="3600" b="1" spc="-285" dirty="0">
                <a:solidFill>
                  <a:srgbClr val="93C500"/>
                </a:solidFill>
                <a:latin typeface="Verdana"/>
                <a:cs typeface="Verdana"/>
              </a:rPr>
              <a:t>)</a:t>
            </a:r>
            <a:endParaRPr sz="3600" b="1" dirty="0">
              <a:latin typeface="Verdana"/>
              <a:cs typeface="Verdana"/>
            </a:endParaRPr>
          </a:p>
        </p:txBody>
      </p:sp>
      <p:grpSp>
        <p:nvGrpSpPr>
          <p:cNvPr id="3" name="object 3"/>
          <p:cNvGrpSpPr/>
          <p:nvPr/>
        </p:nvGrpSpPr>
        <p:grpSpPr>
          <a:xfrm>
            <a:off x="457200" y="4373879"/>
            <a:ext cx="9144000" cy="2941320"/>
            <a:chOff x="457200" y="4373879"/>
            <a:chExt cx="9144000" cy="2941320"/>
          </a:xfrm>
        </p:grpSpPr>
        <p:pic>
          <p:nvPicPr>
            <p:cNvPr id="4" name="object 4"/>
            <p:cNvPicPr/>
            <p:nvPr/>
          </p:nvPicPr>
          <p:blipFill>
            <a:blip r:embed="rId2" cstate="print"/>
            <a:stretch>
              <a:fillRect/>
            </a:stretch>
          </p:blipFill>
          <p:spPr>
            <a:xfrm>
              <a:off x="457200" y="4373879"/>
              <a:ext cx="9144000" cy="2941320"/>
            </a:xfrm>
            <a:prstGeom prst="rect">
              <a:avLst/>
            </a:prstGeom>
          </p:spPr>
        </p:pic>
        <p:pic>
          <p:nvPicPr>
            <p:cNvPr id="5" name="object 5"/>
            <p:cNvPicPr/>
            <p:nvPr/>
          </p:nvPicPr>
          <p:blipFill>
            <a:blip r:embed="rId3" cstate="print"/>
            <a:stretch>
              <a:fillRect/>
            </a:stretch>
          </p:blipFill>
          <p:spPr>
            <a:xfrm>
              <a:off x="8775954" y="6495287"/>
              <a:ext cx="594359" cy="561594"/>
            </a:xfrm>
            <a:prstGeom prst="rect">
              <a:avLst/>
            </a:prstGeom>
          </p:spPr>
        </p:pic>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2487" y="152400"/>
            <a:ext cx="9172957" cy="444352"/>
          </a:xfrm>
          <a:prstGeom prst="rect">
            <a:avLst/>
          </a:prstGeom>
        </p:spPr>
        <p:txBody>
          <a:bodyPr vert="horz" wrap="square" lIns="0" tIns="13335" rIns="0" bIns="0" rtlCol="0">
            <a:spAutoFit/>
          </a:bodyPr>
          <a:lstStyle/>
          <a:p>
            <a:pPr marL="12700">
              <a:lnSpc>
                <a:spcPct val="100000"/>
              </a:lnSpc>
              <a:spcBef>
                <a:spcPts val="105"/>
              </a:spcBef>
            </a:pPr>
            <a:r>
              <a:rPr lang="en-US" sz="2800" b="1" spc="-10" dirty="0">
                <a:solidFill>
                  <a:srgbClr val="7030A0"/>
                </a:solidFill>
                <a:latin typeface="Times New Roman"/>
                <a:cs typeface="Times New Roman"/>
              </a:rPr>
              <a:t>System Testing</a:t>
            </a:r>
            <a:endParaRPr sz="2600" b="1" dirty="0">
              <a:solidFill>
                <a:srgbClr val="7030A0"/>
              </a:solidFill>
              <a:latin typeface="Tahoma"/>
              <a:cs typeface="Tahoma"/>
            </a:endParaRPr>
          </a:p>
        </p:txBody>
      </p:sp>
      <p:sp>
        <p:nvSpPr>
          <p:cNvPr id="3" name="object 3"/>
          <p:cNvSpPr txBox="1"/>
          <p:nvPr/>
        </p:nvSpPr>
        <p:spPr>
          <a:xfrm>
            <a:off x="304800" y="457200"/>
            <a:ext cx="9448799" cy="7460504"/>
          </a:xfrm>
          <a:prstGeom prst="rect">
            <a:avLst/>
          </a:prstGeom>
        </p:spPr>
        <p:txBody>
          <a:bodyPr vert="horz" wrap="square" lIns="0" tIns="11430" rIns="0" bIns="0" rtlCol="0">
            <a:spAutoFit/>
          </a:bodyPr>
          <a:lstStyle/>
          <a:p>
            <a:pPr marL="353060" marR="5080" indent="-340360" algn="just">
              <a:lnSpc>
                <a:spcPct val="121500"/>
              </a:lnSpc>
              <a:spcBef>
                <a:spcPts val="90"/>
              </a:spcBef>
              <a:buFont typeface="Arial MT"/>
              <a:buChar char="•"/>
              <a:tabLst>
                <a:tab pos="355600" algn="l"/>
              </a:tabLst>
            </a:pPr>
            <a:r>
              <a:rPr lang="en-US" sz="2800" spc="-10" dirty="0" smtClean="0">
                <a:latin typeface="Times New Roman"/>
                <a:cs typeface="Times New Roman"/>
              </a:rPr>
              <a:t>System Testing is a type of software testing that evaluates the overall functionality and performance of a complete and fully integrated software solution.</a:t>
            </a:r>
          </a:p>
          <a:p>
            <a:pPr marL="353060" marR="5080" indent="-340360" algn="just">
              <a:lnSpc>
                <a:spcPct val="121500"/>
              </a:lnSpc>
              <a:spcBef>
                <a:spcPts val="90"/>
              </a:spcBef>
              <a:buFont typeface="Arial MT"/>
              <a:buChar char="•"/>
              <a:tabLst>
                <a:tab pos="355600" algn="l"/>
              </a:tabLst>
            </a:pPr>
            <a:r>
              <a:rPr lang="en-US" sz="2800" spc="-10" dirty="0" smtClean="0">
                <a:latin typeface="Times New Roman"/>
                <a:cs typeface="Times New Roman"/>
              </a:rPr>
              <a:t> It tests if the system meets the specified requirements and if it is suitable for delivery to the end-users. </a:t>
            </a:r>
          </a:p>
          <a:p>
            <a:pPr marL="353060" marR="5080" indent="-340360" algn="just">
              <a:lnSpc>
                <a:spcPct val="121500"/>
              </a:lnSpc>
              <a:spcBef>
                <a:spcPts val="90"/>
              </a:spcBef>
              <a:buFont typeface="Arial MT"/>
              <a:buChar char="•"/>
              <a:tabLst>
                <a:tab pos="355600" algn="l"/>
              </a:tabLst>
            </a:pPr>
            <a:r>
              <a:rPr lang="en-US" sz="2800" spc="-10" dirty="0" smtClean="0">
                <a:latin typeface="Times New Roman"/>
                <a:cs typeface="Times New Roman"/>
              </a:rPr>
              <a:t>This type of testing is performed after the integration testing and before the acceptance testing.</a:t>
            </a:r>
          </a:p>
          <a:p>
            <a:pPr marL="353060" marR="5080" indent="-340360" algn="just">
              <a:lnSpc>
                <a:spcPct val="121500"/>
              </a:lnSpc>
              <a:spcBef>
                <a:spcPts val="90"/>
              </a:spcBef>
              <a:buFont typeface="Arial MT"/>
              <a:buChar char="•"/>
              <a:tabLst>
                <a:tab pos="355600" algn="l"/>
              </a:tabLst>
            </a:pPr>
            <a:r>
              <a:rPr lang="en-US" sz="2800" dirty="0" smtClean="0">
                <a:latin typeface="Times New Roman"/>
                <a:cs typeface="Times New Roman"/>
              </a:rPr>
              <a:t> This stage checks whether the entire system functions as expected in a real-world environment.</a:t>
            </a:r>
          </a:p>
          <a:p>
            <a:pPr marL="353060" marR="5080" indent="-340360" algn="just">
              <a:lnSpc>
                <a:spcPct val="121500"/>
              </a:lnSpc>
              <a:spcBef>
                <a:spcPts val="90"/>
              </a:spcBef>
              <a:buFont typeface="Arial MT"/>
              <a:buChar char="•"/>
              <a:tabLst>
                <a:tab pos="355600" algn="l"/>
              </a:tabLst>
            </a:pPr>
            <a:r>
              <a:rPr lang="en-US" sz="2800" dirty="0" smtClean="0">
                <a:latin typeface="Times New Roman"/>
                <a:cs typeface="Times New Roman"/>
              </a:rPr>
              <a:t> It includes both functional and non-functional tests to ensure that the software meets customer needs.</a:t>
            </a:r>
          </a:p>
          <a:p>
            <a:pPr marL="353060" marR="5080" indent="-340360" algn="just">
              <a:lnSpc>
                <a:spcPct val="121500"/>
              </a:lnSpc>
              <a:spcBef>
                <a:spcPts val="90"/>
              </a:spcBef>
              <a:buFont typeface="Arial MT"/>
              <a:buChar char="•"/>
              <a:tabLst>
                <a:tab pos="355600" algn="l"/>
              </a:tabLst>
            </a:pPr>
            <a:r>
              <a:rPr lang="en-US" sz="2800" dirty="0" smtClean="0">
                <a:latin typeface="Times New Roman"/>
                <a:cs typeface="Times New Roman"/>
              </a:rPr>
              <a:t>Full end-to-end testing of the software.</a:t>
            </a:r>
          </a:p>
          <a:p>
            <a:pPr marL="353060" marR="5080" indent="-340360" algn="just">
              <a:lnSpc>
                <a:spcPct val="121500"/>
              </a:lnSpc>
              <a:spcBef>
                <a:spcPts val="90"/>
              </a:spcBef>
              <a:buFont typeface="Arial MT"/>
              <a:buChar char="•"/>
              <a:tabLst>
                <a:tab pos="355600" algn="l"/>
              </a:tabLst>
            </a:pPr>
            <a:r>
              <a:rPr lang="en-US" sz="2800" dirty="0" smtClean="0">
                <a:latin typeface="Times New Roman"/>
                <a:cs typeface="Times New Roman"/>
              </a:rPr>
              <a:t>Verifying both functional and non-functional requirements.</a:t>
            </a:r>
          </a:p>
          <a:p>
            <a:pPr marL="353060" marR="5080" indent="-340360" algn="just">
              <a:lnSpc>
                <a:spcPct val="121500"/>
              </a:lnSpc>
              <a:spcBef>
                <a:spcPts val="90"/>
              </a:spcBef>
              <a:buFont typeface="Arial MT"/>
              <a:buChar char="•"/>
              <a:tabLst>
                <a:tab pos="355600" algn="l"/>
              </a:tabLst>
            </a:pPr>
            <a:r>
              <a:rPr lang="en-US" sz="2800" dirty="0" smtClean="0">
                <a:latin typeface="Times New Roman"/>
                <a:cs typeface="Times New Roman"/>
              </a:rPr>
              <a:t>Testing the software's behavior in real-world conditions.</a:t>
            </a:r>
            <a:endParaRPr sz="2800" dirty="0">
              <a:latin typeface="Times New Roman"/>
              <a:cs typeface="Times New Roman"/>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167797"/>
            <a:ext cx="9677400" cy="413575"/>
          </a:xfrm>
          <a:prstGeom prst="rect">
            <a:avLst/>
          </a:prstGeom>
        </p:spPr>
        <p:txBody>
          <a:bodyPr vert="horz" wrap="square" lIns="0" tIns="13335" rIns="0" bIns="0" rtlCol="0">
            <a:spAutoFit/>
          </a:bodyPr>
          <a:lstStyle/>
          <a:p>
            <a:pPr fontAlgn="base"/>
            <a:r>
              <a:rPr lang="en-US" sz="2600" b="1" dirty="0">
                <a:solidFill>
                  <a:srgbClr val="7030A0"/>
                </a:solidFill>
              </a:rPr>
              <a:t>Recovery Testing</a:t>
            </a:r>
          </a:p>
        </p:txBody>
      </p:sp>
      <p:sp>
        <p:nvSpPr>
          <p:cNvPr id="8" name="object 3"/>
          <p:cNvSpPr txBox="1"/>
          <p:nvPr/>
        </p:nvSpPr>
        <p:spPr>
          <a:xfrm>
            <a:off x="533400" y="762000"/>
            <a:ext cx="8991600" cy="2596865"/>
          </a:xfrm>
          <a:prstGeom prst="rect">
            <a:avLst/>
          </a:prstGeom>
        </p:spPr>
        <p:txBody>
          <a:bodyPr vert="horz" wrap="square" lIns="0" tIns="11430" rIns="0" bIns="0" rtlCol="0">
            <a:spAutoFit/>
          </a:bodyPr>
          <a:lstStyle/>
          <a:p>
            <a:pPr marL="342900" indent="-342900" algn="just" rtl="0" fontAlgn="base">
              <a:buFont typeface="Arial" pitchFamily="34" charset="0"/>
              <a:buChar char="•"/>
            </a:pPr>
            <a:r>
              <a:rPr lang="en-US" sz="2800" spc="-10" dirty="0" smtClean="0">
                <a:latin typeface="Times New Roman"/>
                <a:cs typeface="Times New Roman"/>
              </a:rPr>
              <a:t>This type of testing evaluates how well a software system can recover from various failures, such as crashes, hardware failures, or network outages. </a:t>
            </a:r>
          </a:p>
          <a:p>
            <a:pPr marL="342900" indent="-342900" algn="just" rtl="0" fontAlgn="base">
              <a:buFont typeface="Arial" pitchFamily="34" charset="0"/>
              <a:buChar char="•"/>
            </a:pPr>
            <a:r>
              <a:rPr lang="en-US" sz="2800" spc="-10" dirty="0" smtClean="0">
                <a:latin typeface="Times New Roman"/>
                <a:cs typeface="Times New Roman"/>
              </a:rPr>
              <a:t>It ensures that the system can gracefully restore data, resume operations, and maintain data integrity after encountering an issue.</a:t>
            </a:r>
            <a:endParaRPr sz="2800" spc="-10" dirty="0">
              <a:latin typeface="Times New Roman"/>
              <a:cs typeface="Times New Roman"/>
            </a:endParaRPr>
          </a:p>
        </p:txBody>
      </p:sp>
      <p:sp>
        <p:nvSpPr>
          <p:cNvPr id="3" name="Rectangle 2"/>
          <p:cNvSpPr/>
          <p:nvPr/>
        </p:nvSpPr>
        <p:spPr>
          <a:xfrm>
            <a:off x="304800" y="3450636"/>
            <a:ext cx="3219151" cy="492443"/>
          </a:xfrm>
          <a:prstGeom prst="rect">
            <a:avLst/>
          </a:prstGeom>
        </p:spPr>
        <p:txBody>
          <a:bodyPr wrap="none">
            <a:spAutoFit/>
          </a:bodyPr>
          <a:lstStyle/>
          <a:p>
            <a:r>
              <a:rPr lang="en-US" sz="2600" b="1" dirty="0">
                <a:solidFill>
                  <a:srgbClr val="7030A0"/>
                </a:solidFill>
                <a:latin typeface="Verdana"/>
                <a:ea typeface="+mj-ea"/>
                <a:cs typeface="Verdana"/>
              </a:rPr>
              <a:t>Security Testing</a:t>
            </a:r>
          </a:p>
        </p:txBody>
      </p:sp>
      <p:sp>
        <p:nvSpPr>
          <p:cNvPr id="4" name="Rectangle 3"/>
          <p:cNvSpPr/>
          <p:nvPr/>
        </p:nvSpPr>
        <p:spPr>
          <a:xfrm>
            <a:off x="552734" y="4191000"/>
            <a:ext cx="8972266" cy="2677656"/>
          </a:xfrm>
          <a:prstGeom prst="rect">
            <a:avLst/>
          </a:prstGeom>
        </p:spPr>
        <p:txBody>
          <a:bodyPr wrap="square">
            <a:spAutoFit/>
          </a:bodyPr>
          <a:lstStyle/>
          <a:p>
            <a:pPr marL="342900" indent="-342900" algn="just" rtl="0" fontAlgn="base">
              <a:buFont typeface="Arial" pitchFamily="34" charset="0"/>
              <a:buChar char="•"/>
            </a:pPr>
            <a:r>
              <a:rPr lang="en-US" sz="2800" spc="-10" dirty="0">
                <a:latin typeface="Times New Roman"/>
                <a:cs typeface="Times New Roman"/>
              </a:rPr>
              <a:t>This focuses on identifying vulnerabilities within the software system and protecting it from unauthorized access, data breaches, and other security threats.</a:t>
            </a:r>
          </a:p>
          <a:p>
            <a:pPr marL="342900" indent="-342900" algn="just" rtl="0" fontAlgn="base">
              <a:buFont typeface="Arial" pitchFamily="34" charset="0"/>
              <a:buChar char="•"/>
            </a:pPr>
            <a:r>
              <a:rPr lang="en-US" sz="2800" spc="-10" dirty="0">
                <a:latin typeface="Times New Roman"/>
                <a:cs typeface="Times New Roman"/>
              </a:rPr>
              <a:t> It involves verifying security mechanisms, conducting penetration tests, and ensuring compliance with security standards.</a:t>
            </a:r>
          </a:p>
        </p:txBody>
      </p:sp>
    </p:spTree>
    <p:extLst>
      <p:ext uri="{BB962C8B-B14F-4D97-AF65-F5344CB8AC3E}">
        <p14:creationId xmlns:p14="http://schemas.microsoft.com/office/powerpoint/2010/main" val="22838850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167797"/>
            <a:ext cx="9677400" cy="413575"/>
          </a:xfrm>
          <a:prstGeom prst="rect">
            <a:avLst/>
          </a:prstGeom>
        </p:spPr>
        <p:txBody>
          <a:bodyPr vert="horz" wrap="square" lIns="0" tIns="13335" rIns="0" bIns="0" rtlCol="0">
            <a:spAutoFit/>
          </a:bodyPr>
          <a:lstStyle/>
          <a:p>
            <a:pPr fontAlgn="base"/>
            <a:r>
              <a:rPr lang="en-US" sz="2600" b="1" dirty="0">
                <a:solidFill>
                  <a:srgbClr val="7030A0"/>
                </a:solidFill>
              </a:rPr>
              <a:t>Performance Testing</a:t>
            </a:r>
          </a:p>
        </p:txBody>
      </p:sp>
      <p:sp>
        <p:nvSpPr>
          <p:cNvPr id="8" name="object 3"/>
          <p:cNvSpPr txBox="1"/>
          <p:nvPr/>
        </p:nvSpPr>
        <p:spPr>
          <a:xfrm>
            <a:off x="533400" y="762000"/>
            <a:ext cx="8991600" cy="2165978"/>
          </a:xfrm>
          <a:prstGeom prst="rect">
            <a:avLst/>
          </a:prstGeom>
        </p:spPr>
        <p:txBody>
          <a:bodyPr vert="horz" wrap="square" lIns="0" tIns="11430" rIns="0" bIns="0" rtlCol="0">
            <a:spAutoFit/>
          </a:bodyPr>
          <a:lstStyle/>
          <a:p>
            <a:pPr marL="342900" indent="-342900" algn="just" rtl="0" fontAlgn="base">
              <a:buFont typeface="Arial" pitchFamily="34" charset="0"/>
              <a:buChar char="•"/>
            </a:pPr>
            <a:r>
              <a:rPr lang="en-US" sz="2800" spc="-10" dirty="0" smtClean="0">
                <a:latin typeface="Times New Roman"/>
                <a:cs typeface="Times New Roman"/>
              </a:rPr>
              <a:t>This assesses the system's responsiveness, stability, and scalability under various workloads. </a:t>
            </a:r>
          </a:p>
          <a:p>
            <a:pPr marL="342900" indent="-342900" algn="just" rtl="0" fontAlgn="base">
              <a:buFont typeface="Arial" pitchFamily="34" charset="0"/>
              <a:buChar char="•"/>
            </a:pPr>
            <a:r>
              <a:rPr lang="en-US" sz="2800" spc="-10" dirty="0" smtClean="0">
                <a:latin typeface="Times New Roman"/>
                <a:cs typeface="Times New Roman"/>
              </a:rPr>
              <a:t>It measures metrics like speed, throughput, resource utilization, and response times to ensure the system meets performance benchmarks.</a:t>
            </a:r>
            <a:endParaRPr sz="2800" spc="-10" dirty="0">
              <a:latin typeface="Times New Roman"/>
              <a:cs typeface="Times New Roman"/>
            </a:endParaRPr>
          </a:p>
        </p:txBody>
      </p:sp>
      <p:sp>
        <p:nvSpPr>
          <p:cNvPr id="4" name="object 2"/>
          <p:cNvSpPr txBox="1">
            <a:spLocks/>
          </p:cNvSpPr>
          <p:nvPr/>
        </p:nvSpPr>
        <p:spPr>
          <a:xfrm>
            <a:off x="190500" y="3276600"/>
            <a:ext cx="9677400" cy="413575"/>
          </a:xfrm>
          <a:prstGeom prst="rect">
            <a:avLst/>
          </a:prstGeom>
        </p:spPr>
        <p:txBody>
          <a:bodyPr vert="horz" wrap="square" lIns="0" tIns="13335" rIns="0" bIns="0" rtlCol="0">
            <a:spAutoFit/>
          </a:bodyPr>
          <a:lstStyle>
            <a:lvl1pPr>
              <a:defRPr sz="4500" b="0" i="0">
                <a:solidFill>
                  <a:srgbClr val="93C500"/>
                </a:solidFill>
                <a:latin typeface="Verdana"/>
                <a:ea typeface="+mj-ea"/>
                <a:cs typeface="Verdana"/>
              </a:defRPr>
            </a:lvl1pPr>
          </a:lstStyle>
          <a:p>
            <a:pPr fontAlgn="base"/>
            <a:r>
              <a:rPr lang="en-US" sz="2600" b="1" dirty="0">
                <a:solidFill>
                  <a:srgbClr val="7030A0"/>
                </a:solidFill>
              </a:rPr>
              <a:t>Stress </a:t>
            </a:r>
            <a:r>
              <a:rPr lang="en-US" sz="2600" b="1" dirty="0" smtClean="0">
                <a:solidFill>
                  <a:srgbClr val="7030A0"/>
                </a:solidFill>
              </a:rPr>
              <a:t>Testing</a:t>
            </a:r>
            <a:endParaRPr lang="en-US" sz="2600" b="1" dirty="0">
              <a:solidFill>
                <a:srgbClr val="7030A0"/>
              </a:solidFill>
            </a:endParaRPr>
          </a:p>
        </p:txBody>
      </p:sp>
      <p:sp>
        <p:nvSpPr>
          <p:cNvPr id="5" name="object 3"/>
          <p:cNvSpPr txBox="1"/>
          <p:nvPr/>
        </p:nvSpPr>
        <p:spPr>
          <a:xfrm>
            <a:off x="533400" y="3886200"/>
            <a:ext cx="8991600" cy="1735090"/>
          </a:xfrm>
          <a:prstGeom prst="rect">
            <a:avLst/>
          </a:prstGeom>
        </p:spPr>
        <p:txBody>
          <a:bodyPr vert="horz" wrap="square" lIns="0" tIns="11430" rIns="0" bIns="0" rtlCol="0">
            <a:spAutoFit/>
          </a:bodyPr>
          <a:lstStyle/>
          <a:p>
            <a:pPr marL="342900" indent="-342900" algn="just" rtl="0" fontAlgn="base">
              <a:buFont typeface="Arial" pitchFamily="34" charset="0"/>
              <a:buChar char="•"/>
            </a:pPr>
            <a:r>
              <a:rPr lang="en-US" sz="2800" spc="-10" dirty="0" smtClean="0">
                <a:latin typeface="Times New Roman"/>
                <a:cs typeface="Times New Roman"/>
              </a:rPr>
              <a:t>A sub-type of performance testing, stress testing evaluates the system's behavior under extreme workloads, pushing it beyond its normal operational limits to identify its breaking point and how it handles overload conditions.</a:t>
            </a:r>
          </a:p>
        </p:txBody>
      </p:sp>
    </p:spTree>
    <p:extLst>
      <p:ext uri="{BB962C8B-B14F-4D97-AF65-F5344CB8AC3E}">
        <p14:creationId xmlns:p14="http://schemas.microsoft.com/office/powerpoint/2010/main" val="426839231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167797"/>
            <a:ext cx="9677400" cy="413575"/>
          </a:xfrm>
          <a:prstGeom prst="rect">
            <a:avLst/>
          </a:prstGeom>
        </p:spPr>
        <p:txBody>
          <a:bodyPr vert="horz" wrap="square" lIns="0" tIns="13335" rIns="0" bIns="0" rtlCol="0">
            <a:spAutoFit/>
          </a:bodyPr>
          <a:lstStyle/>
          <a:p>
            <a:pPr fontAlgn="base"/>
            <a:r>
              <a:rPr lang="en-US" sz="2600" b="1" dirty="0">
                <a:solidFill>
                  <a:srgbClr val="7030A0"/>
                </a:solidFill>
              </a:rPr>
              <a:t>Usability Testing</a:t>
            </a:r>
          </a:p>
        </p:txBody>
      </p:sp>
      <p:sp>
        <p:nvSpPr>
          <p:cNvPr id="8" name="object 3"/>
          <p:cNvSpPr txBox="1"/>
          <p:nvPr/>
        </p:nvSpPr>
        <p:spPr>
          <a:xfrm>
            <a:off x="533400" y="762000"/>
            <a:ext cx="8991600" cy="2165978"/>
          </a:xfrm>
          <a:prstGeom prst="rect">
            <a:avLst/>
          </a:prstGeom>
        </p:spPr>
        <p:txBody>
          <a:bodyPr vert="horz" wrap="square" lIns="0" tIns="11430" rIns="0" bIns="0" rtlCol="0">
            <a:spAutoFit/>
          </a:bodyPr>
          <a:lstStyle/>
          <a:p>
            <a:pPr marL="342900" indent="-342900" algn="just" rtl="0" fontAlgn="base">
              <a:buFont typeface="Arial" pitchFamily="34" charset="0"/>
              <a:buChar char="•"/>
            </a:pPr>
            <a:r>
              <a:rPr lang="en-US" sz="2800" spc="-10" dirty="0" smtClean="0">
                <a:latin typeface="Times New Roman"/>
                <a:cs typeface="Times New Roman"/>
              </a:rPr>
              <a:t>This focuses on evaluating the ease of use and user-friendliness of the software.</a:t>
            </a:r>
          </a:p>
          <a:p>
            <a:pPr marL="342900" indent="-342900" algn="just" rtl="0" fontAlgn="base">
              <a:buFont typeface="Arial" pitchFamily="34" charset="0"/>
              <a:buChar char="•"/>
            </a:pPr>
            <a:r>
              <a:rPr lang="en-US" sz="2800" spc="-10" dirty="0" smtClean="0">
                <a:latin typeface="Times New Roman"/>
                <a:cs typeface="Times New Roman"/>
              </a:rPr>
              <a:t> It involves observing users interacting with the system to identify any usability issues, assess the user experience, and ensure the interface is intuitive and efficient.</a:t>
            </a:r>
            <a:endParaRPr sz="2800" spc="-10" dirty="0">
              <a:latin typeface="Times New Roman"/>
              <a:cs typeface="Times New Roman"/>
            </a:endParaRPr>
          </a:p>
        </p:txBody>
      </p:sp>
      <p:sp>
        <p:nvSpPr>
          <p:cNvPr id="4" name="object 2"/>
          <p:cNvSpPr txBox="1">
            <a:spLocks/>
          </p:cNvSpPr>
          <p:nvPr/>
        </p:nvSpPr>
        <p:spPr>
          <a:xfrm>
            <a:off x="190500" y="3276600"/>
            <a:ext cx="9677400" cy="413575"/>
          </a:xfrm>
          <a:prstGeom prst="rect">
            <a:avLst/>
          </a:prstGeom>
        </p:spPr>
        <p:txBody>
          <a:bodyPr vert="horz" wrap="square" lIns="0" tIns="13335" rIns="0" bIns="0" rtlCol="0">
            <a:spAutoFit/>
          </a:bodyPr>
          <a:lstStyle>
            <a:lvl1pPr>
              <a:defRPr sz="4500" b="0" i="0">
                <a:solidFill>
                  <a:srgbClr val="93C500"/>
                </a:solidFill>
                <a:latin typeface="Verdana"/>
                <a:ea typeface="+mj-ea"/>
                <a:cs typeface="Verdana"/>
              </a:defRPr>
            </a:lvl1pPr>
          </a:lstStyle>
          <a:p>
            <a:pPr fontAlgn="base"/>
            <a:r>
              <a:rPr lang="en-US" sz="2600" b="1" dirty="0">
                <a:solidFill>
                  <a:srgbClr val="7030A0"/>
                </a:solidFill>
              </a:rPr>
              <a:t>Compatibility </a:t>
            </a:r>
            <a:r>
              <a:rPr lang="en-US" sz="2600" b="1" dirty="0" smtClean="0">
                <a:solidFill>
                  <a:srgbClr val="7030A0"/>
                </a:solidFill>
              </a:rPr>
              <a:t>Testing</a:t>
            </a:r>
            <a:endParaRPr lang="en-US" sz="2600" b="1" dirty="0">
              <a:solidFill>
                <a:srgbClr val="7030A0"/>
              </a:solidFill>
            </a:endParaRPr>
          </a:p>
        </p:txBody>
      </p:sp>
      <p:sp>
        <p:nvSpPr>
          <p:cNvPr id="5" name="object 3"/>
          <p:cNvSpPr txBox="1"/>
          <p:nvPr/>
        </p:nvSpPr>
        <p:spPr>
          <a:xfrm>
            <a:off x="533400" y="3886200"/>
            <a:ext cx="8991600" cy="2165978"/>
          </a:xfrm>
          <a:prstGeom prst="rect">
            <a:avLst/>
          </a:prstGeom>
        </p:spPr>
        <p:txBody>
          <a:bodyPr vert="horz" wrap="square" lIns="0" tIns="11430" rIns="0" bIns="0" rtlCol="0">
            <a:spAutoFit/>
          </a:bodyPr>
          <a:lstStyle/>
          <a:p>
            <a:pPr marL="342900" indent="-342900" algn="just" rtl="0" fontAlgn="base">
              <a:buFont typeface="Arial" pitchFamily="34" charset="0"/>
              <a:buChar char="•"/>
            </a:pPr>
            <a:r>
              <a:rPr lang="en-US" sz="2800" spc="-10" dirty="0" smtClean="0">
                <a:latin typeface="Times New Roman"/>
                <a:cs typeface="Times New Roman"/>
              </a:rPr>
              <a:t>This verifies that the software functions correctly across different environments, including various operating systems, browsers, hardware configurations, and network conditions. It ensures consistent behavior and functionality regardless of the platform.</a:t>
            </a:r>
          </a:p>
        </p:txBody>
      </p:sp>
    </p:spTree>
    <p:extLst>
      <p:ext uri="{BB962C8B-B14F-4D97-AF65-F5344CB8AC3E}">
        <p14:creationId xmlns:p14="http://schemas.microsoft.com/office/powerpoint/2010/main" val="28718604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348425"/>
            <a:ext cx="9677400" cy="413575"/>
          </a:xfrm>
          <a:prstGeom prst="rect">
            <a:avLst/>
          </a:prstGeom>
        </p:spPr>
        <p:txBody>
          <a:bodyPr vert="horz" wrap="square" lIns="0" tIns="13335" rIns="0" bIns="0" rtlCol="0">
            <a:spAutoFit/>
          </a:bodyPr>
          <a:lstStyle/>
          <a:p>
            <a:pPr fontAlgn="base"/>
            <a:r>
              <a:rPr lang="en-US" sz="2600" b="1" dirty="0" smtClean="0">
                <a:solidFill>
                  <a:srgbClr val="7030A0"/>
                </a:solidFill>
              </a:rPr>
              <a:t>Acceptance </a:t>
            </a:r>
            <a:r>
              <a:rPr lang="en-US" sz="2600" b="1" dirty="0">
                <a:solidFill>
                  <a:srgbClr val="7030A0"/>
                </a:solidFill>
              </a:rPr>
              <a:t>Testing</a:t>
            </a:r>
          </a:p>
        </p:txBody>
      </p:sp>
      <p:sp>
        <p:nvSpPr>
          <p:cNvPr id="8" name="object 3"/>
          <p:cNvSpPr txBox="1"/>
          <p:nvPr/>
        </p:nvSpPr>
        <p:spPr>
          <a:xfrm>
            <a:off x="533400" y="762000"/>
            <a:ext cx="8991600" cy="6105518"/>
          </a:xfrm>
          <a:prstGeom prst="rect">
            <a:avLst/>
          </a:prstGeom>
        </p:spPr>
        <p:txBody>
          <a:bodyPr vert="horz" wrap="square" lIns="0" tIns="11430" rIns="0" bIns="0" rtlCol="0">
            <a:spAutoFit/>
          </a:bodyPr>
          <a:lstStyle/>
          <a:p>
            <a:pPr marL="342900" indent="-342900" algn="just" rtl="0" fontAlgn="base">
              <a:buFont typeface="Arial" pitchFamily="34" charset="0"/>
              <a:buChar char="•"/>
            </a:pPr>
            <a:r>
              <a:rPr lang="en-US" sz="3600" spc="-10" dirty="0">
                <a:latin typeface="Times New Roman"/>
                <a:cs typeface="Times New Roman"/>
              </a:rPr>
              <a:t>Acceptance Testing is a </a:t>
            </a:r>
            <a:r>
              <a:rPr lang="en-US" sz="3600" spc="-10" dirty="0">
                <a:latin typeface="Times New Roman"/>
                <a:cs typeface="Times New Roman"/>
                <a:hlinkClick r:id="rId2"/>
              </a:rPr>
              <a:t>formal testing</a:t>
            </a:r>
            <a:r>
              <a:rPr lang="en-US" sz="3600" spc="-10" dirty="0">
                <a:latin typeface="Times New Roman"/>
                <a:cs typeface="Times New Roman"/>
              </a:rPr>
              <a:t> according to user needs, requirements, and business processes conducted to determine whether a system satisfies the acceptance criteria or not and to enable the users, customers, or other authorized entities to determine whether to accept the system or not</a:t>
            </a:r>
            <a:r>
              <a:rPr lang="en-US" sz="3600" spc="-10" dirty="0" smtClean="0">
                <a:latin typeface="Times New Roman"/>
                <a:cs typeface="Times New Roman"/>
              </a:rPr>
              <a:t>.</a:t>
            </a:r>
          </a:p>
          <a:p>
            <a:pPr marL="342900" indent="-342900" algn="just" rtl="0" fontAlgn="base">
              <a:buFont typeface="Arial" pitchFamily="34" charset="0"/>
              <a:buChar char="•"/>
            </a:pPr>
            <a:r>
              <a:rPr lang="en-US" sz="3600" spc="-10" dirty="0">
                <a:latin typeface="Times New Roman"/>
                <a:cs typeface="Times New Roman"/>
              </a:rPr>
              <a:t>Acceptance Testing is the last </a:t>
            </a:r>
            <a:r>
              <a:rPr lang="en-US" sz="3600" spc="-10" dirty="0">
                <a:latin typeface="Times New Roman"/>
                <a:cs typeface="Times New Roman"/>
                <a:hlinkClick r:id="rId3"/>
              </a:rPr>
              <a:t>phase of software testing</a:t>
            </a:r>
            <a:r>
              <a:rPr lang="en-US" sz="3600" spc="-10" dirty="0">
                <a:latin typeface="Times New Roman"/>
                <a:cs typeface="Times New Roman"/>
              </a:rPr>
              <a:t> performed after </a:t>
            </a:r>
            <a:r>
              <a:rPr lang="en-US" sz="3600" spc="-10" dirty="0">
                <a:latin typeface="Times New Roman"/>
                <a:cs typeface="Times New Roman"/>
                <a:hlinkClick r:id="rId4"/>
              </a:rPr>
              <a:t>System Testing </a:t>
            </a:r>
            <a:r>
              <a:rPr lang="en-US" sz="3600" spc="-10" dirty="0">
                <a:latin typeface="Times New Roman"/>
                <a:cs typeface="Times New Roman"/>
              </a:rPr>
              <a:t>and before making the system available for actual use. </a:t>
            </a:r>
            <a:endParaRPr sz="3600" spc="-10" dirty="0">
              <a:latin typeface="Times New Roman"/>
              <a:cs typeface="Times New Roman"/>
            </a:endParaRPr>
          </a:p>
        </p:txBody>
      </p:sp>
    </p:spTree>
    <p:extLst>
      <p:ext uri="{BB962C8B-B14F-4D97-AF65-F5344CB8AC3E}">
        <p14:creationId xmlns:p14="http://schemas.microsoft.com/office/powerpoint/2010/main" val="226239212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348425"/>
            <a:ext cx="9677400" cy="413575"/>
          </a:xfrm>
          <a:prstGeom prst="rect">
            <a:avLst/>
          </a:prstGeom>
        </p:spPr>
        <p:txBody>
          <a:bodyPr vert="horz" wrap="square" lIns="0" tIns="13335" rIns="0" bIns="0" rtlCol="0">
            <a:spAutoFit/>
          </a:bodyPr>
          <a:lstStyle/>
          <a:p>
            <a:pPr fontAlgn="base"/>
            <a:r>
              <a:rPr lang="en-US" sz="2600" b="1" dirty="0">
                <a:solidFill>
                  <a:srgbClr val="7030A0"/>
                </a:solidFill>
              </a:rPr>
              <a:t>Acceptance </a:t>
            </a:r>
            <a:r>
              <a:rPr lang="en-US" sz="2600" b="1" dirty="0" smtClean="0">
                <a:solidFill>
                  <a:srgbClr val="7030A0"/>
                </a:solidFill>
              </a:rPr>
              <a:t>Criteria</a:t>
            </a:r>
            <a:endParaRPr lang="en-US" sz="2600" b="1" dirty="0">
              <a:solidFill>
                <a:srgbClr val="7030A0"/>
              </a:solidFill>
            </a:endParaRPr>
          </a:p>
        </p:txBody>
      </p:sp>
      <p:sp>
        <p:nvSpPr>
          <p:cNvPr id="8" name="object 3"/>
          <p:cNvSpPr txBox="1"/>
          <p:nvPr/>
        </p:nvSpPr>
        <p:spPr>
          <a:xfrm>
            <a:off x="533400" y="762000"/>
            <a:ext cx="8991600" cy="5551520"/>
          </a:xfrm>
          <a:prstGeom prst="rect">
            <a:avLst/>
          </a:prstGeom>
        </p:spPr>
        <p:txBody>
          <a:bodyPr vert="horz" wrap="square" lIns="0" tIns="11430" rIns="0" bIns="0" rtlCol="0">
            <a:spAutoFit/>
          </a:bodyPr>
          <a:lstStyle/>
          <a:p>
            <a:pPr marL="342900" indent="-342900" algn="just" rtl="0" fontAlgn="base">
              <a:buFont typeface="Arial" pitchFamily="34" charset="0"/>
              <a:buChar char="•"/>
            </a:pPr>
            <a:r>
              <a:rPr lang="en-US" sz="3600" spc="-10" dirty="0">
                <a:latin typeface="Times New Roman"/>
                <a:cs typeface="Times New Roman"/>
              </a:rPr>
              <a:t>Acceptance criteria are essential components in </a:t>
            </a:r>
            <a:r>
              <a:rPr lang="en-US" sz="3600" spc="-10" dirty="0">
                <a:latin typeface="Times New Roman"/>
                <a:cs typeface="Times New Roman"/>
                <a:hlinkClick r:id="rId2"/>
              </a:rPr>
              <a:t>project management</a:t>
            </a:r>
            <a:r>
              <a:rPr lang="en-US" sz="3600" spc="-10" dirty="0">
                <a:latin typeface="Times New Roman"/>
                <a:cs typeface="Times New Roman"/>
              </a:rPr>
              <a:t> and software development, serving as a clear set of conditions that a product or feature must meet to be considered complete and acceptable by the stakeholders</a:t>
            </a:r>
            <a:r>
              <a:rPr lang="en-US" sz="3600" spc="-10" dirty="0" smtClean="0">
                <a:latin typeface="Times New Roman"/>
                <a:cs typeface="Times New Roman"/>
              </a:rPr>
              <a:t>.</a:t>
            </a:r>
          </a:p>
          <a:p>
            <a:pPr marL="342900" indent="-342900" algn="just" rtl="0" fontAlgn="base">
              <a:buFont typeface="Arial" pitchFamily="34" charset="0"/>
              <a:buChar char="•"/>
            </a:pPr>
            <a:r>
              <a:rPr lang="en-US" sz="3600" spc="-10" dirty="0">
                <a:latin typeface="Times New Roman"/>
                <a:cs typeface="Times New Roman"/>
              </a:rPr>
              <a:t> These criteria help ensure that everyone involved has a shared understanding of what "done" looks like, reducing ambiguity and aligning expectations.</a:t>
            </a:r>
            <a:endParaRPr sz="3600" spc="-10" dirty="0">
              <a:latin typeface="Times New Roman"/>
              <a:cs typeface="Times New Roman"/>
            </a:endParaRPr>
          </a:p>
        </p:txBody>
      </p:sp>
    </p:spTree>
    <p:extLst>
      <p:ext uri="{BB962C8B-B14F-4D97-AF65-F5344CB8AC3E}">
        <p14:creationId xmlns:p14="http://schemas.microsoft.com/office/powerpoint/2010/main" val="405946503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348425"/>
            <a:ext cx="9677400" cy="413575"/>
          </a:xfrm>
          <a:prstGeom prst="rect">
            <a:avLst/>
          </a:prstGeom>
        </p:spPr>
        <p:txBody>
          <a:bodyPr vert="horz" wrap="square" lIns="0" tIns="13335" rIns="0" bIns="0" rtlCol="0">
            <a:spAutoFit/>
          </a:bodyPr>
          <a:lstStyle/>
          <a:p>
            <a:pPr fontAlgn="base"/>
            <a:r>
              <a:rPr lang="en-US" sz="2600" b="1" dirty="0" smtClean="0">
                <a:solidFill>
                  <a:srgbClr val="7030A0"/>
                </a:solidFill>
              </a:rPr>
              <a:t>Types </a:t>
            </a:r>
            <a:r>
              <a:rPr lang="en-US" sz="2600" b="1" dirty="0">
                <a:solidFill>
                  <a:srgbClr val="7030A0"/>
                </a:solidFill>
              </a:rPr>
              <a:t>of acceptance criteria:</a:t>
            </a:r>
          </a:p>
        </p:txBody>
      </p:sp>
      <p:sp>
        <p:nvSpPr>
          <p:cNvPr id="8" name="object 3"/>
          <p:cNvSpPr txBox="1"/>
          <p:nvPr/>
        </p:nvSpPr>
        <p:spPr>
          <a:xfrm>
            <a:off x="533400" y="762000"/>
            <a:ext cx="8991600" cy="6659515"/>
          </a:xfrm>
          <a:prstGeom prst="rect">
            <a:avLst/>
          </a:prstGeom>
        </p:spPr>
        <p:txBody>
          <a:bodyPr vert="horz" wrap="square" lIns="0" tIns="11430" rIns="0" bIns="0" rtlCol="0">
            <a:spAutoFit/>
          </a:bodyPr>
          <a:lstStyle/>
          <a:p>
            <a:pPr algn="just" fontAlgn="base"/>
            <a:r>
              <a:rPr lang="en-US" sz="3600" b="1" dirty="0" smtClean="0"/>
              <a:t>Functional</a:t>
            </a:r>
            <a:r>
              <a:rPr lang="en-US" sz="3600" b="1" dirty="0"/>
              <a:t>:</a:t>
            </a:r>
            <a:r>
              <a:rPr lang="en-US" sz="3600" dirty="0"/>
              <a:t> Describes the desired functionality, behavior, or features of the software.</a:t>
            </a:r>
          </a:p>
          <a:p>
            <a:pPr algn="just" fontAlgn="base"/>
            <a:r>
              <a:rPr lang="en-US" sz="3600" b="1" dirty="0"/>
              <a:t>Non-Functional:</a:t>
            </a:r>
            <a:r>
              <a:rPr lang="en-US" sz="3600" dirty="0"/>
              <a:t> Focuses on aspects such as performance, security, usability, and scalability.</a:t>
            </a:r>
          </a:p>
          <a:p>
            <a:pPr algn="just" fontAlgn="base"/>
            <a:r>
              <a:rPr lang="en-US" sz="3600" b="1" dirty="0"/>
              <a:t>Positive:</a:t>
            </a:r>
            <a:r>
              <a:rPr lang="en-US" sz="3600" dirty="0"/>
              <a:t> Describes the expected positive outcomes when the feature works correctly.</a:t>
            </a:r>
          </a:p>
          <a:p>
            <a:pPr algn="just" fontAlgn="base"/>
            <a:r>
              <a:rPr lang="en-US" sz="3600" b="1" dirty="0"/>
              <a:t>Negative:</a:t>
            </a:r>
            <a:r>
              <a:rPr lang="en-US" sz="3600" dirty="0"/>
              <a:t> Outlines the behavior or outcomes when the feature fails or encounters errors.</a:t>
            </a:r>
          </a:p>
          <a:p>
            <a:pPr marL="342900" indent="-342900" algn="just" rtl="0" fontAlgn="base">
              <a:buFont typeface="Arial" pitchFamily="34" charset="0"/>
              <a:buChar char="•"/>
            </a:pPr>
            <a:endParaRPr sz="3600" spc="-10" dirty="0">
              <a:latin typeface="Times New Roman"/>
              <a:cs typeface="Times New Roman"/>
            </a:endParaRPr>
          </a:p>
        </p:txBody>
      </p:sp>
    </p:spTree>
    <p:extLst>
      <p:ext uri="{BB962C8B-B14F-4D97-AF65-F5344CB8AC3E}">
        <p14:creationId xmlns:p14="http://schemas.microsoft.com/office/powerpoint/2010/main" val="6070885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348425"/>
            <a:ext cx="9677400" cy="413575"/>
          </a:xfrm>
          <a:prstGeom prst="rect">
            <a:avLst/>
          </a:prstGeom>
        </p:spPr>
        <p:txBody>
          <a:bodyPr vert="horz" wrap="square" lIns="0" tIns="13335" rIns="0" bIns="0" rtlCol="0">
            <a:spAutoFit/>
          </a:bodyPr>
          <a:lstStyle/>
          <a:p>
            <a:pPr fontAlgn="base"/>
            <a:r>
              <a:rPr lang="en-US" sz="2600" b="1" dirty="0">
                <a:solidFill>
                  <a:srgbClr val="7030A0"/>
                </a:solidFill>
              </a:rPr>
              <a:t>Alpha </a:t>
            </a:r>
            <a:r>
              <a:rPr lang="en-US" sz="2600" b="1" dirty="0" smtClean="0">
                <a:solidFill>
                  <a:srgbClr val="7030A0"/>
                </a:solidFill>
              </a:rPr>
              <a:t>Testing</a:t>
            </a:r>
            <a:endParaRPr lang="en-US" sz="2600" b="1" dirty="0">
              <a:solidFill>
                <a:srgbClr val="7030A0"/>
              </a:solidFill>
            </a:endParaRPr>
          </a:p>
        </p:txBody>
      </p:sp>
      <p:sp>
        <p:nvSpPr>
          <p:cNvPr id="8" name="object 3"/>
          <p:cNvSpPr txBox="1"/>
          <p:nvPr/>
        </p:nvSpPr>
        <p:spPr>
          <a:xfrm>
            <a:off x="533400" y="762000"/>
            <a:ext cx="8991600" cy="7213513"/>
          </a:xfrm>
          <a:prstGeom prst="rect">
            <a:avLst/>
          </a:prstGeom>
        </p:spPr>
        <p:txBody>
          <a:bodyPr vert="horz" wrap="square" lIns="0" tIns="11430" rIns="0" bIns="0" rtlCol="0">
            <a:spAutoFit/>
          </a:bodyPr>
          <a:lstStyle/>
          <a:p>
            <a:pPr marL="571500" indent="-571500" algn="just" fontAlgn="base">
              <a:buFont typeface="Arial" pitchFamily="34" charset="0"/>
              <a:buChar char="•"/>
            </a:pPr>
            <a:r>
              <a:rPr lang="en-US" sz="3600" spc="-10" dirty="0">
                <a:latin typeface="Times New Roman"/>
                <a:cs typeface="Times New Roman"/>
              </a:rPr>
              <a:t>Alpha Testing is performed by internal teams to catch major bugs early in development. </a:t>
            </a:r>
            <a:endParaRPr lang="en-US" sz="3600" spc="-10" dirty="0" smtClean="0">
              <a:latin typeface="Times New Roman"/>
              <a:cs typeface="Times New Roman"/>
            </a:endParaRPr>
          </a:p>
          <a:p>
            <a:pPr marL="571500" indent="-571500" algn="just" fontAlgn="base">
              <a:buFont typeface="Arial" pitchFamily="34" charset="0"/>
              <a:buChar char="•"/>
            </a:pPr>
            <a:r>
              <a:rPr lang="en-US" sz="3600" spc="-10" dirty="0" smtClean="0">
                <a:latin typeface="Times New Roman"/>
                <a:cs typeface="Times New Roman"/>
              </a:rPr>
              <a:t>Alpha </a:t>
            </a:r>
            <a:r>
              <a:rPr lang="en-US" sz="3600" spc="-10" dirty="0">
                <a:latin typeface="Times New Roman"/>
                <a:cs typeface="Times New Roman"/>
              </a:rPr>
              <a:t>testing is a crucial software testing phase, typically conducted by the development team before releasing the software for Beta </a:t>
            </a:r>
            <a:r>
              <a:rPr lang="en-US" sz="3600" spc="-10" dirty="0" smtClean="0">
                <a:latin typeface="Times New Roman"/>
                <a:cs typeface="Times New Roman"/>
              </a:rPr>
              <a:t>Testing.</a:t>
            </a:r>
          </a:p>
          <a:p>
            <a:pPr marL="571500" indent="-571500" algn="just" fontAlgn="base">
              <a:buFont typeface="Arial" pitchFamily="34" charset="0"/>
              <a:buChar char="•"/>
            </a:pPr>
            <a:r>
              <a:rPr lang="en-US" sz="3600" spc="-10" dirty="0" smtClean="0">
                <a:latin typeface="Times New Roman"/>
                <a:cs typeface="Times New Roman"/>
              </a:rPr>
              <a:t>It </a:t>
            </a:r>
            <a:r>
              <a:rPr lang="en-US" sz="3600" spc="-10" dirty="0">
                <a:latin typeface="Times New Roman"/>
                <a:cs typeface="Times New Roman"/>
              </a:rPr>
              <a:t>is an internal process designed to identify bugs and defects in the system. In this phase, developers and testers focus on finding critical issues within the application</a:t>
            </a:r>
            <a:r>
              <a:rPr lang="en-US" sz="3600" spc="-10" dirty="0" smtClean="0">
                <a:latin typeface="Times New Roman"/>
                <a:cs typeface="Times New Roman"/>
              </a:rPr>
              <a:t>.</a:t>
            </a:r>
          </a:p>
          <a:p>
            <a:r>
              <a:rPr lang="en-US" sz="2800" b="1" dirty="0" smtClean="0"/>
              <a:t>      Who </a:t>
            </a:r>
            <a:r>
              <a:rPr lang="en-US" sz="2800" b="1" dirty="0"/>
              <a:t>is Involved in Alpha Testing?</a:t>
            </a:r>
            <a:endParaRPr lang="en-US" sz="2800" dirty="0"/>
          </a:p>
          <a:p>
            <a:r>
              <a:rPr lang="en-US" sz="3600" spc="-10" dirty="0" smtClean="0">
                <a:latin typeface="Times New Roman"/>
                <a:cs typeface="Times New Roman"/>
              </a:rPr>
              <a:t>     Developers</a:t>
            </a:r>
            <a:r>
              <a:rPr lang="en-US" sz="3600" spc="-10" dirty="0">
                <a:latin typeface="Times New Roman"/>
                <a:cs typeface="Times New Roman"/>
              </a:rPr>
              <a:t>, testers, and QA teams</a:t>
            </a:r>
            <a:r>
              <a:rPr lang="en-US" sz="3600" dirty="0"/>
              <a:t>.</a:t>
            </a:r>
          </a:p>
          <a:p>
            <a:pPr marL="571500" indent="-571500" algn="just" fontAlgn="base">
              <a:buFont typeface="Arial" pitchFamily="34" charset="0"/>
              <a:buChar char="•"/>
            </a:pPr>
            <a:endParaRPr sz="3600" spc="-10" dirty="0">
              <a:latin typeface="Times New Roman"/>
              <a:cs typeface="Times New Roman"/>
            </a:endParaRPr>
          </a:p>
        </p:txBody>
      </p:sp>
    </p:spTree>
    <p:extLst>
      <p:ext uri="{BB962C8B-B14F-4D97-AF65-F5344CB8AC3E}">
        <p14:creationId xmlns:p14="http://schemas.microsoft.com/office/powerpoint/2010/main" val="20253539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348425"/>
            <a:ext cx="9677400" cy="413575"/>
          </a:xfrm>
          <a:prstGeom prst="rect">
            <a:avLst/>
          </a:prstGeom>
        </p:spPr>
        <p:txBody>
          <a:bodyPr vert="horz" wrap="square" lIns="0" tIns="13335" rIns="0" bIns="0" rtlCol="0">
            <a:spAutoFit/>
          </a:bodyPr>
          <a:lstStyle/>
          <a:p>
            <a:pPr fontAlgn="base"/>
            <a:r>
              <a:rPr lang="en-US" sz="2600" b="1" dirty="0" smtClean="0">
                <a:solidFill>
                  <a:srgbClr val="7030A0"/>
                </a:solidFill>
              </a:rPr>
              <a:t>Beta Testing</a:t>
            </a:r>
            <a:endParaRPr lang="en-US" sz="2600" b="1" dirty="0">
              <a:solidFill>
                <a:srgbClr val="7030A0"/>
              </a:solidFill>
            </a:endParaRPr>
          </a:p>
        </p:txBody>
      </p:sp>
      <p:sp>
        <p:nvSpPr>
          <p:cNvPr id="8" name="object 3"/>
          <p:cNvSpPr txBox="1"/>
          <p:nvPr/>
        </p:nvSpPr>
        <p:spPr>
          <a:xfrm>
            <a:off x="533400" y="762000"/>
            <a:ext cx="8991600" cy="7521290"/>
          </a:xfrm>
          <a:prstGeom prst="rect">
            <a:avLst/>
          </a:prstGeom>
        </p:spPr>
        <p:txBody>
          <a:bodyPr vert="horz" wrap="square" lIns="0" tIns="11430" rIns="0" bIns="0" rtlCol="0">
            <a:spAutoFit/>
          </a:bodyPr>
          <a:lstStyle/>
          <a:p>
            <a:pPr marL="571500" indent="-571500" algn="just" fontAlgn="base">
              <a:buFont typeface="Arial" pitchFamily="34" charset="0"/>
              <a:buChar char="•"/>
            </a:pPr>
            <a:r>
              <a:rPr lang="en-US" sz="3600" spc="-10" dirty="0">
                <a:latin typeface="Times New Roman"/>
                <a:cs typeface="Times New Roman"/>
              </a:rPr>
              <a:t>Beta Testing involves a select group of external users who test the software in real-world conditions, offering valuable feedback. </a:t>
            </a:r>
            <a:endParaRPr lang="en-US" sz="3600" spc="-10" dirty="0" smtClean="0">
              <a:latin typeface="Times New Roman"/>
              <a:cs typeface="Times New Roman"/>
            </a:endParaRPr>
          </a:p>
          <a:p>
            <a:pPr marL="571500" indent="-571500" algn="just" fontAlgn="base">
              <a:buFont typeface="Arial" pitchFamily="34" charset="0"/>
              <a:buChar char="•"/>
            </a:pPr>
            <a:r>
              <a:rPr lang="en-US" sz="3600" spc="-10" dirty="0" smtClean="0">
                <a:latin typeface="Times New Roman"/>
                <a:cs typeface="Times New Roman"/>
              </a:rPr>
              <a:t>Beta </a:t>
            </a:r>
            <a:r>
              <a:rPr lang="en-US" sz="3600" spc="-10" dirty="0">
                <a:latin typeface="Times New Roman"/>
                <a:cs typeface="Times New Roman"/>
              </a:rPr>
              <a:t>Testing is the phase that follows Alpha Testing, where the software is made available to a selected group of external users outside the organization. </a:t>
            </a:r>
            <a:endParaRPr lang="en-US" sz="3600" spc="-10" dirty="0" smtClean="0">
              <a:latin typeface="Times New Roman"/>
              <a:cs typeface="Times New Roman"/>
            </a:endParaRPr>
          </a:p>
          <a:p>
            <a:pPr marL="571500" indent="-571500" algn="just" fontAlgn="base">
              <a:buFont typeface="Arial" pitchFamily="34" charset="0"/>
              <a:buChar char="•"/>
            </a:pPr>
            <a:r>
              <a:rPr lang="en-US" sz="3600" spc="-10" dirty="0" smtClean="0">
                <a:latin typeface="Times New Roman"/>
                <a:cs typeface="Times New Roman"/>
              </a:rPr>
              <a:t>The </a:t>
            </a:r>
            <a:r>
              <a:rPr lang="en-US" sz="3600" spc="-10" dirty="0">
                <a:latin typeface="Times New Roman"/>
                <a:cs typeface="Times New Roman"/>
              </a:rPr>
              <a:t>primary objective of Beta Testing is to uncover any remaining bugs, performance issues, or usability concerns that were not identified during Alpha Testing</a:t>
            </a:r>
            <a:r>
              <a:rPr lang="en-US" sz="3600" spc="-10" dirty="0" smtClean="0">
                <a:latin typeface="Times New Roman"/>
                <a:cs typeface="Times New Roman"/>
              </a:rPr>
              <a:t>.</a:t>
            </a:r>
          </a:p>
          <a:p>
            <a:pPr marL="457200" indent="-457200">
              <a:buFont typeface="Arial" pitchFamily="34" charset="0"/>
              <a:buChar char="•"/>
            </a:pPr>
            <a:r>
              <a:rPr lang="en-US" sz="2800" b="1" dirty="0"/>
              <a:t>Who is Involved in Beta Testing?</a:t>
            </a:r>
            <a:endParaRPr lang="en-US" sz="2800" dirty="0"/>
          </a:p>
          <a:p>
            <a:r>
              <a:rPr lang="en-US" sz="2800" dirty="0" smtClean="0"/>
              <a:t>     External </a:t>
            </a:r>
            <a:r>
              <a:rPr lang="en-US" sz="2800" dirty="0"/>
              <a:t>users, developers, and product managers.</a:t>
            </a:r>
          </a:p>
          <a:p>
            <a:pPr marL="571500" indent="-571500" algn="just" fontAlgn="base">
              <a:buFont typeface="Arial" pitchFamily="34" charset="0"/>
              <a:buChar char="•"/>
            </a:pPr>
            <a:endParaRPr sz="3600" spc="-10" dirty="0">
              <a:latin typeface="Times New Roman"/>
              <a:cs typeface="Times New Roman"/>
            </a:endParaRPr>
          </a:p>
        </p:txBody>
      </p:sp>
    </p:spTree>
    <p:extLst>
      <p:ext uri="{BB962C8B-B14F-4D97-AF65-F5344CB8AC3E}">
        <p14:creationId xmlns:p14="http://schemas.microsoft.com/office/powerpoint/2010/main" val="40224815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500" y="26158"/>
            <a:ext cx="9677400" cy="444352"/>
          </a:xfrm>
          <a:prstGeom prst="rect">
            <a:avLst/>
          </a:prstGeom>
        </p:spPr>
        <p:txBody>
          <a:bodyPr vert="horz" wrap="square" lIns="0" tIns="13335" rIns="0" bIns="0" rtlCol="0">
            <a:spAutoFit/>
          </a:bodyPr>
          <a:lstStyle/>
          <a:p>
            <a:pPr fontAlgn="base"/>
            <a:r>
              <a:rPr lang="en-US" sz="2800" b="1" dirty="0">
                <a:solidFill>
                  <a:srgbClr val="7030A0"/>
                </a:solidFill>
              </a:rPr>
              <a:t>Smoke Testing</a:t>
            </a:r>
            <a:endParaRPr lang="en-US" sz="2800" b="1" dirty="0">
              <a:solidFill>
                <a:srgbClr val="7030A0"/>
              </a:solidFill>
            </a:endParaRPr>
          </a:p>
        </p:txBody>
      </p:sp>
      <p:sp>
        <p:nvSpPr>
          <p:cNvPr id="8" name="object 3"/>
          <p:cNvSpPr txBox="1"/>
          <p:nvPr/>
        </p:nvSpPr>
        <p:spPr>
          <a:xfrm>
            <a:off x="524301" y="381000"/>
            <a:ext cx="8991600" cy="8075288"/>
          </a:xfrm>
          <a:prstGeom prst="rect">
            <a:avLst/>
          </a:prstGeom>
        </p:spPr>
        <p:txBody>
          <a:bodyPr vert="horz" wrap="square" lIns="0" tIns="11430" rIns="0" bIns="0" rtlCol="0">
            <a:spAutoFit/>
          </a:bodyPr>
          <a:lstStyle/>
          <a:p>
            <a:pPr marL="571500" indent="-571500" algn="just" fontAlgn="base">
              <a:buFont typeface="Arial" pitchFamily="34" charset="0"/>
              <a:buChar char="•"/>
            </a:pPr>
            <a:r>
              <a:rPr lang="en-US" sz="3600" spc="-10" dirty="0" smtClean="0">
                <a:latin typeface="Times New Roman"/>
                <a:cs typeface="Times New Roman"/>
              </a:rPr>
              <a:t>Commonly known as build verification testing, smoke testing is a functional testing type that determines whether the deployed build is stable or not. </a:t>
            </a:r>
          </a:p>
          <a:p>
            <a:pPr marL="571500" indent="-571500" algn="just" fontAlgn="base">
              <a:buFont typeface="Arial" pitchFamily="34" charset="0"/>
              <a:buChar char="•"/>
            </a:pPr>
            <a:r>
              <a:rPr lang="en-US" sz="3600" spc="-10" dirty="0" smtClean="0">
                <a:latin typeface="Times New Roman"/>
                <a:cs typeface="Times New Roman"/>
              </a:rPr>
              <a:t>If the build is stable, the QA team can continue with other types of testing.</a:t>
            </a:r>
          </a:p>
          <a:p>
            <a:pPr marL="571500" indent="-571500" algn="just" fontAlgn="base">
              <a:buFont typeface="Arial" pitchFamily="34" charset="0"/>
              <a:buChar char="•"/>
            </a:pPr>
            <a:r>
              <a:rPr lang="en-US" sz="3600" spc="-10" dirty="0" smtClean="0">
                <a:latin typeface="Times New Roman"/>
                <a:cs typeface="Times New Roman"/>
              </a:rPr>
              <a:t> Smoke testing identifies issues in the early stages before testing starts and saves a lot of time and effort.</a:t>
            </a:r>
          </a:p>
          <a:p>
            <a:r>
              <a:rPr lang="en-US" sz="2800" b="1" dirty="0">
                <a:solidFill>
                  <a:srgbClr val="00B0F0"/>
                </a:solidFill>
              </a:rPr>
              <a:t>When should you run smoke tests?</a:t>
            </a:r>
          </a:p>
          <a:p>
            <a:pPr marL="457200" indent="-457200" algn="just">
              <a:buFont typeface="Arial" pitchFamily="34" charset="0"/>
              <a:buChar char="•"/>
            </a:pPr>
            <a:r>
              <a:rPr lang="en-US" sz="3600" spc="-10" dirty="0">
                <a:latin typeface="Times New Roman"/>
                <a:cs typeface="Times New Roman"/>
              </a:rPr>
              <a:t>Smoke tests are run when new features are added to the build. If the new build passes these tests, the testing process can continue.</a:t>
            </a:r>
          </a:p>
          <a:p>
            <a:pPr marL="571500" indent="-571500" algn="just" fontAlgn="base">
              <a:buFont typeface="Arial" pitchFamily="34" charset="0"/>
              <a:buChar char="•"/>
            </a:pPr>
            <a:endParaRPr lang="en-US" sz="2800" dirty="0"/>
          </a:p>
          <a:p>
            <a:pPr marL="571500" indent="-571500" algn="just" fontAlgn="base">
              <a:buFont typeface="Arial" pitchFamily="34" charset="0"/>
              <a:buChar char="•"/>
            </a:pPr>
            <a:endParaRPr sz="3600" spc="-10" dirty="0">
              <a:latin typeface="Times New Roman"/>
              <a:cs typeface="Times New Roman"/>
            </a:endParaRPr>
          </a:p>
        </p:txBody>
      </p:sp>
    </p:spTree>
    <p:extLst>
      <p:ext uri="{BB962C8B-B14F-4D97-AF65-F5344CB8AC3E}">
        <p14:creationId xmlns:p14="http://schemas.microsoft.com/office/powerpoint/2010/main" val="326137136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500" y="26158"/>
            <a:ext cx="9677400" cy="444352"/>
          </a:xfrm>
          <a:prstGeom prst="rect">
            <a:avLst/>
          </a:prstGeom>
        </p:spPr>
        <p:txBody>
          <a:bodyPr vert="horz" wrap="square" lIns="0" tIns="13335" rIns="0" bIns="0" rtlCol="0">
            <a:spAutoFit/>
          </a:bodyPr>
          <a:lstStyle/>
          <a:p>
            <a:pPr fontAlgn="base"/>
            <a:r>
              <a:rPr lang="en-US" sz="2800" b="1" dirty="0" smtClean="0">
                <a:solidFill>
                  <a:srgbClr val="7030A0"/>
                </a:solidFill>
              </a:rPr>
              <a:t>Sanity </a:t>
            </a:r>
            <a:r>
              <a:rPr lang="en-US" sz="2800" b="1" dirty="0">
                <a:solidFill>
                  <a:srgbClr val="7030A0"/>
                </a:solidFill>
              </a:rPr>
              <a:t>Testing</a:t>
            </a:r>
            <a:endParaRPr lang="en-US" sz="2800" b="1" dirty="0">
              <a:solidFill>
                <a:srgbClr val="7030A0"/>
              </a:solidFill>
            </a:endParaRPr>
          </a:p>
        </p:txBody>
      </p:sp>
      <p:sp>
        <p:nvSpPr>
          <p:cNvPr id="8" name="object 3"/>
          <p:cNvSpPr txBox="1"/>
          <p:nvPr/>
        </p:nvSpPr>
        <p:spPr>
          <a:xfrm>
            <a:off x="524301" y="381000"/>
            <a:ext cx="8991600" cy="4320413"/>
          </a:xfrm>
          <a:prstGeom prst="rect">
            <a:avLst/>
          </a:prstGeom>
        </p:spPr>
        <p:txBody>
          <a:bodyPr vert="horz" wrap="square" lIns="0" tIns="11430" rIns="0" bIns="0" rtlCol="0">
            <a:spAutoFit/>
          </a:bodyPr>
          <a:lstStyle/>
          <a:p>
            <a:pPr marL="571500" indent="-571500" algn="just" fontAlgn="base">
              <a:buFont typeface="Arial" pitchFamily="34" charset="0"/>
              <a:buChar char="•"/>
            </a:pPr>
            <a:r>
              <a:rPr lang="en-US" sz="3600" spc="-10" dirty="0" smtClean="0">
                <a:latin typeface="Times New Roman"/>
                <a:cs typeface="Times New Roman"/>
              </a:rPr>
              <a:t>Sanity testing is defined as a subset of regression testing and takes place after it. Once all proposed code fixes are completed, sanity testing is done to ensure smooth performance and that the fixes ensure the products work as expected. </a:t>
            </a:r>
            <a:r>
              <a:rPr lang="en-US" sz="3600" spc="-10" dirty="0" smtClean="0">
                <a:latin typeface="Times New Roman"/>
                <a:cs typeface="Times New Roman"/>
              </a:rPr>
              <a:t>.</a:t>
            </a:r>
            <a:endParaRPr lang="en-US" sz="3600" spc="-10" dirty="0">
              <a:latin typeface="Times New Roman"/>
              <a:cs typeface="Times New Roman"/>
            </a:endParaRPr>
          </a:p>
          <a:p>
            <a:pPr marL="571500" indent="-571500" algn="just" fontAlgn="base">
              <a:buFont typeface="Arial" pitchFamily="34" charset="0"/>
              <a:buChar char="•"/>
            </a:pPr>
            <a:endParaRPr lang="en-US" sz="2800" dirty="0"/>
          </a:p>
          <a:p>
            <a:pPr marL="571500" indent="-571500" algn="just" fontAlgn="base">
              <a:buFont typeface="Arial" pitchFamily="34" charset="0"/>
              <a:buChar char="•"/>
            </a:pPr>
            <a:endParaRPr sz="3600" spc="-10" dirty="0">
              <a:latin typeface="Times New Roman"/>
              <a:cs typeface="Times New Roman"/>
            </a:endParaRPr>
          </a:p>
        </p:txBody>
      </p:sp>
    </p:spTree>
    <p:extLst>
      <p:ext uri="{BB962C8B-B14F-4D97-AF65-F5344CB8AC3E}">
        <p14:creationId xmlns:p14="http://schemas.microsoft.com/office/powerpoint/2010/main" val="20592108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500" y="26158"/>
            <a:ext cx="9677400" cy="444352"/>
          </a:xfrm>
          <a:prstGeom prst="rect">
            <a:avLst/>
          </a:prstGeom>
        </p:spPr>
        <p:txBody>
          <a:bodyPr vert="horz" wrap="square" lIns="0" tIns="13335" rIns="0" bIns="0" rtlCol="0">
            <a:spAutoFit/>
          </a:bodyPr>
          <a:lstStyle/>
          <a:p>
            <a:pPr fontAlgn="base"/>
            <a:r>
              <a:rPr lang="en-US" sz="2800" b="1" dirty="0" smtClean="0">
                <a:solidFill>
                  <a:srgbClr val="7030A0"/>
                </a:solidFill>
              </a:rPr>
              <a:t>Sanity </a:t>
            </a:r>
            <a:r>
              <a:rPr lang="en-US" sz="2800" b="1" dirty="0">
                <a:solidFill>
                  <a:srgbClr val="7030A0"/>
                </a:solidFill>
              </a:rPr>
              <a:t>Testing</a:t>
            </a:r>
            <a:endParaRPr lang="en-US" sz="2800" b="1" dirty="0">
              <a:solidFill>
                <a:srgbClr val="7030A0"/>
              </a:solidFill>
            </a:endParaRPr>
          </a:p>
        </p:txBody>
      </p:sp>
      <p:sp>
        <p:nvSpPr>
          <p:cNvPr id="8" name="object 3"/>
          <p:cNvSpPr txBox="1"/>
          <p:nvPr/>
        </p:nvSpPr>
        <p:spPr>
          <a:xfrm>
            <a:off x="524301" y="609600"/>
            <a:ext cx="8991600" cy="6105518"/>
          </a:xfrm>
          <a:prstGeom prst="rect">
            <a:avLst/>
          </a:prstGeom>
        </p:spPr>
        <p:txBody>
          <a:bodyPr vert="horz" wrap="square" lIns="0" tIns="11430" rIns="0" bIns="0" rtlCol="0">
            <a:spAutoFit/>
          </a:bodyPr>
          <a:lstStyle/>
          <a:p>
            <a:pPr marL="571500" indent="-571500" algn="just" fontAlgn="base">
              <a:buFont typeface="Arial" pitchFamily="34" charset="0"/>
              <a:buChar char="•"/>
            </a:pPr>
            <a:r>
              <a:rPr lang="en-US" sz="3600" spc="-10" dirty="0" smtClean="0">
                <a:latin typeface="Times New Roman"/>
                <a:cs typeface="Times New Roman"/>
              </a:rPr>
              <a:t>Suppose we have launched a clothing store application. A few days after our launch, users report that after adding items to the cart, the ‘Continue Shopping’ option is not working. This bug is taken up by the development team and they fix the code. This bug fix is then taken up by the testing team to run a sanity test. After a green flag from the testing team, a new build is triggered. </a:t>
            </a:r>
          </a:p>
          <a:p>
            <a:pPr marL="571500" indent="-571500" algn="just" fontAlgn="base">
              <a:buFont typeface="Arial" pitchFamily="34" charset="0"/>
              <a:buChar char="•"/>
            </a:pPr>
            <a:endParaRPr lang="en-US" sz="3600" spc="-10" dirty="0" smtClean="0">
              <a:latin typeface="Times New Roman"/>
              <a:cs typeface="Times New Roman"/>
            </a:endParaRPr>
          </a:p>
          <a:p>
            <a:pPr marL="571500" indent="-571500" algn="just" fontAlgn="base">
              <a:buFont typeface="Arial" pitchFamily="34" charset="0"/>
              <a:buChar char="•"/>
            </a:pPr>
            <a:endParaRPr sz="3600" spc="-10" dirty="0">
              <a:latin typeface="Times New Roman"/>
              <a:cs typeface="Times New Roman"/>
            </a:endParaRPr>
          </a:p>
        </p:txBody>
      </p:sp>
    </p:spTree>
    <p:extLst>
      <p:ext uri="{BB962C8B-B14F-4D97-AF65-F5344CB8AC3E}">
        <p14:creationId xmlns:p14="http://schemas.microsoft.com/office/powerpoint/2010/main" val="13833768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500" y="26158"/>
            <a:ext cx="9677400" cy="444352"/>
          </a:xfrm>
          <a:prstGeom prst="rect">
            <a:avLst/>
          </a:prstGeom>
        </p:spPr>
        <p:txBody>
          <a:bodyPr vert="horz" wrap="square" lIns="0" tIns="13335" rIns="0" bIns="0" rtlCol="0">
            <a:spAutoFit/>
          </a:bodyPr>
          <a:lstStyle/>
          <a:p>
            <a:pPr fontAlgn="base"/>
            <a:r>
              <a:rPr lang="en-US" sz="2800" b="1" dirty="0" smtClean="0">
                <a:solidFill>
                  <a:srgbClr val="7030A0"/>
                </a:solidFill>
              </a:rPr>
              <a:t>Sanity </a:t>
            </a:r>
            <a:r>
              <a:rPr lang="en-US" sz="2800" b="1" dirty="0">
                <a:solidFill>
                  <a:srgbClr val="7030A0"/>
                </a:solidFill>
              </a:rPr>
              <a:t>Testing</a:t>
            </a:r>
            <a:endParaRPr lang="en-US" sz="2800" b="1" dirty="0">
              <a:solidFill>
                <a:srgbClr val="7030A0"/>
              </a:solidFill>
            </a:endParaRPr>
          </a:p>
        </p:txBody>
      </p:sp>
      <p:sp>
        <p:nvSpPr>
          <p:cNvPr id="8" name="object 3"/>
          <p:cNvSpPr txBox="1"/>
          <p:nvPr/>
        </p:nvSpPr>
        <p:spPr>
          <a:xfrm>
            <a:off x="524301" y="381000"/>
            <a:ext cx="8991600" cy="6105518"/>
          </a:xfrm>
          <a:prstGeom prst="rect">
            <a:avLst/>
          </a:prstGeom>
        </p:spPr>
        <p:txBody>
          <a:bodyPr vert="horz" wrap="square" lIns="0" tIns="11430" rIns="0" bIns="0" rtlCol="0">
            <a:spAutoFit/>
          </a:bodyPr>
          <a:lstStyle/>
          <a:p>
            <a:pPr marL="571500" indent="-571500" algn="just" fontAlgn="base">
              <a:buFont typeface="Arial" pitchFamily="34" charset="0"/>
              <a:buChar char="•"/>
            </a:pPr>
            <a:endParaRPr lang="en-US" sz="3600" spc="-10" dirty="0" smtClean="0">
              <a:latin typeface="Times New Roman"/>
              <a:cs typeface="Times New Roman"/>
            </a:endParaRPr>
          </a:p>
          <a:p>
            <a:pPr marL="571500" indent="-571500" algn="just" fontAlgn="base">
              <a:buFont typeface="Arial" pitchFamily="34" charset="0"/>
              <a:buChar char="•"/>
            </a:pPr>
            <a:r>
              <a:rPr lang="en-US" sz="3600" spc="-10" dirty="0" smtClean="0">
                <a:latin typeface="Times New Roman"/>
                <a:cs typeface="Times New Roman"/>
              </a:rPr>
              <a:t>The main advantage of sanity testing is that it is a quick method since there are no predefined test cases or documentation. It is helpful in cases where bug fixes are required on an urgent basis.</a:t>
            </a:r>
            <a:endParaRPr lang="en-US" sz="2800" dirty="0"/>
          </a:p>
          <a:p>
            <a:r>
              <a:rPr lang="en-US" sz="3600" b="1" dirty="0">
                <a:solidFill>
                  <a:srgbClr val="00B0F0"/>
                </a:solidFill>
              </a:rPr>
              <a:t>When should you run sanity tests?</a:t>
            </a:r>
          </a:p>
          <a:p>
            <a:pPr marL="571500" indent="-571500" algn="just">
              <a:buFont typeface="Arial" pitchFamily="34" charset="0"/>
              <a:buChar char="•"/>
            </a:pPr>
            <a:r>
              <a:rPr lang="en-US" sz="3600" spc="-10" dirty="0">
                <a:latin typeface="Times New Roman"/>
                <a:cs typeface="Times New Roman"/>
              </a:rPr>
              <a:t>After regression testing is done and minor changes are introduced in the code. It is done before the build goes into production.</a:t>
            </a:r>
          </a:p>
          <a:p>
            <a:pPr marL="571500" indent="-571500" algn="just" fontAlgn="base">
              <a:buFont typeface="Arial" pitchFamily="34" charset="0"/>
              <a:buChar char="•"/>
            </a:pPr>
            <a:endParaRPr sz="3600" spc="-10" dirty="0">
              <a:latin typeface="Times New Roman"/>
              <a:cs typeface="Times New Roman"/>
            </a:endParaRPr>
          </a:p>
        </p:txBody>
      </p:sp>
    </p:spTree>
    <p:extLst>
      <p:ext uri="{BB962C8B-B14F-4D97-AF65-F5344CB8AC3E}">
        <p14:creationId xmlns:p14="http://schemas.microsoft.com/office/powerpoint/2010/main" val="133101068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500" y="26158"/>
            <a:ext cx="9677400" cy="444352"/>
          </a:xfrm>
          <a:prstGeom prst="rect">
            <a:avLst/>
          </a:prstGeom>
        </p:spPr>
        <p:txBody>
          <a:bodyPr vert="horz" wrap="square" lIns="0" tIns="13335" rIns="0" bIns="0" rtlCol="0">
            <a:spAutoFit/>
          </a:bodyPr>
          <a:lstStyle/>
          <a:p>
            <a:pPr fontAlgn="base"/>
            <a:r>
              <a:rPr lang="en-US" sz="2800" b="1" dirty="0">
                <a:solidFill>
                  <a:srgbClr val="7030A0"/>
                </a:solidFill>
              </a:rPr>
              <a:t>Accessibility Testing</a:t>
            </a:r>
            <a:endParaRPr lang="en-US" sz="2800" b="1" dirty="0">
              <a:solidFill>
                <a:srgbClr val="7030A0"/>
              </a:solidFill>
            </a:endParaRPr>
          </a:p>
        </p:txBody>
      </p:sp>
      <p:sp>
        <p:nvSpPr>
          <p:cNvPr id="8" name="object 3"/>
          <p:cNvSpPr txBox="1"/>
          <p:nvPr/>
        </p:nvSpPr>
        <p:spPr>
          <a:xfrm>
            <a:off x="524301" y="381000"/>
            <a:ext cx="8991600" cy="7213513"/>
          </a:xfrm>
          <a:prstGeom prst="rect">
            <a:avLst/>
          </a:prstGeom>
        </p:spPr>
        <p:txBody>
          <a:bodyPr vert="horz" wrap="square" lIns="0" tIns="11430" rIns="0" bIns="0" rtlCol="0">
            <a:spAutoFit/>
          </a:bodyPr>
          <a:lstStyle/>
          <a:p>
            <a:pPr marL="571500" indent="-571500" algn="just" fontAlgn="base">
              <a:buFont typeface="Arial" pitchFamily="34" charset="0"/>
              <a:buChar char="•"/>
            </a:pPr>
            <a:endParaRPr lang="en-US" sz="3600" spc="-10" dirty="0" smtClean="0">
              <a:latin typeface="Times New Roman"/>
              <a:cs typeface="Times New Roman"/>
            </a:endParaRPr>
          </a:p>
          <a:p>
            <a:pPr marL="571500" indent="-571500" algn="just" fontAlgn="base">
              <a:buFont typeface="Arial" pitchFamily="34" charset="0"/>
              <a:buChar char="•"/>
            </a:pPr>
            <a:r>
              <a:rPr lang="en-US" sz="3600" spc="-10" dirty="0" smtClean="0">
                <a:latin typeface="Times New Roman"/>
                <a:cs typeface="Times New Roman"/>
              </a:rPr>
              <a:t>Accessibility testing is the practice of making your web and mobile apps usable to as many people as possible.</a:t>
            </a:r>
          </a:p>
          <a:p>
            <a:pPr marL="571500" indent="-571500" algn="just" fontAlgn="base">
              <a:buFont typeface="Arial" pitchFamily="34" charset="0"/>
              <a:buChar char="•"/>
            </a:pPr>
            <a:r>
              <a:rPr lang="en-US" sz="3600" spc="-10" dirty="0" smtClean="0">
                <a:latin typeface="Times New Roman"/>
                <a:cs typeface="Times New Roman"/>
              </a:rPr>
              <a:t> It makes apps accessible to those with disabilities, such as vision impairment, hearing disabilities, and other physical or cognitive conditions.</a:t>
            </a:r>
          </a:p>
          <a:p>
            <a:pPr marL="571500" indent="-571500" algn="just" fontAlgn="base">
              <a:buFont typeface="Arial" pitchFamily="34" charset="0"/>
              <a:buChar char="•"/>
            </a:pPr>
            <a:r>
              <a:rPr lang="en-US" sz="3600" spc="-10" dirty="0">
                <a:latin typeface="Times New Roman"/>
                <a:cs typeface="Times New Roman"/>
              </a:rPr>
              <a:t>This testing verifies that the software </a:t>
            </a:r>
            <a:r>
              <a:rPr lang="en-US" sz="3600" spc="-10" dirty="0" smtClean="0">
                <a:latin typeface="Times New Roman"/>
                <a:cs typeface="Times New Roman"/>
              </a:rPr>
              <a:t>complies with</a:t>
            </a:r>
            <a:r>
              <a:rPr lang="en-US" sz="3600" spc="-10" dirty="0">
                <a:latin typeface="Times New Roman"/>
                <a:cs typeface="Times New Roman"/>
              </a:rPr>
              <a:t> accessibility standards like WCAG (Web Content Accessibility Guidelines) and is inclusive for all users</a:t>
            </a:r>
            <a:r>
              <a:rPr lang="en-US" sz="3600" dirty="0"/>
              <a:t>.</a:t>
            </a:r>
            <a:endParaRPr sz="3600" spc="-10" dirty="0">
              <a:latin typeface="Times New Roman"/>
              <a:cs typeface="Times New Roman"/>
            </a:endParaRPr>
          </a:p>
        </p:txBody>
      </p:sp>
    </p:spTree>
    <p:extLst>
      <p:ext uri="{BB962C8B-B14F-4D97-AF65-F5344CB8AC3E}">
        <p14:creationId xmlns:p14="http://schemas.microsoft.com/office/powerpoint/2010/main" val="137360100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E682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813</TotalTime>
  <Words>872</Words>
  <Application>Microsoft Office PowerPoint</Application>
  <PresentationFormat>Custom</PresentationFormat>
  <Paragraphs>71</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System Testing</vt:lpstr>
      <vt:lpstr>Recovery Testing</vt:lpstr>
      <vt:lpstr>Performance Testing</vt:lpstr>
      <vt:lpstr>Usability Testing</vt:lpstr>
      <vt:lpstr>Acceptance Testing</vt:lpstr>
      <vt:lpstr>Acceptance Criteria</vt:lpstr>
      <vt:lpstr>Types of acceptance criteria:</vt:lpstr>
      <vt:lpstr>Alpha Testing</vt:lpstr>
      <vt:lpstr>Beta Testing</vt:lpstr>
      <vt:lpstr>Smoke Testing</vt:lpstr>
      <vt:lpstr>Sanity Testing</vt:lpstr>
      <vt:lpstr>Sanity Testing</vt:lpstr>
      <vt:lpstr>Sanity Testing</vt:lpstr>
      <vt:lpstr>Accessibility Testing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PowerPoint - CH-2 [Compatibility Mode]</dc:title>
  <dc:creator>AdminHODCO</dc:creator>
  <cp:lastModifiedBy>User11</cp:lastModifiedBy>
  <cp:revision>46</cp:revision>
  <dcterms:created xsi:type="dcterms:W3CDTF">2025-09-16T05:18:48Z</dcterms:created>
  <dcterms:modified xsi:type="dcterms:W3CDTF">2025-10-17T05:34:19Z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2025-08-21T00:00:00Z</vt:filetime>
  </property>
  <property fmtid="{D5CDD505-2E9C-101B-9397-08002B2CF9AE}" pid="3" name="Creator">
    <vt:lpwstr>Microsoft® PowerPoint® 2010</vt:lpwstr>
  </property>
  <property fmtid="{D5CDD505-2E9C-101B-9397-08002B2CF9AE}" pid="4" name="LastSaved">
    <vt:filetime>2025-09-16T00:00:00Z</vt:filetime>
  </property>
  <property fmtid="{D5CDD505-2E9C-101B-9397-08002B2CF9AE}" pid="5" name="Producer">
    <vt:lpwstr>Microsoft® PowerPoint® 2010</vt:lpwstr>
  </property>
</Properties>
</file>