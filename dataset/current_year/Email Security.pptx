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handoutMasterIdLst>
    <p:handoutMasterId r:id="rId3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Montserrat" charset="0"/>
      <p:regular r:id="rId35"/>
      <p:bold r:id="rId36"/>
      <p:italic r:id="rId37"/>
      <p:boldItalic r:id="rId38"/>
    </p:embeddedFont>
    <p:embeddedFont>
      <p:font typeface="Lato"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277DCA72-1953-46E6-8982-518F24830D23}">
  <a:tblStyle styleId="{277DCA72-1953-46E6-8982-518F24830D2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115" d="100"/>
          <a:sy n="115" d="100"/>
        </p:scale>
        <p:origin x="-282" y="-102"/>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42"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4.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5AE4D68-BD88-4D17-BC1E-D58382BCFC53}" type="datetimeFigureOut">
              <a:rPr lang="en-US" smtClean="0"/>
              <a:pPr/>
              <a:t>10/10/2023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DADAC26-568A-4DE5-8E6E-2D4981E0814D}"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fbdf5f0caf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fbdf5f0ca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fbdf5f0caf_0_4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fbdf5f0caf_0_4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Cc - send a carbon copy to someone apart from recipients</a:t>
            </a:r>
            <a:endParaRPr/>
          </a:p>
          <a:p>
            <a:pPr marL="0" lvl="0" indent="0" algn="l" rtl="0">
              <a:spcBef>
                <a:spcPts val="0"/>
              </a:spcBef>
              <a:spcAft>
                <a:spcPts val="0"/>
              </a:spcAft>
              <a:buNone/>
            </a:pPr>
            <a:r>
              <a:rPr lang="en"/>
              <a:t>Bcc - same as cc but you can’t see other recipients</a:t>
            </a:r>
            <a:endParaRPr/>
          </a:p>
          <a:p>
            <a:pPr marL="0" lvl="0" indent="0" algn="l" rtl="0">
              <a:spcBef>
                <a:spcPts val="0"/>
              </a:spcBef>
              <a:spcAft>
                <a:spcPts val="0"/>
              </a:spcAft>
              <a:buNone/>
            </a:pPr>
            <a:r>
              <a:rPr lang="en"/>
              <a:t>Maximum size of email is server based for eg. google - 25mb</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fbdf5f0caf_0_4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fbdf5f0caf_0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fbdf5f0caf_0_4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fbdf5f0caf_0_4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TCP UDP for transport layer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fbdf5f0caf_0_4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fbdf5f0caf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fbdf5f0caf_0_4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fbdf5f0caf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fbdf5f0caf_0_4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fbdf5f0caf_0_4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fbdf5f0caf_0_5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fbdf5f0caf_0_5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03a3e9b8c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03a3e9b8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03a3e9b8c3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103a3e9b8c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fbdf5f0caf_0_5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fbdf5f0caf_0_5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Easy to spoof email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02a03834b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02a03834b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102a03834b4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102a03834b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102a03834b4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102a03834b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02a03834b4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02a03834b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02a03834b4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02a03834b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102a03834b4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102a03834b4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03a3e9b8c3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103a3e9b8c3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03a3e9b8c3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103a3e9b8c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02a03834b4_0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102a03834b4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103a3e9b8c3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8" name="Google Shape;328;g103a3e9b8c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03a3e9b8c3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103a3e9b8c3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103a3e9b8c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1" name="Google Shape;341;g103a3e9b8c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103a3e9b8c3_0_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7" name="Google Shape;347;g103a3e9b8c3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103a3e9b8c3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103a3e9b8c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102a03834b4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102a03834b4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0340aaea9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0340aaea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10340aaea97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10340aaea9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g10340aaea97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7" name="Google Shape;447;g10340aaea97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10340aaea97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10340aaea97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hyperlink" Target="https://mail.google.com/mail/u/0/" TargetMode="External"/><Relationship Id="rId3" Type="http://schemas.openxmlformats.org/officeDocument/2006/relationships/hyperlink" Target="https://mailtrap.io/blog/smtp-security/" TargetMode="External"/><Relationship Id="rId7" Type="http://schemas.openxmlformats.org/officeDocument/2006/relationships/hyperlink" Target="https://www.geeksforgeeks.org/pgp-authentication-and-confidentiality/"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hyperlink" Target="https://help.returnpath.com/hc/en-us/articles/220560587-What-are-the-rules-for-email-address-syntax-" TargetMode="External"/><Relationship Id="rId5" Type="http://schemas.openxmlformats.org/officeDocument/2006/relationships/hyperlink" Target="https://en.wikipedia.org/wiki/Email" TargetMode="External"/><Relationship Id="rId4" Type="http://schemas.openxmlformats.org/officeDocument/2006/relationships/hyperlink" Target="https://en.wikipedia.org/wiki/Simple_Mail_Transfer_Protocol" TargetMode="External"/><Relationship Id="rId9" Type="http://schemas.openxmlformats.org/officeDocument/2006/relationships/hyperlink" Target="https://www.zoho.com/mail/help/s-mim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4600"/>
              <a:t>Email Security</a:t>
            </a:r>
            <a:endParaRPr sz="4600"/>
          </a:p>
        </p:txBody>
      </p:sp>
      <p:sp>
        <p:nvSpPr>
          <p:cNvPr id="135" name="Google Shape;135;p13"/>
          <p:cNvSpPr txBox="1">
            <a:spLocks noGrp="1"/>
          </p:cNvSpPr>
          <p:nvPr>
            <p:ph type="subTitle" idx="1"/>
          </p:nvPr>
        </p:nvSpPr>
        <p:spPr>
          <a:xfrm>
            <a:off x="5083950" y="4036475"/>
            <a:ext cx="3470700" cy="506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700"/>
              <a:t>SS19CO018 - Tejas Jadhav</a:t>
            </a:r>
            <a:endParaRPr sz="1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597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600"/>
              <a:t>Electronic Mail</a:t>
            </a:r>
            <a:endParaRPr sz="2600"/>
          </a:p>
        </p:txBody>
      </p:sp>
      <p:sp>
        <p:nvSpPr>
          <p:cNvPr id="141" name="Google Shape;141;p14"/>
          <p:cNvSpPr txBox="1">
            <a:spLocks noGrp="1"/>
          </p:cNvSpPr>
          <p:nvPr>
            <p:ph type="body" idx="1"/>
          </p:nvPr>
        </p:nvSpPr>
        <p:spPr>
          <a:xfrm>
            <a:off x="1297500" y="1090675"/>
            <a:ext cx="7038900" cy="16359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Electronic mail - commonly referred as email - is a method of exchanging messages between people using electronic devices.</a:t>
            </a:r>
            <a:endParaRPr sz="2000"/>
          </a:p>
          <a:p>
            <a:pPr marL="457200" lvl="0" indent="-355600" algn="l" rtl="0">
              <a:spcBef>
                <a:spcPts val="0"/>
              </a:spcBef>
              <a:spcAft>
                <a:spcPts val="0"/>
              </a:spcAft>
              <a:buSzPts val="2000"/>
              <a:buChar char="●"/>
            </a:pPr>
            <a:r>
              <a:rPr lang="en" sz="2000"/>
              <a:t>Electronic approach to traditional mails (letters)</a:t>
            </a:r>
            <a:endParaRPr sz="2000"/>
          </a:p>
        </p:txBody>
      </p:sp>
      <p:sp>
        <p:nvSpPr>
          <p:cNvPr id="142" name="Google Shape;142;p14"/>
          <p:cNvSpPr/>
          <p:nvPr/>
        </p:nvSpPr>
        <p:spPr>
          <a:xfrm>
            <a:off x="949138" y="3185250"/>
            <a:ext cx="1549200" cy="5979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rPr>
              <a:t>Fast</a:t>
            </a:r>
            <a:endParaRPr sz="2000">
              <a:solidFill>
                <a:schemeClr val="lt1"/>
              </a:solidFill>
            </a:endParaRPr>
          </a:p>
        </p:txBody>
      </p:sp>
      <p:sp>
        <p:nvSpPr>
          <p:cNvPr id="143" name="Google Shape;143;p14"/>
          <p:cNvSpPr/>
          <p:nvPr/>
        </p:nvSpPr>
        <p:spPr>
          <a:xfrm>
            <a:off x="2881263" y="3185250"/>
            <a:ext cx="1549200" cy="5979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rPr>
              <a:t>Cheap</a:t>
            </a:r>
            <a:endParaRPr sz="2000">
              <a:solidFill>
                <a:schemeClr val="lt1"/>
              </a:solidFill>
            </a:endParaRPr>
          </a:p>
        </p:txBody>
      </p:sp>
      <p:sp>
        <p:nvSpPr>
          <p:cNvPr id="144" name="Google Shape;144;p14"/>
          <p:cNvSpPr/>
          <p:nvPr/>
        </p:nvSpPr>
        <p:spPr>
          <a:xfrm>
            <a:off x="4813388" y="3185250"/>
            <a:ext cx="1549200" cy="5979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rPr>
              <a:t>Anytime</a:t>
            </a:r>
            <a:endParaRPr sz="2000">
              <a:solidFill>
                <a:schemeClr val="lt1"/>
              </a:solidFill>
            </a:endParaRPr>
          </a:p>
        </p:txBody>
      </p:sp>
      <p:sp>
        <p:nvSpPr>
          <p:cNvPr id="145" name="Google Shape;145;p14"/>
          <p:cNvSpPr/>
          <p:nvPr/>
        </p:nvSpPr>
        <p:spPr>
          <a:xfrm>
            <a:off x="6645663" y="3185250"/>
            <a:ext cx="1549200" cy="597900"/>
          </a:xfrm>
          <a:prstGeom prst="rect">
            <a:avLst/>
          </a:prstGeom>
          <a:noFill/>
          <a:ln w="2857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rPr>
              <a:t>Anywhere</a:t>
            </a:r>
            <a:endParaRPr sz="2000">
              <a:solidFill>
                <a:schemeClr val="l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10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2"/>
                                        </p:tgtEl>
                                        <p:attrNameLst>
                                          <p:attrName>style.visibility</p:attrName>
                                        </p:attrNameLst>
                                      </p:cBhvr>
                                      <p:to>
                                        <p:strVal val="visible"/>
                                      </p:to>
                                    </p:set>
                                    <p:animEffect transition="in" filter="fade">
                                      <p:cBhvr>
                                        <p:cTn id="12" dur="1000"/>
                                        <p:tgtEl>
                                          <p:spTgt spid="14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3"/>
                                        </p:tgtEl>
                                        <p:attrNameLst>
                                          <p:attrName>style.visibility</p:attrName>
                                        </p:attrNameLst>
                                      </p:cBhvr>
                                      <p:to>
                                        <p:strVal val="visible"/>
                                      </p:to>
                                    </p:set>
                                    <p:animEffect transition="in" filter="fade">
                                      <p:cBhvr>
                                        <p:cTn id="17" dur="1000"/>
                                        <p:tgtEl>
                                          <p:spTgt spid="14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4"/>
                                        </p:tgtEl>
                                        <p:attrNameLst>
                                          <p:attrName>style.visibility</p:attrName>
                                        </p:attrNameLst>
                                      </p:cBhvr>
                                      <p:to>
                                        <p:strVal val="visible"/>
                                      </p:to>
                                    </p:set>
                                    <p:animEffect transition="in" filter="fade">
                                      <p:cBhvr>
                                        <p:cTn id="22" dur="1000"/>
                                        <p:tgtEl>
                                          <p:spTgt spid="14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5"/>
                                        </p:tgtEl>
                                        <p:attrNameLst>
                                          <p:attrName>style.visibility</p:attrName>
                                        </p:attrNameLst>
                                      </p:cBhvr>
                                      <p:to>
                                        <p:strVal val="visible"/>
                                      </p:to>
                                    </p:set>
                                    <p:animEffect transition="in" filter="fade">
                                      <p:cBhvr>
                                        <p:cTn id="27" dur="10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15"/>
          <p:cNvPicPr preferRelativeResize="0"/>
          <p:nvPr/>
        </p:nvPicPr>
        <p:blipFill>
          <a:blip r:embed="rId3">
            <a:alphaModFix/>
          </a:blip>
          <a:stretch>
            <a:fillRect/>
          </a:stretch>
        </p:blipFill>
        <p:spPr>
          <a:xfrm>
            <a:off x="2259375" y="361950"/>
            <a:ext cx="4781550" cy="441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6"/>
          <p:cNvSpPr txBox="1">
            <a:spLocks noGrp="1"/>
          </p:cNvSpPr>
          <p:nvPr>
            <p:ph type="title"/>
          </p:nvPr>
        </p:nvSpPr>
        <p:spPr>
          <a:xfrm>
            <a:off x="1297500" y="393750"/>
            <a:ext cx="7038900" cy="62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800"/>
              <a:t>Email Address</a:t>
            </a:r>
            <a:endParaRPr sz="2800"/>
          </a:p>
        </p:txBody>
      </p:sp>
      <p:sp>
        <p:nvSpPr>
          <p:cNvPr id="156" name="Google Shape;156;p16"/>
          <p:cNvSpPr txBox="1">
            <a:spLocks noGrp="1"/>
          </p:cNvSpPr>
          <p:nvPr>
            <p:ph type="body" idx="1"/>
          </p:nvPr>
        </p:nvSpPr>
        <p:spPr>
          <a:xfrm>
            <a:off x="1297500" y="1078275"/>
            <a:ext cx="7038900" cy="1493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Unique Identifier to an email account </a:t>
            </a:r>
            <a:endParaRPr sz="2000"/>
          </a:p>
          <a:p>
            <a:pPr marL="457200" lvl="0" indent="-355600" algn="l" rtl="0">
              <a:spcBef>
                <a:spcPts val="0"/>
              </a:spcBef>
              <a:spcAft>
                <a:spcPts val="0"/>
              </a:spcAft>
              <a:buSzPts val="2000"/>
              <a:buChar char="●"/>
            </a:pPr>
            <a:r>
              <a:rPr lang="en" sz="2000"/>
              <a:t>Where to deliver the email</a:t>
            </a:r>
            <a:endParaRPr sz="2000"/>
          </a:p>
          <a:p>
            <a:pPr marL="0" lvl="0" indent="0" algn="ctr" rtl="0">
              <a:spcBef>
                <a:spcPts val="1200"/>
              </a:spcBef>
              <a:spcAft>
                <a:spcPts val="1200"/>
              </a:spcAft>
              <a:buNone/>
            </a:pPr>
            <a:r>
              <a:rPr lang="en" sz="2800" i="1">
                <a:latin typeface="Times New Roman"/>
                <a:ea typeface="Times New Roman"/>
                <a:cs typeface="Times New Roman"/>
                <a:sym typeface="Times New Roman"/>
              </a:rPr>
              <a:t>john.smith43@gmail.com</a:t>
            </a:r>
            <a:endParaRPr sz="2800" i="1">
              <a:latin typeface="Times New Roman"/>
              <a:ea typeface="Times New Roman"/>
              <a:cs typeface="Times New Roman"/>
              <a:sym typeface="Times New Roman"/>
            </a:endParaRPr>
          </a:p>
        </p:txBody>
      </p:sp>
      <p:grpSp>
        <p:nvGrpSpPr>
          <p:cNvPr id="157" name="Google Shape;157;p16"/>
          <p:cNvGrpSpPr/>
          <p:nvPr/>
        </p:nvGrpSpPr>
        <p:grpSpPr>
          <a:xfrm>
            <a:off x="2933075" y="2472525"/>
            <a:ext cx="1809600" cy="1296150"/>
            <a:chOff x="2933075" y="2472525"/>
            <a:chExt cx="1809600" cy="1296150"/>
          </a:xfrm>
        </p:grpSpPr>
        <p:sp>
          <p:nvSpPr>
            <p:cNvPr id="158" name="Google Shape;158;p16"/>
            <p:cNvSpPr/>
            <p:nvPr/>
          </p:nvSpPr>
          <p:spPr>
            <a:xfrm rot="-5400000">
              <a:off x="3664325" y="1741275"/>
              <a:ext cx="347100" cy="1809600"/>
            </a:xfrm>
            <a:prstGeom prst="leftBrace">
              <a:avLst>
                <a:gd name="adj1" fmla="val 57131"/>
                <a:gd name="adj2" fmla="val 50684"/>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6"/>
            <p:cNvSpPr txBox="1"/>
            <p:nvPr/>
          </p:nvSpPr>
          <p:spPr>
            <a:xfrm>
              <a:off x="3123425" y="2937375"/>
              <a:ext cx="14289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Lato"/>
                  <a:ea typeface="Lato"/>
                  <a:cs typeface="Lato"/>
                  <a:sym typeface="Lato"/>
                </a:rPr>
                <a:t>     Username</a:t>
              </a:r>
              <a:endParaRPr>
                <a:solidFill>
                  <a:schemeClr val="lt1"/>
                </a:solidFill>
                <a:latin typeface="Lato"/>
                <a:ea typeface="Lato"/>
                <a:cs typeface="Lato"/>
                <a:sym typeface="Lato"/>
              </a:endParaRPr>
            </a:p>
            <a:p>
              <a:pPr marL="0" lvl="0" indent="0" algn="ctr" rtl="0">
                <a:spcBef>
                  <a:spcPts val="0"/>
                </a:spcBef>
                <a:spcAft>
                  <a:spcPts val="0"/>
                </a:spcAft>
                <a:buNone/>
              </a:pPr>
              <a:r>
                <a:rPr lang="en">
                  <a:solidFill>
                    <a:schemeClr val="lt1"/>
                  </a:solidFill>
                  <a:latin typeface="Lato"/>
                  <a:ea typeface="Lato"/>
                  <a:cs typeface="Lato"/>
                  <a:sym typeface="Lato"/>
                </a:rPr>
                <a:t>(max length 64 alphanumeric)</a:t>
              </a:r>
              <a:endParaRPr>
                <a:solidFill>
                  <a:schemeClr val="lt1"/>
                </a:solidFill>
                <a:latin typeface="Lato"/>
                <a:ea typeface="Lato"/>
                <a:cs typeface="Lato"/>
                <a:sym typeface="Lato"/>
              </a:endParaRPr>
            </a:p>
          </p:txBody>
        </p:sp>
      </p:grpSp>
      <p:grpSp>
        <p:nvGrpSpPr>
          <p:cNvPr id="160" name="Google Shape;160;p16"/>
          <p:cNvGrpSpPr/>
          <p:nvPr/>
        </p:nvGrpSpPr>
        <p:grpSpPr>
          <a:xfrm>
            <a:off x="5139275" y="2472525"/>
            <a:ext cx="871200" cy="1080450"/>
            <a:chOff x="5139275" y="2472525"/>
            <a:chExt cx="871200" cy="1080450"/>
          </a:xfrm>
        </p:grpSpPr>
        <p:sp>
          <p:nvSpPr>
            <p:cNvPr id="161" name="Google Shape;161;p16"/>
            <p:cNvSpPr/>
            <p:nvPr/>
          </p:nvSpPr>
          <p:spPr>
            <a:xfrm rot="-5400000">
              <a:off x="5401325" y="2251275"/>
              <a:ext cx="347100" cy="789600"/>
            </a:xfrm>
            <a:prstGeom prst="leftBrace">
              <a:avLst>
                <a:gd name="adj1" fmla="val 57131"/>
                <a:gd name="adj2" fmla="val 50684"/>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6"/>
            <p:cNvSpPr txBox="1"/>
            <p:nvPr/>
          </p:nvSpPr>
          <p:spPr>
            <a:xfrm>
              <a:off x="5139275" y="2937375"/>
              <a:ext cx="8712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Domain name</a:t>
              </a:r>
              <a:endParaRPr>
                <a:solidFill>
                  <a:schemeClr val="lt1"/>
                </a:solidFill>
                <a:latin typeface="Lato"/>
                <a:ea typeface="Lato"/>
                <a:cs typeface="Lato"/>
                <a:sym typeface="Lato"/>
              </a:endParaRPr>
            </a:p>
          </p:txBody>
        </p:sp>
      </p:grpSp>
      <p:grpSp>
        <p:nvGrpSpPr>
          <p:cNvPr id="163" name="Google Shape;163;p16"/>
          <p:cNvGrpSpPr/>
          <p:nvPr/>
        </p:nvGrpSpPr>
        <p:grpSpPr>
          <a:xfrm>
            <a:off x="5969675" y="2472525"/>
            <a:ext cx="871200" cy="1296150"/>
            <a:chOff x="5969675" y="2472525"/>
            <a:chExt cx="871200" cy="1296150"/>
          </a:xfrm>
        </p:grpSpPr>
        <p:sp>
          <p:nvSpPr>
            <p:cNvPr id="164" name="Google Shape;164;p16"/>
            <p:cNvSpPr/>
            <p:nvPr/>
          </p:nvSpPr>
          <p:spPr>
            <a:xfrm rot="-5400000">
              <a:off x="6202525" y="2321325"/>
              <a:ext cx="347100" cy="649500"/>
            </a:xfrm>
            <a:prstGeom prst="leftBrace">
              <a:avLst>
                <a:gd name="adj1" fmla="val 57131"/>
                <a:gd name="adj2" fmla="val 50389"/>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6"/>
            <p:cNvSpPr txBox="1"/>
            <p:nvPr/>
          </p:nvSpPr>
          <p:spPr>
            <a:xfrm>
              <a:off x="5969675" y="2937375"/>
              <a:ext cx="871200" cy="831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Top Level Domain</a:t>
              </a:r>
              <a:endParaRPr>
                <a:solidFill>
                  <a:schemeClr val="lt1"/>
                </a:solidFill>
                <a:latin typeface="Lato"/>
                <a:ea typeface="Lato"/>
                <a:cs typeface="Lato"/>
                <a:sym typeface="Lato"/>
              </a:endParaRPr>
            </a:p>
          </p:txBody>
        </p:sp>
      </p:grpSp>
      <p:sp>
        <p:nvSpPr>
          <p:cNvPr id="166" name="Google Shape;166;p16"/>
          <p:cNvSpPr txBox="1"/>
          <p:nvPr/>
        </p:nvSpPr>
        <p:spPr>
          <a:xfrm>
            <a:off x="570125" y="4300700"/>
            <a:ext cx="7919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lt1"/>
                </a:solidFill>
                <a:latin typeface="Lato"/>
                <a:ea typeface="Lato"/>
                <a:cs typeface="Lato"/>
                <a:sym typeface="Lato"/>
              </a:rPr>
              <a:t>Over 4 billion unique emails as of the end of 2020 (50% of the world’s population)</a:t>
            </a:r>
            <a:endParaRPr sz="1700">
              <a:solidFill>
                <a:schemeClr val="lt1"/>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7"/>
                                        </p:tgtEl>
                                        <p:attrNameLst>
                                          <p:attrName>style.visibility</p:attrName>
                                        </p:attrNameLst>
                                      </p:cBhvr>
                                      <p:to>
                                        <p:strVal val="visible"/>
                                      </p:to>
                                    </p:set>
                                    <p:animEffect transition="in" filter="fade">
                                      <p:cBhvr>
                                        <p:cTn id="7" dur="1000"/>
                                        <p:tgtEl>
                                          <p:spTgt spid="1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0"/>
                                        </p:tgtEl>
                                        <p:attrNameLst>
                                          <p:attrName>style.visibility</p:attrName>
                                        </p:attrNameLst>
                                      </p:cBhvr>
                                      <p:to>
                                        <p:strVal val="visible"/>
                                      </p:to>
                                    </p:set>
                                    <p:animEffect transition="in" filter="fade">
                                      <p:cBhvr>
                                        <p:cTn id="12" dur="1000"/>
                                        <p:tgtEl>
                                          <p:spTgt spid="1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3"/>
                                        </p:tgtEl>
                                        <p:attrNameLst>
                                          <p:attrName>style.visibility</p:attrName>
                                        </p:attrNameLst>
                                      </p:cBhvr>
                                      <p:to>
                                        <p:strVal val="visible"/>
                                      </p:to>
                                    </p:set>
                                    <p:animEffect transition="in" filter="fade">
                                      <p:cBhvr>
                                        <p:cTn id="17" dur="1000"/>
                                        <p:tgtEl>
                                          <p:spTgt spid="1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6"/>
                                        </p:tgtEl>
                                        <p:attrNameLst>
                                          <p:attrName>style.visibility</p:attrName>
                                        </p:attrNameLst>
                                      </p:cBhvr>
                                      <p:to>
                                        <p:strVal val="visible"/>
                                      </p:to>
                                    </p:set>
                                    <p:animEffect transition="in" filter="fade">
                                      <p:cBhvr>
                                        <p:cTn id="22" dur="10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7"/>
          <p:cNvSpPr txBox="1">
            <a:spLocks noGrp="1"/>
          </p:cNvSpPr>
          <p:nvPr>
            <p:ph type="title"/>
          </p:nvPr>
        </p:nvSpPr>
        <p:spPr>
          <a:xfrm>
            <a:off x="1297500" y="393750"/>
            <a:ext cx="7038900" cy="759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100"/>
              <a:t>Simple Mail Transfer Protocol</a:t>
            </a:r>
            <a:endParaRPr sz="3100"/>
          </a:p>
        </p:txBody>
      </p:sp>
      <p:sp>
        <p:nvSpPr>
          <p:cNvPr id="172" name="Google Shape;172;p17"/>
          <p:cNvSpPr txBox="1">
            <a:spLocks noGrp="1"/>
          </p:cNvSpPr>
          <p:nvPr>
            <p:ph type="body" idx="1"/>
          </p:nvPr>
        </p:nvSpPr>
        <p:spPr>
          <a:xfrm>
            <a:off x="1052550" y="1251850"/>
            <a:ext cx="7038900" cy="34377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sz="2100"/>
              <a:t>SMTP is an internet standard communication protocol for electronic mail transmission.</a:t>
            </a:r>
            <a:endParaRPr sz="2100"/>
          </a:p>
          <a:p>
            <a:pPr marL="457200" lvl="0" indent="-361950" algn="l" rtl="0">
              <a:spcBef>
                <a:spcPts val="0"/>
              </a:spcBef>
              <a:spcAft>
                <a:spcPts val="0"/>
              </a:spcAft>
              <a:buSzPts val="2100"/>
              <a:buChar char="●"/>
            </a:pPr>
            <a:r>
              <a:rPr lang="en" sz="2100"/>
              <a:t>It is an application layer protocol </a:t>
            </a:r>
            <a:endParaRPr sz="2100"/>
          </a:p>
          <a:p>
            <a:pPr marL="457200" lvl="0" indent="-361950" algn="l" rtl="0">
              <a:spcBef>
                <a:spcPts val="0"/>
              </a:spcBef>
              <a:spcAft>
                <a:spcPts val="0"/>
              </a:spcAft>
              <a:buSzPts val="2100"/>
              <a:buChar char="●"/>
            </a:pPr>
            <a:r>
              <a:rPr lang="en" sz="2100"/>
              <a:t>Transmission using TCP</a:t>
            </a:r>
            <a:endParaRPr sz="2100"/>
          </a:p>
          <a:p>
            <a:pPr marL="457200" lvl="0" indent="-361950" algn="l" rtl="0">
              <a:spcBef>
                <a:spcPts val="0"/>
              </a:spcBef>
              <a:spcAft>
                <a:spcPts val="0"/>
              </a:spcAft>
              <a:buSzPts val="2100"/>
              <a:buChar char="●"/>
            </a:pPr>
            <a:r>
              <a:rPr lang="en" sz="2100"/>
              <a:t>The traditional port used for SMTP is TCP port 25 although TCP port 465 and TCP port 587 are also used.</a:t>
            </a:r>
            <a:endParaRPr sz="2100"/>
          </a:p>
          <a:p>
            <a:pPr marL="457200" lvl="0" indent="-361950" algn="l" rtl="0">
              <a:spcBef>
                <a:spcPts val="0"/>
              </a:spcBef>
              <a:spcAft>
                <a:spcPts val="0"/>
              </a:spcAft>
              <a:buSzPts val="2100"/>
              <a:buChar char="●"/>
            </a:pPr>
            <a:r>
              <a:rPr lang="en" sz="2100"/>
              <a:t>SMTP is used</a:t>
            </a:r>
            <a:r>
              <a:rPr lang="en" sz="2100" b="1"/>
              <a:t> only for sending email to the recipient server</a:t>
            </a:r>
            <a:r>
              <a:rPr lang="en" sz="2100"/>
              <a:t>. IMAP or POP is used to retrieve mail. </a:t>
            </a:r>
            <a:endParaRPr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txBox="1">
            <a:spLocks noGrp="1"/>
          </p:cNvSpPr>
          <p:nvPr>
            <p:ph type="title"/>
          </p:nvPr>
        </p:nvSpPr>
        <p:spPr>
          <a:xfrm>
            <a:off x="1297500" y="393750"/>
            <a:ext cx="7038900" cy="597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Working Principle of SMTP</a:t>
            </a:r>
            <a:endParaRPr/>
          </a:p>
        </p:txBody>
      </p:sp>
      <p:pic>
        <p:nvPicPr>
          <p:cNvPr id="178" name="Google Shape;178;p18"/>
          <p:cNvPicPr preferRelativeResize="0"/>
          <p:nvPr/>
        </p:nvPicPr>
        <p:blipFill>
          <a:blip r:embed="rId3">
            <a:alphaModFix/>
          </a:blip>
          <a:stretch>
            <a:fillRect/>
          </a:stretch>
        </p:blipFill>
        <p:spPr>
          <a:xfrm>
            <a:off x="1076325" y="1181250"/>
            <a:ext cx="6991350" cy="3362325"/>
          </a:xfrm>
          <a:prstGeom prst="rect">
            <a:avLst/>
          </a:prstGeom>
          <a:noFill/>
          <a:ln>
            <a:noFill/>
          </a:ln>
        </p:spPr>
      </p:pic>
      <p:sp>
        <p:nvSpPr>
          <p:cNvPr id="179" name="Google Shape;179;p18"/>
          <p:cNvSpPr txBox="1"/>
          <p:nvPr/>
        </p:nvSpPr>
        <p:spPr>
          <a:xfrm>
            <a:off x="3284400" y="2171550"/>
            <a:ext cx="1028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gmail.com</a:t>
            </a:r>
            <a:endParaRPr>
              <a:latin typeface="Lato"/>
              <a:ea typeface="Lato"/>
              <a:cs typeface="Lato"/>
              <a:sym typeface="Lato"/>
            </a:endParaRPr>
          </a:p>
        </p:txBody>
      </p:sp>
      <p:sp>
        <p:nvSpPr>
          <p:cNvPr id="180" name="Google Shape;180;p18"/>
          <p:cNvSpPr txBox="1"/>
          <p:nvPr/>
        </p:nvSpPr>
        <p:spPr>
          <a:xfrm>
            <a:off x="3172850" y="1181250"/>
            <a:ext cx="1685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smtp.gmail.com</a:t>
            </a:r>
            <a:endParaRPr>
              <a:latin typeface="Lato"/>
              <a:ea typeface="Lato"/>
              <a:cs typeface="Lato"/>
              <a:sym typeface="Lato"/>
            </a:endParaRPr>
          </a:p>
        </p:txBody>
      </p:sp>
      <p:sp>
        <p:nvSpPr>
          <p:cNvPr id="181" name="Google Shape;181;p18"/>
          <p:cNvSpPr txBox="1"/>
          <p:nvPr/>
        </p:nvSpPr>
        <p:spPr>
          <a:xfrm>
            <a:off x="6258975" y="731250"/>
            <a:ext cx="2649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Lato"/>
                <a:ea typeface="Lato"/>
                <a:cs typeface="Lato"/>
                <a:sym typeface="Lato"/>
              </a:rPr>
              <a:t>Routing to appropriate server</a:t>
            </a:r>
            <a:endParaRPr>
              <a:solidFill>
                <a:schemeClr val="lt1"/>
              </a:solidFill>
              <a:latin typeface="Lato"/>
              <a:ea typeface="Lato"/>
              <a:cs typeface="Lato"/>
              <a:sym typeface="Lato"/>
            </a:endParaRPr>
          </a:p>
        </p:txBody>
      </p:sp>
      <p:grpSp>
        <p:nvGrpSpPr>
          <p:cNvPr id="182" name="Google Shape;182;p18"/>
          <p:cNvGrpSpPr/>
          <p:nvPr/>
        </p:nvGrpSpPr>
        <p:grpSpPr>
          <a:xfrm>
            <a:off x="1549300" y="4077550"/>
            <a:ext cx="4598100" cy="995175"/>
            <a:chOff x="1549300" y="4077550"/>
            <a:chExt cx="4598100" cy="995175"/>
          </a:xfrm>
        </p:grpSpPr>
        <p:sp>
          <p:nvSpPr>
            <p:cNvPr id="183" name="Google Shape;183;p18"/>
            <p:cNvSpPr/>
            <p:nvPr/>
          </p:nvSpPr>
          <p:spPr>
            <a:xfrm rot="-5400000">
              <a:off x="3693400" y="1933450"/>
              <a:ext cx="309900" cy="4598100"/>
            </a:xfrm>
            <a:prstGeom prst="leftBrace">
              <a:avLst>
                <a:gd name="adj1" fmla="val 50000"/>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8"/>
            <p:cNvSpPr txBox="1"/>
            <p:nvPr/>
          </p:nvSpPr>
          <p:spPr>
            <a:xfrm>
              <a:off x="3166750" y="4672525"/>
              <a:ext cx="1363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Lato"/>
                  <a:ea typeface="Lato"/>
                  <a:cs typeface="Lato"/>
                  <a:sym typeface="Lato"/>
                </a:rPr>
                <a:t>IMAP or POP</a:t>
              </a:r>
              <a:endParaRPr>
                <a:solidFill>
                  <a:schemeClr val="lt1"/>
                </a:solidFill>
                <a:latin typeface="Lato"/>
                <a:ea typeface="Lato"/>
                <a:cs typeface="Lato"/>
                <a:sym typeface="La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1"/>
                                        <p:tgtEl>
                                          <p:spTgt spid="1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
                                        </p:tgtEl>
                                        <p:attrNameLst>
                                          <p:attrName>style.visibility</p:attrName>
                                        </p:attrNameLst>
                                      </p:cBhvr>
                                      <p:to>
                                        <p:strVal val="visible"/>
                                      </p:to>
                                    </p:set>
                                    <p:animEffect transition="in" filter="fade">
                                      <p:cBhvr>
                                        <p:cTn id="12" dur="100"/>
                                        <p:tgtEl>
                                          <p:spTgt spid="18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1"/>
                                        </p:tgtEl>
                                        <p:attrNameLst>
                                          <p:attrName>style.visibility</p:attrName>
                                        </p:attrNameLst>
                                      </p:cBhvr>
                                      <p:to>
                                        <p:strVal val="visible"/>
                                      </p:to>
                                    </p:set>
                                    <p:animEffect transition="in" filter="fade">
                                      <p:cBhvr>
                                        <p:cTn id="17" dur="1"/>
                                        <p:tgtEl>
                                          <p:spTgt spid="18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2"/>
                                        </p:tgtEl>
                                        <p:attrNameLst>
                                          <p:attrName>style.visibility</p:attrName>
                                        </p:attrNameLst>
                                      </p:cBhvr>
                                      <p:to>
                                        <p:strVal val="visible"/>
                                      </p:to>
                                    </p:set>
                                    <p:animEffect transition="in" filter="fade">
                                      <p:cBhvr>
                                        <p:cTn id="22" dur="10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9"/>
          <p:cNvSpPr txBox="1">
            <a:spLocks noGrp="1"/>
          </p:cNvSpPr>
          <p:nvPr>
            <p:ph type="title"/>
          </p:nvPr>
        </p:nvSpPr>
        <p:spPr>
          <a:xfrm>
            <a:off x="1297500" y="393750"/>
            <a:ext cx="7038900" cy="64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SMTP Commands (Client)</a:t>
            </a:r>
            <a:endParaRPr/>
          </a:p>
        </p:txBody>
      </p:sp>
      <p:graphicFrame>
        <p:nvGraphicFramePr>
          <p:cNvPr id="190" name="Google Shape;190;p19"/>
          <p:cNvGraphicFramePr/>
          <p:nvPr/>
        </p:nvGraphicFramePr>
        <p:xfrm>
          <a:off x="1152600" y="1238250"/>
          <a:ext cx="7038900" cy="3175890"/>
        </p:xfrm>
        <a:graphic>
          <a:graphicData uri="http://schemas.openxmlformats.org/drawingml/2006/table">
            <a:tbl>
              <a:tblPr>
                <a:noFill/>
                <a:tableStyleId>{277DCA72-1953-46E6-8982-518F24830D23}</a:tableStyleId>
              </a:tblPr>
              <a:tblGrid>
                <a:gridCol w="1880475"/>
                <a:gridCol w="5158425"/>
              </a:tblGrid>
              <a:tr h="396200">
                <a:tc>
                  <a:txBody>
                    <a:bodyPr/>
                    <a:lstStyle/>
                    <a:p>
                      <a:pPr marL="0" lvl="0" indent="0" algn="l" rtl="0">
                        <a:spcBef>
                          <a:spcPts val="0"/>
                        </a:spcBef>
                        <a:spcAft>
                          <a:spcPts val="0"/>
                        </a:spcAft>
                        <a:buNone/>
                      </a:pPr>
                      <a:r>
                        <a:rPr lang="en" sz="1800" b="1">
                          <a:solidFill>
                            <a:schemeClr val="lt1"/>
                          </a:solidFill>
                          <a:latin typeface="Montserrat"/>
                          <a:ea typeface="Montserrat"/>
                          <a:cs typeface="Montserrat"/>
                          <a:sym typeface="Montserrat"/>
                        </a:rPr>
                        <a:t>Command</a:t>
                      </a:r>
                      <a:endParaRPr sz="1800" b="1">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sz="1800" b="1">
                          <a:solidFill>
                            <a:schemeClr val="lt1"/>
                          </a:solidFill>
                          <a:latin typeface="Montserrat"/>
                          <a:ea typeface="Montserrat"/>
                          <a:cs typeface="Montserrat"/>
                          <a:sym typeface="Montserrat"/>
                        </a:rPr>
                        <a:t>Function</a:t>
                      </a:r>
                      <a:endParaRPr sz="1800" b="1">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r>
              <a:tr h="396200">
                <a:tc>
                  <a:txBody>
                    <a:bodyPr/>
                    <a:lstStyle/>
                    <a:p>
                      <a:pPr marL="0" lvl="0" indent="0" algn="ctr" rtl="0">
                        <a:spcBef>
                          <a:spcPts val="0"/>
                        </a:spcBef>
                        <a:spcAft>
                          <a:spcPts val="0"/>
                        </a:spcAft>
                        <a:buNone/>
                      </a:pPr>
                      <a:r>
                        <a:rPr lang="en">
                          <a:solidFill>
                            <a:schemeClr val="lt1"/>
                          </a:solidFill>
                          <a:latin typeface="Montserrat"/>
                          <a:ea typeface="Montserrat"/>
                          <a:cs typeface="Montserrat"/>
                          <a:sym typeface="Montserrat"/>
                        </a:rPr>
                        <a:t>EHLO</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lt1"/>
                          </a:solidFill>
                          <a:latin typeface="Montserrat"/>
                          <a:ea typeface="Montserrat"/>
                          <a:cs typeface="Montserrat"/>
                          <a:sym typeface="Montserrat"/>
                        </a:rPr>
                        <a:t>Initiate New Session</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r>
              <a:tr h="396200">
                <a:tc>
                  <a:txBody>
                    <a:bodyPr/>
                    <a:lstStyle/>
                    <a:p>
                      <a:pPr marL="0" lvl="0" indent="0" algn="ctr" rtl="0">
                        <a:spcBef>
                          <a:spcPts val="0"/>
                        </a:spcBef>
                        <a:spcAft>
                          <a:spcPts val="0"/>
                        </a:spcAft>
                        <a:buNone/>
                      </a:pPr>
                      <a:r>
                        <a:rPr lang="en">
                          <a:solidFill>
                            <a:schemeClr val="lt1"/>
                          </a:solidFill>
                          <a:latin typeface="Montserrat"/>
                          <a:ea typeface="Montserrat"/>
                          <a:cs typeface="Montserrat"/>
                          <a:sym typeface="Montserrat"/>
                        </a:rPr>
                        <a:t>MAIL FROM &lt;email&gt;</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lt1"/>
                          </a:solidFill>
                          <a:latin typeface="Montserrat"/>
                          <a:ea typeface="Montserrat"/>
                          <a:cs typeface="Montserrat"/>
                          <a:sym typeface="Montserrat"/>
                        </a:rPr>
                        <a:t>Initiate Sending of new email and Identify Sender</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r>
              <a:tr h="381000">
                <a:tc>
                  <a:txBody>
                    <a:bodyPr/>
                    <a:lstStyle/>
                    <a:p>
                      <a:pPr marL="0" lvl="0" indent="0" algn="ctr" rtl="0">
                        <a:spcBef>
                          <a:spcPts val="0"/>
                        </a:spcBef>
                        <a:spcAft>
                          <a:spcPts val="0"/>
                        </a:spcAft>
                        <a:buNone/>
                      </a:pPr>
                      <a:r>
                        <a:rPr lang="en">
                          <a:solidFill>
                            <a:schemeClr val="lt1"/>
                          </a:solidFill>
                          <a:latin typeface="Montserrat"/>
                          <a:ea typeface="Montserrat"/>
                          <a:cs typeface="Montserrat"/>
                          <a:sym typeface="Montserrat"/>
                        </a:rPr>
                        <a:t>RCPT &lt;emails&gt;</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lt1"/>
                          </a:solidFill>
                          <a:latin typeface="Montserrat"/>
                          <a:ea typeface="Montserrat"/>
                          <a:cs typeface="Montserrat"/>
                          <a:sym typeface="Montserrat"/>
                        </a:rPr>
                        <a:t>Identify Recipients</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r>
              <a:tr h="381000">
                <a:tc>
                  <a:txBody>
                    <a:bodyPr/>
                    <a:lstStyle/>
                    <a:p>
                      <a:pPr marL="0" lvl="0" indent="0" algn="ctr" rtl="0">
                        <a:spcBef>
                          <a:spcPts val="0"/>
                        </a:spcBef>
                        <a:spcAft>
                          <a:spcPts val="0"/>
                        </a:spcAft>
                        <a:buNone/>
                      </a:pPr>
                      <a:r>
                        <a:rPr lang="en">
                          <a:solidFill>
                            <a:schemeClr val="lt1"/>
                          </a:solidFill>
                          <a:latin typeface="Montserrat"/>
                          <a:ea typeface="Montserrat"/>
                          <a:cs typeface="Montserrat"/>
                          <a:sym typeface="Montserrat"/>
                        </a:rPr>
                        <a:t>DATA</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lt1"/>
                          </a:solidFill>
                          <a:latin typeface="Montserrat"/>
                          <a:ea typeface="Montserrat"/>
                          <a:cs typeface="Montserrat"/>
                          <a:sym typeface="Montserrat"/>
                        </a:rPr>
                        <a:t>Indicates start of email </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r>
              <a:tr h="381000">
                <a:tc>
                  <a:txBody>
                    <a:bodyPr/>
                    <a:lstStyle/>
                    <a:p>
                      <a:pPr marL="0" lvl="0" indent="0" algn="ctr" rtl="0">
                        <a:spcBef>
                          <a:spcPts val="0"/>
                        </a:spcBef>
                        <a:spcAft>
                          <a:spcPts val="0"/>
                        </a:spcAft>
                        <a:buNone/>
                      </a:pPr>
                      <a:r>
                        <a:rPr lang="en">
                          <a:solidFill>
                            <a:schemeClr val="lt1"/>
                          </a:solidFill>
                          <a:latin typeface="Montserrat"/>
                          <a:ea typeface="Montserrat"/>
                          <a:cs typeface="Montserrat"/>
                          <a:sym typeface="Montserrat"/>
                        </a:rPr>
                        <a:t>.</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lt1"/>
                          </a:solidFill>
                          <a:latin typeface="Montserrat"/>
                          <a:ea typeface="Montserrat"/>
                          <a:cs typeface="Montserrat"/>
                          <a:sym typeface="Montserrat"/>
                        </a:rPr>
                        <a:t>Indicate the end of email</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tcPr>
                </a:tc>
              </a:tr>
              <a:tr h="381000">
                <a:tc>
                  <a:txBody>
                    <a:bodyPr/>
                    <a:lstStyle/>
                    <a:p>
                      <a:pPr marL="0" lvl="0" indent="0" algn="ctr" rtl="0">
                        <a:spcBef>
                          <a:spcPts val="0"/>
                        </a:spcBef>
                        <a:spcAft>
                          <a:spcPts val="0"/>
                        </a:spcAft>
                        <a:buNone/>
                      </a:pPr>
                      <a:r>
                        <a:rPr lang="en">
                          <a:solidFill>
                            <a:schemeClr val="lt1"/>
                          </a:solidFill>
                          <a:latin typeface="Montserrat"/>
                          <a:ea typeface="Montserrat"/>
                          <a:cs typeface="Montserrat"/>
                          <a:sym typeface="Montserrat"/>
                        </a:rPr>
                        <a:t>QUIT</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c>
                  <a:txBody>
                    <a:bodyPr/>
                    <a:lstStyle/>
                    <a:p>
                      <a:pPr marL="0" lvl="0" indent="0" algn="l" rtl="0">
                        <a:spcBef>
                          <a:spcPts val="0"/>
                        </a:spcBef>
                        <a:spcAft>
                          <a:spcPts val="0"/>
                        </a:spcAft>
                        <a:buNone/>
                      </a:pPr>
                      <a:r>
                        <a:rPr lang="en">
                          <a:solidFill>
                            <a:schemeClr val="lt1"/>
                          </a:solidFill>
                          <a:latin typeface="Montserrat"/>
                          <a:ea typeface="Montserrat"/>
                          <a:cs typeface="Montserrat"/>
                          <a:sym typeface="Montserrat"/>
                        </a:rPr>
                        <a:t>Terminate the session</a:t>
                      </a:r>
                      <a:endParaRPr>
                        <a:solidFill>
                          <a:schemeClr val="lt1"/>
                        </a:solidFill>
                        <a:latin typeface="Montserrat"/>
                        <a:ea typeface="Montserrat"/>
                        <a:cs typeface="Montserrat"/>
                        <a:sym typeface="Montserrat"/>
                      </a:endParaRPr>
                    </a:p>
                  </a:txBody>
                  <a:tcPr marL="91425" marR="91425" marT="109725" marB="91425">
                    <a:lnL w="38100" cap="flat" cmpd="sng">
                      <a:solidFill>
                        <a:schemeClr val="lt1"/>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1297500" y="393750"/>
            <a:ext cx="7038900" cy="56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SMTP Responses (Server)</a:t>
            </a:r>
            <a:endParaRPr/>
          </a:p>
        </p:txBody>
      </p:sp>
      <p:sp>
        <p:nvSpPr>
          <p:cNvPr id="196" name="Google Shape;196;p20"/>
          <p:cNvSpPr txBox="1">
            <a:spLocks noGrp="1"/>
          </p:cNvSpPr>
          <p:nvPr>
            <p:ph type="body" idx="1"/>
          </p:nvPr>
        </p:nvSpPr>
        <p:spPr>
          <a:xfrm>
            <a:off x="1341450" y="1251900"/>
            <a:ext cx="2928900" cy="352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t>211 → System status</a:t>
            </a:r>
            <a:endParaRPr sz="2000"/>
          </a:p>
          <a:p>
            <a:pPr marL="0" lvl="0" indent="0" algn="l" rtl="0">
              <a:spcBef>
                <a:spcPts val="1200"/>
              </a:spcBef>
              <a:spcAft>
                <a:spcPts val="0"/>
              </a:spcAft>
              <a:buNone/>
            </a:pPr>
            <a:r>
              <a:rPr lang="en" sz="2000"/>
              <a:t>214 → Help</a:t>
            </a:r>
            <a:endParaRPr sz="2000"/>
          </a:p>
          <a:p>
            <a:pPr marL="0" lvl="0" indent="0" algn="l" rtl="0">
              <a:spcBef>
                <a:spcPts val="1200"/>
              </a:spcBef>
              <a:spcAft>
                <a:spcPts val="0"/>
              </a:spcAft>
              <a:buNone/>
            </a:pPr>
            <a:r>
              <a:rPr lang="en" sz="2000"/>
              <a:t>220 → Service Ready</a:t>
            </a:r>
            <a:endParaRPr sz="2000"/>
          </a:p>
          <a:p>
            <a:pPr marL="0" lvl="0" indent="0" algn="l" rtl="0">
              <a:spcBef>
                <a:spcPts val="1200"/>
              </a:spcBef>
              <a:spcAft>
                <a:spcPts val="0"/>
              </a:spcAft>
              <a:buNone/>
            </a:pPr>
            <a:r>
              <a:rPr lang="en" sz="2000"/>
              <a:t>221 → Service Close</a:t>
            </a:r>
            <a:endParaRPr sz="2000"/>
          </a:p>
          <a:p>
            <a:pPr marL="0" lvl="0" indent="0" algn="l" rtl="0">
              <a:spcBef>
                <a:spcPts val="1200"/>
              </a:spcBef>
              <a:spcAft>
                <a:spcPts val="1200"/>
              </a:spcAft>
              <a:buNone/>
            </a:pPr>
            <a:r>
              <a:rPr lang="en" sz="2000"/>
              <a:t>250 → Ok</a:t>
            </a:r>
            <a:endParaRPr sz="2000"/>
          </a:p>
        </p:txBody>
      </p:sp>
      <p:sp>
        <p:nvSpPr>
          <p:cNvPr id="197" name="Google Shape;197;p20"/>
          <p:cNvSpPr txBox="1">
            <a:spLocks noGrp="1"/>
          </p:cNvSpPr>
          <p:nvPr>
            <p:ph type="body" idx="1"/>
          </p:nvPr>
        </p:nvSpPr>
        <p:spPr>
          <a:xfrm>
            <a:off x="4615950" y="1251900"/>
            <a:ext cx="3186600" cy="3524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t>421 → Service NA</a:t>
            </a:r>
            <a:endParaRPr sz="2000"/>
          </a:p>
          <a:p>
            <a:pPr marL="0" lvl="0" indent="0" algn="l" rtl="0">
              <a:spcBef>
                <a:spcPts val="1200"/>
              </a:spcBef>
              <a:spcAft>
                <a:spcPts val="0"/>
              </a:spcAft>
              <a:buNone/>
            </a:pPr>
            <a:r>
              <a:rPr lang="en" sz="2000"/>
              <a:t>450 → Mailbox NA</a:t>
            </a:r>
            <a:endParaRPr sz="2000"/>
          </a:p>
          <a:p>
            <a:pPr marL="0" lvl="0" indent="0" algn="l" rtl="0">
              <a:spcBef>
                <a:spcPts val="1200"/>
              </a:spcBef>
              <a:spcAft>
                <a:spcPts val="0"/>
              </a:spcAft>
              <a:buNone/>
            </a:pPr>
            <a:r>
              <a:rPr lang="en" sz="2000"/>
              <a:t>451 → Command aborted</a:t>
            </a:r>
            <a:endParaRPr sz="2000"/>
          </a:p>
          <a:p>
            <a:pPr marL="0" lvl="0" indent="0" algn="l" rtl="0">
              <a:spcBef>
                <a:spcPts val="1200"/>
              </a:spcBef>
              <a:spcAft>
                <a:spcPts val="0"/>
              </a:spcAft>
              <a:buNone/>
            </a:pPr>
            <a:r>
              <a:rPr lang="en" sz="2000"/>
              <a:t>500 → Syntax Error</a:t>
            </a:r>
            <a:endParaRPr sz="2000"/>
          </a:p>
          <a:p>
            <a:pPr marL="0" lvl="0" indent="0" algn="l" rtl="0">
              <a:spcBef>
                <a:spcPts val="1200"/>
              </a:spcBef>
              <a:spcAft>
                <a:spcPts val="0"/>
              </a:spcAft>
              <a:buNone/>
            </a:pPr>
            <a:r>
              <a:rPr lang="en" sz="2000"/>
              <a:t>554 → Transaction Failed</a:t>
            </a:r>
            <a:endParaRPr sz="2000"/>
          </a:p>
          <a:p>
            <a:pPr marL="0" lvl="0" indent="0" algn="l" rtl="0">
              <a:spcBef>
                <a:spcPts val="1200"/>
              </a:spcBef>
              <a:spcAft>
                <a:spcPts val="1200"/>
              </a:spcAft>
              <a:buNone/>
            </a:pP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1"/>
          <p:cNvSpPr/>
          <p:nvPr/>
        </p:nvSpPr>
        <p:spPr>
          <a:xfrm>
            <a:off x="1623625" y="384225"/>
            <a:ext cx="17475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Email Client</a:t>
            </a:r>
            <a:endParaRPr b="1">
              <a:solidFill>
                <a:schemeClr val="lt1"/>
              </a:solidFill>
            </a:endParaRPr>
          </a:p>
        </p:txBody>
      </p:sp>
      <p:sp>
        <p:nvSpPr>
          <p:cNvPr id="203" name="Google Shape;203;p21"/>
          <p:cNvSpPr/>
          <p:nvPr/>
        </p:nvSpPr>
        <p:spPr>
          <a:xfrm>
            <a:off x="6051900" y="384225"/>
            <a:ext cx="1747500" cy="4338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lt1"/>
                </a:solidFill>
              </a:rPr>
              <a:t>Email Server</a:t>
            </a:r>
            <a:endParaRPr b="1">
              <a:solidFill>
                <a:schemeClr val="lt1"/>
              </a:solidFill>
            </a:endParaRPr>
          </a:p>
        </p:txBody>
      </p:sp>
      <p:cxnSp>
        <p:nvCxnSpPr>
          <p:cNvPr id="204" name="Google Shape;204;p21"/>
          <p:cNvCxnSpPr/>
          <p:nvPr/>
        </p:nvCxnSpPr>
        <p:spPr>
          <a:xfrm>
            <a:off x="1896275" y="855175"/>
            <a:ext cx="12300" cy="3867000"/>
          </a:xfrm>
          <a:prstGeom prst="straightConnector1">
            <a:avLst/>
          </a:prstGeom>
          <a:noFill/>
          <a:ln w="9525" cap="flat" cmpd="sng">
            <a:solidFill>
              <a:schemeClr val="dk2"/>
            </a:solidFill>
            <a:prstDash val="solid"/>
            <a:round/>
            <a:headEnd type="none" w="med" len="med"/>
            <a:tailEnd type="none" w="med" len="med"/>
          </a:ln>
        </p:spPr>
      </p:cxnSp>
      <p:cxnSp>
        <p:nvCxnSpPr>
          <p:cNvPr id="205" name="Google Shape;205;p21"/>
          <p:cNvCxnSpPr/>
          <p:nvPr/>
        </p:nvCxnSpPr>
        <p:spPr>
          <a:xfrm>
            <a:off x="7539175" y="855175"/>
            <a:ext cx="12300" cy="3867000"/>
          </a:xfrm>
          <a:prstGeom prst="straightConnector1">
            <a:avLst/>
          </a:prstGeom>
          <a:noFill/>
          <a:ln w="9525" cap="flat" cmpd="sng">
            <a:solidFill>
              <a:schemeClr val="dk2"/>
            </a:solidFill>
            <a:prstDash val="solid"/>
            <a:round/>
            <a:headEnd type="none" w="med" len="med"/>
            <a:tailEnd type="none" w="med" len="med"/>
          </a:ln>
        </p:spPr>
      </p:cxnSp>
      <p:grpSp>
        <p:nvGrpSpPr>
          <p:cNvPr id="206" name="Google Shape;206;p21"/>
          <p:cNvGrpSpPr/>
          <p:nvPr/>
        </p:nvGrpSpPr>
        <p:grpSpPr>
          <a:xfrm>
            <a:off x="1908625" y="644600"/>
            <a:ext cx="5651700" cy="400200"/>
            <a:chOff x="1908625" y="644600"/>
            <a:chExt cx="5651700" cy="400200"/>
          </a:xfrm>
        </p:grpSpPr>
        <p:cxnSp>
          <p:nvCxnSpPr>
            <p:cNvPr id="207" name="Google Shape;207;p21"/>
            <p:cNvCxnSpPr/>
            <p:nvPr/>
          </p:nvCxnSpPr>
          <p:spPr>
            <a:xfrm flipH="1">
              <a:off x="1908625" y="1019900"/>
              <a:ext cx="5651700" cy="24900"/>
            </a:xfrm>
            <a:prstGeom prst="straightConnector1">
              <a:avLst/>
            </a:prstGeom>
            <a:noFill/>
            <a:ln w="28575" cap="flat" cmpd="sng">
              <a:solidFill>
                <a:schemeClr val="dk2"/>
              </a:solidFill>
              <a:prstDash val="solid"/>
              <a:round/>
              <a:headEnd type="none" w="med" len="med"/>
              <a:tailEnd type="triangle" w="med" len="med"/>
            </a:ln>
          </p:spPr>
        </p:cxnSp>
        <p:sp>
          <p:nvSpPr>
            <p:cNvPr id="208" name="Google Shape;208;p21"/>
            <p:cNvSpPr txBox="1"/>
            <p:nvPr/>
          </p:nvSpPr>
          <p:spPr>
            <a:xfrm>
              <a:off x="4091763" y="644600"/>
              <a:ext cx="1264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accent1"/>
                  </a:solidFill>
                  <a:latin typeface="Lato"/>
                  <a:ea typeface="Lato"/>
                  <a:cs typeface="Lato"/>
                  <a:sym typeface="Lato"/>
                </a:rPr>
                <a:t>220 -Ready</a:t>
              </a:r>
              <a:endParaRPr>
                <a:solidFill>
                  <a:schemeClr val="accent1"/>
                </a:solidFill>
                <a:latin typeface="Lato"/>
                <a:ea typeface="Lato"/>
                <a:cs typeface="Lato"/>
                <a:sym typeface="Lato"/>
              </a:endParaRPr>
            </a:p>
          </p:txBody>
        </p:sp>
      </p:grpSp>
      <p:grpSp>
        <p:nvGrpSpPr>
          <p:cNvPr id="209" name="Google Shape;209;p21"/>
          <p:cNvGrpSpPr/>
          <p:nvPr/>
        </p:nvGrpSpPr>
        <p:grpSpPr>
          <a:xfrm>
            <a:off x="1921075" y="1044800"/>
            <a:ext cx="5626800" cy="400200"/>
            <a:chOff x="1921075" y="1044800"/>
            <a:chExt cx="5626800" cy="400200"/>
          </a:xfrm>
        </p:grpSpPr>
        <p:cxnSp>
          <p:nvCxnSpPr>
            <p:cNvPr id="210" name="Google Shape;210;p21"/>
            <p:cNvCxnSpPr/>
            <p:nvPr/>
          </p:nvCxnSpPr>
          <p:spPr>
            <a:xfrm rot="10800000" flipH="1">
              <a:off x="1921075" y="1413100"/>
              <a:ext cx="5626800" cy="24600"/>
            </a:xfrm>
            <a:prstGeom prst="straightConnector1">
              <a:avLst/>
            </a:prstGeom>
            <a:noFill/>
            <a:ln w="28575" cap="flat" cmpd="sng">
              <a:solidFill>
                <a:schemeClr val="dk2"/>
              </a:solidFill>
              <a:prstDash val="solid"/>
              <a:round/>
              <a:headEnd type="none" w="med" len="med"/>
              <a:tailEnd type="triangle" w="med" len="med"/>
            </a:ln>
          </p:spPr>
        </p:cxnSp>
        <p:sp>
          <p:nvSpPr>
            <p:cNvPr id="211" name="Google Shape;211;p21"/>
            <p:cNvSpPr txBox="1"/>
            <p:nvPr/>
          </p:nvSpPr>
          <p:spPr>
            <a:xfrm>
              <a:off x="4128075" y="1044800"/>
              <a:ext cx="119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2"/>
                  </a:solidFill>
                  <a:latin typeface="Lato"/>
                  <a:ea typeface="Lato"/>
                  <a:cs typeface="Lato"/>
                  <a:sym typeface="Lato"/>
                </a:rPr>
                <a:t>ELHO</a:t>
              </a:r>
              <a:endParaRPr>
                <a:solidFill>
                  <a:schemeClr val="lt2"/>
                </a:solidFill>
                <a:latin typeface="Lato"/>
                <a:ea typeface="Lato"/>
                <a:cs typeface="Lato"/>
                <a:sym typeface="Lato"/>
              </a:endParaRPr>
            </a:p>
          </p:txBody>
        </p:sp>
      </p:grpSp>
      <p:grpSp>
        <p:nvGrpSpPr>
          <p:cNvPr id="212" name="Google Shape;212;p21"/>
          <p:cNvGrpSpPr/>
          <p:nvPr/>
        </p:nvGrpSpPr>
        <p:grpSpPr>
          <a:xfrm>
            <a:off x="1885675" y="1437700"/>
            <a:ext cx="5651700" cy="400200"/>
            <a:chOff x="1885675" y="1437700"/>
            <a:chExt cx="5651700" cy="400200"/>
          </a:xfrm>
        </p:grpSpPr>
        <p:cxnSp>
          <p:nvCxnSpPr>
            <p:cNvPr id="213" name="Google Shape;213;p21"/>
            <p:cNvCxnSpPr/>
            <p:nvPr/>
          </p:nvCxnSpPr>
          <p:spPr>
            <a:xfrm flipH="1">
              <a:off x="1885675" y="1806000"/>
              <a:ext cx="5651700" cy="24900"/>
            </a:xfrm>
            <a:prstGeom prst="straightConnector1">
              <a:avLst/>
            </a:prstGeom>
            <a:noFill/>
            <a:ln w="28575" cap="flat" cmpd="sng">
              <a:solidFill>
                <a:schemeClr val="dk2"/>
              </a:solidFill>
              <a:prstDash val="solid"/>
              <a:round/>
              <a:headEnd type="none" w="med" len="med"/>
              <a:tailEnd type="triangle" w="med" len="med"/>
            </a:ln>
          </p:spPr>
        </p:cxnSp>
        <p:sp>
          <p:nvSpPr>
            <p:cNvPr id="214" name="Google Shape;214;p21"/>
            <p:cNvSpPr txBox="1"/>
            <p:nvPr/>
          </p:nvSpPr>
          <p:spPr>
            <a:xfrm>
              <a:off x="4091763" y="1437700"/>
              <a:ext cx="1264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accent1"/>
                  </a:solidFill>
                  <a:latin typeface="Lato"/>
                  <a:ea typeface="Lato"/>
                  <a:cs typeface="Lato"/>
                  <a:sym typeface="Lato"/>
                </a:rPr>
                <a:t>250 OK</a:t>
              </a:r>
              <a:endParaRPr>
                <a:solidFill>
                  <a:schemeClr val="accent1"/>
                </a:solidFill>
                <a:latin typeface="Lato"/>
                <a:ea typeface="Lato"/>
                <a:cs typeface="Lato"/>
                <a:sym typeface="Lato"/>
              </a:endParaRPr>
            </a:p>
          </p:txBody>
        </p:sp>
      </p:grpSp>
      <p:grpSp>
        <p:nvGrpSpPr>
          <p:cNvPr id="215" name="Google Shape;215;p21"/>
          <p:cNvGrpSpPr/>
          <p:nvPr/>
        </p:nvGrpSpPr>
        <p:grpSpPr>
          <a:xfrm>
            <a:off x="1898125" y="1806000"/>
            <a:ext cx="5626800" cy="410500"/>
            <a:chOff x="1898125" y="1806000"/>
            <a:chExt cx="5626800" cy="410500"/>
          </a:xfrm>
        </p:grpSpPr>
        <p:cxnSp>
          <p:nvCxnSpPr>
            <p:cNvPr id="216" name="Google Shape;216;p21"/>
            <p:cNvCxnSpPr/>
            <p:nvPr/>
          </p:nvCxnSpPr>
          <p:spPr>
            <a:xfrm rot="10800000" flipH="1">
              <a:off x="1898125" y="2191900"/>
              <a:ext cx="5626800" cy="24600"/>
            </a:xfrm>
            <a:prstGeom prst="straightConnector1">
              <a:avLst/>
            </a:prstGeom>
            <a:noFill/>
            <a:ln w="28575" cap="flat" cmpd="sng">
              <a:solidFill>
                <a:schemeClr val="dk2"/>
              </a:solidFill>
              <a:prstDash val="solid"/>
              <a:round/>
              <a:headEnd type="none" w="med" len="med"/>
              <a:tailEnd type="triangle" w="med" len="med"/>
            </a:ln>
          </p:spPr>
        </p:cxnSp>
        <p:sp>
          <p:nvSpPr>
            <p:cNvPr id="217" name="Google Shape;217;p21"/>
            <p:cNvSpPr txBox="1"/>
            <p:nvPr/>
          </p:nvSpPr>
          <p:spPr>
            <a:xfrm>
              <a:off x="2877080" y="1806000"/>
              <a:ext cx="3693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2"/>
                  </a:solidFill>
                  <a:latin typeface="Lato"/>
                  <a:ea typeface="Lato"/>
                  <a:cs typeface="Lato"/>
                  <a:sym typeface="Lato"/>
                </a:rPr>
                <a:t>MAIL FROM &lt;abc@gmail.com&gt;</a:t>
              </a:r>
              <a:endParaRPr>
                <a:solidFill>
                  <a:schemeClr val="lt2"/>
                </a:solidFill>
                <a:latin typeface="Lato"/>
                <a:ea typeface="Lato"/>
                <a:cs typeface="Lato"/>
                <a:sym typeface="Lato"/>
              </a:endParaRPr>
            </a:p>
          </p:txBody>
        </p:sp>
      </p:grpSp>
      <p:grpSp>
        <p:nvGrpSpPr>
          <p:cNvPr id="218" name="Google Shape;218;p21"/>
          <p:cNvGrpSpPr/>
          <p:nvPr/>
        </p:nvGrpSpPr>
        <p:grpSpPr>
          <a:xfrm>
            <a:off x="1898025" y="2191900"/>
            <a:ext cx="5651700" cy="400200"/>
            <a:chOff x="1898025" y="2191900"/>
            <a:chExt cx="5651700" cy="400200"/>
          </a:xfrm>
        </p:grpSpPr>
        <p:cxnSp>
          <p:nvCxnSpPr>
            <p:cNvPr id="219" name="Google Shape;219;p21"/>
            <p:cNvCxnSpPr/>
            <p:nvPr/>
          </p:nvCxnSpPr>
          <p:spPr>
            <a:xfrm flipH="1">
              <a:off x="1898025" y="2559300"/>
              <a:ext cx="5651700" cy="24900"/>
            </a:xfrm>
            <a:prstGeom prst="straightConnector1">
              <a:avLst/>
            </a:prstGeom>
            <a:noFill/>
            <a:ln w="28575" cap="flat" cmpd="sng">
              <a:solidFill>
                <a:schemeClr val="dk2"/>
              </a:solidFill>
              <a:prstDash val="solid"/>
              <a:round/>
              <a:headEnd type="none" w="med" len="med"/>
              <a:tailEnd type="triangle" w="med" len="med"/>
            </a:ln>
          </p:spPr>
        </p:cxnSp>
        <p:sp>
          <p:nvSpPr>
            <p:cNvPr id="220" name="Google Shape;220;p21"/>
            <p:cNvSpPr txBox="1"/>
            <p:nvPr/>
          </p:nvSpPr>
          <p:spPr>
            <a:xfrm>
              <a:off x="4102363" y="2191900"/>
              <a:ext cx="1264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accent1"/>
                  </a:solidFill>
                  <a:latin typeface="Lato"/>
                  <a:ea typeface="Lato"/>
                  <a:cs typeface="Lato"/>
                  <a:sym typeface="Lato"/>
                </a:rPr>
                <a:t>250 OK</a:t>
              </a:r>
              <a:endParaRPr>
                <a:solidFill>
                  <a:schemeClr val="accent1"/>
                </a:solidFill>
                <a:latin typeface="Lato"/>
                <a:ea typeface="Lato"/>
                <a:cs typeface="Lato"/>
                <a:sym typeface="Lato"/>
              </a:endParaRPr>
            </a:p>
          </p:txBody>
        </p:sp>
      </p:grpSp>
      <p:grpSp>
        <p:nvGrpSpPr>
          <p:cNvPr id="221" name="Google Shape;221;p21"/>
          <p:cNvGrpSpPr/>
          <p:nvPr/>
        </p:nvGrpSpPr>
        <p:grpSpPr>
          <a:xfrm>
            <a:off x="1898125" y="2570500"/>
            <a:ext cx="5626800" cy="410500"/>
            <a:chOff x="1898125" y="2570500"/>
            <a:chExt cx="5626800" cy="410500"/>
          </a:xfrm>
        </p:grpSpPr>
        <p:cxnSp>
          <p:nvCxnSpPr>
            <p:cNvPr id="222" name="Google Shape;222;p21"/>
            <p:cNvCxnSpPr/>
            <p:nvPr/>
          </p:nvCxnSpPr>
          <p:spPr>
            <a:xfrm rot="10800000" flipH="1">
              <a:off x="1898125" y="2956400"/>
              <a:ext cx="5626800" cy="24600"/>
            </a:xfrm>
            <a:prstGeom prst="straightConnector1">
              <a:avLst/>
            </a:prstGeom>
            <a:noFill/>
            <a:ln w="28575" cap="flat" cmpd="sng">
              <a:solidFill>
                <a:schemeClr val="dk2"/>
              </a:solidFill>
              <a:prstDash val="solid"/>
              <a:round/>
              <a:headEnd type="none" w="med" len="med"/>
              <a:tailEnd type="triangle" w="med" len="med"/>
            </a:ln>
          </p:spPr>
        </p:cxnSp>
        <p:sp>
          <p:nvSpPr>
            <p:cNvPr id="223" name="Google Shape;223;p21"/>
            <p:cNvSpPr txBox="1"/>
            <p:nvPr/>
          </p:nvSpPr>
          <p:spPr>
            <a:xfrm>
              <a:off x="2877080" y="2570500"/>
              <a:ext cx="3693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2"/>
                  </a:solidFill>
                  <a:latin typeface="Lato"/>
                  <a:ea typeface="Lato"/>
                  <a:cs typeface="Lato"/>
                  <a:sym typeface="Lato"/>
                </a:rPr>
                <a:t>RCPT &lt;xyz@gmail.com&gt;</a:t>
              </a:r>
              <a:endParaRPr>
                <a:solidFill>
                  <a:schemeClr val="lt2"/>
                </a:solidFill>
                <a:latin typeface="Lato"/>
                <a:ea typeface="Lato"/>
                <a:cs typeface="Lato"/>
                <a:sym typeface="Lato"/>
              </a:endParaRPr>
            </a:p>
          </p:txBody>
        </p:sp>
      </p:grpSp>
      <p:grpSp>
        <p:nvGrpSpPr>
          <p:cNvPr id="224" name="Google Shape;224;p21"/>
          <p:cNvGrpSpPr/>
          <p:nvPr/>
        </p:nvGrpSpPr>
        <p:grpSpPr>
          <a:xfrm>
            <a:off x="1885675" y="2946100"/>
            <a:ext cx="5651700" cy="400200"/>
            <a:chOff x="1885675" y="2946100"/>
            <a:chExt cx="5651700" cy="400200"/>
          </a:xfrm>
        </p:grpSpPr>
        <p:cxnSp>
          <p:nvCxnSpPr>
            <p:cNvPr id="225" name="Google Shape;225;p21"/>
            <p:cNvCxnSpPr/>
            <p:nvPr/>
          </p:nvCxnSpPr>
          <p:spPr>
            <a:xfrm flipH="1">
              <a:off x="1885675" y="3313500"/>
              <a:ext cx="5651700" cy="24900"/>
            </a:xfrm>
            <a:prstGeom prst="straightConnector1">
              <a:avLst/>
            </a:prstGeom>
            <a:noFill/>
            <a:ln w="28575" cap="flat" cmpd="sng">
              <a:solidFill>
                <a:schemeClr val="dk2"/>
              </a:solidFill>
              <a:prstDash val="solid"/>
              <a:round/>
              <a:headEnd type="none" w="med" len="med"/>
              <a:tailEnd type="triangle" w="med" len="med"/>
            </a:ln>
          </p:spPr>
        </p:cxnSp>
        <p:sp>
          <p:nvSpPr>
            <p:cNvPr id="226" name="Google Shape;226;p21"/>
            <p:cNvSpPr txBox="1"/>
            <p:nvPr/>
          </p:nvSpPr>
          <p:spPr>
            <a:xfrm>
              <a:off x="4090013" y="2946100"/>
              <a:ext cx="1264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accent1"/>
                  </a:solidFill>
                  <a:latin typeface="Lato"/>
                  <a:ea typeface="Lato"/>
                  <a:cs typeface="Lato"/>
                  <a:sym typeface="Lato"/>
                </a:rPr>
                <a:t>250 OK</a:t>
              </a:r>
              <a:endParaRPr>
                <a:solidFill>
                  <a:schemeClr val="accent1"/>
                </a:solidFill>
                <a:latin typeface="Lato"/>
                <a:ea typeface="Lato"/>
                <a:cs typeface="Lato"/>
                <a:sym typeface="Lato"/>
              </a:endParaRPr>
            </a:p>
          </p:txBody>
        </p:sp>
      </p:grpSp>
      <p:grpSp>
        <p:nvGrpSpPr>
          <p:cNvPr id="227" name="Google Shape;227;p21"/>
          <p:cNvGrpSpPr/>
          <p:nvPr/>
        </p:nvGrpSpPr>
        <p:grpSpPr>
          <a:xfrm>
            <a:off x="1910475" y="3865100"/>
            <a:ext cx="5626800" cy="411400"/>
            <a:chOff x="1910475" y="3865100"/>
            <a:chExt cx="5626800" cy="411400"/>
          </a:xfrm>
        </p:grpSpPr>
        <p:cxnSp>
          <p:nvCxnSpPr>
            <p:cNvPr id="228" name="Google Shape;228;p21"/>
            <p:cNvCxnSpPr/>
            <p:nvPr/>
          </p:nvCxnSpPr>
          <p:spPr>
            <a:xfrm rot="10800000" flipH="1">
              <a:off x="1910475" y="4251900"/>
              <a:ext cx="5626800" cy="24600"/>
            </a:xfrm>
            <a:prstGeom prst="straightConnector1">
              <a:avLst/>
            </a:prstGeom>
            <a:noFill/>
            <a:ln w="28575" cap="flat" cmpd="sng">
              <a:solidFill>
                <a:schemeClr val="dk2"/>
              </a:solidFill>
              <a:prstDash val="solid"/>
              <a:round/>
              <a:headEnd type="none" w="med" len="med"/>
              <a:tailEnd type="triangle" w="med" len="med"/>
            </a:ln>
          </p:spPr>
        </p:cxnSp>
        <p:sp>
          <p:nvSpPr>
            <p:cNvPr id="229" name="Google Shape;229;p21"/>
            <p:cNvSpPr txBox="1"/>
            <p:nvPr/>
          </p:nvSpPr>
          <p:spPr>
            <a:xfrm>
              <a:off x="3988550" y="3865100"/>
              <a:ext cx="119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2"/>
                  </a:solidFill>
                  <a:latin typeface="Lato"/>
                  <a:ea typeface="Lato"/>
                  <a:cs typeface="Lato"/>
                  <a:sym typeface="Lato"/>
                </a:rPr>
                <a:t>QUIT</a:t>
              </a:r>
              <a:endParaRPr>
                <a:solidFill>
                  <a:schemeClr val="lt2"/>
                </a:solidFill>
                <a:latin typeface="Lato"/>
                <a:ea typeface="Lato"/>
                <a:cs typeface="Lato"/>
                <a:sym typeface="Lato"/>
              </a:endParaRPr>
            </a:p>
          </p:txBody>
        </p:sp>
      </p:grpSp>
      <p:grpSp>
        <p:nvGrpSpPr>
          <p:cNvPr id="230" name="Google Shape;230;p21"/>
          <p:cNvGrpSpPr/>
          <p:nvPr/>
        </p:nvGrpSpPr>
        <p:grpSpPr>
          <a:xfrm>
            <a:off x="1885675" y="4251900"/>
            <a:ext cx="5651700" cy="400200"/>
            <a:chOff x="1885675" y="4251900"/>
            <a:chExt cx="5651700" cy="400200"/>
          </a:xfrm>
        </p:grpSpPr>
        <p:cxnSp>
          <p:nvCxnSpPr>
            <p:cNvPr id="231" name="Google Shape;231;p21"/>
            <p:cNvCxnSpPr/>
            <p:nvPr/>
          </p:nvCxnSpPr>
          <p:spPr>
            <a:xfrm flipH="1">
              <a:off x="1885675" y="4627200"/>
              <a:ext cx="5651700" cy="24900"/>
            </a:xfrm>
            <a:prstGeom prst="straightConnector1">
              <a:avLst/>
            </a:prstGeom>
            <a:noFill/>
            <a:ln w="28575" cap="flat" cmpd="sng">
              <a:solidFill>
                <a:schemeClr val="dk2"/>
              </a:solidFill>
              <a:prstDash val="solid"/>
              <a:round/>
              <a:headEnd type="none" w="med" len="med"/>
              <a:tailEnd type="triangle" w="med" len="med"/>
            </a:ln>
          </p:spPr>
        </p:cxnSp>
        <p:sp>
          <p:nvSpPr>
            <p:cNvPr id="232" name="Google Shape;232;p21"/>
            <p:cNvSpPr txBox="1"/>
            <p:nvPr/>
          </p:nvSpPr>
          <p:spPr>
            <a:xfrm>
              <a:off x="4068813" y="4251900"/>
              <a:ext cx="1264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accent1"/>
                  </a:solidFill>
                  <a:latin typeface="Lato"/>
                  <a:ea typeface="Lato"/>
                  <a:cs typeface="Lato"/>
                  <a:sym typeface="Lato"/>
                </a:rPr>
                <a:t>221 -Close</a:t>
              </a:r>
              <a:endParaRPr>
                <a:solidFill>
                  <a:schemeClr val="accent1"/>
                </a:solidFill>
                <a:latin typeface="Lato"/>
                <a:ea typeface="Lato"/>
                <a:cs typeface="Lato"/>
                <a:sym typeface="Lato"/>
              </a:endParaRPr>
            </a:p>
          </p:txBody>
        </p:sp>
      </p:grpSp>
      <p:grpSp>
        <p:nvGrpSpPr>
          <p:cNvPr id="233" name="Google Shape;233;p21"/>
          <p:cNvGrpSpPr/>
          <p:nvPr/>
        </p:nvGrpSpPr>
        <p:grpSpPr>
          <a:xfrm>
            <a:off x="1898125" y="3313500"/>
            <a:ext cx="5662200" cy="587700"/>
            <a:chOff x="1898125" y="3313500"/>
            <a:chExt cx="5662200" cy="587700"/>
          </a:xfrm>
        </p:grpSpPr>
        <p:grpSp>
          <p:nvGrpSpPr>
            <p:cNvPr id="234" name="Google Shape;234;p21"/>
            <p:cNvGrpSpPr/>
            <p:nvPr/>
          </p:nvGrpSpPr>
          <p:grpSpPr>
            <a:xfrm>
              <a:off x="1898125" y="3313500"/>
              <a:ext cx="5649750" cy="587700"/>
              <a:chOff x="1898125" y="3313500"/>
              <a:chExt cx="5649750" cy="587700"/>
            </a:xfrm>
          </p:grpSpPr>
          <p:cxnSp>
            <p:nvCxnSpPr>
              <p:cNvPr id="235" name="Google Shape;235;p21"/>
              <p:cNvCxnSpPr/>
              <p:nvPr/>
            </p:nvCxnSpPr>
            <p:spPr>
              <a:xfrm rot="10800000" flipH="1">
                <a:off x="1898125" y="3700300"/>
                <a:ext cx="5626800" cy="24600"/>
              </a:xfrm>
              <a:prstGeom prst="straightConnector1">
                <a:avLst/>
              </a:prstGeom>
              <a:noFill/>
              <a:ln w="28575" cap="flat" cmpd="sng">
                <a:solidFill>
                  <a:schemeClr val="dk2"/>
                </a:solidFill>
                <a:prstDash val="solid"/>
                <a:round/>
                <a:headEnd type="none" w="med" len="med"/>
                <a:tailEnd type="triangle" w="med" len="med"/>
              </a:ln>
            </p:spPr>
          </p:cxnSp>
          <p:sp>
            <p:nvSpPr>
              <p:cNvPr id="236" name="Google Shape;236;p21"/>
              <p:cNvSpPr txBox="1"/>
              <p:nvPr/>
            </p:nvSpPr>
            <p:spPr>
              <a:xfrm>
                <a:off x="3976200" y="3313500"/>
                <a:ext cx="11916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2"/>
                    </a:solidFill>
                    <a:latin typeface="Lato"/>
                    <a:ea typeface="Lato"/>
                    <a:cs typeface="Lato"/>
                    <a:sym typeface="Lato"/>
                  </a:rPr>
                  <a:t>DATA</a:t>
                </a:r>
                <a:endParaRPr>
                  <a:solidFill>
                    <a:schemeClr val="lt2"/>
                  </a:solidFill>
                  <a:latin typeface="Lato"/>
                  <a:ea typeface="Lato"/>
                  <a:cs typeface="Lato"/>
                  <a:sym typeface="Lato"/>
                </a:endParaRPr>
              </a:p>
            </p:txBody>
          </p:sp>
          <p:cxnSp>
            <p:nvCxnSpPr>
              <p:cNvPr id="237" name="Google Shape;237;p21"/>
              <p:cNvCxnSpPr/>
              <p:nvPr/>
            </p:nvCxnSpPr>
            <p:spPr>
              <a:xfrm rot="10800000" flipH="1">
                <a:off x="1921075" y="3876600"/>
                <a:ext cx="5626800" cy="24600"/>
              </a:xfrm>
              <a:prstGeom prst="straightConnector1">
                <a:avLst/>
              </a:prstGeom>
              <a:noFill/>
              <a:ln w="28575" cap="flat" cmpd="sng">
                <a:solidFill>
                  <a:schemeClr val="dk2"/>
                </a:solidFill>
                <a:prstDash val="solid"/>
                <a:round/>
                <a:headEnd type="none" w="med" len="med"/>
                <a:tailEnd type="triangle" w="med" len="med"/>
              </a:ln>
            </p:spPr>
          </p:cxnSp>
        </p:grpSp>
        <p:cxnSp>
          <p:nvCxnSpPr>
            <p:cNvPr id="238" name="Google Shape;238;p21"/>
            <p:cNvCxnSpPr/>
            <p:nvPr/>
          </p:nvCxnSpPr>
          <p:spPr>
            <a:xfrm flipH="1">
              <a:off x="1921225" y="3792550"/>
              <a:ext cx="5639100" cy="12300"/>
            </a:xfrm>
            <a:prstGeom prst="straightConnector1">
              <a:avLst/>
            </a:prstGeom>
            <a:noFill/>
            <a:ln w="19050" cap="flat" cmpd="sng">
              <a:solidFill>
                <a:schemeClr val="lt1"/>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1000"/>
                                        <p:tgtEl>
                                          <p:spTgt spid="2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9"/>
                                        </p:tgtEl>
                                        <p:attrNameLst>
                                          <p:attrName>style.visibility</p:attrName>
                                        </p:attrNameLst>
                                      </p:cBhvr>
                                      <p:to>
                                        <p:strVal val="visible"/>
                                      </p:to>
                                    </p:set>
                                    <p:animEffect transition="in" filter="fade">
                                      <p:cBhvr>
                                        <p:cTn id="12" dur="1000"/>
                                        <p:tgtEl>
                                          <p:spTgt spid="20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2"/>
                                        </p:tgtEl>
                                        <p:attrNameLst>
                                          <p:attrName>style.visibility</p:attrName>
                                        </p:attrNameLst>
                                      </p:cBhvr>
                                      <p:to>
                                        <p:strVal val="visible"/>
                                      </p:to>
                                    </p:set>
                                    <p:animEffect transition="in" filter="fade">
                                      <p:cBhvr>
                                        <p:cTn id="17" dur="1000"/>
                                        <p:tgtEl>
                                          <p:spTgt spid="2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5"/>
                                        </p:tgtEl>
                                        <p:attrNameLst>
                                          <p:attrName>style.visibility</p:attrName>
                                        </p:attrNameLst>
                                      </p:cBhvr>
                                      <p:to>
                                        <p:strVal val="visible"/>
                                      </p:to>
                                    </p:set>
                                    <p:animEffect transition="in" filter="fade">
                                      <p:cBhvr>
                                        <p:cTn id="22" dur="1000"/>
                                        <p:tgtEl>
                                          <p:spTgt spid="2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8"/>
                                        </p:tgtEl>
                                        <p:attrNameLst>
                                          <p:attrName>style.visibility</p:attrName>
                                        </p:attrNameLst>
                                      </p:cBhvr>
                                      <p:to>
                                        <p:strVal val="visible"/>
                                      </p:to>
                                    </p:set>
                                    <p:animEffect transition="in" filter="fade">
                                      <p:cBhvr>
                                        <p:cTn id="27" dur="1000"/>
                                        <p:tgtEl>
                                          <p:spTgt spid="21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21"/>
                                        </p:tgtEl>
                                        <p:attrNameLst>
                                          <p:attrName>style.visibility</p:attrName>
                                        </p:attrNameLst>
                                      </p:cBhvr>
                                      <p:to>
                                        <p:strVal val="visible"/>
                                      </p:to>
                                    </p:set>
                                    <p:animEffect transition="in" filter="fade">
                                      <p:cBhvr>
                                        <p:cTn id="32" dur="1000"/>
                                        <p:tgtEl>
                                          <p:spTgt spid="2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4"/>
                                        </p:tgtEl>
                                        <p:attrNameLst>
                                          <p:attrName>style.visibility</p:attrName>
                                        </p:attrNameLst>
                                      </p:cBhvr>
                                      <p:to>
                                        <p:strVal val="visible"/>
                                      </p:to>
                                    </p:set>
                                    <p:animEffect transition="in" filter="fade">
                                      <p:cBhvr>
                                        <p:cTn id="37" dur="1000"/>
                                        <p:tgtEl>
                                          <p:spTgt spid="2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3"/>
                                        </p:tgtEl>
                                        <p:attrNameLst>
                                          <p:attrName>style.visibility</p:attrName>
                                        </p:attrNameLst>
                                      </p:cBhvr>
                                      <p:to>
                                        <p:strVal val="visible"/>
                                      </p:to>
                                    </p:set>
                                    <p:animEffect transition="in" filter="fade">
                                      <p:cBhvr>
                                        <p:cTn id="42" dur="1200"/>
                                        <p:tgtEl>
                                          <p:spTgt spid="2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27"/>
                                        </p:tgtEl>
                                        <p:attrNameLst>
                                          <p:attrName>style.visibility</p:attrName>
                                        </p:attrNameLst>
                                      </p:cBhvr>
                                      <p:to>
                                        <p:strVal val="visible"/>
                                      </p:to>
                                    </p:set>
                                    <p:animEffect transition="in" filter="fade">
                                      <p:cBhvr>
                                        <p:cTn id="47" dur="1000"/>
                                        <p:tgtEl>
                                          <p:spTgt spid="22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30"/>
                                        </p:tgtEl>
                                        <p:attrNameLst>
                                          <p:attrName>style.visibility</p:attrName>
                                        </p:attrNameLst>
                                      </p:cBhvr>
                                      <p:to>
                                        <p:strVal val="visible"/>
                                      </p:to>
                                    </p:set>
                                    <p:animEffect transition="in" filter="fade">
                                      <p:cBhvr>
                                        <p:cTn id="52" dur="10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900"/>
              <a:t>SMTP Advantages</a:t>
            </a:r>
            <a:endParaRPr sz="2900"/>
          </a:p>
        </p:txBody>
      </p:sp>
      <p:sp>
        <p:nvSpPr>
          <p:cNvPr id="244" name="Google Shape;244;p22"/>
          <p:cNvSpPr txBox="1">
            <a:spLocks noGrp="1"/>
          </p:cNvSpPr>
          <p:nvPr>
            <p:ph type="body" idx="1"/>
          </p:nvPr>
        </p:nvSpPr>
        <p:spPr>
          <a:xfrm>
            <a:off x="1297500" y="1189825"/>
            <a:ext cx="7038900" cy="3288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t>SMTP offers reliability in terms of the outgoing email messages.</a:t>
            </a:r>
            <a:endParaRPr sz="1900"/>
          </a:p>
          <a:p>
            <a:pPr marL="457200" lvl="0" indent="-349250" algn="l" rtl="0">
              <a:spcBef>
                <a:spcPts val="0"/>
              </a:spcBef>
              <a:spcAft>
                <a:spcPts val="0"/>
              </a:spcAft>
              <a:buSzPts val="1900"/>
              <a:buChar char="●"/>
            </a:pPr>
            <a:r>
              <a:rPr lang="en" sz="1900"/>
              <a:t>It is the simplest form of communication between various computers in a network via Email.</a:t>
            </a:r>
            <a:endParaRPr sz="1900"/>
          </a:p>
          <a:p>
            <a:pPr marL="457200" lvl="0" indent="-349250" algn="l" rtl="0">
              <a:spcBef>
                <a:spcPts val="0"/>
              </a:spcBef>
              <a:spcAft>
                <a:spcPts val="0"/>
              </a:spcAft>
              <a:buSzPts val="1900"/>
              <a:buChar char="●"/>
            </a:pPr>
            <a:r>
              <a:rPr lang="en" sz="1900"/>
              <a:t>In those cases where a particular message was not delivered successfully then, the SMTP server always tries to re-send the same message until the transmission becomes successful</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xfrm>
            <a:off x="1297500" y="6534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800"/>
              <a:t>SMTP Disadvantages</a:t>
            </a:r>
            <a:endParaRPr sz="2800"/>
          </a:p>
        </p:txBody>
      </p:sp>
      <p:sp>
        <p:nvSpPr>
          <p:cNvPr id="250" name="Google Shape;250;p2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SMTP does not provide good security.</a:t>
            </a:r>
            <a:endParaRPr sz="2000"/>
          </a:p>
          <a:p>
            <a:pPr marL="457200" lvl="0" indent="-355600" algn="l" rtl="0">
              <a:spcBef>
                <a:spcPts val="0"/>
              </a:spcBef>
              <a:spcAft>
                <a:spcPts val="0"/>
              </a:spcAft>
              <a:buSzPts val="2000"/>
              <a:buChar char="●"/>
            </a:pPr>
            <a:r>
              <a:rPr lang="en" sz="2000"/>
              <a:t>It is only limited to 7-bit ASCII characters.</a:t>
            </a:r>
            <a:endParaRPr sz="2000"/>
          </a:p>
          <a:p>
            <a:pPr marL="457200" lvl="0" indent="-355600" algn="l" rtl="0">
              <a:spcBef>
                <a:spcPts val="0"/>
              </a:spcBef>
              <a:spcAft>
                <a:spcPts val="0"/>
              </a:spcAft>
              <a:buSzPts val="2000"/>
              <a:buChar char="●"/>
            </a:pPr>
            <a:r>
              <a:rPr lang="en" sz="2000"/>
              <a:t>Beyond some specific length, email messages are rejected by SMTP servers</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4"/>
          <p:cNvSpPr txBox="1">
            <a:spLocks noGrp="1"/>
          </p:cNvSpPr>
          <p:nvPr>
            <p:ph type="title"/>
          </p:nvPr>
        </p:nvSpPr>
        <p:spPr>
          <a:xfrm>
            <a:off x="1297500" y="393750"/>
            <a:ext cx="7038900" cy="56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SMTP Security Issues</a:t>
            </a:r>
            <a:endParaRPr/>
          </a:p>
        </p:txBody>
      </p:sp>
      <p:sp>
        <p:nvSpPr>
          <p:cNvPr id="256" name="Google Shape;256;p24"/>
          <p:cNvSpPr txBox="1">
            <a:spLocks noGrp="1"/>
          </p:cNvSpPr>
          <p:nvPr>
            <p:ph type="body" idx="1"/>
          </p:nvPr>
        </p:nvSpPr>
        <p:spPr>
          <a:xfrm>
            <a:off x="1297500" y="1041100"/>
            <a:ext cx="7038900" cy="16359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SMTP was launched on 1981</a:t>
            </a:r>
            <a:endParaRPr sz="2000"/>
          </a:p>
          <a:p>
            <a:pPr marL="457200" lvl="0" indent="-355600" algn="l" rtl="0">
              <a:spcBef>
                <a:spcPts val="0"/>
              </a:spcBef>
              <a:spcAft>
                <a:spcPts val="0"/>
              </a:spcAft>
              <a:buSzPts val="2000"/>
              <a:buChar char="●"/>
            </a:pPr>
            <a:r>
              <a:rPr lang="en" sz="2000"/>
              <a:t>SMTP was designed in an era where internet security was not much of an issue; as a result, the base protocol includes no security mechanism at all.</a:t>
            </a:r>
            <a:endParaRPr sz="2000"/>
          </a:p>
        </p:txBody>
      </p:sp>
      <p:sp>
        <p:nvSpPr>
          <p:cNvPr id="257" name="Google Shape;257;p24"/>
          <p:cNvSpPr txBox="1">
            <a:spLocks noGrp="1"/>
          </p:cNvSpPr>
          <p:nvPr>
            <p:ph type="body" idx="1"/>
          </p:nvPr>
        </p:nvSpPr>
        <p:spPr>
          <a:xfrm>
            <a:off x="1474675" y="2677000"/>
            <a:ext cx="7038900" cy="1053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t>SMTP Threats</a:t>
            </a:r>
            <a:endParaRPr sz="2000"/>
          </a:p>
          <a:p>
            <a:pPr marL="0" lvl="0" indent="0" algn="l" rtl="0">
              <a:spcBef>
                <a:spcPts val="1200"/>
              </a:spcBef>
              <a:spcAft>
                <a:spcPts val="1200"/>
              </a:spcAft>
              <a:buNone/>
            </a:pPr>
            <a:r>
              <a:rPr lang="en" sz="2000"/>
              <a:t>Spam, phishing, MitM, malware, viruses, DoS, etc.</a:t>
            </a:r>
            <a:endParaRPr sz="2000"/>
          </a:p>
        </p:txBody>
      </p:sp>
      <p:sp>
        <p:nvSpPr>
          <p:cNvPr id="258" name="Google Shape;258;p24"/>
          <p:cNvSpPr txBox="1">
            <a:spLocks noGrp="1"/>
          </p:cNvSpPr>
          <p:nvPr>
            <p:ph type="body" idx="1"/>
          </p:nvPr>
        </p:nvSpPr>
        <p:spPr>
          <a:xfrm>
            <a:off x="1400300" y="3928900"/>
            <a:ext cx="7038900" cy="8553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2000"/>
              <a:t>According to Verizon report (2019),  </a:t>
            </a:r>
            <a:r>
              <a:rPr lang="en" sz="2000" u="sng"/>
              <a:t>9 out of 10</a:t>
            </a:r>
            <a:r>
              <a:rPr lang="en" sz="2000"/>
              <a:t> malware attacks occur through emails via SMTP</a:t>
            </a: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fade">
                                      <p:cBhvr>
                                        <p:cTn id="7" dur="1000"/>
                                        <p:tgtEl>
                                          <p:spTgt spid="25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8"/>
                                        </p:tgtEl>
                                        <p:attrNameLst>
                                          <p:attrName>style.visibility</p:attrName>
                                        </p:attrNameLst>
                                      </p:cBhvr>
                                      <p:to>
                                        <p:strVal val="visible"/>
                                      </p:to>
                                    </p:set>
                                    <p:animEffect transition="in" filter="fade">
                                      <p:cBhvr>
                                        <p:cTn id="12" dur="10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5"/>
          <p:cNvSpPr txBox="1">
            <a:spLocks noGrp="1"/>
          </p:cNvSpPr>
          <p:nvPr>
            <p:ph type="title"/>
          </p:nvPr>
        </p:nvSpPr>
        <p:spPr>
          <a:xfrm>
            <a:off x="1297500" y="393750"/>
            <a:ext cx="7038900" cy="585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Email Security Standards</a:t>
            </a:r>
            <a:endParaRPr/>
          </a:p>
        </p:txBody>
      </p:sp>
      <p:pic>
        <p:nvPicPr>
          <p:cNvPr id="264" name="Google Shape;264;p25"/>
          <p:cNvPicPr preferRelativeResize="0"/>
          <p:nvPr/>
        </p:nvPicPr>
        <p:blipFill rotWithShape="1">
          <a:blip r:embed="rId3">
            <a:alphaModFix/>
          </a:blip>
          <a:srcRect t="14030"/>
          <a:stretch/>
        </p:blipFill>
        <p:spPr>
          <a:xfrm>
            <a:off x="1849950" y="1788475"/>
            <a:ext cx="5934026" cy="2203650"/>
          </a:xfrm>
          <a:prstGeom prst="rect">
            <a:avLst/>
          </a:prstGeom>
          <a:noFill/>
          <a:ln>
            <a:noFill/>
          </a:ln>
        </p:spPr>
      </p:pic>
      <p:sp>
        <p:nvSpPr>
          <p:cNvPr id="265" name="Google Shape;265;p25"/>
          <p:cNvSpPr/>
          <p:nvPr/>
        </p:nvSpPr>
        <p:spPr>
          <a:xfrm>
            <a:off x="2967000" y="3519900"/>
            <a:ext cx="3210000" cy="2973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5"/>
          <p:cNvSpPr/>
          <p:nvPr/>
        </p:nvSpPr>
        <p:spPr>
          <a:xfrm>
            <a:off x="1003900" y="4325500"/>
            <a:ext cx="3036600" cy="582600"/>
          </a:xfrm>
          <a:prstGeom prst="rect">
            <a:avLst/>
          </a:prstGeom>
          <a:noFill/>
          <a:ln w="38100"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2"/>
                </a:solidFill>
              </a:rPr>
              <a:t>SSL/TLS</a:t>
            </a:r>
            <a:endParaRPr sz="2000">
              <a:solidFill>
                <a:schemeClr val="lt2"/>
              </a:solidFill>
            </a:endParaRPr>
          </a:p>
        </p:txBody>
      </p:sp>
      <p:sp>
        <p:nvSpPr>
          <p:cNvPr id="267" name="Google Shape;267;p25"/>
          <p:cNvSpPr/>
          <p:nvPr/>
        </p:nvSpPr>
        <p:spPr>
          <a:xfrm>
            <a:off x="5370250" y="4325500"/>
            <a:ext cx="3036600" cy="582600"/>
          </a:xfrm>
          <a:prstGeom prst="rect">
            <a:avLst/>
          </a:prstGeom>
          <a:noFill/>
          <a:ln w="38100" cap="flat" cmpd="sng">
            <a:solidFill>
              <a:srgbClr val="EFEFE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2"/>
                </a:solidFill>
              </a:rPr>
              <a:t>End-to-end Encryption</a:t>
            </a:r>
            <a:endParaRPr sz="2000">
              <a:solidFill>
                <a:schemeClr val="l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4"/>
                                        </p:tgtEl>
                                        <p:attrNameLst>
                                          <p:attrName>style.visibility</p:attrName>
                                        </p:attrNameLst>
                                      </p:cBhvr>
                                      <p:to>
                                        <p:strVal val="visible"/>
                                      </p:to>
                                    </p:set>
                                    <p:animEffect transition="in" filter="fade">
                                      <p:cBhvr>
                                        <p:cTn id="7" dur="100"/>
                                        <p:tgtEl>
                                          <p:spTgt spid="26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5"/>
                                        </p:tgtEl>
                                        <p:attrNameLst>
                                          <p:attrName>style.visibility</p:attrName>
                                        </p:attrNameLst>
                                      </p:cBhvr>
                                      <p:to>
                                        <p:strVal val="visible"/>
                                      </p:to>
                                    </p:set>
                                    <p:animEffect transition="in" filter="fade">
                                      <p:cBhvr>
                                        <p:cTn id="12" dur="1000"/>
                                        <p:tgtEl>
                                          <p:spTgt spid="26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6"/>
                                        </p:tgtEl>
                                        <p:attrNameLst>
                                          <p:attrName>style.visibility</p:attrName>
                                        </p:attrNameLst>
                                      </p:cBhvr>
                                      <p:to>
                                        <p:strVal val="visible"/>
                                      </p:to>
                                    </p:set>
                                    <p:animEffect transition="in" filter="fade">
                                      <p:cBhvr>
                                        <p:cTn id="17" dur="1000"/>
                                        <p:tgtEl>
                                          <p:spTgt spid="26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7"/>
                                        </p:tgtEl>
                                        <p:attrNameLst>
                                          <p:attrName>style.visibility</p:attrName>
                                        </p:attrNameLst>
                                      </p:cBhvr>
                                      <p:to>
                                        <p:strVal val="visible"/>
                                      </p:to>
                                    </p:set>
                                    <p:animEffect transition="in" filter="fade">
                                      <p:cBhvr>
                                        <p:cTn id="22" dur="1000"/>
                                        <p:tgtEl>
                                          <p:spTgt spid="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6"/>
          <p:cNvSpPr txBox="1">
            <a:spLocks noGrp="1"/>
          </p:cNvSpPr>
          <p:nvPr>
            <p:ph type="title"/>
          </p:nvPr>
        </p:nvSpPr>
        <p:spPr>
          <a:xfrm>
            <a:off x="1297500" y="393750"/>
            <a:ext cx="7038900" cy="560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700"/>
              <a:t>SSL/TLS</a:t>
            </a:r>
            <a:endParaRPr sz="2700"/>
          </a:p>
        </p:txBody>
      </p:sp>
      <p:sp>
        <p:nvSpPr>
          <p:cNvPr id="273" name="Google Shape;273;p26"/>
          <p:cNvSpPr txBox="1">
            <a:spLocks noGrp="1"/>
          </p:cNvSpPr>
          <p:nvPr>
            <p:ph type="body" idx="1"/>
          </p:nvPr>
        </p:nvSpPr>
        <p:spPr>
          <a:xfrm>
            <a:off x="1297500" y="1165025"/>
            <a:ext cx="7038900" cy="33138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These are security layers added before and after the email is sent via SMTP</a:t>
            </a:r>
            <a:endParaRPr sz="2000"/>
          </a:p>
          <a:p>
            <a:pPr marL="457200" lvl="0" indent="-355600" algn="l" rtl="0">
              <a:spcBef>
                <a:spcPts val="0"/>
              </a:spcBef>
              <a:spcAft>
                <a:spcPts val="0"/>
              </a:spcAft>
              <a:buSzPts val="2000"/>
              <a:buChar char="●"/>
            </a:pPr>
            <a:r>
              <a:rPr lang="en" sz="2000"/>
              <a:t>SSL (Secure Socket Layer) has been deprecated in 2015 after the launch of TLS (Transport Layer Security) v1.3</a:t>
            </a:r>
            <a:endParaRPr sz="2000"/>
          </a:p>
          <a:p>
            <a:pPr marL="0" lvl="0" indent="0" algn="l" rtl="0">
              <a:spcBef>
                <a:spcPts val="1200"/>
              </a:spcBef>
              <a:spcAft>
                <a:spcPts val="0"/>
              </a:spcAft>
              <a:buNone/>
            </a:pPr>
            <a:endParaRPr sz="2000"/>
          </a:p>
          <a:p>
            <a:pPr marL="457200" lvl="0" indent="-355600" algn="l" rtl="0">
              <a:spcBef>
                <a:spcPts val="1200"/>
              </a:spcBef>
              <a:spcAft>
                <a:spcPts val="0"/>
              </a:spcAft>
              <a:buSzPts val="2000"/>
              <a:buChar char="●"/>
            </a:pPr>
            <a:r>
              <a:rPr lang="en" sz="2000"/>
              <a:t>The name “SSL” and “TLS” are often used interchangeably or together but it refers only to TLS</a:t>
            </a:r>
            <a:endParaRPr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3">
                                            <p:txEl>
                                              <p:pRg st="0" end="0"/>
                                            </p:txEl>
                                          </p:spTgt>
                                        </p:tgtEl>
                                        <p:attrNameLst>
                                          <p:attrName>style.visibility</p:attrName>
                                        </p:attrNameLst>
                                      </p:cBhvr>
                                      <p:to>
                                        <p:strVal val="visible"/>
                                      </p:to>
                                    </p:set>
                                    <p:animEffect transition="in" filter="fade">
                                      <p:cBhvr>
                                        <p:cTn id="7" dur="1000"/>
                                        <p:tgtEl>
                                          <p:spTgt spid="27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3">
                                            <p:txEl>
                                              <p:pRg st="1" end="1"/>
                                            </p:txEl>
                                          </p:spTgt>
                                        </p:tgtEl>
                                        <p:attrNameLst>
                                          <p:attrName>style.visibility</p:attrName>
                                        </p:attrNameLst>
                                      </p:cBhvr>
                                      <p:to>
                                        <p:strVal val="visible"/>
                                      </p:to>
                                    </p:set>
                                    <p:animEffect transition="in" filter="fade">
                                      <p:cBhvr>
                                        <p:cTn id="12" dur="1000"/>
                                        <p:tgtEl>
                                          <p:spTgt spid="27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3">
                                            <p:txEl>
                                              <p:pRg st="2" end="2"/>
                                            </p:txEl>
                                          </p:spTgt>
                                        </p:tgtEl>
                                        <p:attrNameLst>
                                          <p:attrName>style.visibility</p:attrName>
                                        </p:attrNameLst>
                                      </p:cBhvr>
                                      <p:to>
                                        <p:strVal val="visible"/>
                                      </p:to>
                                    </p:set>
                                    <p:animEffect transition="in" filter="fade">
                                      <p:cBhvr>
                                        <p:cTn id="17" dur="1000"/>
                                        <p:tgtEl>
                                          <p:spTgt spid="27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3">
                                            <p:txEl>
                                              <p:pRg st="3" end="3"/>
                                            </p:txEl>
                                          </p:spTgt>
                                        </p:tgtEl>
                                        <p:attrNameLst>
                                          <p:attrName>style.visibility</p:attrName>
                                        </p:attrNameLst>
                                      </p:cBhvr>
                                      <p:to>
                                        <p:strVal val="visible"/>
                                      </p:to>
                                    </p:set>
                                    <p:animEffect transition="in" filter="fade">
                                      <p:cBhvr>
                                        <p:cTn id="22" dur="1000"/>
                                        <p:tgtEl>
                                          <p:spTgt spid="2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7"/>
          <p:cNvSpPr txBox="1">
            <a:spLocks noGrp="1"/>
          </p:cNvSpPr>
          <p:nvPr>
            <p:ph type="title"/>
          </p:nvPr>
        </p:nvSpPr>
        <p:spPr>
          <a:xfrm>
            <a:off x="1297500" y="393750"/>
            <a:ext cx="7038900" cy="61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600"/>
              <a:t>TLS</a:t>
            </a:r>
            <a:endParaRPr sz="2600"/>
          </a:p>
        </p:txBody>
      </p:sp>
      <p:sp>
        <p:nvSpPr>
          <p:cNvPr id="279" name="Google Shape;279;p27"/>
          <p:cNvSpPr txBox="1">
            <a:spLocks noGrp="1"/>
          </p:cNvSpPr>
          <p:nvPr>
            <p:ph type="body" idx="1"/>
          </p:nvPr>
        </p:nvSpPr>
        <p:spPr>
          <a:xfrm>
            <a:off x="1297500" y="1103075"/>
            <a:ext cx="7038900" cy="33756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AutoNum type="arabicParenR"/>
            </a:pPr>
            <a:r>
              <a:rPr lang="en" sz="2000"/>
              <a:t>Handshake : Digital Signature, Shared key generation</a:t>
            </a:r>
            <a:endParaRPr sz="2000"/>
          </a:p>
          <a:p>
            <a:pPr marL="457200" lvl="0" indent="-355600" algn="l" rtl="0">
              <a:spcBef>
                <a:spcPts val="0"/>
              </a:spcBef>
              <a:spcAft>
                <a:spcPts val="0"/>
              </a:spcAft>
              <a:buSzPts val="2000"/>
              <a:buAutoNum type="arabicParenR"/>
            </a:pPr>
            <a:r>
              <a:rPr lang="en" sz="2000"/>
              <a:t>Transmission : Email is encrypted using the Shared key and sent using SMTP</a:t>
            </a:r>
            <a:endParaRPr sz="2000"/>
          </a:p>
          <a:p>
            <a:pPr marL="0" lvl="0" indent="0" algn="l" rtl="0">
              <a:spcBef>
                <a:spcPts val="1200"/>
              </a:spcBef>
              <a:spcAft>
                <a:spcPts val="0"/>
              </a:spcAft>
              <a:buNone/>
            </a:pPr>
            <a:endParaRPr sz="2000"/>
          </a:p>
          <a:p>
            <a:pPr marL="0" lvl="0" indent="0" algn="l" rtl="0">
              <a:spcBef>
                <a:spcPts val="1200"/>
              </a:spcBef>
              <a:spcAft>
                <a:spcPts val="0"/>
              </a:spcAft>
              <a:buNone/>
            </a:pPr>
            <a:r>
              <a:rPr lang="en" sz="2000"/>
              <a:t>TLS security standard is given by the email service provider. Not all email service providers provide TLS. </a:t>
            </a:r>
            <a:endParaRPr sz="2000"/>
          </a:p>
          <a:p>
            <a:pPr marL="0" lvl="0" indent="0" algn="l" rtl="0">
              <a:spcBef>
                <a:spcPts val="1200"/>
              </a:spcBef>
              <a:spcAft>
                <a:spcPts val="1200"/>
              </a:spcAft>
              <a:buNone/>
            </a:pPr>
            <a:r>
              <a:rPr lang="en" sz="2000"/>
              <a:t>TLS approach is either </a:t>
            </a:r>
            <a:r>
              <a:rPr lang="en" sz="2000" b="1" u="sng"/>
              <a:t>Opportunistic TLS</a:t>
            </a:r>
            <a:r>
              <a:rPr lang="en" sz="2000"/>
              <a:t> or </a:t>
            </a:r>
            <a:r>
              <a:rPr lang="en" sz="2000" b="1" u="sng"/>
              <a:t>Forced TLS </a:t>
            </a:r>
            <a:endParaRPr sz="2000" b="1" u="sng"/>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9">
                                            <p:txEl>
                                              <p:pRg st="0" end="0"/>
                                            </p:txEl>
                                          </p:spTgt>
                                        </p:tgtEl>
                                        <p:attrNameLst>
                                          <p:attrName>style.visibility</p:attrName>
                                        </p:attrNameLst>
                                      </p:cBhvr>
                                      <p:to>
                                        <p:strVal val="visible"/>
                                      </p:to>
                                    </p:set>
                                    <p:animEffect transition="in" filter="fade">
                                      <p:cBhvr>
                                        <p:cTn id="7" dur="1000"/>
                                        <p:tgtEl>
                                          <p:spTgt spid="2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9">
                                            <p:txEl>
                                              <p:pRg st="1" end="1"/>
                                            </p:txEl>
                                          </p:spTgt>
                                        </p:tgtEl>
                                        <p:attrNameLst>
                                          <p:attrName>style.visibility</p:attrName>
                                        </p:attrNameLst>
                                      </p:cBhvr>
                                      <p:to>
                                        <p:strVal val="visible"/>
                                      </p:to>
                                    </p:set>
                                    <p:animEffect transition="in" filter="fade">
                                      <p:cBhvr>
                                        <p:cTn id="12" dur="1000"/>
                                        <p:tgtEl>
                                          <p:spTgt spid="2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9">
                                            <p:txEl>
                                              <p:pRg st="2" end="2"/>
                                            </p:txEl>
                                          </p:spTgt>
                                        </p:tgtEl>
                                        <p:attrNameLst>
                                          <p:attrName>style.visibility</p:attrName>
                                        </p:attrNameLst>
                                      </p:cBhvr>
                                      <p:to>
                                        <p:strVal val="visible"/>
                                      </p:to>
                                    </p:set>
                                    <p:animEffect transition="in" filter="fade">
                                      <p:cBhvr>
                                        <p:cTn id="17" dur="1000"/>
                                        <p:tgtEl>
                                          <p:spTgt spid="2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9">
                                            <p:txEl>
                                              <p:pRg st="3" end="3"/>
                                            </p:txEl>
                                          </p:spTgt>
                                        </p:tgtEl>
                                        <p:attrNameLst>
                                          <p:attrName>style.visibility</p:attrName>
                                        </p:attrNameLst>
                                      </p:cBhvr>
                                      <p:to>
                                        <p:strVal val="visible"/>
                                      </p:to>
                                    </p:set>
                                    <p:animEffect transition="in" filter="fade">
                                      <p:cBhvr>
                                        <p:cTn id="22" dur="1000"/>
                                        <p:tgtEl>
                                          <p:spTgt spid="2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9">
                                            <p:txEl>
                                              <p:pRg st="4" end="4"/>
                                            </p:txEl>
                                          </p:spTgt>
                                        </p:tgtEl>
                                        <p:attrNameLst>
                                          <p:attrName>style.visibility</p:attrName>
                                        </p:attrNameLst>
                                      </p:cBhvr>
                                      <p:to>
                                        <p:strVal val="visible"/>
                                      </p:to>
                                    </p:set>
                                    <p:animEffect transition="in" filter="fade">
                                      <p:cBhvr>
                                        <p:cTn id="27" dur="1000"/>
                                        <p:tgtEl>
                                          <p:spTgt spid="2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28"/>
          <p:cNvSpPr txBox="1">
            <a:spLocks noGrp="1"/>
          </p:cNvSpPr>
          <p:nvPr>
            <p:ph type="title"/>
          </p:nvPr>
        </p:nvSpPr>
        <p:spPr>
          <a:xfrm>
            <a:off x="1297500" y="393750"/>
            <a:ext cx="7038900" cy="61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Opportunistic TLS		Forced TLS</a:t>
            </a:r>
            <a:endParaRPr/>
          </a:p>
        </p:txBody>
      </p:sp>
      <p:sp>
        <p:nvSpPr>
          <p:cNvPr id="285" name="Google Shape;285;p28"/>
          <p:cNvSpPr txBox="1">
            <a:spLocks noGrp="1"/>
          </p:cNvSpPr>
          <p:nvPr>
            <p:ph type="body" idx="1"/>
          </p:nvPr>
        </p:nvSpPr>
        <p:spPr>
          <a:xfrm>
            <a:off x="1297500" y="1003950"/>
            <a:ext cx="3403200" cy="3474900"/>
          </a:xfrm>
          <a:prstGeom prst="rect">
            <a:avLst/>
          </a:prstGeom>
        </p:spPr>
        <p:txBody>
          <a:bodyPr spcFirstLastPara="1" wrap="square" lIns="91425" tIns="91425" rIns="91425" bIns="91425" anchor="t" anchorCtr="0">
            <a:normAutofit lnSpcReduction="10000"/>
          </a:bodyPr>
          <a:lstStyle/>
          <a:p>
            <a:pPr marL="457200" lvl="0" indent="-330200" algn="l" rtl="0">
              <a:spcBef>
                <a:spcPts val="0"/>
              </a:spcBef>
              <a:spcAft>
                <a:spcPts val="0"/>
              </a:spcAft>
              <a:buSzPts val="1600"/>
              <a:buChar char="●"/>
            </a:pPr>
            <a:r>
              <a:rPr lang="en" sz="1600"/>
              <a:t>During Handshake, asks if TLS is available</a:t>
            </a:r>
            <a:endParaRPr sz="1600"/>
          </a:p>
          <a:p>
            <a:pPr marL="457200" lvl="0" indent="-330200" algn="l" rtl="0">
              <a:spcBef>
                <a:spcPts val="0"/>
              </a:spcBef>
              <a:spcAft>
                <a:spcPts val="0"/>
              </a:spcAft>
              <a:buSzPts val="1600"/>
              <a:buChar char="●"/>
            </a:pPr>
            <a:r>
              <a:rPr lang="en" sz="1600"/>
              <a:t>If TLS is available then the email will be sent using TLS encryption</a:t>
            </a:r>
            <a:endParaRPr sz="1600"/>
          </a:p>
          <a:p>
            <a:pPr marL="457200" lvl="0" indent="-330200" algn="l" rtl="0">
              <a:spcBef>
                <a:spcPts val="0"/>
              </a:spcBef>
              <a:spcAft>
                <a:spcPts val="0"/>
              </a:spcAft>
              <a:buSzPts val="1600"/>
              <a:buChar char="●"/>
            </a:pPr>
            <a:r>
              <a:rPr lang="en" sz="1600"/>
              <a:t>If TLS is not available then the email will be sent through simple SMTP without any encryption</a:t>
            </a:r>
            <a:endParaRPr sz="1600"/>
          </a:p>
          <a:p>
            <a:pPr marL="457200" lvl="0" indent="-330200" algn="l" rtl="0">
              <a:spcBef>
                <a:spcPts val="0"/>
              </a:spcBef>
              <a:spcAft>
                <a:spcPts val="0"/>
              </a:spcAft>
              <a:buSzPts val="1600"/>
              <a:buChar char="●"/>
            </a:pPr>
            <a:r>
              <a:rPr lang="en" sz="1600"/>
              <a:t>Ensures maximum deliverability for cost of occasional privacy</a:t>
            </a:r>
            <a:endParaRPr sz="1600"/>
          </a:p>
        </p:txBody>
      </p:sp>
      <p:sp>
        <p:nvSpPr>
          <p:cNvPr id="286" name="Google Shape;286;p28"/>
          <p:cNvSpPr txBox="1">
            <a:spLocks noGrp="1"/>
          </p:cNvSpPr>
          <p:nvPr>
            <p:ph type="body" idx="2"/>
          </p:nvPr>
        </p:nvSpPr>
        <p:spPr>
          <a:xfrm>
            <a:off x="4933225" y="1003850"/>
            <a:ext cx="3403200" cy="34749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 sz="1600"/>
              <a:t>During Handshake, demands for TLS encryption</a:t>
            </a:r>
            <a:endParaRPr sz="1600"/>
          </a:p>
          <a:p>
            <a:pPr marL="457200" lvl="0" indent="-330200" algn="l" rtl="0">
              <a:spcBef>
                <a:spcPts val="0"/>
              </a:spcBef>
              <a:spcAft>
                <a:spcPts val="0"/>
              </a:spcAft>
              <a:buSzPts val="1600"/>
              <a:buChar char="●"/>
            </a:pPr>
            <a:r>
              <a:rPr lang="en" sz="1600"/>
              <a:t>If TLS is available then the email will be sent using TLS encryption</a:t>
            </a:r>
            <a:endParaRPr sz="1600"/>
          </a:p>
          <a:p>
            <a:pPr marL="457200" lvl="0" indent="-330200" algn="l" rtl="0">
              <a:spcBef>
                <a:spcPts val="0"/>
              </a:spcBef>
              <a:spcAft>
                <a:spcPts val="0"/>
              </a:spcAft>
              <a:buSzPts val="1600"/>
              <a:buChar char="●"/>
            </a:pPr>
            <a:r>
              <a:rPr lang="en" sz="1600"/>
              <a:t>If TLS is not available then the Transmission will terminate</a:t>
            </a:r>
            <a:endParaRPr sz="1600"/>
          </a:p>
          <a:p>
            <a:pPr marL="457200" lvl="0" indent="-330200" algn="l" rtl="0">
              <a:spcBef>
                <a:spcPts val="0"/>
              </a:spcBef>
              <a:spcAft>
                <a:spcPts val="0"/>
              </a:spcAft>
              <a:buSzPts val="1600"/>
              <a:buChar char="●"/>
            </a:pPr>
            <a:r>
              <a:rPr lang="en" sz="1600"/>
              <a:t>Ensures maximum privacy at the cost of deliverability </a:t>
            </a:r>
            <a:endParaRPr sz="1600"/>
          </a:p>
          <a:p>
            <a:pPr marL="0" lvl="0" indent="0" algn="l" rtl="0">
              <a:spcBef>
                <a:spcPts val="1200"/>
              </a:spcBef>
              <a:spcAft>
                <a:spcPts val="1200"/>
              </a:spcAft>
              <a:buNone/>
            </a:pPr>
            <a:endParaRPr sz="1600"/>
          </a:p>
        </p:txBody>
      </p:sp>
      <p:grpSp>
        <p:nvGrpSpPr>
          <p:cNvPr id="287" name="Google Shape;287;p28"/>
          <p:cNvGrpSpPr/>
          <p:nvPr/>
        </p:nvGrpSpPr>
        <p:grpSpPr>
          <a:xfrm>
            <a:off x="3750113" y="4215313"/>
            <a:ext cx="1643787" cy="690374"/>
            <a:chOff x="3750113" y="4215313"/>
            <a:chExt cx="1643787" cy="690374"/>
          </a:xfrm>
        </p:grpSpPr>
        <p:grpSp>
          <p:nvGrpSpPr>
            <p:cNvPr id="288" name="Google Shape;288;p28"/>
            <p:cNvGrpSpPr/>
            <p:nvPr/>
          </p:nvGrpSpPr>
          <p:grpSpPr>
            <a:xfrm>
              <a:off x="3750113" y="4215313"/>
              <a:ext cx="1643787" cy="690374"/>
              <a:chOff x="5631675" y="3930250"/>
              <a:chExt cx="1643787" cy="690374"/>
            </a:xfrm>
          </p:grpSpPr>
          <p:grpSp>
            <p:nvGrpSpPr>
              <p:cNvPr id="289" name="Google Shape;289;p28"/>
              <p:cNvGrpSpPr/>
              <p:nvPr/>
            </p:nvGrpSpPr>
            <p:grpSpPr>
              <a:xfrm>
                <a:off x="6774974" y="4021231"/>
                <a:ext cx="500489" cy="508419"/>
                <a:chOff x="7981725" y="4362675"/>
                <a:chExt cx="619800" cy="610200"/>
              </a:xfrm>
            </p:grpSpPr>
            <p:sp>
              <p:nvSpPr>
                <p:cNvPr id="290" name="Google Shape;290;p28"/>
                <p:cNvSpPr/>
                <p:nvPr/>
              </p:nvSpPr>
              <p:spPr>
                <a:xfrm>
                  <a:off x="7981725" y="4362675"/>
                  <a:ext cx="619800" cy="610200"/>
                </a:xfrm>
                <a:prstGeom prst="ellipse">
                  <a:avLst/>
                </a:prstGeom>
                <a:solidFill>
                  <a:srgbClr val="6FA8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1" name="Google Shape;291;p28"/>
                <p:cNvPicPr preferRelativeResize="0"/>
                <p:nvPr/>
              </p:nvPicPr>
              <p:blipFill>
                <a:blip r:embed="rId3">
                  <a:alphaModFix/>
                </a:blip>
                <a:stretch>
                  <a:fillRect/>
                </a:stretch>
              </p:blipFill>
              <p:spPr>
                <a:xfrm>
                  <a:off x="8095172" y="4471325"/>
                  <a:ext cx="392900" cy="392900"/>
                </a:xfrm>
                <a:prstGeom prst="rect">
                  <a:avLst/>
                </a:prstGeom>
                <a:noFill/>
                <a:ln>
                  <a:noFill/>
                </a:ln>
              </p:spPr>
            </p:pic>
          </p:grpSp>
          <p:pic>
            <p:nvPicPr>
              <p:cNvPr id="292" name="Google Shape;292;p28"/>
              <p:cNvPicPr preferRelativeResize="0"/>
              <p:nvPr/>
            </p:nvPicPr>
            <p:blipFill>
              <a:blip r:embed="rId4">
                <a:alphaModFix/>
              </a:blip>
              <a:stretch>
                <a:fillRect/>
              </a:stretch>
            </p:blipFill>
            <p:spPr>
              <a:xfrm>
                <a:off x="5631675" y="3930250"/>
                <a:ext cx="690374" cy="690374"/>
              </a:xfrm>
              <a:prstGeom prst="rect">
                <a:avLst/>
              </a:prstGeom>
              <a:noFill/>
              <a:ln>
                <a:noFill/>
              </a:ln>
            </p:spPr>
          </p:pic>
        </p:grpSp>
        <p:cxnSp>
          <p:nvCxnSpPr>
            <p:cNvPr id="293" name="Google Shape;293;p28"/>
            <p:cNvCxnSpPr>
              <a:stCxn id="292" idx="3"/>
              <a:endCxn id="290" idx="2"/>
            </p:cNvCxnSpPr>
            <p:nvPr/>
          </p:nvCxnSpPr>
          <p:spPr>
            <a:xfrm>
              <a:off x="4440487" y="4560500"/>
              <a:ext cx="453000" cy="0"/>
            </a:xfrm>
            <a:prstGeom prst="straightConnector1">
              <a:avLst/>
            </a:prstGeom>
            <a:noFill/>
            <a:ln w="38100" cap="flat" cmpd="sng">
              <a:solidFill>
                <a:schemeClr val="dk2"/>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fade">
                                      <p:cBhvr>
                                        <p:cTn id="7" dur="1000"/>
                                        <p:tgtEl>
                                          <p:spTgt spid="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9"/>
          <p:cNvSpPr txBox="1">
            <a:spLocks noGrp="1"/>
          </p:cNvSpPr>
          <p:nvPr>
            <p:ph type="title"/>
          </p:nvPr>
        </p:nvSpPr>
        <p:spPr>
          <a:xfrm>
            <a:off x="1198350" y="245025"/>
            <a:ext cx="7038900" cy="622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End-to-end encryption</a:t>
            </a:r>
            <a:endParaRPr/>
          </a:p>
        </p:txBody>
      </p:sp>
      <p:sp>
        <p:nvSpPr>
          <p:cNvPr id="299" name="Google Shape;299;p29"/>
          <p:cNvSpPr txBox="1">
            <a:spLocks noGrp="1"/>
          </p:cNvSpPr>
          <p:nvPr>
            <p:ph type="body" idx="1"/>
          </p:nvPr>
        </p:nvSpPr>
        <p:spPr>
          <a:xfrm>
            <a:off x="1198350" y="867525"/>
            <a:ext cx="7038900" cy="4040400"/>
          </a:xfrm>
          <a:prstGeom prst="rect">
            <a:avLst/>
          </a:prstGeom>
        </p:spPr>
        <p:txBody>
          <a:bodyPr spcFirstLastPara="1" wrap="square" lIns="91425" tIns="91425" rIns="91425" bIns="91425" anchor="t" anchorCtr="0">
            <a:normAutofit/>
          </a:bodyPr>
          <a:lstStyle/>
          <a:p>
            <a:pPr marL="457200" lvl="0" indent="-355600" algn="l" rtl="0">
              <a:spcBef>
                <a:spcPts val="0"/>
              </a:spcBef>
              <a:spcAft>
                <a:spcPts val="0"/>
              </a:spcAft>
              <a:buSzPts val="2000"/>
              <a:buChar char="●"/>
            </a:pPr>
            <a:r>
              <a:rPr lang="en" sz="2000"/>
              <a:t>SSL/TLS encrypts the email at sender’s client and decrypts the email at receiver’s server. The email without any encryption then gets retrieved by receiver’s inbox. Also from sender’s device to the sender’s client, the email is not encrypted</a:t>
            </a:r>
            <a:endParaRPr sz="2000"/>
          </a:p>
          <a:p>
            <a:pPr marL="457200" lvl="0" indent="-355600" algn="l" rtl="0">
              <a:spcBef>
                <a:spcPts val="0"/>
              </a:spcBef>
              <a:spcAft>
                <a:spcPts val="0"/>
              </a:spcAft>
              <a:buSzPts val="2000"/>
              <a:buChar char="●"/>
            </a:pPr>
            <a:r>
              <a:rPr lang="en" sz="2000"/>
              <a:t>A message is encrypted on a sender’s device before it’s even sent from a client. When it arrives at the recipient’s device, it’s decrypted by the recipient.</a:t>
            </a:r>
            <a:endParaRPr sz="2000"/>
          </a:p>
          <a:p>
            <a:pPr marL="457200" lvl="0" indent="-355600" algn="l" rtl="0">
              <a:spcBef>
                <a:spcPts val="0"/>
              </a:spcBef>
              <a:spcAft>
                <a:spcPts val="0"/>
              </a:spcAft>
              <a:buSzPts val="2000"/>
              <a:buChar char="●"/>
            </a:pPr>
            <a:r>
              <a:rPr lang="en" sz="2000"/>
              <a:t>Uses Asymmetric key Cryptography</a:t>
            </a:r>
            <a:endParaRPr sz="2000"/>
          </a:p>
          <a:p>
            <a:pPr marL="457200" lvl="0" indent="-355600" algn="l" rtl="0">
              <a:spcBef>
                <a:spcPts val="0"/>
              </a:spcBef>
              <a:spcAft>
                <a:spcPts val="0"/>
              </a:spcAft>
              <a:buSzPts val="2000"/>
              <a:buChar char="●"/>
            </a:pPr>
            <a:r>
              <a:rPr lang="en" sz="2000"/>
              <a:t>S/MIME and PGP are some of the most popular email security standard protocol</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30"/>
          <p:cNvPicPr preferRelativeResize="0"/>
          <p:nvPr/>
        </p:nvPicPr>
        <p:blipFill>
          <a:blip r:embed="rId3">
            <a:alphaModFix/>
          </a:blip>
          <a:stretch>
            <a:fillRect/>
          </a:stretch>
        </p:blipFill>
        <p:spPr>
          <a:xfrm>
            <a:off x="1361375" y="890575"/>
            <a:ext cx="6991350" cy="33623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1"/>
          <p:cNvSpPr txBox="1">
            <a:spLocks noGrp="1"/>
          </p:cNvSpPr>
          <p:nvPr>
            <p:ph type="title"/>
          </p:nvPr>
        </p:nvSpPr>
        <p:spPr>
          <a:xfrm>
            <a:off x="1297500" y="393750"/>
            <a:ext cx="7038900" cy="56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Multipurpose Internet Mail Extension (MIME)</a:t>
            </a:r>
            <a:endParaRPr/>
          </a:p>
        </p:txBody>
      </p:sp>
      <p:sp>
        <p:nvSpPr>
          <p:cNvPr id="310" name="Google Shape;310;p31"/>
          <p:cNvSpPr txBox="1">
            <a:spLocks noGrp="1"/>
          </p:cNvSpPr>
          <p:nvPr>
            <p:ph type="body" idx="1"/>
          </p:nvPr>
        </p:nvSpPr>
        <p:spPr>
          <a:xfrm>
            <a:off x="1297500" y="1041100"/>
            <a:ext cx="7038900" cy="15306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Used to extend the capabilities of SMTP</a:t>
            </a:r>
            <a:endParaRPr sz="1800"/>
          </a:p>
          <a:p>
            <a:pPr marL="457200" lvl="0" indent="-342900" algn="l" rtl="0">
              <a:spcBef>
                <a:spcPts val="0"/>
              </a:spcBef>
              <a:spcAft>
                <a:spcPts val="0"/>
              </a:spcAft>
              <a:buSzPts val="1800"/>
              <a:buChar char="●"/>
            </a:pPr>
            <a:r>
              <a:rPr lang="en" sz="1800"/>
              <a:t>SMTP only supports 7-bit ASCII values for data transfer</a:t>
            </a:r>
            <a:endParaRPr sz="1800"/>
          </a:p>
          <a:p>
            <a:pPr marL="457200" lvl="0" indent="-342900" algn="l" rtl="0">
              <a:spcBef>
                <a:spcPts val="0"/>
              </a:spcBef>
              <a:spcAft>
                <a:spcPts val="0"/>
              </a:spcAft>
              <a:buSzPts val="1800"/>
              <a:buChar char="●"/>
            </a:pPr>
            <a:r>
              <a:rPr lang="en" sz="1800"/>
              <a:t>MIME </a:t>
            </a:r>
            <a:r>
              <a:rPr lang="en" sz="1800" b="1"/>
              <a:t>converts </a:t>
            </a:r>
            <a:r>
              <a:rPr lang="en" sz="1800" b="1" u="sng"/>
              <a:t>Non ASCII</a:t>
            </a:r>
            <a:r>
              <a:rPr lang="en" sz="1800"/>
              <a:t> data into </a:t>
            </a:r>
            <a:r>
              <a:rPr lang="en" sz="1800" b="1" u="sng"/>
              <a:t>7-bit NVT ASCII</a:t>
            </a:r>
            <a:r>
              <a:rPr lang="en" sz="1800"/>
              <a:t> values and vice versa</a:t>
            </a:r>
            <a:endParaRPr sz="1800"/>
          </a:p>
        </p:txBody>
      </p:sp>
      <p:pic>
        <p:nvPicPr>
          <p:cNvPr id="311" name="Google Shape;311;p31"/>
          <p:cNvPicPr preferRelativeResize="0"/>
          <p:nvPr/>
        </p:nvPicPr>
        <p:blipFill>
          <a:blip r:embed="rId3">
            <a:alphaModFix/>
          </a:blip>
          <a:stretch>
            <a:fillRect/>
          </a:stretch>
        </p:blipFill>
        <p:spPr>
          <a:xfrm>
            <a:off x="1269600" y="2484825"/>
            <a:ext cx="7094700" cy="2267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2"/>
          <p:cNvSpPr txBox="1">
            <a:spLocks noGrp="1"/>
          </p:cNvSpPr>
          <p:nvPr>
            <p:ph type="title"/>
          </p:nvPr>
        </p:nvSpPr>
        <p:spPr>
          <a:xfrm>
            <a:off x="1297500" y="393750"/>
            <a:ext cx="7038900" cy="585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Benefits of MIME</a:t>
            </a:r>
            <a:endParaRPr/>
          </a:p>
        </p:txBody>
      </p:sp>
      <p:sp>
        <p:nvSpPr>
          <p:cNvPr id="317" name="Google Shape;317;p32"/>
          <p:cNvSpPr txBox="1">
            <a:spLocks noGrp="1"/>
          </p:cNvSpPr>
          <p:nvPr>
            <p:ph type="body" idx="1"/>
          </p:nvPr>
        </p:nvSpPr>
        <p:spPr>
          <a:xfrm>
            <a:off x="1297500" y="979050"/>
            <a:ext cx="7038900" cy="954300"/>
          </a:xfrm>
          <a:prstGeom prst="rect">
            <a:avLst/>
          </a:prstGeom>
        </p:spPr>
        <p:txBody>
          <a:bodyPr spcFirstLastPara="1" wrap="square" lIns="91425" tIns="91425" rIns="91425" bIns="91425" anchor="t" anchorCtr="0">
            <a:normAutofit/>
          </a:bodyPr>
          <a:lstStyle/>
          <a:p>
            <a:pPr marL="457200" lvl="0" indent="-361950" algn="l" rtl="0">
              <a:spcBef>
                <a:spcPts val="0"/>
              </a:spcBef>
              <a:spcAft>
                <a:spcPts val="0"/>
              </a:spcAft>
              <a:buSzPts val="2100"/>
              <a:buChar char="●"/>
            </a:pPr>
            <a:r>
              <a:rPr lang="en" sz="2100"/>
              <a:t>It supports multiple attachments in a single e-mail</a:t>
            </a:r>
            <a:endParaRPr sz="2100"/>
          </a:p>
          <a:p>
            <a:pPr marL="457200" lvl="0" indent="-361950" algn="l" rtl="0">
              <a:spcBef>
                <a:spcPts val="0"/>
              </a:spcBef>
              <a:spcAft>
                <a:spcPts val="0"/>
              </a:spcAft>
              <a:buSzPts val="2100"/>
              <a:buChar char="●"/>
            </a:pPr>
            <a:r>
              <a:rPr lang="en" sz="2100"/>
              <a:t>It supports the non-ASCII characters</a:t>
            </a:r>
            <a:endParaRPr sz="2100"/>
          </a:p>
        </p:txBody>
      </p:sp>
      <p:sp>
        <p:nvSpPr>
          <p:cNvPr id="318" name="Google Shape;318;p32"/>
          <p:cNvSpPr txBox="1">
            <a:spLocks noGrp="1"/>
          </p:cNvSpPr>
          <p:nvPr>
            <p:ph type="title"/>
          </p:nvPr>
        </p:nvSpPr>
        <p:spPr>
          <a:xfrm>
            <a:off x="1189625" y="1933350"/>
            <a:ext cx="7038900" cy="585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MIME Headers</a:t>
            </a:r>
            <a:endParaRPr/>
          </a:p>
        </p:txBody>
      </p:sp>
      <p:sp>
        <p:nvSpPr>
          <p:cNvPr id="319" name="Google Shape;319;p32"/>
          <p:cNvSpPr txBox="1">
            <a:spLocks noGrp="1"/>
          </p:cNvSpPr>
          <p:nvPr>
            <p:ph type="body" idx="1"/>
          </p:nvPr>
        </p:nvSpPr>
        <p:spPr>
          <a:xfrm>
            <a:off x="1189625" y="2518650"/>
            <a:ext cx="7038900" cy="2240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arenR"/>
            </a:pPr>
            <a:r>
              <a:rPr lang="en" sz="1800"/>
              <a:t>MIME Version</a:t>
            </a:r>
            <a:endParaRPr sz="1800"/>
          </a:p>
          <a:p>
            <a:pPr marL="457200" lvl="0" indent="-342900" algn="l" rtl="0">
              <a:spcBef>
                <a:spcPts val="0"/>
              </a:spcBef>
              <a:spcAft>
                <a:spcPts val="0"/>
              </a:spcAft>
              <a:buSzPts val="1800"/>
              <a:buAutoNum type="arabicParenR"/>
            </a:pPr>
            <a:r>
              <a:rPr lang="en" sz="1800"/>
              <a:t>Content Type</a:t>
            </a:r>
            <a:endParaRPr sz="1800"/>
          </a:p>
          <a:p>
            <a:pPr marL="457200" lvl="0" indent="-342900" algn="l" rtl="0">
              <a:spcBef>
                <a:spcPts val="0"/>
              </a:spcBef>
              <a:spcAft>
                <a:spcPts val="0"/>
              </a:spcAft>
              <a:buSzPts val="1800"/>
              <a:buAutoNum type="arabicParenR"/>
            </a:pPr>
            <a:r>
              <a:rPr lang="en" sz="1800"/>
              <a:t>Content Type encoding</a:t>
            </a:r>
            <a:endParaRPr sz="1800"/>
          </a:p>
          <a:p>
            <a:pPr marL="457200" lvl="0" indent="-342900" algn="l" rtl="0">
              <a:spcBef>
                <a:spcPts val="0"/>
              </a:spcBef>
              <a:spcAft>
                <a:spcPts val="0"/>
              </a:spcAft>
              <a:buSzPts val="1800"/>
              <a:buAutoNum type="arabicParenR"/>
            </a:pPr>
            <a:r>
              <a:rPr lang="en" sz="1800"/>
              <a:t>Content ID</a:t>
            </a:r>
            <a:endParaRPr sz="1800"/>
          </a:p>
          <a:p>
            <a:pPr marL="457200" lvl="0" indent="-342900" algn="l" rtl="0">
              <a:spcBef>
                <a:spcPts val="0"/>
              </a:spcBef>
              <a:spcAft>
                <a:spcPts val="0"/>
              </a:spcAft>
              <a:buSzPts val="1800"/>
              <a:buAutoNum type="arabicParenR"/>
            </a:pPr>
            <a:r>
              <a:rPr lang="en" sz="1800"/>
              <a:t>Content Description</a:t>
            </a:r>
            <a:endParaRPr sz="1800"/>
          </a:p>
          <a:p>
            <a:pPr marL="0" lvl="0" indent="0" algn="l" rtl="0">
              <a:spcBef>
                <a:spcPts val="1200"/>
              </a:spcBef>
              <a:spcAft>
                <a:spcPts val="1200"/>
              </a:spcAft>
              <a:buNone/>
            </a:pPr>
            <a:r>
              <a:rPr lang="en" sz="1800"/>
              <a:t>These fields are added to the header portion of actual email</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3"/>
          <p:cNvSpPr txBox="1">
            <a:spLocks noGrp="1"/>
          </p:cNvSpPr>
          <p:nvPr>
            <p:ph type="title"/>
          </p:nvPr>
        </p:nvSpPr>
        <p:spPr>
          <a:xfrm>
            <a:off x="1297500" y="393750"/>
            <a:ext cx="7038900" cy="61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S/MIME</a:t>
            </a:r>
            <a:endParaRPr/>
          </a:p>
        </p:txBody>
      </p:sp>
      <p:sp>
        <p:nvSpPr>
          <p:cNvPr id="325" name="Google Shape;325;p33"/>
          <p:cNvSpPr txBox="1">
            <a:spLocks noGrp="1"/>
          </p:cNvSpPr>
          <p:nvPr>
            <p:ph type="body" idx="1"/>
          </p:nvPr>
        </p:nvSpPr>
        <p:spPr>
          <a:xfrm>
            <a:off x="1297500" y="1078275"/>
            <a:ext cx="7038900" cy="36438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en" sz="1900"/>
              <a:t>Secure / Multipurpose Internet Mail Extension</a:t>
            </a:r>
            <a:endParaRPr sz="1900"/>
          </a:p>
          <a:p>
            <a:pPr marL="457200" lvl="0" indent="-349250" algn="l" rtl="0">
              <a:spcBef>
                <a:spcPts val="0"/>
              </a:spcBef>
              <a:spcAft>
                <a:spcPts val="0"/>
              </a:spcAft>
              <a:buSzPts val="1900"/>
              <a:buChar char="●"/>
            </a:pPr>
            <a:r>
              <a:rPr lang="en" sz="1900"/>
              <a:t>Used for sending signed and encrypted msgs</a:t>
            </a:r>
            <a:endParaRPr sz="1900"/>
          </a:p>
          <a:p>
            <a:pPr marL="457200" lvl="0" indent="-349250" algn="l" rtl="0">
              <a:spcBef>
                <a:spcPts val="0"/>
              </a:spcBef>
              <a:spcAft>
                <a:spcPts val="0"/>
              </a:spcAft>
              <a:buSzPts val="1900"/>
              <a:buChar char="●"/>
            </a:pPr>
            <a:r>
              <a:rPr lang="en" sz="1900"/>
              <a:t>Asymmetric Cryptography</a:t>
            </a:r>
            <a:endParaRPr sz="1900"/>
          </a:p>
          <a:p>
            <a:pPr marL="457200" lvl="0" indent="-349250" algn="l" rtl="0">
              <a:spcBef>
                <a:spcPts val="0"/>
              </a:spcBef>
              <a:spcAft>
                <a:spcPts val="0"/>
              </a:spcAft>
              <a:buSzPts val="1900"/>
              <a:buChar char="●"/>
            </a:pPr>
            <a:r>
              <a:rPr lang="en" sz="1900"/>
              <a:t>Achieve Authentication, Non-repudiation, confidentiality, integrity and Data security</a:t>
            </a:r>
            <a:endParaRPr sz="1900"/>
          </a:p>
          <a:p>
            <a:pPr marL="457200" lvl="0" indent="-349250" algn="l" rtl="0">
              <a:spcBef>
                <a:spcPts val="0"/>
              </a:spcBef>
              <a:spcAft>
                <a:spcPts val="0"/>
              </a:spcAft>
              <a:buSzPts val="1900"/>
              <a:buChar char="●"/>
            </a:pPr>
            <a:r>
              <a:rPr lang="en" sz="1900"/>
              <a:t>Working is dependent on S/MIME Certificate </a:t>
            </a:r>
            <a:endParaRPr sz="1900"/>
          </a:p>
          <a:p>
            <a:pPr marL="0" lvl="0" indent="0" algn="l" rtl="0">
              <a:spcBef>
                <a:spcPts val="1200"/>
              </a:spcBef>
              <a:spcAft>
                <a:spcPts val="0"/>
              </a:spcAft>
              <a:buNone/>
            </a:pPr>
            <a:endParaRPr sz="1900"/>
          </a:p>
          <a:p>
            <a:pPr marL="0" lvl="0" indent="0" algn="l" rtl="0">
              <a:spcBef>
                <a:spcPts val="1200"/>
              </a:spcBef>
              <a:spcAft>
                <a:spcPts val="1200"/>
              </a:spcAft>
              <a:buNone/>
            </a:pPr>
            <a:r>
              <a:rPr lang="en" sz="1900"/>
              <a:t>Can be easily added to popular email clients like Google, Outlook, etc.</a:t>
            </a:r>
            <a:endParaRPr sz="1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4"/>
          <p:cNvSpPr txBox="1">
            <a:spLocks noGrp="1"/>
          </p:cNvSpPr>
          <p:nvPr>
            <p:ph type="title"/>
          </p:nvPr>
        </p:nvSpPr>
        <p:spPr>
          <a:xfrm>
            <a:off x="1297500" y="356600"/>
            <a:ext cx="7038900" cy="64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S/MIME Certificate</a:t>
            </a:r>
            <a:endParaRPr/>
          </a:p>
        </p:txBody>
      </p:sp>
      <p:sp>
        <p:nvSpPr>
          <p:cNvPr id="331" name="Google Shape;331;p34"/>
          <p:cNvSpPr txBox="1">
            <a:spLocks noGrp="1"/>
          </p:cNvSpPr>
          <p:nvPr>
            <p:ph type="body" idx="1"/>
          </p:nvPr>
        </p:nvSpPr>
        <p:spPr>
          <a:xfrm>
            <a:off x="1297500" y="1078275"/>
            <a:ext cx="7038900" cy="1747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a:t>Key or Digital ID</a:t>
            </a:r>
            <a:endParaRPr sz="1800"/>
          </a:p>
          <a:p>
            <a:pPr marL="457200" lvl="0" indent="-342900" algn="l" rtl="0">
              <a:spcBef>
                <a:spcPts val="1200"/>
              </a:spcBef>
              <a:spcAft>
                <a:spcPts val="0"/>
              </a:spcAft>
              <a:buSzPts val="1800"/>
              <a:buChar char="●"/>
            </a:pPr>
            <a:r>
              <a:rPr lang="en" sz="1800"/>
              <a:t>Allows authentication of your emails</a:t>
            </a:r>
            <a:endParaRPr sz="1800"/>
          </a:p>
          <a:p>
            <a:pPr marL="457200" lvl="0" indent="-342900" algn="l" rtl="0">
              <a:spcBef>
                <a:spcPts val="0"/>
              </a:spcBef>
              <a:spcAft>
                <a:spcPts val="0"/>
              </a:spcAft>
              <a:buSzPts val="1800"/>
              <a:buChar char="●"/>
            </a:pPr>
            <a:r>
              <a:rPr lang="en" sz="1800"/>
              <a:t>Encrypts and decrypts your email</a:t>
            </a:r>
            <a:endParaRPr sz="1800"/>
          </a:p>
          <a:p>
            <a:pPr marL="457200" lvl="0" indent="-342900" algn="l" rtl="0">
              <a:spcBef>
                <a:spcPts val="0"/>
              </a:spcBef>
              <a:spcAft>
                <a:spcPts val="0"/>
              </a:spcAft>
              <a:buSzPts val="1800"/>
              <a:buChar char="●"/>
            </a:pPr>
            <a:r>
              <a:rPr lang="en" sz="1800"/>
              <a:t>Protects your emails/documents from modification</a:t>
            </a:r>
            <a:endParaRPr sz="1800"/>
          </a:p>
        </p:txBody>
      </p:sp>
      <p:sp>
        <p:nvSpPr>
          <p:cNvPr id="332" name="Google Shape;332;p34"/>
          <p:cNvSpPr txBox="1">
            <a:spLocks noGrp="1"/>
          </p:cNvSpPr>
          <p:nvPr>
            <p:ph type="title"/>
          </p:nvPr>
        </p:nvSpPr>
        <p:spPr>
          <a:xfrm>
            <a:off x="1297500" y="2825775"/>
            <a:ext cx="7038900" cy="64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“The Catch”</a:t>
            </a:r>
            <a:endParaRPr/>
          </a:p>
        </p:txBody>
      </p:sp>
      <p:sp>
        <p:nvSpPr>
          <p:cNvPr id="333" name="Google Shape;333;p34"/>
          <p:cNvSpPr txBox="1">
            <a:spLocks noGrp="1"/>
          </p:cNvSpPr>
          <p:nvPr>
            <p:ph type="body" idx="1"/>
          </p:nvPr>
        </p:nvSpPr>
        <p:spPr>
          <a:xfrm>
            <a:off x="1175025" y="3399700"/>
            <a:ext cx="7038900" cy="1557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Both Sender and Receiver need to have S/MIME certificates</a:t>
            </a:r>
            <a:endParaRPr sz="1800"/>
          </a:p>
          <a:p>
            <a:pPr marL="457200" lvl="0" indent="-342900" algn="l" rtl="0">
              <a:spcBef>
                <a:spcPts val="0"/>
              </a:spcBef>
              <a:spcAft>
                <a:spcPts val="0"/>
              </a:spcAft>
              <a:buSzPts val="1800"/>
              <a:buChar char="●"/>
            </a:pPr>
            <a:r>
              <a:rPr lang="en" sz="1800"/>
              <a:t>Need to send a message for the first time to exchange keys</a:t>
            </a:r>
            <a:endParaRPr sz="1800"/>
          </a:p>
          <a:p>
            <a:pPr marL="457200" lvl="0" indent="-342900" algn="l" rtl="0">
              <a:spcBef>
                <a:spcPts val="0"/>
              </a:spcBef>
              <a:spcAft>
                <a:spcPts val="0"/>
              </a:spcAft>
              <a:buSzPts val="1800"/>
              <a:buChar char="●"/>
            </a:pPr>
            <a:r>
              <a:rPr lang="en" sz="1800"/>
              <a:t>S/MIME certificate are not permanent</a:t>
            </a:r>
            <a:endParaRPr sz="1800"/>
          </a:p>
          <a:p>
            <a:pPr marL="457200" lvl="0" indent="-342900" algn="l" rtl="0">
              <a:spcBef>
                <a:spcPts val="0"/>
              </a:spcBef>
              <a:spcAft>
                <a:spcPts val="0"/>
              </a:spcAft>
              <a:buSzPts val="1800"/>
              <a:buChar char="●"/>
            </a:pPr>
            <a:r>
              <a:rPr lang="en" sz="1800"/>
              <a:t>They need to be bought after certain time </a:t>
            </a:r>
            <a:endParaRPr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1">
                                            <p:txEl>
                                              <p:pRg st="0" end="0"/>
                                            </p:txEl>
                                          </p:spTgt>
                                        </p:tgtEl>
                                        <p:attrNameLst>
                                          <p:attrName>style.visibility</p:attrName>
                                        </p:attrNameLst>
                                      </p:cBhvr>
                                      <p:to>
                                        <p:strVal val="visible"/>
                                      </p:to>
                                    </p:set>
                                    <p:animEffect transition="in" filter="fade">
                                      <p:cBhvr>
                                        <p:cTn id="7" dur="1000"/>
                                        <p:tgtEl>
                                          <p:spTgt spid="3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1">
                                            <p:txEl>
                                              <p:pRg st="1" end="1"/>
                                            </p:txEl>
                                          </p:spTgt>
                                        </p:tgtEl>
                                        <p:attrNameLst>
                                          <p:attrName>style.visibility</p:attrName>
                                        </p:attrNameLst>
                                      </p:cBhvr>
                                      <p:to>
                                        <p:strVal val="visible"/>
                                      </p:to>
                                    </p:set>
                                    <p:animEffect transition="in" filter="fade">
                                      <p:cBhvr>
                                        <p:cTn id="12" dur="1000"/>
                                        <p:tgtEl>
                                          <p:spTgt spid="3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1">
                                            <p:txEl>
                                              <p:pRg st="2" end="2"/>
                                            </p:txEl>
                                          </p:spTgt>
                                        </p:tgtEl>
                                        <p:attrNameLst>
                                          <p:attrName>style.visibility</p:attrName>
                                        </p:attrNameLst>
                                      </p:cBhvr>
                                      <p:to>
                                        <p:strVal val="visible"/>
                                      </p:to>
                                    </p:set>
                                    <p:animEffect transition="in" filter="fade">
                                      <p:cBhvr>
                                        <p:cTn id="17" dur="1000"/>
                                        <p:tgtEl>
                                          <p:spTgt spid="3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1">
                                            <p:txEl>
                                              <p:pRg st="3" end="3"/>
                                            </p:txEl>
                                          </p:spTgt>
                                        </p:tgtEl>
                                        <p:attrNameLst>
                                          <p:attrName>style.visibility</p:attrName>
                                        </p:attrNameLst>
                                      </p:cBhvr>
                                      <p:to>
                                        <p:strVal val="visible"/>
                                      </p:to>
                                    </p:set>
                                    <p:animEffect transition="in" filter="fade">
                                      <p:cBhvr>
                                        <p:cTn id="22" dur="1000"/>
                                        <p:tgtEl>
                                          <p:spTgt spid="3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2"/>
                                        </p:tgtEl>
                                        <p:attrNameLst>
                                          <p:attrName>style.visibility</p:attrName>
                                        </p:attrNameLst>
                                      </p:cBhvr>
                                      <p:to>
                                        <p:strVal val="visible"/>
                                      </p:to>
                                    </p:set>
                                    <p:animEffect transition="in" filter="fade">
                                      <p:cBhvr>
                                        <p:cTn id="27" dur="1000"/>
                                        <p:tgtEl>
                                          <p:spTgt spid="33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33">
                                            <p:txEl>
                                              <p:pRg st="0" end="0"/>
                                            </p:txEl>
                                          </p:spTgt>
                                        </p:tgtEl>
                                        <p:attrNameLst>
                                          <p:attrName>style.visibility</p:attrName>
                                        </p:attrNameLst>
                                      </p:cBhvr>
                                      <p:to>
                                        <p:strVal val="visible"/>
                                      </p:to>
                                    </p:set>
                                    <p:animEffect transition="in" filter="fade">
                                      <p:cBhvr>
                                        <p:cTn id="32" dur="1000"/>
                                        <p:tgtEl>
                                          <p:spTgt spid="33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33">
                                            <p:txEl>
                                              <p:pRg st="1" end="1"/>
                                            </p:txEl>
                                          </p:spTgt>
                                        </p:tgtEl>
                                        <p:attrNameLst>
                                          <p:attrName>style.visibility</p:attrName>
                                        </p:attrNameLst>
                                      </p:cBhvr>
                                      <p:to>
                                        <p:strVal val="visible"/>
                                      </p:to>
                                    </p:set>
                                    <p:animEffect transition="in" filter="fade">
                                      <p:cBhvr>
                                        <p:cTn id="37" dur="1000"/>
                                        <p:tgtEl>
                                          <p:spTgt spid="33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3">
                                            <p:txEl>
                                              <p:pRg st="2" end="2"/>
                                            </p:txEl>
                                          </p:spTgt>
                                        </p:tgtEl>
                                        <p:attrNameLst>
                                          <p:attrName>style.visibility</p:attrName>
                                        </p:attrNameLst>
                                      </p:cBhvr>
                                      <p:to>
                                        <p:strVal val="visible"/>
                                      </p:to>
                                    </p:set>
                                    <p:animEffect transition="in" filter="fade">
                                      <p:cBhvr>
                                        <p:cTn id="42" dur="1000"/>
                                        <p:tgtEl>
                                          <p:spTgt spid="33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33">
                                            <p:txEl>
                                              <p:pRg st="3" end="3"/>
                                            </p:txEl>
                                          </p:spTgt>
                                        </p:tgtEl>
                                        <p:attrNameLst>
                                          <p:attrName>style.visibility</p:attrName>
                                        </p:attrNameLst>
                                      </p:cBhvr>
                                      <p:to>
                                        <p:strVal val="visible"/>
                                      </p:to>
                                    </p:set>
                                    <p:animEffect transition="in" filter="fade">
                                      <p:cBhvr>
                                        <p:cTn id="47" dur="1000"/>
                                        <p:tgtEl>
                                          <p:spTgt spid="33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35"/>
          <p:cNvPicPr preferRelativeResize="0"/>
          <p:nvPr/>
        </p:nvPicPr>
        <p:blipFill>
          <a:blip r:embed="rId3">
            <a:alphaModFix/>
          </a:blip>
          <a:stretch>
            <a:fillRect/>
          </a:stretch>
        </p:blipFill>
        <p:spPr>
          <a:xfrm>
            <a:off x="1143925" y="463688"/>
            <a:ext cx="6280050" cy="42161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pic>
        <p:nvPicPr>
          <p:cNvPr id="343" name="Google Shape;343;p36"/>
          <p:cNvPicPr preferRelativeResize="0"/>
          <p:nvPr/>
        </p:nvPicPr>
        <p:blipFill>
          <a:blip r:embed="rId3">
            <a:alphaModFix/>
          </a:blip>
          <a:stretch>
            <a:fillRect/>
          </a:stretch>
        </p:blipFill>
        <p:spPr>
          <a:xfrm>
            <a:off x="1184400" y="1140250"/>
            <a:ext cx="7075974" cy="3582099"/>
          </a:xfrm>
          <a:prstGeom prst="rect">
            <a:avLst/>
          </a:prstGeom>
          <a:noFill/>
          <a:ln>
            <a:noFill/>
          </a:ln>
        </p:spPr>
      </p:pic>
      <p:sp>
        <p:nvSpPr>
          <p:cNvPr id="344" name="Google Shape;344;p36"/>
          <p:cNvSpPr txBox="1"/>
          <p:nvPr/>
        </p:nvSpPr>
        <p:spPr>
          <a:xfrm>
            <a:off x="1388125" y="347025"/>
            <a:ext cx="51312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solidFill>
                  <a:schemeClr val="lt1"/>
                </a:solidFill>
                <a:latin typeface="Lato"/>
                <a:ea typeface="Lato"/>
                <a:cs typeface="Lato"/>
                <a:sym typeface="Lato"/>
              </a:rPr>
              <a:t>S/MIME Working (Encryption)</a:t>
            </a:r>
            <a:endParaRPr sz="2200">
              <a:solidFill>
                <a:schemeClr val="l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3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Decryption</a:t>
            </a:r>
            <a:endParaRPr/>
          </a:p>
        </p:txBody>
      </p:sp>
      <p:pic>
        <p:nvPicPr>
          <p:cNvPr id="350" name="Google Shape;350;p37"/>
          <p:cNvPicPr preferRelativeResize="0"/>
          <p:nvPr/>
        </p:nvPicPr>
        <p:blipFill>
          <a:blip r:embed="rId3">
            <a:alphaModFix/>
          </a:blip>
          <a:stretch>
            <a:fillRect/>
          </a:stretch>
        </p:blipFill>
        <p:spPr>
          <a:xfrm>
            <a:off x="409588" y="1606701"/>
            <a:ext cx="8324814" cy="19300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pic>
        <p:nvPicPr>
          <p:cNvPr id="355" name="Google Shape;355;p38"/>
          <p:cNvPicPr preferRelativeResize="0"/>
          <p:nvPr/>
        </p:nvPicPr>
        <p:blipFill rotWithShape="1">
          <a:blip r:embed="rId3">
            <a:alphaModFix/>
          </a:blip>
          <a:srcRect t="24104"/>
          <a:stretch/>
        </p:blipFill>
        <p:spPr>
          <a:xfrm>
            <a:off x="3148075" y="235475"/>
            <a:ext cx="3896175" cy="4755625"/>
          </a:xfrm>
          <a:prstGeom prst="rect">
            <a:avLst/>
          </a:prstGeom>
          <a:noFill/>
          <a:ln>
            <a:noFill/>
          </a:ln>
        </p:spPr>
      </p:pic>
      <p:sp>
        <p:nvSpPr>
          <p:cNvPr id="356" name="Google Shape;356;p38"/>
          <p:cNvSpPr txBox="1"/>
          <p:nvPr/>
        </p:nvSpPr>
        <p:spPr>
          <a:xfrm>
            <a:off x="756025" y="1598825"/>
            <a:ext cx="20202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a:solidFill>
                  <a:schemeClr val="lt1"/>
                </a:solidFill>
                <a:latin typeface="Lato"/>
                <a:ea typeface="Lato"/>
                <a:cs typeface="Lato"/>
                <a:sym typeface="Lato"/>
              </a:rPr>
              <a:t>Signature Verification</a:t>
            </a:r>
            <a:endParaRPr sz="2400">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39"/>
          <p:cNvSpPr txBox="1">
            <a:spLocks noGrp="1"/>
          </p:cNvSpPr>
          <p:nvPr>
            <p:ph type="title"/>
          </p:nvPr>
        </p:nvSpPr>
        <p:spPr>
          <a:xfrm>
            <a:off x="1297500" y="393750"/>
            <a:ext cx="7038900" cy="56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PGP</a:t>
            </a:r>
            <a:endParaRPr/>
          </a:p>
        </p:txBody>
      </p:sp>
      <p:sp>
        <p:nvSpPr>
          <p:cNvPr id="362" name="Google Shape;362;p39"/>
          <p:cNvSpPr txBox="1">
            <a:spLocks noGrp="1"/>
          </p:cNvSpPr>
          <p:nvPr>
            <p:ph type="body" idx="1"/>
          </p:nvPr>
        </p:nvSpPr>
        <p:spPr>
          <a:xfrm>
            <a:off x="1297500" y="954450"/>
            <a:ext cx="7038900" cy="3524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sz="1800"/>
              <a:t>Pretty Good Privacy</a:t>
            </a:r>
            <a:endParaRPr sz="1800"/>
          </a:p>
          <a:p>
            <a:pPr marL="457200" lvl="0" indent="-342900" algn="l" rtl="0">
              <a:spcBef>
                <a:spcPts val="0"/>
              </a:spcBef>
              <a:spcAft>
                <a:spcPts val="0"/>
              </a:spcAft>
              <a:buSzPts val="1800"/>
              <a:buChar char="●"/>
            </a:pPr>
            <a:r>
              <a:rPr lang="en" sz="1800"/>
              <a:t>It’s not only used to encrypt emails but also files, directories, and entire disk partitions. Email-wise, the way it works is no different than S/MIME.</a:t>
            </a:r>
            <a:endParaRPr sz="1800"/>
          </a:p>
          <a:p>
            <a:pPr marL="457200" lvl="0" indent="-342900" algn="l" rtl="0">
              <a:spcBef>
                <a:spcPts val="0"/>
              </a:spcBef>
              <a:spcAft>
                <a:spcPts val="0"/>
              </a:spcAft>
              <a:buSzPts val="1800"/>
              <a:buChar char="●"/>
            </a:pPr>
            <a:r>
              <a:rPr lang="en" sz="1800"/>
              <a:t>Achieve Authentication, Non-repudiation, confidentiality, integrity and data security </a:t>
            </a:r>
            <a:endParaRPr sz="1800"/>
          </a:p>
          <a:p>
            <a:pPr marL="457200" lvl="0" indent="-342900" algn="l" rtl="0">
              <a:spcBef>
                <a:spcPts val="0"/>
              </a:spcBef>
              <a:spcAft>
                <a:spcPts val="0"/>
              </a:spcAft>
              <a:buSzPts val="1800"/>
              <a:buChar char="●"/>
            </a:pPr>
            <a:r>
              <a:rPr lang="en" sz="1800"/>
              <a:t>Uses combination of hashing, data compression, symmetric cryptography and asymmetric cryptography to encrypt data</a:t>
            </a:r>
            <a:endParaRPr sz="1800"/>
          </a:p>
          <a:p>
            <a:pPr marL="457200" lvl="0" indent="-342900" algn="l" rtl="0">
              <a:spcBef>
                <a:spcPts val="0"/>
              </a:spcBef>
              <a:spcAft>
                <a:spcPts val="0"/>
              </a:spcAft>
              <a:buSzPts val="1800"/>
              <a:buChar char="●"/>
            </a:pPr>
            <a:r>
              <a:rPr lang="en" sz="1800"/>
              <a:t>Based on OpenPGP</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grpSp>
        <p:nvGrpSpPr>
          <p:cNvPr id="367" name="Google Shape;367;p40"/>
          <p:cNvGrpSpPr/>
          <p:nvPr/>
        </p:nvGrpSpPr>
        <p:grpSpPr>
          <a:xfrm>
            <a:off x="4238527" y="1090675"/>
            <a:ext cx="4559612" cy="3762625"/>
            <a:chOff x="5597700" y="1090675"/>
            <a:chExt cx="3201300" cy="3762625"/>
          </a:xfrm>
        </p:grpSpPr>
        <p:sp>
          <p:nvSpPr>
            <p:cNvPr id="368" name="Google Shape;368;p40"/>
            <p:cNvSpPr/>
            <p:nvPr/>
          </p:nvSpPr>
          <p:spPr>
            <a:xfrm>
              <a:off x="5597700" y="1090675"/>
              <a:ext cx="3201300" cy="3185400"/>
            </a:xfrm>
            <a:prstGeom prst="rect">
              <a:avLst/>
            </a:prstGeom>
            <a:noFill/>
            <a:ln w="28575" cap="flat"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40"/>
            <p:cNvSpPr txBox="1"/>
            <p:nvPr/>
          </p:nvSpPr>
          <p:spPr>
            <a:xfrm>
              <a:off x="5754450" y="4453100"/>
              <a:ext cx="2887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Confidentiality</a:t>
              </a:r>
              <a:endParaRPr>
                <a:solidFill>
                  <a:schemeClr val="lt1"/>
                </a:solidFill>
                <a:latin typeface="Lato"/>
                <a:ea typeface="Lato"/>
                <a:cs typeface="Lato"/>
                <a:sym typeface="Lato"/>
              </a:endParaRPr>
            </a:p>
          </p:txBody>
        </p:sp>
      </p:grpSp>
      <p:cxnSp>
        <p:nvCxnSpPr>
          <p:cNvPr id="370" name="Google Shape;370;p40"/>
          <p:cNvCxnSpPr>
            <a:stCxn id="371" idx="0"/>
            <a:endCxn id="372" idx="1"/>
          </p:cNvCxnSpPr>
          <p:nvPr/>
        </p:nvCxnSpPr>
        <p:spPr>
          <a:xfrm rot="10800000" flipH="1">
            <a:off x="3391850" y="2571700"/>
            <a:ext cx="1022400" cy="25200"/>
          </a:xfrm>
          <a:prstGeom prst="straightConnector1">
            <a:avLst/>
          </a:prstGeom>
          <a:noFill/>
          <a:ln w="28575" cap="flat" cmpd="sng">
            <a:solidFill>
              <a:schemeClr val="dk2"/>
            </a:solidFill>
            <a:prstDash val="solid"/>
            <a:round/>
            <a:headEnd type="none" w="med" len="med"/>
            <a:tailEnd type="triangle" w="med" len="med"/>
          </a:ln>
        </p:spPr>
      </p:cxnSp>
      <p:sp>
        <p:nvSpPr>
          <p:cNvPr id="373" name="Google Shape;373;p40"/>
          <p:cNvSpPr/>
          <p:nvPr/>
        </p:nvSpPr>
        <p:spPr>
          <a:xfrm>
            <a:off x="5084925" y="1715625"/>
            <a:ext cx="1145100" cy="456900"/>
          </a:xfrm>
          <a:prstGeom prst="rect">
            <a:avLst/>
          </a:prstGeom>
          <a:solidFill>
            <a:srgbClr val="20124D"/>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Shared Key</a:t>
            </a:r>
            <a:endParaRPr>
              <a:solidFill>
                <a:schemeClr val="lt1"/>
              </a:solidFill>
            </a:endParaRPr>
          </a:p>
        </p:txBody>
      </p:sp>
      <p:sp>
        <p:nvSpPr>
          <p:cNvPr id="374" name="Google Shape;374;p40"/>
          <p:cNvSpPr txBox="1">
            <a:spLocks noGrp="1"/>
          </p:cNvSpPr>
          <p:nvPr>
            <p:ph type="title"/>
          </p:nvPr>
        </p:nvSpPr>
        <p:spPr>
          <a:xfrm>
            <a:off x="1297500" y="393750"/>
            <a:ext cx="7038900" cy="64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PGP Encryption</a:t>
            </a:r>
            <a:endParaRPr/>
          </a:p>
        </p:txBody>
      </p:sp>
      <p:grpSp>
        <p:nvGrpSpPr>
          <p:cNvPr id="375" name="Google Shape;375;p40"/>
          <p:cNvGrpSpPr/>
          <p:nvPr/>
        </p:nvGrpSpPr>
        <p:grpSpPr>
          <a:xfrm>
            <a:off x="334613" y="1090675"/>
            <a:ext cx="3767614" cy="3762625"/>
            <a:chOff x="334625" y="1090675"/>
            <a:chExt cx="5143500" cy="3762625"/>
          </a:xfrm>
        </p:grpSpPr>
        <p:sp>
          <p:nvSpPr>
            <p:cNvPr id="376" name="Google Shape;376;p40"/>
            <p:cNvSpPr/>
            <p:nvPr/>
          </p:nvSpPr>
          <p:spPr>
            <a:xfrm>
              <a:off x="334625" y="1090675"/>
              <a:ext cx="5143500" cy="3185400"/>
            </a:xfrm>
            <a:prstGeom prst="rect">
              <a:avLst/>
            </a:prstGeom>
            <a:noFill/>
            <a:ln w="28575" cap="flat"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40"/>
            <p:cNvSpPr txBox="1"/>
            <p:nvPr/>
          </p:nvSpPr>
          <p:spPr>
            <a:xfrm>
              <a:off x="1580200" y="4453100"/>
              <a:ext cx="2887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Digital Signature</a:t>
              </a:r>
              <a:endParaRPr>
                <a:solidFill>
                  <a:schemeClr val="lt1"/>
                </a:solidFill>
                <a:latin typeface="Lato"/>
                <a:ea typeface="Lato"/>
                <a:cs typeface="Lato"/>
                <a:sym typeface="Lato"/>
              </a:endParaRPr>
            </a:p>
          </p:txBody>
        </p:sp>
      </p:grpSp>
      <p:sp>
        <p:nvSpPr>
          <p:cNvPr id="378" name="Google Shape;378;p40"/>
          <p:cNvSpPr/>
          <p:nvPr/>
        </p:nvSpPr>
        <p:spPr>
          <a:xfrm>
            <a:off x="599700" y="2354850"/>
            <a:ext cx="6816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hash</a:t>
            </a:r>
            <a:endParaRPr/>
          </a:p>
        </p:txBody>
      </p:sp>
      <p:sp>
        <p:nvSpPr>
          <p:cNvPr id="379" name="Google Shape;379;p40"/>
          <p:cNvSpPr/>
          <p:nvPr/>
        </p:nvSpPr>
        <p:spPr>
          <a:xfrm>
            <a:off x="540450" y="322860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Encrypt</a:t>
            </a:r>
            <a:endParaRPr/>
          </a:p>
        </p:txBody>
      </p:sp>
      <p:sp>
        <p:nvSpPr>
          <p:cNvPr id="380" name="Google Shape;380;p40"/>
          <p:cNvSpPr txBox="1"/>
          <p:nvPr/>
        </p:nvSpPr>
        <p:spPr>
          <a:xfrm>
            <a:off x="246225" y="3746675"/>
            <a:ext cx="1958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Sender’s Private key</a:t>
            </a:r>
            <a:endParaRPr>
              <a:solidFill>
                <a:schemeClr val="lt1"/>
              </a:solidFill>
              <a:latin typeface="Lato"/>
              <a:ea typeface="Lato"/>
              <a:cs typeface="Lato"/>
              <a:sym typeface="Lato"/>
            </a:endParaRPr>
          </a:p>
        </p:txBody>
      </p:sp>
      <p:sp>
        <p:nvSpPr>
          <p:cNvPr id="381" name="Google Shape;381;p40"/>
          <p:cNvSpPr/>
          <p:nvPr/>
        </p:nvSpPr>
        <p:spPr>
          <a:xfrm>
            <a:off x="2314872" y="2388450"/>
            <a:ext cx="460500" cy="400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Montserrat"/>
                <a:ea typeface="Montserrat"/>
                <a:cs typeface="Montserrat"/>
                <a:sym typeface="Montserrat"/>
              </a:rPr>
              <a:t>+</a:t>
            </a:r>
            <a:endParaRPr sz="2200">
              <a:latin typeface="Montserrat"/>
              <a:ea typeface="Montserrat"/>
              <a:cs typeface="Montserrat"/>
              <a:sym typeface="Montserrat"/>
            </a:endParaRPr>
          </a:p>
        </p:txBody>
      </p:sp>
      <p:sp>
        <p:nvSpPr>
          <p:cNvPr id="382" name="Google Shape;382;p40"/>
          <p:cNvSpPr/>
          <p:nvPr/>
        </p:nvSpPr>
        <p:spPr>
          <a:xfrm>
            <a:off x="599700" y="1481100"/>
            <a:ext cx="681600" cy="4338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Email</a:t>
            </a:r>
            <a:endParaRPr>
              <a:solidFill>
                <a:schemeClr val="lt1"/>
              </a:solidFill>
            </a:endParaRPr>
          </a:p>
        </p:txBody>
      </p:sp>
      <p:sp>
        <p:nvSpPr>
          <p:cNvPr id="383" name="Google Shape;383;p40"/>
          <p:cNvSpPr/>
          <p:nvPr/>
        </p:nvSpPr>
        <p:spPr>
          <a:xfrm>
            <a:off x="3051050" y="2146375"/>
            <a:ext cx="681600" cy="4338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Sign</a:t>
            </a:r>
            <a:endParaRPr>
              <a:solidFill>
                <a:schemeClr val="lt1"/>
              </a:solidFill>
            </a:endParaRPr>
          </a:p>
        </p:txBody>
      </p:sp>
      <p:sp>
        <p:nvSpPr>
          <p:cNvPr id="371" name="Google Shape;371;p40"/>
          <p:cNvSpPr/>
          <p:nvPr/>
        </p:nvSpPr>
        <p:spPr>
          <a:xfrm>
            <a:off x="3051050" y="2596900"/>
            <a:ext cx="681600" cy="4338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Email</a:t>
            </a:r>
            <a:endParaRPr>
              <a:solidFill>
                <a:schemeClr val="lt1"/>
              </a:solidFill>
            </a:endParaRPr>
          </a:p>
        </p:txBody>
      </p:sp>
      <p:sp>
        <p:nvSpPr>
          <p:cNvPr id="384" name="Google Shape;384;p40"/>
          <p:cNvSpPr/>
          <p:nvPr/>
        </p:nvSpPr>
        <p:spPr>
          <a:xfrm>
            <a:off x="2204313" y="3238500"/>
            <a:ext cx="681600" cy="4338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Sign</a:t>
            </a:r>
            <a:endParaRPr>
              <a:solidFill>
                <a:schemeClr val="lt1"/>
              </a:solidFill>
            </a:endParaRPr>
          </a:p>
        </p:txBody>
      </p:sp>
      <p:sp>
        <p:nvSpPr>
          <p:cNvPr id="372" name="Google Shape;372;p40"/>
          <p:cNvSpPr/>
          <p:nvPr/>
        </p:nvSpPr>
        <p:spPr>
          <a:xfrm>
            <a:off x="4414175" y="2354850"/>
            <a:ext cx="5310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ZIP</a:t>
            </a:r>
            <a:endParaRPr/>
          </a:p>
        </p:txBody>
      </p:sp>
      <p:sp>
        <p:nvSpPr>
          <p:cNvPr id="385" name="Google Shape;385;p40"/>
          <p:cNvSpPr/>
          <p:nvPr/>
        </p:nvSpPr>
        <p:spPr>
          <a:xfrm>
            <a:off x="5257125" y="235485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Encrypt</a:t>
            </a:r>
            <a:endParaRPr/>
          </a:p>
        </p:txBody>
      </p:sp>
      <p:sp>
        <p:nvSpPr>
          <p:cNvPr id="386" name="Google Shape;386;p40"/>
          <p:cNvSpPr/>
          <p:nvPr/>
        </p:nvSpPr>
        <p:spPr>
          <a:xfrm>
            <a:off x="6537375" y="1727175"/>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Encrypt</a:t>
            </a:r>
            <a:endParaRPr/>
          </a:p>
        </p:txBody>
      </p:sp>
      <p:sp>
        <p:nvSpPr>
          <p:cNvPr id="387" name="Google Shape;387;p40"/>
          <p:cNvSpPr txBox="1"/>
          <p:nvPr/>
        </p:nvSpPr>
        <p:spPr>
          <a:xfrm>
            <a:off x="5958675" y="1260600"/>
            <a:ext cx="1958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Receiver’s Public key</a:t>
            </a:r>
            <a:endParaRPr>
              <a:solidFill>
                <a:schemeClr val="lt1"/>
              </a:solidFill>
              <a:latin typeface="Lato"/>
              <a:ea typeface="Lato"/>
              <a:cs typeface="Lato"/>
              <a:sym typeface="Lato"/>
            </a:endParaRPr>
          </a:p>
        </p:txBody>
      </p:sp>
      <p:sp>
        <p:nvSpPr>
          <p:cNvPr id="388" name="Google Shape;388;p40"/>
          <p:cNvSpPr/>
          <p:nvPr/>
        </p:nvSpPr>
        <p:spPr>
          <a:xfrm>
            <a:off x="6707472" y="2388450"/>
            <a:ext cx="460500" cy="400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Montserrat"/>
                <a:ea typeface="Montserrat"/>
                <a:cs typeface="Montserrat"/>
                <a:sym typeface="Montserrat"/>
              </a:rPr>
              <a:t>+</a:t>
            </a:r>
            <a:endParaRPr sz="2200">
              <a:latin typeface="Montserrat"/>
              <a:ea typeface="Montserrat"/>
              <a:cs typeface="Montserrat"/>
              <a:sym typeface="Montserrat"/>
            </a:endParaRPr>
          </a:p>
        </p:txBody>
      </p:sp>
      <p:sp>
        <p:nvSpPr>
          <p:cNvPr id="389" name="Google Shape;389;p40"/>
          <p:cNvSpPr/>
          <p:nvPr/>
        </p:nvSpPr>
        <p:spPr>
          <a:xfrm>
            <a:off x="7817625" y="2743500"/>
            <a:ext cx="619800" cy="309900"/>
          </a:xfrm>
          <a:prstGeom prst="rect">
            <a:avLst/>
          </a:prstGeom>
          <a:solidFill>
            <a:srgbClr val="85200C"/>
          </a:solidFill>
          <a:ln w="9525" cap="flat" cmpd="sng">
            <a:solidFill>
              <a:srgbClr val="8520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0"/>
          <p:cNvSpPr/>
          <p:nvPr/>
        </p:nvSpPr>
        <p:spPr>
          <a:xfrm>
            <a:off x="7817625" y="2433600"/>
            <a:ext cx="619800" cy="309900"/>
          </a:xfrm>
          <a:prstGeom prst="rect">
            <a:avLst/>
          </a:prstGeom>
          <a:solidFill>
            <a:srgbClr val="351C75"/>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0"/>
          <p:cNvSpPr/>
          <p:nvPr/>
        </p:nvSpPr>
        <p:spPr>
          <a:xfrm>
            <a:off x="7817625" y="3053400"/>
            <a:ext cx="619800" cy="309900"/>
          </a:xfrm>
          <a:prstGeom prst="rect">
            <a:avLst/>
          </a:prstGeom>
          <a:solidFill>
            <a:srgbClr val="85200C"/>
          </a:solidFill>
          <a:ln w="9525" cap="flat" cmpd="sng">
            <a:solidFill>
              <a:srgbClr val="8520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2" name="Google Shape;392;p40"/>
          <p:cNvCxnSpPr>
            <a:stCxn id="382" idx="2"/>
            <a:endCxn id="378" idx="0"/>
          </p:cNvCxnSpPr>
          <p:nvPr/>
        </p:nvCxnSpPr>
        <p:spPr>
          <a:xfrm rot="-5400000" flipH="1">
            <a:off x="720750" y="2134650"/>
            <a:ext cx="440100" cy="600"/>
          </a:xfrm>
          <a:prstGeom prst="bentConnector3">
            <a:avLst>
              <a:gd name="adj1" fmla="val 49983"/>
            </a:avLst>
          </a:prstGeom>
          <a:noFill/>
          <a:ln w="28575" cap="flat" cmpd="sng">
            <a:solidFill>
              <a:schemeClr val="dk2"/>
            </a:solidFill>
            <a:prstDash val="solid"/>
            <a:round/>
            <a:headEnd type="none" w="med" len="med"/>
            <a:tailEnd type="stealth" w="med" len="med"/>
          </a:ln>
        </p:spPr>
      </p:cxnSp>
      <p:cxnSp>
        <p:nvCxnSpPr>
          <p:cNvPr id="393" name="Google Shape;393;p40"/>
          <p:cNvCxnSpPr>
            <a:stCxn id="378" idx="2"/>
            <a:endCxn id="379" idx="0"/>
          </p:cNvCxnSpPr>
          <p:nvPr/>
        </p:nvCxnSpPr>
        <p:spPr>
          <a:xfrm rot="-5400000" flipH="1">
            <a:off x="720750" y="3008400"/>
            <a:ext cx="440100" cy="600"/>
          </a:xfrm>
          <a:prstGeom prst="bentConnector3">
            <a:avLst>
              <a:gd name="adj1" fmla="val 49983"/>
            </a:avLst>
          </a:prstGeom>
          <a:noFill/>
          <a:ln w="28575" cap="flat" cmpd="sng">
            <a:solidFill>
              <a:schemeClr val="dk2"/>
            </a:solidFill>
            <a:prstDash val="solid"/>
            <a:round/>
            <a:headEnd type="none" w="med" len="med"/>
            <a:tailEnd type="stealth" w="med" len="med"/>
          </a:ln>
        </p:spPr>
      </p:cxnSp>
      <p:cxnSp>
        <p:nvCxnSpPr>
          <p:cNvPr id="394" name="Google Shape;394;p40"/>
          <p:cNvCxnSpPr>
            <a:stCxn id="379" idx="3"/>
            <a:endCxn id="384" idx="1"/>
          </p:cNvCxnSpPr>
          <p:nvPr/>
        </p:nvCxnSpPr>
        <p:spPr>
          <a:xfrm>
            <a:off x="1341150" y="3445500"/>
            <a:ext cx="863100" cy="9900"/>
          </a:xfrm>
          <a:prstGeom prst="straightConnector1">
            <a:avLst/>
          </a:prstGeom>
          <a:noFill/>
          <a:ln w="28575" cap="flat" cmpd="sng">
            <a:solidFill>
              <a:schemeClr val="dk2"/>
            </a:solidFill>
            <a:prstDash val="solid"/>
            <a:round/>
            <a:headEnd type="none" w="med" len="med"/>
            <a:tailEnd type="stealth" w="med" len="med"/>
          </a:ln>
        </p:spPr>
      </p:cxnSp>
      <p:cxnSp>
        <p:nvCxnSpPr>
          <p:cNvPr id="395" name="Google Shape;395;p40"/>
          <p:cNvCxnSpPr>
            <a:stCxn id="384" idx="0"/>
            <a:endCxn id="381" idx="4"/>
          </p:cNvCxnSpPr>
          <p:nvPr/>
        </p:nvCxnSpPr>
        <p:spPr>
          <a:xfrm rot="10800000">
            <a:off x="2545113" y="2788800"/>
            <a:ext cx="0" cy="449700"/>
          </a:xfrm>
          <a:prstGeom prst="straightConnector1">
            <a:avLst/>
          </a:prstGeom>
          <a:noFill/>
          <a:ln w="28575" cap="flat" cmpd="sng">
            <a:solidFill>
              <a:schemeClr val="dk2"/>
            </a:solidFill>
            <a:prstDash val="solid"/>
            <a:round/>
            <a:headEnd type="none" w="med" len="med"/>
            <a:tailEnd type="triangle" w="med" len="med"/>
          </a:ln>
        </p:spPr>
      </p:cxnSp>
      <p:cxnSp>
        <p:nvCxnSpPr>
          <p:cNvPr id="396" name="Google Shape;396;p40"/>
          <p:cNvCxnSpPr>
            <a:stCxn id="382" idx="3"/>
            <a:endCxn id="381" idx="0"/>
          </p:cNvCxnSpPr>
          <p:nvPr/>
        </p:nvCxnSpPr>
        <p:spPr>
          <a:xfrm>
            <a:off x="1281300" y="1698000"/>
            <a:ext cx="1263900" cy="690600"/>
          </a:xfrm>
          <a:prstGeom prst="bentConnector2">
            <a:avLst/>
          </a:prstGeom>
          <a:noFill/>
          <a:ln w="28575" cap="flat" cmpd="sng">
            <a:solidFill>
              <a:schemeClr val="dk2"/>
            </a:solidFill>
            <a:prstDash val="solid"/>
            <a:round/>
            <a:headEnd type="none" w="med" len="med"/>
            <a:tailEnd type="stealth" w="med" len="med"/>
          </a:ln>
        </p:spPr>
      </p:cxnSp>
      <p:cxnSp>
        <p:nvCxnSpPr>
          <p:cNvPr id="397" name="Google Shape;397;p40"/>
          <p:cNvCxnSpPr>
            <a:stCxn id="381" idx="6"/>
          </p:cNvCxnSpPr>
          <p:nvPr/>
        </p:nvCxnSpPr>
        <p:spPr>
          <a:xfrm>
            <a:off x="2775372" y="2588550"/>
            <a:ext cx="310800" cy="1800"/>
          </a:xfrm>
          <a:prstGeom prst="straightConnector1">
            <a:avLst/>
          </a:prstGeom>
          <a:noFill/>
          <a:ln w="28575" cap="flat" cmpd="sng">
            <a:solidFill>
              <a:schemeClr val="dk2"/>
            </a:solidFill>
            <a:prstDash val="solid"/>
            <a:round/>
            <a:headEnd type="none" w="med" len="med"/>
            <a:tailEnd type="triangle" w="med" len="med"/>
          </a:ln>
        </p:spPr>
      </p:cxnSp>
      <p:cxnSp>
        <p:nvCxnSpPr>
          <p:cNvPr id="398" name="Google Shape;398;p40"/>
          <p:cNvCxnSpPr>
            <a:stCxn id="372" idx="3"/>
            <a:endCxn id="385" idx="1"/>
          </p:cNvCxnSpPr>
          <p:nvPr/>
        </p:nvCxnSpPr>
        <p:spPr>
          <a:xfrm>
            <a:off x="4945175" y="2571750"/>
            <a:ext cx="312000" cy="0"/>
          </a:xfrm>
          <a:prstGeom prst="straightConnector1">
            <a:avLst/>
          </a:prstGeom>
          <a:noFill/>
          <a:ln w="28575" cap="flat" cmpd="sng">
            <a:solidFill>
              <a:schemeClr val="dk2"/>
            </a:solidFill>
            <a:prstDash val="solid"/>
            <a:round/>
            <a:headEnd type="none" w="med" len="med"/>
            <a:tailEnd type="triangle" w="med" len="med"/>
          </a:ln>
        </p:spPr>
      </p:cxnSp>
      <p:cxnSp>
        <p:nvCxnSpPr>
          <p:cNvPr id="399" name="Google Shape;399;p40"/>
          <p:cNvCxnSpPr>
            <a:stCxn id="385" idx="3"/>
            <a:endCxn id="388" idx="2"/>
          </p:cNvCxnSpPr>
          <p:nvPr/>
        </p:nvCxnSpPr>
        <p:spPr>
          <a:xfrm>
            <a:off x="6057825" y="2571750"/>
            <a:ext cx="649500" cy="16800"/>
          </a:xfrm>
          <a:prstGeom prst="straightConnector1">
            <a:avLst/>
          </a:prstGeom>
          <a:noFill/>
          <a:ln w="28575" cap="flat" cmpd="sng">
            <a:solidFill>
              <a:schemeClr val="dk2"/>
            </a:solidFill>
            <a:prstDash val="solid"/>
            <a:round/>
            <a:headEnd type="none" w="med" len="med"/>
            <a:tailEnd type="triangle" w="med" len="med"/>
          </a:ln>
        </p:spPr>
      </p:cxnSp>
      <p:cxnSp>
        <p:nvCxnSpPr>
          <p:cNvPr id="400" name="Google Shape;400;p40"/>
          <p:cNvCxnSpPr>
            <a:endCxn id="388" idx="0"/>
          </p:cNvCxnSpPr>
          <p:nvPr/>
        </p:nvCxnSpPr>
        <p:spPr>
          <a:xfrm>
            <a:off x="6937722" y="2161050"/>
            <a:ext cx="0" cy="227400"/>
          </a:xfrm>
          <a:prstGeom prst="straightConnector1">
            <a:avLst/>
          </a:prstGeom>
          <a:noFill/>
          <a:ln w="28575" cap="flat" cmpd="sng">
            <a:solidFill>
              <a:schemeClr val="dk2"/>
            </a:solidFill>
            <a:prstDash val="solid"/>
            <a:round/>
            <a:headEnd type="none" w="med" len="med"/>
            <a:tailEnd type="triangle" w="med" len="med"/>
          </a:ln>
        </p:spPr>
      </p:cxnSp>
      <p:cxnSp>
        <p:nvCxnSpPr>
          <p:cNvPr id="401" name="Google Shape;401;p40"/>
          <p:cNvCxnSpPr>
            <a:stCxn id="388" idx="6"/>
          </p:cNvCxnSpPr>
          <p:nvPr/>
        </p:nvCxnSpPr>
        <p:spPr>
          <a:xfrm>
            <a:off x="7167972" y="2588550"/>
            <a:ext cx="689700" cy="311700"/>
          </a:xfrm>
          <a:prstGeom prst="straightConnector1">
            <a:avLst/>
          </a:prstGeom>
          <a:noFill/>
          <a:ln w="28575" cap="flat" cmpd="sng">
            <a:solidFill>
              <a:schemeClr val="dk2"/>
            </a:solidFill>
            <a:prstDash val="solid"/>
            <a:round/>
            <a:headEnd type="none" w="med" len="med"/>
            <a:tailEnd type="triangle" w="med" len="med"/>
          </a:ln>
        </p:spPr>
      </p:cxnSp>
      <p:cxnSp>
        <p:nvCxnSpPr>
          <p:cNvPr id="402" name="Google Shape;402;p40"/>
          <p:cNvCxnSpPr>
            <a:endCxn id="385" idx="0"/>
          </p:cNvCxnSpPr>
          <p:nvPr/>
        </p:nvCxnSpPr>
        <p:spPr>
          <a:xfrm>
            <a:off x="5657475" y="2172450"/>
            <a:ext cx="0" cy="182400"/>
          </a:xfrm>
          <a:prstGeom prst="straightConnector1">
            <a:avLst/>
          </a:prstGeom>
          <a:noFill/>
          <a:ln w="9525" cap="flat" cmpd="sng">
            <a:solidFill>
              <a:schemeClr val="dk2"/>
            </a:solidFill>
            <a:prstDash val="solid"/>
            <a:round/>
            <a:headEnd type="none" w="med" len="med"/>
            <a:tailEnd type="triangle" w="med" len="med"/>
          </a:ln>
        </p:spPr>
      </p:cxnSp>
      <p:cxnSp>
        <p:nvCxnSpPr>
          <p:cNvPr id="403" name="Google Shape;403;p40"/>
          <p:cNvCxnSpPr>
            <a:stCxn id="373" idx="3"/>
            <a:endCxn id="386" idx="1"/>
          </p:cNvCxnSpPr>
          <p:nvPr/>
        </p:nvCxnSpPr>
        <p:spPr>
          <a:xfrm>
            <a:off x="6230025" y="1944075"/>
            <a:ext cx="307500" cy="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5"/>
                                        </p:tgtEl>
                                        <p:attrNameLst>
                                          <p:attrName>style.visibility</p:attrName>
                                        </p:attrNameLst>
                                      </p:cBhvr>
                                      <p:to>
                                        <p:strVal val="visible"/>
                                      </p:to>
                                    </p:set>
                                    <p:animEffect transition="in" filter="fade">
                                      <p:cBhvr>
                                        <p:cTn id="7" dur="1000"/>
                                        <p:tgtEl>
                                          <p:spTgt spid="37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7"/>
                                        </p:tgtEl>
                                        <p:attrNameLst>
                                          <p:attrName>style.visibility</p:attrName>
                                        </p:attrNameLst>
                                      </p:cBhvr>
                                      <p:to>
                                        <p:strVal val="visible"/>
                                      </p:to>
                                    </p:set>
                                    <p:animEffect transition="in" filter="fade">
                                      <p:cBhvr>
                                        <p:cTn id="12" dur="1000"/>
                                        <p:tgtEl>
                                          <p:spTgt spid="36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2"/>
                                        </p:tgtEl>
                                        <p:attrNameLst>
                                          <p:attrName>style.visibility</p:attrName>
                                        </p:attrNameLst>
                                      </p:cBhvr>
                                      <p:to>
                                        <p:strVal val="visible"/>
                                      </p:to>
                                    </p:set>
                                    <p:animEffect transition="in" filter="fade">
                                      <p:cBhvr>
                                        <p:cTn id="17" dur="1000"/>
                                        <p:tgtEl>
                                          <p:spTgt spid="38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92"/>
                                        </p:tgtEl>
                                        <p:attrNameLst>
                                          <p:attrName>style.visibility</p:attrName>
                                        </p:attrNameLst>
                                      </p:cBhvr>
                                      <p:to>
                                        <p:strVal val="visible"/>
                                      </p:to>
                                    </p:set>
                                    <p:animEffect transition="in" filter="fade">
                                      <p:cBhvr>
                                        <p:cTn id="22" dur="1000"/>
                                        <p:tgtEl>
                                          <p:spTgt spid="392"/>
                                        </p:tgtEl>
                                      </p:cBhvr>
                                    </p:animEffect>
                                  </p:childTnLst>
                                </p:cTn>
                              </p:par>
                              <p:par>
                                <p:cTn id="23" presetID="10" presetClass="entr" presetSubtype="0" fill="hold" nodeType="withEffect">
                                  <p:stCondLst>
                                    <p:cond delay="0"/>
                                  </p:stCondLst>
                                  <p:childTnLst>
                                    <p:set>
                                      <p:cBhvr>
                                        <p:cTn id="24" dur="1" fill="hold">
                                          <p:stCondLst>
                                            <p:cond delay="0"/>
                                          </p:stCondLst>
                                        </p:cTn>
                                        <p:tgtEl>
                                          <p:spTgt spid="378"/>
                                        </p:tgtEl>
                                        <p:attrNameLst>
                                          <p:attrName>style.visibility</p:attrName>
                                        </p:attrNameLst>
                                      </p:cBhvr>
                                      <p:to>
                                        <p:strVal val="visible"/>
                                      </p:to>
                                    </p:set>
                                    <p:animEffect transition="in" filter="fade">
                                      <p:cBhvr>
                                        <p:cTn id="25" dur="1000"/>
                                        <p:tgtEl>
                                          <p:spTgt spid="37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79"/>
                                        </p:tgtEl>
                                        <p:attrNameLst>
                                          <p:attrName>style.visibility</p:attrName>
                                        </p:attrNameLst>
                                      </p:cBhvr>
                                      <p:to>
                                        <p:strVal val="visible"/>
                                      </p:to>
                                    </p:set>
                                    <p:animEffect transition="in" filter="fade">
                                      <p:cBhvr>
                                        <p:cTn id="30" dur="1000"/>
                                        <p:tgtEl>
                                          <p:spTgt spid="379"/>
                                        </p:tgtEl>
                                      </p:cBhvr>
                                    </p:animEffect>
                                  </p:childTnLst>
                                </p:cTn>
                              </p:par>
                              <p:par>
                                <p:cTn id="31" presetID="10" presetClass="entr" presetSubtype="0" fill="hold" nodeType="withEffect">
                                  <p:stCondLst>
                                    <p:cond delay="0"/>
                                  </p:stCondLst>
                                  <p:childTnLst>
                                    <p:set>
                                      <p:cBhvr>
                                        <p:cTn id="32" dur="1" fill="hold">
                                          <p:stCondLst>
                                            <p:cond delay="0"/>
                                          </p:stCondLst>
                                        </p:cTn>
                                        <p:tgtEl>
                                          <p:spTgt spid="393"/>
                                        </p:tgtEl>
                                        <p:attrNameLst>
                                          <p:attrName>style.visibility</p:attrName>
                                        </p:attrNameLst>
                                      </p:cBhvr>
                                      <p:to>
                                        <p:strVal val="visible"/>
                                      </p:to>
                                    </p:set>
                                    <p:animEffect transition="in" filter="fade">
                                      <p:cBhvr>
                                        <p:cTn id="33" dur="1000"/>
                                        <p:tgtEl>
                                          <p:spTgt spid="393"/>
                                        </p:tgtEl>
                                      </p:cBhvr>
                                    </p:animEffect>
                                  </p:childTnLst>
                                </p:cTn>
                              </p:par>
                              <p:par>
                                <p:cTn id="34" presetID="10" presetClass="entr" presetSubtype="0" fill="hold" nodeType="withEffect">
                                  <p:stCondLst>
                                    <p:cond delay="0"/>
                                  </p:stCondLst>
                                  <p:childTnLst>
                                    <p:set>
                                      <p:cBhvr>
                                        <p:cTn id="35" dur="1" fill="hold">
                                          <p:stCondLst>
                                            <p:cond delay="0"/>
                                          </p:stCondLst>
                                        </p:cTn>
                                        <p:tgtEl>
                                          <p:spTgt spid="380"/>
                                        </p:tgtEl>
                                        <p:attrNameLst>
                                          <p:attrName>style.visibility</p:attrName>
                                        </p:attrNameLst>
                                      </p:cBhvr>
                                      <p:to>
                                        <p:strVal val="visible"/>
                                      </p:to>
                                    </p:set>
                                    <p:animEffect transition="in" filter="fade">
                                      <p:cBhvr>
                                        <p:cTn id="36" dur="1000"/>
                                        <p:tgtEl>
                                          <p:spTgt spid="380"/>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94"/>
                                        </p:tgtEl>
                                        <p:attrNameLst>
                                          <p:attrName>style.visibility</p:attrName>
                                        </p:attrNameLst>
                                      </p:cBhvr>
                                      <p:to>
                                        <p:strVal val="visible"/>
                                      </p:to>
                                    </p:set>
                                    <p:animEffect transition="in" filter="fade">
                                      <p:cBhvr>
                                        <p:cTn id="41" dur="1000"/>
                                        <p:tgtEl>
                                          <p:spTgt spid="394"/>
                                        </p:tgtEl>
                                      </p:cBhvr>
                                    </p:animEffect>
                                  </p:childTnLst>
                                </p:cTn>
                              </p:par>
                              <p:par>
                                <p:cTn id="42" presetID="10" presetClass="entr" presetSubtype="0" fill="hold" nodeType="withEffect">
                                  <p:stCondLst>
                                    <p:cond delay="0"/>
                                  </p:stCondLst>
                                  <p:childTnLst>
                                    <p:set>
                                      <p:cBhvr>
                                        <p:cTn id="43" dur="1" fill="hold">
                                          <p:stCondLst>
                                            <p:cond delay="0"/>
                                          </p:stCondLst>
                                        </p:cTn>
                                        <p:tgtEl>
                                          <p:spTgt spid="384"/>
                                        </p:tgtEl>
                                        <p:attrNameLst>
                                          <p:attrName>style.visibility</p:attrName>
                                        </p:attrNameLst>
                                      </p:cBhvr>
                                      <p:to>
                                        <p:strVal val="visible"/>
                                      </p:to>
                                    </p:set>
                                    <p:animEffect transition="in" filter="fade">
                                      <p:cBhvr>
                                        <p:cTn id="44" dur="1000"/>
                                        <p:tgtEl>
                                          <p:spTgt spid="38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95"/>
                                        </p:tgtEl>
                                        <p:attrNameLst>
                                          <p:attrName>style.visibility</p:attrName>
                                        </p:attrNameLst>
                                      </p:cBhvr>
                                      <p:to>
                                        <p:strVal val="visible"/>
                                      </p:to>
                                    </p:set>
                                    <p:animEffect transition="in" filter="fade">
                                      <p:cBhvr>
                                        <p:cTn id="49" dur="1000"/>
                                        <p:tgtEl>
                                          <p:spTgt spid="395"/>
                                        </p:tgtEl>
                                      </p:cBhvr>
                                    </p:animEffect>
                                  </p:childTnLst>
                                </p:cTn>
                              </p:par>
                              <p:par>
                                <p:cTn id="50" presetID="10" presetClass="entr" presetSubtype="0" fill="hold" nodeType="withEffect">
                                  <p:stCondLst>
                                    <p:cond delay="0"/>
                                  </p:stCondLst>
                                  <p:childTnLst>
                                    <p:set>
                                      <p:cBhvr>
                                        <p:cTn id="51" dur="1" fill="hold">
                                          <p:stCondLst>
                                            <p:cond delay="0"/>
                                          </p:stCondLst>
                                        </p:cTn>
                                        <p:tgtEl>
                                          <p:spTgt spid="396"/>
                                        </p:tgtEl>
                                        <p:attrNameLst>
                                          <p:attrName>style.visibility</p:attrName>
                                        </p:attrNameLst>
                                      </p:cBhvr>
                                      <p:to>
                                        <p:strVal val="visible"/>
                                      </p:to>
                                    </p:set>
                                    <p:animEffect transition="in" filter="fade">
                                      <p:cBhvr>
                                        <p:cTn id="52" dur="1000"/>
                                        <p:tgtEl>
                                          <p:spTgt spid="396"/>
                                        </p:tgtEl>
                                      </p:cBhvr>
                                    </p:animEffect>
                                  </p:childTnLst>
                                </p:cTn>
                              </p:par>
                              <p:par>
                                <p:cTn id="53" presetID="10" presetClass="entr" presetSubtype="0" fill="hold" nodeType="withEffect">
                                  <p:stCondLst>
                                    <p:cond delay="0"/>
                                  </p:stCondLst>
                                  <p:childTnLst>
                                    <p:set>
                                      <p:cBhvr>
                                        <p:cTn id="54" dur="1" fill="hold">
                                          <p:stCondLst>
                                            <p:cond delay="0"/>
                                          </p:stCondLst>
                                        </p:cTn>
                                        <p:tgtEl>
                                          <p:spTgt spid="381"/>
                                        </p:tgtEl>
                                        <p:attrNameLst>
                                          <p:attrName>style.visibility</p:attrName>
                                        </p:attrNameLst>
                                      </p:cBhvr>
                                      <p:to>
                                        <p:strVal val="visible"/>
                                      </p:to>
                                    </p:set>
                                    <p:animEffect transition="in" filter="fade">
                                      <p:cBhvr>
                                        <p:cTn id="55" dur="1000"/>
                                        <p:tgtEl>
                                          <p:spTgt spid="38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397"/>
                                        </p:tgtEl>
                                        <p:attrNameLst>
                                          <p:attrName>style.visibility</p:attrName>
                                        </p:attrNameLst>
                                      </p:cBhvr>
                                      <p:to>
                                        <p:strVal val="visible"/>
                                      </p:to>
                                    </p:set>
                                    <p:animEffect transition="in" filter="fade">
                                      <p:cBhvr>
                                        <p:cTn id="60" dur="1000"/>
                                        <p:tgtEl>
                                          <p:spTgt spid="397"/>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83"/>
                                        </p:tgtEl>
                                        <p:attrNameLst>
                                          <p:attrName>style.visibility</p:attrName>
                                        </p:attrNameLst>
                                      </p:cBhvr>
                                      <p:to>
                                        <p:strVal val="visible"/>
                                      </p:to>
                                    </p:set>
                                    <p:animEffect transition="in" filter="fade">
                                      <p:cBhvr>
                                        <p:cTn id="65" dur="1000"/>
                                        <p:tgtEl>
                                          <p:spTgt spid="383"/>
                                        </p:tgtEl>
                                      </p:cBhvr>
                                    </p:animEffect>
                                  </p:childTnLst>
                                </p:cTn>
                              </p:par>
                              <p:par>
                                <p:cTn id="66" presetID="10" presetClass="entr" presetSubtype="0" fill="hold" nodeType="withEffect">
                                  <p:stCondLst>
                                    <p:cond delay="0"/>
                                  </p:stCondLst>
                                  <p:childTnLst>
                                    <p:set>
                                      <p:cBhvr>
                                        <p:cTn id="67" dur="1" fill="hold">
                                          <p:stCondLst>
                                            <p:cond delay="0"/>
                                          </p:stCondLst>
                                        </p:cTn>
                                        <p:tgtEl>
                                          <p:spTgt spid="371"/>
                                        </p:tgtEl>
                                        <p:attrNameLst>
                                          <p:attrName>style.visibility</p:attrName>
                                        </p:attrNameLst>
                                      </p:cBhvr>
                                      <p:to>
                                        <p:strVal val="visible"/>
                                      </p:to>
                                    </p:set>
                                    <p:animEffect transition="in" filter="fade">
                                      <p:cBhvr>
                                        <p:cTn id="68" dur="1000"/>
                                        <p:tgtEl>
                                          <p:spTgt spid="37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70"/>
                                        </p:tgtEl>
                                        <p:attrNameLst>
                                          <p:attrName>style.visibility</p:attrName>
                                        </p:attrNameLst>
                                      </p:cBhvr>
                                      <p:to>
                                        <p:strVal val="visible"/>
                                      </p:to>
                                    </p:set>
                                    <p:animEffect transition="in" filter="fade">
                                      <p:cBhvr>
                                        <p:cTn id="73" dur="1000"/>
                                        <p:tgtEl>
                                          <p:spTgt spid="370"/>
                                        </p:tgtEl>
                                      </p:cBhvr>
                                    </p:animEffect>
                                  </p:childTnLst>
                                </p:cTn>
                              </p:par>
                              <p:par>
                                <p:cTn id="74" presetID="10" presetClass="entr" presetSubtype="0" fill="hold" nodeType="withEffect">
                                  <p:stCondLst>
                                    <p:cond delay="0"/>
                                  </p:stCondLst>
                                  <p:childTnLst>
                                    <p:set>
                                      <p:cBhvr>
                                        <p:cTn id="75" dur="1" fill="hold">
                                          <p:stCondLst>
                                            <p:cond delay="0"/>
                                          </p:stCondLst>
                                        </p:cTn>
                                        <p:tgtEl>
                                          <p:spTgt spid="372"/>
                                        </p:tgtEl>
                                        <p:attrNameLst>
                                          <p:attrName>style.visibility</p:attrName>
                                        </p:attrNameLst>
                                      </p:cBhvr>
                                      <p:to>
                                        <p:strVal val="visible"/>
                                      </p:to>
                                    </p:set>
                                    <p:animEffect transition="in" filter="fade">
                                      <p:cBhvr>
                                        <p:cTn id="76" dur="1000"/>
                                        <p:tgtEl>
                                          <p:spTgt spid="37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373"/>
                                        </p:tgtEl>
                                        <p:attrNameLst>
                                          <p:attrName>style.visibility</p:attrName>
                                        </p:attrNameLst>
                                      </p:cBhvr>
                                      <p:to>
                                        <p:strVal val="visible"/>
                                      </p:to>
                                    </p:set>
                                    <p:animEffect transition="in" filter="fade">
                                      <p:cBhvr>
                                        <p:cTn id="81" dur="1000"/>
                                        <p:tgtEl>
                                          <p:spTgt spid="373"/>
                                        </p:tgtEl>
                                      </p:cBhvr>
                                    </p:animEffect>
                                  </p:childTnLst>
                                </p:cTn>
                              </p:par>
                              <p:par>
                                <p:cTn id="82" presetID="10" presetClass="entr" presetSubtype="0" fill="hold" nodeType="withEffect">
                                  <p:stCondLst>
                                    <p:cond delay="0"/>
                                  </p:stCondLst>
                                  <p:childTnLst>
                                    <p:set>
                                      <p:cBhvr>
                                        <p:cTn id="83" dur="1" fill="hold">
                                          <p:stCondLst>
                                            <p:cond delay="0"/>
                                          </p:stCondLst>
                                        </p:cTn>
                                        <p:tgtEl>
                                          <p:spTgt spid="398"/>
                                        </p:tgtEl>
                                        <p:attrNameLst>
                                          <p:attrName>style.visibility</p:attrName>
                                        </p:attrNameLst>
                                      </p:cBhvr>
                                      <p:to>
                                        <p:strVal val="visible"/>
                                      </p:to>
                                    </p:set>
                                    <p:animEffect transition="in" filter="fade">
                                      <p:cBhvr>
                                        <p:cTn id="84" dur="1000"/>
                                        <p:tgtEl>
                                          <p:spTgt spid="398"/>
                                        </p:tgtEl>
                                      </p:cBhvr>
                                    </p:animEffect>
                                  </p:childTnLst>
                                </p:cTn>
                              </p:par>
                              <p:par>
                                <p:cTn id="85" presetID="10" presetClass="entr" presetSubtype="0" fill="hold" nodeType="withEffect">
                                  <p:stCondLst>
                                    <p:cond delay="0"/>
                                  </p:stCondLst>
                                  <p:childTnLst>
                                    <p:set>
                                      <p:cBhvr>
                                        <p:cTn id="86" dur="1" fill="hold">
                                          <p:stCondLst>
                                            <p:cond delay="0"/>
                                          </p:stCondLst>
                                        </p:cTn>
                                        <p:tgtEl>
                                          <p:spTgt spid="402"/>
                                        </p:tgtEl>
                                        <p:attrNameLst>
                                          <p:attrName>style.visibility</p:attrName>
                                        </p:attrNameLst>
                                      </p:cBhvr>
                                      <p:to>
                                        <p:strVal val="visible"/>
                                      </p:to>
                                    </p:set>
                                    <p:animEffect transition="in" filter="fade">
                                      <p:cBhvr>
                                        <p:cTn id="87" dur="1000"/>
                                        <p:tgtEl>
                                          <p:spTgt spid="402"/>
                                        </p:tgtEl>
                                      </p:cBhvr>
                                    </p:animEffect>
                                  </p:childTnLst>
                                </p:cTn>
                              </p:par>
                              <p:par>
                                <p:cTn id="88" presetID="10" presetClass="entr" presetSubtype="0" fill="hold" nodeType="withEffect">
                                  <p:stCondLst>
                                    <p:cond delay="0"/>
                                  </p:stCondLst>
                                  <p:childTnLst>
                                    <p:set>
                                      <p:cBhvr>
                                        <p:cTn id="89" dur="1" fill="hold">
                                          <p:stCondLst>
                                            <p:cond delay="0"/>
                                          </p:stCondLst>
                                        </p:cTn>
                                        <p:tgtEl>
                                          <p:spTgt spid="385"/>
                                        </p:tgtEl>
                                        <p:attrNameLst>
                                          <p:attrName>style.visibility</p:attrName>
                                        </p:attrNameLst>
                                      </p:cBhvr>
                                      <p:to>
                                        <p:strVal val="visible"/>
                                      </p:to>
                                    </p:set>
                                    <p:animEffect transition="in" filter="fade">
                                      <p:cBhvr>
                                        <p:cTn id="90" dur="1000"/>
                                        <p:tgtEl>
                                          <p:spTgt spid="38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86"/>
                                        </p:tgtEl>
                                        <p:attrNameLst>
                                          <p:attrName>style.visibility</p:attrName>
                                        </p:attrNameLst>
                                      </p:cBhvr>
                                      <p:to>
                                        <p:strVal val="visible"/>
                                      </p:to>
                                    </p:set>
                                    <p:animEffect transition="in" filter="fade">
                                      <p:cBhvr>
                                        <p:cTn id="95" dur="1000"/>
                                        <p:tgtEl>
                                          <p:spTgt spid="386"/>
                                        </p:tgtEl>
                                      </p:cBhvr>
                                    </p:animEffect>
                                  </p:childTnLst>
                                </p:cTn>
                              </p:par>
                              <p:par>
                                <p:cTn id="96" presetID="10" presetClass="entr" presetSubtype="0" fill="hold" nodeType="withEffect">
                                  <p:stCondLst>
                                    <p:cond delay="0"/>
                                  </p:stCondLst>
                                  <p:childTnLst>
                                    <p:set>
                                      <p:cBhvr>
                                        <p:cTn id="97" dur="1" fill="hold">
                                          <p:stCondLst>
                                            <p:cond delay="0"/>
                                          </p:stCondLst>
                                        </p:cTn>
                                        <p:tgtEl>
                                          <p:spTgt spid="403"/>
                                        </p:tgtEl>
                                        <p:attrNameLst>
                                          <p:attrName>style.visibility</p:attrName>
                                        </p:attrNameLst>
                                      </p:cBhvr>
                                      <p:to>
                                        <p:strVal val="visible"/>
                                      </p:to>
                                    </p:set>
                                    <p:animEffect transition="in" filter="fade">
                                      <p:cBhvr>
                                        <p:cTn id="98" dur="1000"/>
                                        <p:tgtEl>
                                          <p:spTgt spid="403"/>
                                        </p:tgtEl>
                                      </p:cBhvr>
                                    </p:animEffect>
                                  </p:childTnLst>
                                </p:cTn>
                              </p:par>
                              <p:par>
                                <p:cTn id="99" presetID="10" presetClass="entr" presetSubtype="0" fill="hold" nodeType="withEffect">
                                  <p:stCondLst>
                                    <p:cond delay="0"/>
                                  </p:stCondLst>
                                  <p:childTnLst>
                                    <p:set>
                                      <p:cBhvr>
                                        <p:cTn id="100" dur="1" fill="hold">
                                          <p:stCondLst>
                                            <p:cond delay="0"/>
                                          </p:stCondLst>
                                        </p:cTn>
                                        <p:tgtEl>
                                          <p:spTgt spid="387"/>
                                        </p:tgtEl>
                                        <p:attrNameLst>
                                          <p:attrName>style.visibility</p:attrName>
                                        </p:attrNameLst>
                                      </p:cBhvr>
                                      <p:to>
                                        <p:strVal val="visible"/>
                                      </p:to>
                                    </p:set>
                                    <p:animEffect transition="in" filter="fade">
                                      <p:cBhvr>
                                        <p:cTn id="101" dur="1000"/>
                                        <p:tgtEl>
                                          <p:spTgt spid="387"/>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388"/>
                                        </p:tgtEl>
                                        <p:attrNameLst>
                                          <p:attrName>style.visibility</p:attrName>
                                        </p:attrNameLst>
                                      </p:cBhvr>
                                      <p:to>
                                        <p:strVal val="visible"/>
                                      </p:to>
                                    </p:set>
                                    <p:animEffect transition="in" filter="fade">
                                      <p:cBhvr>
                                        <p:cTn id="106" dur="1000"/>
                                        <p:tgtEl>
                                          <p:spTgt spid="388"/>
                                        </p:tgtEl>
                                      </p:cBhvr>
                                    </p:animEffect>
                                  </p:childTnLst>
                                </p:cTn>
                              </p:par>
                              <p:par>
                                <p:cTn id="107" presetID="10" presetClass="entr" presetSubtype="0" fill="hold" nodeType="withEffect">
                                  <p:stCondLst>
                                    <p:cond delay="0"/>
                                  </p:stCondLst>
                                  <p:childTnLst>
                                    <p:set>
                                      <p:cBhvr>
                                        <p:cTn id="108" dur="1" fill="hold">
                                          <p:stCondLst>
                                            <p:cond delay="0"/>
                                          </p:stCondLst>
                                        </p:cTn>
                                        <p:tgtEl>
                                          <p:spTgt spid="389"/>
                                        </p:tgtEl>
                                        <p:attrNameLst>
                                          <p:attrName>style.visibility</p:attrName>
                                        </p:attrNameLst>
                                      </p:cBhvr>
                                      <p:to>
                                        <p:strVal val="visible"/>
                                      </p:to>
                                    </p:set>
                                    <p:animEffect transition="in" filter="fade">
                                      <p:cBhvr>
                                        <p:cTn id="109" dur="1000"/>
                                        <p:tgtEl>
                                          <p:spTgt spid="389"/>
                                        </p:tgtEl>
                                      </p:cBhvr>
                                    </p:animEffect>
                                  </p:childTnLst>
                                </p:cTn>
                              </p:par>
                              <p:par>
                                <p:cTn id="110" presetID="10" presetClass="entr" presetSubtype="0" fill="hold" nodeType="withEffect">
                                  <p:stCondLst>
                                    <p:cond delay="0"/>
                                  </p:stCondLst>
                                  <p:childTnLst>
                                    <p:set>
                                      <p:cBhvr>
                                        <p:cTn id="111" dur="1" fill="hold">
                                          <p:stCondLst>
                                            <p:cond delay="0"/>
                                          </p:stCondLst>
                                        </p:cTn>
                                        <p:tgtEl>
                                          <p:spTgt spid="390"/>
                                        </p:tgtEl>
                                        <p:attrNameLst>
                                          <p:attrName>style.visibility</p:attrName>
                                        </p:attrNameLst>
                                      </p:cBhvr>
                                      <p:to>
                                        <p:strVal val="visible"/>
                                      </p:to>
                                    </p:set>
                                    <p:animEffect transition="in" filter="fade">
                                      <p:cBhvr>
                                        <p:cTn id="112" dur="1000"/>
                                        <p:tgtEl>
                                          <p:spTgt spid="390"/>
                                        </p:tgtEl>
                                      </p:cBhvr>
                                    </p:animEffect>
                                  </p:childTnLst>
                                </p:cTn>
                              </p:par>
                              <p:par>
                                <p:cTn id="113" presetID="10" presetClass="entr" presetSubtype="0" fill="hold" nodeType="withEffect">
                                  <p:stCondLst>
                                    <p:cond delay="0"/>
                                  </p:stCondLst>
                                  <p:childTnLst>
                                    <p:set>
                                      <p:cBhvr>
                                        <p:cTn id="114" dur="1" fill="hold">
                                          <p:stCondLst>
                                            <p:cond delay="0"/>
                                          </p:stCondLst>
                                        </p:cTn>
                                        <p:tgtEl>
                                          <p:spTgt spid="399"/>
                                        </p:tgtEl>
                                        <p:attrNameLst>
                                          <p:attrName>style.visibility</p:attrName>
                                        </p:attrNameLst>
                                      </p:cBhvr>
                                      <p:to>
                                        <p:strVal val="visible"/>
                                      </p:to>
                                    </p:set>
                                    <p:animEffect transition="in" filter="fade">
                                      <p:cBhvr>
                                        <p:cTn id="115" dur="1000"/>
                                        <p:tgtEl>
                                          <p:spTgt spid="399"/>
                                        </p:tgtEl>
                                      </p:cBhvr>
                                    </p:animEffect>
                                  </p:childTnLst>
                                </p:cTn>
                              </p:par>
                              <p:par>
                                <p:cTn id="116" presetID="10" presetClass="entr" presetSubtype="0" fill="hold" nodeType="withEffect">
                                  <p:stCondLst>
                                    <p:cond delay="0"/>
                                  </p:stCondLst>
                                  <p:childTnLst>
                                    <p:set>
                                      <p:cBhvr>
                                        <p:cTn id="117" dur="1" fill="hold">
                                          <p:stCondLst>
                                            <p:cond delay="0"/>
                                          </p:stCondLst>
                                        </p:cTn>
                                        <p:tgtEl>
                                          <p:spTgt spid="400"/>
                                        </p:tgtEl>
                                        <p:attrNameLst>
                                          <p:attrName>style.visibility</p:attrName>
                                        </p:attrNameLst>
                                      </p:cBhvr>
                                      <p:to>
                                        <p:strVal val="visible"/>
                                      </p:to>
                                    </p:set>
                                    <p:animEffect transition="in" filter="fade">
                                      <p:cBhvr>
                                        <p:cTn id="118" dur="1000"/>
                                        <p:tgtEl>
                                          <p:spTgt spid="400"/>
                                        </p:tgtEl>
                                      </p:cBhvr>
                                    </p:animEffect>
                                  </p:childTnLst>
                                </p:cTn>
                              </p:par>
                              <p:par>
                                <p:cTn id="119" presetID="10" presetClass="entr" presetSubtype="0" fill="hold" nodeType="withEffect">
                                  <p:stCondLst>
                                    <p:cond delay="0"/>
                                  </p:stCondLst>
                                  <p:childTnLst>
                                    <p:set>
                                      <p:cBhvr>
                                        <p:cTn id="120" dur="1" fill="hold">
                                          <p:stCondLst>
                                            <p:cond delay="0"/>
                                          </p:stCondLst>
                                        </p:cTn>
                                        <p:tgtEl>
                                          <p:spTgt spid="401"/>
                                        </p:tgtEl>
                                        <p:attrNameLst>
                                          <p:attrName>style.visibility</p:attrName>
                                        </p:attrNameLst>
                                      </p:cBhvr>
                                      <p:to>
                                        <p:strVal val="visible"/>
                                      </p:to>
                                    </p:set>
                                    <p:animEffect transition="in" filter="fade">
                                      <p:cBhvr>
                                        <p:cTn id="121" dur="1000"/>
                                        <p:tgtEl>
                                          <p:spTgt spid="401"/>
                                        </p:tgtEl>
                                      </p:cBhvr>
                                    </p:animEffect>
                                  </p:childTnLst>
                                </p:cTn>
                              </p:par>
                              <p:par>
                                <p:cTn id="122" presetID="10" presetClass="entr" presetSubtype="0" fill="hold" nodeType="withEffect">
                                  <p:stCondLst>
                                    <p:cond delay="0"/>
                                  </p:stCondLst>
                                  <p:childTnLst>
                                    <p:set>
                                      <p:cBhvr>
                                        <p:cTn id="123" dur="1" fill="hold">
                                          <p:stCondLst>
                                            <p:cond delay="0"/>
                                          </p:stCondLst>
                                        </p:cTn>
                                        <p:tgtEl>
                                          <p:spTgt spid="391"/>
                                        </p:tgtEl>
                                        <p:attrNameLst>
                                          <p:attrName>style.visibility</p:attrName>
                                        </p:attrNameLst>
                                      </p:cBhvr>
                                      <p:to>
                                        <p:strVal val="visible"/>
                                      </p:to>
                                    </p:set>
                                    <p:animEffect transition="in" filter="fade">
                                      <p:cBhvr>
                                        <p:cTn id="124" dur="1000"/>
                                        <p:tgtEl>
                                          <p:spTgt spid="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grpSp>
        <p:nvGrpSpPr>
          <p:cNvPr id="408" name="Google Shape;408;p41"/>
          <p:cNvGrpSpPr/>
          <p:nvPr/>
        </p:nvGrpSpPr>
        <p:grpSpPr>
          <a:xfrm>
            <a:off x="4238527" y="1090675"/>
            <a:ext cx="4559612" cy="3762625"/>
            <a:chOff x="5597700" y="1090675"/>
            <a:chExt cx="3201300" cy="3762625"/>
          </a:xfrm>
        </p:grpSpPr>
        <p:sp>
          <p:nvSpPr>
            <p:cNvPr id="409" name="Google Shape;409;p41"/>
            <p:cNvSpPr/>
            <p:nvPr/>
          </p:nvSpPr>
          <p:spPr>
            <a:xfrm>
              <a:off x="5597700" y="1090675"/>
              <a:ext cx="3201300" cy="3185400"/>
            </a:xfrm>
            <a:prstGeom prst="rect">
              <a:avLst/>
            </a:prstGeom>
            <a:noFill/>
            <a:ln w="28575" cap="flat"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41"/>
            <p:cNvSpPr txBox="1"/>
            <p:nvPr/>
          </p:nvSpPr>
          <p:spPr>
            <a:xfrm>
              <a:off x="5754450" y="4453100"/>
              <a:ext cx="2887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Confidentiality</a:t>
              </a:r>
              <a:endParaRPr>
                <a:solidFill>
                  <a:schemeClr val="lt1"/>
                </a:solidFill>
                <a:latin typeface="Lato"/>
                <a:ea typeface="Lato"/>
                <a:cs typeface="Lato"/>
                <a:sym typeface="Lato"/>
              </a:endParaRPr>
            </a:p>
          </p:txBody>
        </p:sp>
      </p:grpSp>
      <p:cxnSp>
        <p:nvCxnSpPr>
          <p:cNvPr id="411" name="Google Shape;411;p41"/>
          <p:cNvCxnSpPr>
            <a:stCxn id="412" idx="0"/>
            <a:endCxn id="413" idx="1"/>
          </p:cNvCxnSpPr>
          <p:nvPr/>
        </p:nvCxnSpPr>
        <p:spPr>
          <a:xfrm rot="10800000" flipH="1">
            <a:off x="3391850" y="2571700"/>
            <a:ext cx="1022400" cy="25200"/>
          </a:xfrm>
          <a:prstGeom prst="straightConnector1">
            <a:avLst/>
          </a:prstGeom>
          <a:noFill/>
          <a:ln w="28575" cap="flat" cmpd="sng">
            <a:solidFill>
              <a:schemeClr val="dk2"/>
            </a:solidFill>
            <a:prstDash val="solid"/>
            <a:round/>
            <a:headEnd type="none" w="med" len="med"/>
            <a:tailEnd type="triangle" w="med" len="med"/>
          </a:ln>
        </p:spPr>
      </p:cxnSp>
      <p:sp>
        <p:nvSpPr>
          <p:cNvPr id="414" name="Google Shape;414;p41"/>
          <p:cNvSpPr/>
          <p:nvPr/>
        </p:nvSpPr>
        <p:spPr>
          <a:xfrm>
            <a:off x="5084925" y="1715625"/>
            <a:ext cx="1145100" cy="456900"/>
          </a:xfrm>
          <a:prstGeom prst="rect">
            <a:avLst/>
          </a:prstGeom>
          <a:solidFill>
            <a:srgbClr val="20124D"/>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Shared Key</a:t>
            </a:r>
            <a:endParaRPr>
              <a:solidFill>
                <a:schemeClr val="lt1"/>
              </a:solidFill>
            </a:endParaRPr>
          </a:p>
        </p:txBody>
      </p:sp>
      <p:sp>
        <p:nvSpPr>
          <p:cNvPr id="415" name="Google Shape;415;p41"/>
          <p:cNvSpPr txBox="1">
            <a:spLocks noGrp="1"/>
          </p:cNvSpPr>
          <p:nvPr>
            <p:ph type="title"/>
          </p:nvPr>
        </p:nvSpPr>
        <p:spPr>
          <a:xfrm>
            <a:off x="1297500" y="393750"/>
            <a:ext cx="7038900" cy="647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PGP Encryption</a:t>
            </a:r>
            <a:endParaRPr/>
          </a:p>
        </p:txBody>
      </p:sp>
      <p:grpSp>
        <p:nvGrpSpPr>
          <p:cNvPr id="416" name="Google Shape;416;p41"/>
          <p:cNvGrpSpPr/>
          <p:nvPr/>
        </p:nvGrpSpPr>
        <p:grpSpPr>
          <a:xfrm>
            <a:off x="334613" y="1090675"/>
            <a:ext cx="3767614" cy="3762625"/>
            <a:chOff x="334625" y="1090675"/>
            <a:chExt cx="5143500" cy="3762625"/>
          </a:xfrm>
        </p:grpSpPr>
        <p:sp>
          <p:nvSpPr>
            <p:cNvPr id="417" name="Google Shape;417;p41"/>
            <p:cNvSpPr/>
            <p:nvPr/>
          </p:nvSpPr>
          <p:spPr>
            <a:xfrm>
              <a:off x="334625" y="1090675"/>
              <a:ext cx="5143500" cy="3185400"/>
            </a:xfrm>
            <a:prstGeom prst="rect">
              <a:avLst/>
            </a:prstGeom>
            <a:noFill/>
            <a:ln w="28575" cap="flat"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1"/>
            <p:cNvSpPr txBox="1"/>
            <p:nvPr/>
          </p:nvSpPr>
          <p:spPr>
            <a:xfrm>
              <a:off x="1580200" y="4453100"/>
              <a:ext cx="2887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Digital Signature</a:t>
              </a:r>
              <a:endParaRPr>
                <a:solidFill>
                  <a:schemeClr val="lt1"/>
                </a:solidFill>
                <a:latin typeface="Lato"/>
                <a:ea typeface="Lato"/>
                <a:cs typeface="Lato"/>
                <a:sym typeface="Lato"/>
              </a:endParaRPr>
            </a:p>
          </p:txBody>
        </p:sp>
      </p:grpSp>
      <p:sp>
        <p:nvSpPr>
          <p:cNvPr id="419" name="Google Shape;419;p41"/>
          <p:cNvSpPr/>
          <p:nvPr/>
        </p:nvSpPr>
        <p:spPr>
          <a:xfrm>
            <a:off x="599700" y="2354850"/>
            <a:ext cx="6816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hash</a:t>
            </a:r>
            <a:endParaRPr/>
          </a:p>
        </p:txBody>
      </p:sp>
      <p:sp>
        <p:nvSpPr>
          <p:cNvPr id="420" name="Google Shape;420;p41"/>
          <p:cNvSpPr/>
          <p:nvPr/>
        </p:nvSpPr>
        <p:spPr>
          <a:xfrm>
            <a:off x="540450" y="322860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Encrypt</a:t>
            </a:r>
            <a:endParaRPr/>
          </a:p>
        </p:txBody>
      </p:sp>
      <p:sp>
        <p:nvSpPr>
          <p:cNvPr id="421" name="Google Shape;421;p41"/>
          <p:cNvSpPr txBox="1"/>
          <p:nvPr/>
        </p:nvSpPr>
        <p:spPr>
          <a:xfrm>
            <a:off x="246225" y="3746675"/>
            <a:ext cx="1958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Sender’s Private key</a:t>
            </a:r>
            <a:endParaRPr>
              <a:solidFill>
                <a:schemeClr val="lt1"/>
              </a:solidFill>
              <a:latin typeface="Lato"/>
              <a:ea typeface="Lato"/>
              <a:cs typeface="Lato"/>
              <a:sym typeface="Lato"/>
            </a:endParaRPr>
          </a:p>
        </p:txBody>
      </p:sp>
      <p:sp>
        <p:nvSpPr>
          <p:cNvPr id="422" name="Google Shape;422;p41"/>
          <p:cNvSpPr/>
          <p:nvPr/>
        </p:nvSpPr>
        <p:spPr>
          <a:xfrm>
            <a:off x="2314872" y="2388450"/>
            <a:ext cx="460500" cy="400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Montserrat"/>
                <a:ea typeface="Montserrat"/>
                <a:cs typeface="Montserrat"/>
                <a:sym typeface="Montserrat"/>
              </a:rPr>
              <a:t>+</a:t>
            </a:r>
            <a:endParaRPr sz="2200">
              <a:latin typeface="Montserrat"/>
              <a:ea typeface="Montserrat"/>
              <a:cs typeface="Montserrat"/>
              <a:sym typeface="Montserrat"/>
            </a:endParaRPr>
          </a:p>
        </p:txBody>
      </p:sp>
      <p:sp>
        <p:nvSpPr>
          <p:cNvPr id="423" name="Google Shape;423;p41"/>
          <p:cNvSpPr/>
          <p:nvPr/>
        </p:nvSpPr>
        <p:spPr>
          <a:xfrm>
            <a:off x="599700" y="1481100"/>
            <a:ext cx="681600" cy="4338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Email</a:t>
            </a:r>
            <a:endParaRPr>
              <a:solidFill>
                <a:schemeClr val="lt1"/>
              </a:solidFill>
            </a:endParaRPr>
          </a:p>
        </p:txBody>
      </p:sp>
      <p:sp>
        <p:nvSpPr>
          <p:cNvPr id="424" name="Google Shape;424;p41"/>
          <p:cNvSpPr/>
          <p:nvPr/>
        </p:nvSpPr>
        <p:spPr>
          <a:xfrm>
            <a:off x="3051050" y="2146375"/>
            <a:ext cx="681600" cy="4338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Sign</a:t>
            </a:r>
            <a:endParaRPr>
              <a:solidFill>
                <a:schemeClr val="lt1"/>
              </a:solidFill>
            </a:endParaRPr>
          </a:p>
        </p:txBody>
      </p:sp>
      <p:sp>
        <p:nvSpPr>
          <p:cNvPr id="412" name="Google Shape;412;p41"/>
          <p:cNvSpPr/>
          <p:nvPr/>
        </p:nvSpPr>
        <p:spPr>
          <a:xfrm>
            <a:off x="3051050" y="2596900"/>
            <a:ext cx="681600" cy="4338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Email</a:t>
            </a:r>
            <a:endParaRPr>
              <a:solidFill>
                <a:schemeClr val="lt1"/>
              </a:solidFill>
            </a:endParaRPr>
          </a:p>
        </p:txBody>
      </p:sp>
      <p:sp>
        <p:nvSpPr>
          <p:cNvPr id="425" name="Google Shape;425;p41"/>
          <p:cNvSpPr/>
          <p:nvPr/>
        </p:nvSpPr>
        <p:spPr>
          <a:xfrm>
            <a:off x="2204313" y="3238500"/>
            <a:ext cx="681600" cy="4338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Sign</a:t>
            </a:r>
            <a:endParaRPr>
              <a:solidFill>
                <a:schemeClr val="lt1"/>
              </a:solidFill>
            </a:endParaRPr>
          </a:p>
        </p:txBody>
      </p:sp>
      <p:sp>
        <p:nvSpPr>
          <p:cNvPr id="413" name="Google Shape;413;p41"/>
          <p:cNvSpPr/>
          <p:nvPr/>
        </p:nvSpPr>
        <p:spPr>
          <a:xfrm>
            <a:off x="4414175" y="2354850"/>
            <a:ext cx="5310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ZIP</a:t>
            </a:r>
            <a:endParaRPr/>
          </a:p>
        </p:txBody>
      </p:sp>
      <p:sp>
        <p:nvSpPr>
          <p:cNvPr id="426" name="Google Shape;426;p41"/>
          <p:cNvSpPr/>
          <p:nvPr/>
        </p:nvSpPr>
        <p:spPr>
          <a:xfrm>
            <a:off x="5257125" y="235485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Encrypt</a:t>
            </a:r>
            <a:endParaRPr/>
          </a:p>
        </p:txBody>
      </p:sp>
      <p:sp>
        <p:nvSpPr>
          <p:cNvPr id="427" name="Google Shape;427;p41"/>
          <p:cNvSpPr/>
          <p:nvPr/>
        </p:nvSpPr>
        <p:spPr>
          <a:xfrm>
            <a:off x="6537375" y="1727175"/>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Encrypt</a:t>
            </a:r>
            <a:endParaRPr/>
          </a:p>
        </p:txBody>
      </p:sp>
      <p:sp>
        <p:nvSpPr>
          <p:cNvPr id="428" name="Google Shape;428;p41"/>
          <p:cNvSpPr txBox="1"/>
          <p:nvPr/>
        </p:nvSpPr>
        <p:spPr>
          <a:xfrm>
            <a:off x="5958675" y="1260600"/>
            <a:ext cx="1958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Receiver’s Public key</a:t>
            </a:r>
            <a:endParaRPr>
              <a:solidFill>
                <a:schemeClr val="lt1"/>
              </a:solidFill>
              <a:latin typeface="Lato"/>
              <a:ea typeface="Lato"/>
              <a:cs typeface="Lato"/>
              <a:sym typeface="Lato"/>
            </a:endParaRPr>
          </a:p>
        </p:txBody>
      </p:sp>
      <p:sp>
        <p:nvSpPr>
          <p:cNvPr id="429" name="Google Shape;429;p41"/>
          <p:cNvSpPr/>
          <p:nvPr/>
        </p:nvSpPr>
        <p:spPr>
          <a:xfrm>
            <a:off x="6707472" y="2388450"/>
            <a:ext cx="460500" cy="400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2200">
                <a:latin typeface="Montserrat"/>
                <a:ea typeface="Montserrat"/>
                <a:cs typeface="Montserrat"/>
                <a:sym typeface="Montserrat"/>
              </a:rPr>
              <a:t>+</a:t>
            </a:r>
            <a:endParaRPr sz="2200">
              <a:latin typeface="Montserrat"/>
              <a:ea typeface="Montserrat"/>
              <a:cs typeface="Montserrat"/>
              <a:sym typeface="Montserrat"/>
            </a:endParaRPr>
          </a:p>
        </p:txBody>
      </p:sp>
      <p:sp>
        <p:nvSpPr>
          <p:cNvPr id="430" name="Google Shape;430;p41"/>
          <p:cNvSpPr/>
          <p:nvPr/>
        </p:nvSpPr>
        <p:spPr>
          <a:xfrm>
            <a:off x="7817625" y="2743500"/>
            <a:ext cx="619800" cy="309900"/>
          </a:xfrm>
          <a:prstGeom prst="rect">
            <a:avLst/>
          </a:prstGeom>
          <a:solidFill>
            <a:srgbClr val="85200C"/>
          </a:solidFill>
          <a:ln w="9525" cap="flat" cmpd="sng">
            <a:solidFill>
              <a:srgbClr val="8520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41"/>
          <p:cNvSpPr/>
          <p:nvPr/>
        </p:nvSpPr>
        <p:spPr>
          <a:xfrm>
            <a:off x="7817625" y="2433600"/>
            <a:ext cx="619800" cy="309900"/>
          </a:xfrm>
          <a:prstGeom prst="rect">
            <a:avLst/>
          </a:prstGeom>
          <a:solidFill>
            <a:srgbClr val="351C75"/>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41"/>
          <p:cNvSpPr/>
          <p:nvPr/>
        </p:nvSpPr>
        <p:spPr>
          <a:xfrm>
            <a:off x="7817625" y="3053400"/>
            <a:ext cx="619800" cy="309900"/>
          </a:xfrm>
          <a:prstGeom prst="rect">
            <a:avLst/>
          </a:prstGeom>
          <a:solidFill>
            <a:srgbClr val="85200C"/>
          </a:solidFill>
          <a:ln w="9525" cap="flat" cmpd="sng">
            <a:solidFill>
              <a:srgbClr val="8520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3" name="Google Shape;433;p41"/>
          <p:cNvCxnSpPr>
            <a:stCxn id="423" idx="2"/>
            <a:endCxn id="419" idx="0"/>
          </p:cNvCxnSpPr>
          <p:nvPr/>
        </p:nvCxnSpPr>
        <p:spPr>
          <a:xfrm rot="-5400000" flipH="1">
            <a:off x="720750" y="2134650"/>
            <a:ext cx="440100" cy="600"/>
          </a:xfrm>
          <a:prstGeom prst="bentConnector3">
            <a:avLst>
              <a:gd name="adj1" fmla="val 49983"/>
            </a:avLst>
          </a:prstGeom>
          <a:noFill/>
          <a:ln w="28575" cap="flat" cmpd="sng">
            <a:solidFill>
              <a:schemeClr val="dk2"/>
            </a:solidFill>
            <a:prstDash val="solid"/>
            <a:round/>
            <a:headEnd type="none" w="med" len="med"/>
            <a:tailEnd type="stealth" w="med" len="med"/>
          </a:ln>
        </p:spPr>
      </p:cxnSp>
      <p:cxnSp>
        <p:nvCxnSpPr>
          <p:cNvPr id="434" name="Google Shape;434;p41"/>
          <p:cNvCxnSpPr>
            <a:stCxn id="419" idx="2"/>
            <a:endCxn id="420" idx="0"/>
          </p:cNvCxnSpPr>
          <p:nvPr/>
        </p:nvCxnSpPr>
        <p:spPr>
          <a:xfrm rot="-5400000" flipH="1">
            <a:off x="720750" y="3008400"/>
            <a:ext cx="440100" cy="600"/>
          </a:xfrm>
          <a:prstGeom prst="bentConnector3">
            <a:avLst>
              <a:gd name="adj1" fmla="val 49983"/>
            </a:avLst>
          </a:prstGeom>
          <a:noFill/>
          <a:ln w="28575" cap="flat" cmpd="sng">
            <a:solidFill>
              <a:schemeClr val="dk2"/>
            </a:solidFill>
            <a:prstDash val="solid"/>
            <a:round/>
            <a:headEnd type="none" w="med" len="med"/>
            <a:tailEnd type="stealth" w="med" len="med"/>
          </a:ln>
        </p:spPr>
      </p:cxnSp>
      <p:cxnSp>
        <p:nvCxnSpPr>
          <p:cNvPr id="435" name="Google Shape;435;p41"/>
          <p:cNvCxnSpPr>
            <a:stCxn id="420" idx="3"/>
            <a:endCxn id="425" idx="1"/>
          </p:cNvCxnSpPr>
          <p:nvPr/>
        </p:nvCxnSpPr>
        <p:spPr>
          <a:xfrm>
            <a:off x="1341150" y="3445500"/>
            <a:ext cx="863100" cy="9900"/>
          </a:xfrm>
          <a:prstGeom prst="straightConnector1">
            <a:avLst/>
          </a:prstGeom>
          <a:noFill/>
          <a:ln w="28575" cap="flat" cmpd="sng">
            <a:solidFill>
              <a:schemeClr val="dk2"/>
            </a:solidFill>
            <a:prstDash val="solid"/>
            <a:round/>
            <a:headEnd type="none" w="med" len="med"/>
            <a:tailEnd type="stealth" w="med" len="med"/>
          </a:ln>
        </p:spPr>
      </p:cxnSp>
      <p:cxnSp>
        <p:nvCxnSpPr>
          <p:cNvPr id="436" name="Google Shape;436;p41"/>
          <p:cNvCxnSpPr>
            <a:stCxn id="425" idx="0"/>
            <a:endCxn id="422" idx="4"/>
          </p:cNvCxnSpPr>
          <p:nvPr/>
        </p:nvCxnSpPr>
        <p:spPr>
          <a:xfrm rot="10800000">
            <a:off x="2545113" y="2788800"/>
            <a:ext cx="0" cy="449700"/>
          </a:xfrm>
          <a:prstGeom prst="straightConnector1">
            <a:avLst/>
          </a:prstGeom>
          <a:noFill/>
          <a:ln w="28575" cap="flat" cmpd="sng">
            <a:solidFill>
              <a:schemeClr val="dk2"/>
            </a:solidFill>
            <a:prstDash val="solid"/>
            <a:round/>
            <a:headEnd type="none" w="med" len="med"/>
            <a:tailEnd type="triangle" w="med" len="med"/>
          </a:ln>
        </p:spPr>
      </p:cxnSp>
      <p:cxnSp>
        <p:nvCxnSpPr>
          <p:cNvPr id="437" name="Google Shape;437;p41"/>
          <p:cNvCxnSpPr>
            <a:stCxn id="423" idx="3"/>
            <a:endCxn id="422" idx="0"/>
          </p:cNvCxnSpPr>
          <p:nvPr/>
        </p:nvCxnSpPr>
        <p:spPr>
          <a:xfrm>
            <a:off x="1281300" y="1698000"/>
            <a:ext cx="1263900" cy="690600"/>
          </a:xfrm>
          <a:prstGeom prst="bentConnector2">
            <a:avLst/>
          </a:prstGeom>
          <a:noFill/>
          <a:ln w="28575" cap="flat" cmpd="sng">
            <a:solidFill>
              <a:schemeClr val="dk2"/>
            </a:solidFill>
            <a:prstDash val="solid"/>
            <a:round/>
            <a:headEnd type="none" w="med" len="med"/>
            <a:tailEnd type="stealth" w="med" len="med"/>
          </a:ln>
        </p:spPr>
      </p:cxnSp>
      <p:cxnSp>
        <p:nvCxnSpPr>
          <p:cNvPr id="438" name="Google Shape;438;p41"/>
          <p:cNvCxnSpPr>
            <a:stCxn id="422" idx="6"/>
          </p:cNvCxnSpPr>
          <p:nvPr/>
        </p:nvCxnSpPr>
        <p:spPr>
          <a:xfrm>
            <a:off x="2775372" y="2588550"/>
            <a:ext cx="310800" cy="1800"/>
          </a:xfrm>
          <a:prstGeom prst="straightConnector1">
            <a:avLst/>
          </a:prstGeom>
          <a:noFill/>
          <a:ln w="28575" cap="flat" cmpd="sng">
            <a:solidFill>
              <a:schemeClr val="dk2"/>
            </a:solidFill>
            <a:prstDash val="solid"/>
            <a:round/>
            <a:headEnd type="none" w="med" len="med"/>
            <a:tailEnd type="triangle" w="med" len="med"/>
          </a:ln>
        </p:spPr>
      </p:cxnSp>
      <p:cxnSp>
        <p:nvCxnSpPr>
          <p:cNvPr id="439" name="Google Shape;439;p41"/>
          <p:cNvCxnSpPr>
            <a:stCxn id="413" idx="3"/>
            <a:endCxn id="426" idx="1"/>
          </p:cNvCxnSpPr>
          <p:nvPr/>
        </p:nvCxnSpPr>
        <p:spPr>
          <a:xfrm>
            <a:off x="4945175" y="2571750"/>
            <a:ext cx="312000" cy="0"/>
          </a:xfrm>
          <a:prstGeom prst="straightConnector1">
            <a:avLst/>
          </a:prstGeom>
          <a:noFill/>
          <a:ln w="28575" cap="flat" cmpd="sng">
            <a:solidFill>
              <a:schemeClr val="dk2"/>
            </a:solidFill>
            <a:prstDash val="solid"/>
            <a:round/>
            <a:headEnd type="none" w="med" len="med"/>
            <a:tailEnd type="triangle" w="med" len="med"/>
          </a:ln>
        </p:spPr>
      </p:cxnSp>
      <p:cxnSp>
        <p:nvCxnSpPr>
          <p:cNvPr id="440" name="Google Shape;440;p41"/>
          <p:cNvCxnSpPr>
            <a:stCxn id="426" idx="3"/>
            <a:endCxn id="429" idx="2"/>
          </p:cNvCxnSpPr>
          <p:nvPr/>
        </p:nvCxnSpPr>
        <p:spPr>
          <a:xfrm>
            <a:off x="6057825" y="2571750"/>
            <a:ext cx="649500" cy="16800"/>
          </a:xfrm>
          <a:prstGeom prst="straightConnector1">
            <a:avLst/>
          </a:prstGeom>
          <a:noFill/>
          <a:ln w="28575" cap="flat" cmpd="sng">
            <a:solidFill>
              <a:schemeClr val="dk2"/>
            </a:solidFill>
            <a:prstDash val="solid"/>
            <a:round/>
            <a:headEnd type="none" w="med" len="med"/>
            <a:tailEnd type="triangle" w="med" len="med"/>
          </a:ln>
        </p:spPr>
      </p:cxnSp>
      <p:cxnSp>
        <p:nvCxnSpPr>
          <p:cNvPr id="441" name="Google Shape;441;p41"/>
          <p:cNvCxnSpPr>
            <a:endCxn id="429" idx="0"/>
          </p:cNvCxnSpPr>
          <p:nvPr/>
        </p:nvCxnSpPr>
        <p:spPr>
          <a:xfrm>
            <a:off x="6937722" y="2161050"/>
            <a:ext cx="0" cy="227400"/>
          </a:xfrm>
          <a:prstGeom prst="straightConnector1">
            <a:avLst/>
          </a:prstGeom>
          <a:noFill/>
          <a:ln w="28575" cap="flat" cmpd="sng">
            <a:solidFill>
              <a:schemeClr val="dk2"/>
            </a:solidFill>
            <a:prstDash val="solid"/>
            <a:round/>
            <a:headEnd type="none" w="med" len="med"/>
            <a:tailEnd type="triangle" w="med" len="med"/>
          </a:ln>
        </p:spPr>
      </p:cxnSp>
      <p:cxnSp>
        <p:nvCxnSpPr>
          <p:cNvPr id="442" name="Google Shape;442;p41"/>
          <p:cNvCxnSpPr>
            <a:stCxn id="429" idx="6"/>
          </p:cNvCxnSpPr>
          <p:nvPr/>
        </p:nvCxnSpPr>
        <p:spPr>
          <a:xfrm>
            <a:off x="7167972" y="2588550"/>
            <a:ext cx="689700" cy="311700"/>
          </a:xfrm>
          <a:prstGeom prst="straightConnector1">
            <a:avLst/>
          </a:prstGeom>
          <a:noFill/>
          <a:ln w="28575" cap="flat" cmpd="sng">
            <a:solidFill>
              <a:schemeClr val="dk2"/>
            </a:solidFill>
            <a:prstDash val="solid"/>
            <a:round/>
            <a:headEnd type="none" w="med" len="med"/>
            <a:tailEnd type="triangle" w="med" len="med"/>
          </a:ln>
        </p:spPr>
      </p:cxnSp>
      <p:cxnSp>
        <p:nvCxnSpPr>
          <p:cNvPr id="443" name="Google Shape;443;p41"/>
          <p:cNvCxnSpPr>
            <a:endCxn id="426" idx="0"/>
          </p:cNvCxnSpPr>
          <p:nvPr/>
        </p:nvCxnSpPr>
        <p:spPr>
          <a:xfrm>
            <a:off x="5657475" y="2172450"/>
            <a:ext cx="0" cy="182400"/>
          </a:xfrm>
          <a:prstGeom prst="straightConnector1">
            <a:avLst/>
          </a:prstGeom>
          <a:noFill/>
          <a:ln w="9525" cap="flat" cmpd="sng">
            <a:solidFill>
              <a:schemeClr val="dk2"/>
            </a:solidFill>
            <a:prstDash val="solid"/>
            <a:round/>
            <a:headEnd type="none" w="med" len="med"/>
            <a:tailEnd type="triangle" w="med" len="med"/>
          </a:ln>
        </p:spPr>
      </p:cxnSp>
      <p:cxnSp>
        <p:nvCxnSpPr>
          <p:cNvPr id="444" name="Google Shape;444;p41"/>
          <p:cNvCxnSpPr>
            <a:stCxn id="414" idx="3"/>
            <a:endCxn id="427" idx="1"/>
          </p:cNvCxnSpPr>
          <p:nvPr/>
        </p:nvCxnSpPr>
        <p:spPr>
          <a:xfrm>
            <a:off x="6230025" y="1944075"/>
            <a:ext cx="307500" cy="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42"/>
          <p:cNvSpPr txBox="1">
            <a:spLocks noGrp="1"/>
          </p:cNvSpPr>
          <p:nvPr>
            <p:ph type="title"/>
          </p:nvPr>
        </p:nvSpPr>
        <p:spPr>
          <a:xfrm>
            <a:off x="1297500" y="393750"/>
            <a:ext cx="31395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PGP Decryption</a:t>
            </a:r>
            <a:endParaRPr/>
          </a:p>
        </p:txBody>
      </p:sp>
      <p:sp>
        <p:nvSpPr>
          <p:cNvPr id="450" name="Google Shape;450;p42"/>
          <p:cNvSpPr/>
          <p:nvPr/>
        </p:nvSpPr>
        <p:spPr>
          <a:xfrm>
            <a:off x="393650" y="2639900"/>
            <a:ext cx="619800" cy="309900"/>
          </a:xfrm>
          <a:prstGeom prst="rect">
            <a:avLst/>
          </a:prstGeom>
          <a:solidFill>
            <a:srgbClr val="85200C"/>
          </a:solidFill>
          <a:ln w="9525" cap="flat" cmpd="sng">
            <a:solidFill>
              <a:srgbClr val="8520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42"/>
          <p:cNvSpPr/>
          <p:nvPr/>
        </p:nvSpPr>
        <p:spPr>
          <a:xfrm>
            <a:off x="393650" y="2330000"/>
            <a:ext cx="619800" cy="309900"/>
          </a:xfrm>
          <a:prstGeom prst="rect">
            <a:avLst/>
          </a:prstGeom>
          <a:solidFill>
            <a:srgbClr val="351C75"/>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42"/>
          <p:cNvSpPr/>
          <p:nvPr/>
        </p:nvSpPr>
        <p:spPr>
          <a:xfrm>
            <a:off x="393650" y="2949800"/>
            <a:ext cx="619800" cy="309900"/>
          </a:xfrm>
          <a:prstGeom prst="rect">
            <a:avLst/>
          </a:prstGeom>
          <a:solidFill>
            <a:srgbClr val="85200C"/>
          </a:solidFill>
          <a:ln w="9525" cap="flat" cmpd="sng">
            <a:solidFill>
              <a:srgbClr val="85200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2"/>
          <p:cNvSpPr/>
          <p:nvPr/>
        </p:nvSpPr>
        <p:spPr>
          <a:xfrm>
            <a:off x="1493025" y="201015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Decrypt</a:t>
            </a:r>
            <a:endParaRPr/>
          </a:p>
        </p:txBody>
      </p:sp>
      <p:sp>
        <p:nvSpPr>
          <p:cNvPr id="454" name="Google Shape;454;p42"/>
          <p:cNvSpPr txBox="1"/>
          <p:nvPr/>
        </p:nvSpPr>
        <p:spPr>
          <a:xfrm>
            <a:off x="914325" y="1458900"/>
            <a:ext cx="1958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Receiver’s Private key</a:t>
            </a:r>
            <a:endParaRPr>
              <a:solidFill>
                <a:schemeClr val="lt1"/>
              </a:solidFill>
              <a:latin typeface="Lato"/>
              <a:ea typeface="Lato"/>
              <a:cs typeface="Lato"/>
              <a:sym typeface="Lato"/>
            </a:endParaRPr>
          </a:p>
        </p:txBody>
      </p:sp>
      <p:sp>
        <p:nvSpPr>
          <p:cNvPr id="455" name="Google Shape;455;p42"/>
          <p:cNvSpPr/>
          <p:nvPr/>
        </p:nvSpPr>
        <p:spPr>
          <a:xfrm>
            <a:off x="2773300" y="2010150"/>
            <a:ext cx="1145100" cy="456900"/>
          </a:xfrm>
          <a:prstGeom prst="rect">
            <a:avLst/>
          </a:prstGeom>
          <a:solidFill>
            <a:srgbClr val="20124D"/>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Shared Key</a:t>
            </a:r>
            <a:endParaRPr>
              <a:solidFill>
                <a:schemeClr val="lt1"/>
              </a:solidFill>
            </a:endParaRPr>
          </a:p>
        </p:txBody>
      </p:sp>
      <p:sp>
        <p:nvSpPr>
          <p:cNvPr id="456" name="Google Shape;456;p42"/>
          <p:cNvSpPr/>
          <p:nvPr/>
        </p:nvSpPr>
        <p:spPr>
          <a:xfrm>
            <a:off x="2773425" y="288785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Decrypt</a:t>
            </a:r>
            <a:endParaRPr/>
          </a:p>
        </p:txBody>
      </p:sp>
      <p:sp>
        <p:nvSpPr>
          <p:cNvPr id="457" name="Google Shape;457;p42"/>
          <p:cNvSpPr/>
          <p:nvPr/>
        </p:nvSpPr>
        <p:spPr>
          <a:xfrm>
            <a:off x="4015050" y="282590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Unzip</a:t>
            </a:r>
            <a:endParaRPr/>
          </a:p>
        </p:txBody>
      </p:sp>
      <p:sp>
        <p:nvSpPr>
          <p:cNvPr id="458" name="Google Shape;458;p42"/>
          <p:cNvSpPr/>
          <p:nvPr/>
        </p:nvSpPr>
        <p:spPr>
          <a:xfrm>
            <a:off x="5294350" y="2600638"/>
            <a:ext cx="681600" cy="433800"/>
          </a:xfrm>
          <a:prstGeom prst="rect">
            <a:avLst/>
          </a:prstGeom>
          <a:solidFill>
            <a:schemeClr val="accent6"/>
          </a:solidFill>
          <a:ln w="9525"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Sign</a:t>
            </a:r>
            <a:endParaRPr>
              <a:solidFill>
                <a:schemeClr val="lt1"/>
              </a:solidFill>
            </a:endParaRPr>
          </a:p>
        </p:txBody>
      </p:sp>
      <p:sp>
        <p:nvSpPr>
          <p:cNvPr id="459" name="Google Shape;459;p42"/>
          <p:cNvSpPr/>
          <p:nvPr/>
        </p:nvSpPr>
        <p:spPr>
          <a:xfrm>
            <a:off x="5294350" y="3051163"/>
            <a:ext cx="681600" cy="4338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Email</a:t>
            </a:r>
            <a:endParaRPr>
              <a:solidFill>
                <a:schemeClr val="lt1"/>
              </a:solidFill>
            </a:endParaRPr>
          </a:p>
        </p:txBody>
      </p:sp>
      <p:sp>
        <p:nvSpPr>
          <p:cNvPr id="460" name="Google Shape;460;p42"/>
          <p:cNvSpPr/>
          <p:nvPr/>
        </p:nvSpPr>
        <p:spPr>
          <a:xfrm>
            <a:off x="6828500" y="2021700"/>
            <a:ext cx="8007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Decrypt</a:t>
            </a:r>
            <a:endParaRPr/>
          </a:p>
        </p:txBody>
      </p:sp>
      <p:sp>
        <p:nvSpPr>
          <p:cNvPr id="461" name="Google Shape;461;p42"/>
          <p:cNvSpPr txBox="1"/>
          <p:nvPr/>
        </p:nvSpPr>
        <p:spPr>
          <a:xfrm>
            <a:off x="6186650" y="1464675"/>
            <a:ext cx="19581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chemeClr val="lt1"/>
                </a:solidFill>
                <a:latin typeface="Lato"/>
                <a:ea typeface="Lato"/>
                <a:cs typeface="Lato"/>
                <a:sym typeface="Lato"/>
              </a:rPr>
              <a:t>Sender’s Public key</a:t>
            </a:r>
            <a:endParaRPr>
              <a:solidFill>
                <a:schemeClr val="lt1"/>
              </a:solidFill>
              <a:latin typeface="Lato"/>
              <a:ea typeface="Lato"/>
              <a:cs typeface="Lato"/>
              <a:sym typeface="Lato"/>
            </a:endParaRPr>
          </a:p>
        </p:txBody>
      </p:sp>
      <p:sp>
        <p:nvSpPr>
          <p:cNvPr id="462" name="Google Shape;462;p42"/>
          <p:cNvSpPr/>
          <p:nvPr/>
        </p:nvSpPr>
        <p:spPr>
          <a:xfrm>
            <a:off x="6888050" y="3595525"/>
            <a:ext cx="6816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hash</a:t>
            </a:r>
            <a:endParaRPr/>
          </a:p>
        </p:txBody>
      </p:sp>
      <p:sp>
        <p:nvSpPr>
          <p:cNvPr id="463" name="Google Shape;463;p42"/>
          <p:cNvSpPr/>
          <p:nvPr/>
        </p:nvSpPr>
        <p:spPr>
          <a:xfrm>
            <a:off x="7718200" y="2874038"/>
            <a:ext cx="969900" cy="4338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Compare</a:t>
            </a:r>
            <a:endParaRPr/>
          </a:p>
        </p:txBody>
      </p:sp>
      <p:sp>
        <p:nvSpPr>
          <p:cNvPr id="464" name="Google Shape;464;p42"/>
          <p:cNvSpPr/>
          <p:nvPr/>
        </p:nvSpPr>
        <p:spPr>
          <a:xfrm>
            <a:off x="7111500" y="4317001"/>
            <a:ext cx="1224900" cy="456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Email</a:t>
            </a:r>
            <a:endParaRPr>
              <a:solidFill>
                <a:schemeClr val="lt1"/>
              </a:solidFill>
            </a:endParaRPr>
          </a:p>
        </p:txBody>
      </p:sp>
      <p:cxnSp>
        <p:nvCxnSpPr>
          <p:cNvPr id="465" name="Google Shape;465;p42"/>
          <p:cNvCxnSpPr>
            <a:stCxn id="451" idx="3"/>
            <a:endCxn id="453" idx="1"/>
          </p:cNvCxnSpPr>
          <p:nvPr/>
        </p:nvCxnSpPr>
        <p:spPr>
          <a:xfrm rot="10800000" flipH="1">
            <a:off x="1013450" y="2226950"/>
            <a:ext cx="479700" cy="258000"/>
          </a:xfrm>
          <a:prstGeom prst="straightConnector1">
            <a:avLst/>
          </a:prstGeom>
          <a:noFill/>
          <a:ln w="28575" cap="flat" cmpd="sng">
            <a:solidFill>
              <a:schemeClr val="dk2"/>
            </a:solidFill>
            <a:prstDash val="solid"/>
            <a:round/>
            <a:headEnd type="none" w="med" len="med"/>
            <a:tailEnd type="triangle" w="med" len="med"/>
          </a:ln>
        </p:spPr>
      </p:cxnSp>
      <p:cxnSp>
        <p:nvCxnSpPr>
          <p:cNvPr id="466" name="Google Shape;466;p42"/>
          <p:cNvCxnSpPr>
            <a:stCxn id="453" idx="3"/>
            <a:endCxn id="455" idx="1"/>
          </p:cNvCxnSpPr>
          <p:nvPr/>
        </p:nvCxnSpPr>
        <p:spPr>
          <a:xfrm>
            <a:off x="2293725" y="2227050"/>
            <a:ext cx="479700" cy="11700"/>
          </a:xfrm>
          <a:prstGeom prst="straightConnector1">
            <a:avLst/>
          </a:prstGeom>
          <a:noFill/>
          <a:ln w="28575" cap="flat" cmpd="sng">
            <a:solidFill>
              <a:schemeClr val="dk2"/>
            </a:solidFill>
            <a:prstDash val="solid"/>
            <a:round/>
            <a:headEnd type="none" w="med" len="med"/>
            <a:tailEnd type="triangle" w="med" len="med"/>
          </a:ln>
        </p:spPr>
      </p:cxnSp>
      <p:cxnSp>
        <p:nvCxnSpPr>
          <p:cNvPr id="467" name="Google Shape;467;p42"/>
          <p:cNvCxnSpPr>
            <a:stCxn id="455" idx="2"/>
            <a:endCxn id="456" idx="0"/>
          </p:cNvCxnSpPr>
          <p:nvPr/>
        </p:nvCxnSpPr>
        <p:spPr>
          <a:xfrm flipH="1">
            <a:off x="3173650" y="2467050"/>
            <a:ext cx="172200" cy="420900"/>
          </a:xfrm>
          <a:prstGeom prst="straightConnector1">
            <a:avLst/>
          </a:prstGeom>
          <a:noFill/>
          <a:ln w="28575" cap="flat" cmpd="sng">
            <a:solidFill>
              <a:schemeClr val="dk2"/>
            </a:solidFill>
            <a:prstDash val="solid"/>
            <a:round/>
            <a:headEnd type="none" w="med" len="med"/>
            <a:tailEnd type="triangle" w="med" len="med"/>
          </a:ln>
        </p:spPr>
      </p:cxnSp>
      <p:cxnSp>
        <p:nvCxnSpPr>
          <p:cNvPr id="468" name="Google Shape;468;p42"/>
          <p:cNvCxnSpPr>
            <a:stCxn id="452" idx="3"/>
            <a:endCxn id="456" idx="1"/>
          </p:cNvCxnSpPr>
          <p:nvPr/>
        </p:nvCxnSpPr>
        <p:spPr>
          <a:xfrm>
            <a:off x="1013450" y="3104750"/>
            <a:ext cx="1760100" cy="0"/>
          </a:xfrm>
          <a:prstGeom prst="straightConnector1">
            <a:avLst/>
          </a:prstGeom>
          <a:noFill/>
          <a:ln w="28575" cap="flat" cmpd="sng">
            <a:solidFill>
              <a:schemeClr val="dk2"/>
            </a:solidFill>
            <a:prstDash val="solid"/>
            <a:round/>
            <a:headEnd type="none" w="med" len="med"/>
            <a:tailEnd type="triangle" w="med" len="med"/>
          </a:ln>
        </p:spPr>
      </p:cxnSp>
      <p:cxnSp>
        <p:nvCxnSpPr>
          <p:cNvPr id="469" name="Google Shape;469;p42"/>
          <p:cNvCxnSpPr>
            <a:stCxn id="456" idx="3"/>
            <a:endCxn id="457" idx="1"/>
          </p:cNvCxnSpPr>
          <p:nvPr/>
        </p:nvCxnSpPr>
        <p:spPr>
          <a:xfrm rot="10800000" flipH="1">
            <a:off x="3574125" y="3042650"/>
            <a:ext cx="441000" cy="62100"/>
          </a:xfrm>
          <a:prstGeom prst="straightConnector1">
            <a:avLst/>
          </a:prstGeom>
          <a:noFill/>
          <a:ln w="28575" cap="flat" cmpd="sng">
            <a:solidFill>
              <a:schemeClr val="dk2"/>
            </a:solidFill>
            <a:prstDash val="solid"/>
            <a:round/>
            <a:headEnd type="none" w="med" len="med"/>
            <a:tailEnd type="triangle" w="med" len="med"/>
          </a:ln>
        </p:spPr>
      </p:cxnSp>
      <p:cxnSp>
        <p:nvCxnSpPr>
          <p:cNvPr id="470" name="Google Shape;470;p42"/>
          <p:cNvCxnSpPr>
            <a:stCxn id="457" idx="3"/>
          </p:cNvCxnSpPr>
          <p:nvPr/>
        </p:nvCxnSpPr>
        <p:spPr>
          <a:xfrm rot="10800000" flipH="1">
            <a:off x="4815750" y="3036500"/>
            <a:ext cx="364800" cy="6300"/>
          </a:xfrm>
          <a:prstGeom prst="straightConnector1">
            <a:avLst/>
          </a:prstGeom>
          <a:noFill/>
          <a:ln w="28575" cap="flat" cmpd="sng">
            <a:solidFill>
              <a:schemeClr val="dk2"/>
            </a:solidFill>
            <a:prstDash val="solid"/>
            <a:round/>
            <a:headEnd type="none" w="med" len="med"/>
            <a:tailEnd type="triangle" w="med" len="med"/>
          </a:ln>
        </p:spPr>
      </p:cxnSp>
      <p:cxnSp>
        <p:nvCxnSpPr>
          <p:cNvPr id="471" name="Google Shape;471;p42"/>
          <p:cNvCxnSpPr>
            <a:stCxn id="458" idx="3"/>
            <a:endCxn id="460" idx="1"/>
          </p:cNvCxnSpPr>
          <p:nvPr/>
        </p:nvCxnSpPr>
        <p:spPr>
          <a:xfrm rot="10800000" flipH="1">
            <a:off x="5975950" y="2238538"/>
            <a:ext cx="852600" cy="579000"/>
          </a:xfrm>
          <a:prstGeom prst="bentConnector3">
            <a:avLst>
              <a:gd name="adj1" fmla="val 49997"/>
            </a:avLst>
          </a:prstGeom>
          <a:noFill/>
          <a:ln w="28575" cap="flat" cmpd="sng">
            <a:solidFill>
              <a:schemeClr val="dk2"/>
            </a:solidFill>
            <a:prstDash val="solid"/>
            <a:round/>
            <a:headEnd type="none" w="med" len="med"/>
            <a:tailEnd type="triangle" w="med" len="med"/>
          </a:ln>
        </p:spPr>
      </p:cxnSp>
      <p:cxnSp>
        <p:nvCxnSpPr>
          <p:cNvPr id="472" name="Google Shape;472;p42"/>
          <p:cNvCxnSpPr>
            <a:stCxn id="459" idx="3"/>
            <a:endCxn id="462" idx="1"/>
          </p:cNvCxnSpPr>
          <p:nvPr/>
        </p:nvCxnSpPr>
        <p:spPr>
          <a:xfrm>
            <a:off x="5975950" y="3268063"/>
            <a:ext cx="912000" cy="544500"/>
          </a:xfrm>
          <a:prstGeom prst="bentConnector3">
            <a:avLst>
              <a:gd name="adj1" fmla="val 50005"/>
            </a:avLst>
          </a:prstGeom>
          <a:noFill/>
          <a:ln w="28575" cap="flat" cmpd="sng">
            <a:solidFill>
              <a:schemeClr val="dk2"/>
            </a:solidFill>
            <a:prstDash val="solid"/>
            <a:round/>
            <a:headEnd type="none" w="med" len="med"/>
            <a:tailEnd type="triangle" w="med" len="med"/>
          </a:ln>
        </p:spPr>
      </p:cxnSp>
      <p:cxnSp>
        <p:nvCxnSpPr>
          <p:cNvPr id="473" name="Google Shape;473;p42"/>
          <p:cNvCxnSpPr>
            <a:stCxn id="460" idx="3"/>
            <a:endCxn id="463" idx="0"/>
          </p:cNvCxnSpPr>
          <p:nvPr/>
        </p:nvCxnSpPr>
        <p:spPr>
          <a:xfrm>
            <a:off x="7629200" y="2238600"/>
            <a:ext cx="573900" cy="635400"/>
          </a:xfrm>
          <a:prstGeom prst="bentConnector2">
            <a:avLst/>
          </a:prstGeom>
          <a:noFill/>
          <a:ln w="28575" cap="flat" cmpd="sng">
            <a:solidFill>
              <a:schemeClr val="dk2"/>
            </a:solidFill>
            <a:prstDash val="solid"/>
            <a:round/>
            <a:headEnd type="none" w="med" len="med"/>
            <a:tailEnd type="triangle" w="med" len="med"/>
          </a:ln>
        </p:spPr>
      </p:cxnSp>
      <p:cxnSp>
        <p:nvCxnSpPr>
          <p:cNvPr id="474" name="Google Shape;474;p42"/>
          <p:cNvCxnSpPr>
            <a:stCxn id="462" idx="3"/>
            <a:endCxn id="463" idx="2"/>
          </p:cNvCxnSpPr>
          <p:nvPr/>
        </p:nvCxnSpPr>
        <p:spPr>
          <a:xfrm rot="10800000" flipH="1">
            <a:off x="7569650" y="3307825"/>
            <a:ext cx="633600" cy="504600"/>
          </a:xfrm>
          <a:prstGeom prst="bentConnector2">
            <a:avLst/>
          </a:prstGeom>
          <a:noFill/>
          <a:ln w="28575" cap="flat" cmpd="sng">
            <a:solidFill>
              <a:schemeClr val="dk2"/>
            </a:solidFill>
            <a:prstDash val="solid"/>
            <a:round/>
            <a:headEnd type="none" w="med" len="med"/>
            <a:tailEnd type="triangle" w="med" len="med"/>
          </a:ln>
        </p:spPr>
      </p:cxnSp>
      <p:cxnSp>
        <p:nvCxnSpPr>
          <p:cNvPr id="475" name="Google Shape;475;p42"/>
          <p:cNvCxnSpPr>
            <a:stCxn id="459" idx="2"/>
            <a:endCxn id="464" idx="1"/>
          </p:cNvCxnSpPr>
          <p:nvPr/>
        </p:nvCxnSpPr>
        <p:spPr>
          <a:xfrm rot="-5400000" flipH="1">
            <a:off x="5843050" y="3277063"/>
            <a:ext cx="1060500" cy="1476300"/>
          </a:xfrm>
          <a:prstGeom prst="bentConnector2">
            <a:avLst/>
          </a:prstGeom>
          <a:noFill/>
          <a:ln w="28575" cap="flat" cmpd="sng">
            <a:solidFill>
              <a:schemeClr val="dk2"/>
            </a:solidFill>
            <a:prstDash val="solid"/>
            <a:round/>
            <a:headEnd type="none" w="med" len="med"/>
            <a:tailEnd type="triangle" w="med" len="med"/>
          </a:ln>
        </p:spPr>
      </p:cxnSp>
      <p:grpSp>
        <p:nvGrpSpPr>
          <p:cNvPr id="476" name="Google Shape;476;p42"/>
          <p:cNvGrpSpPr/>
          <p:nvPr/>
        </p:nvGrpSpPr>
        <p:grpSpPr>
          <a:xfrm>
            <a:off x="4957600" y="975525"/>
            <a:ext cx="3966300" cy="3164400"/>
            <a:chOff x="4957600" y="975525"/>
            <a:chExt cx="3966300" cy="3164400"/>
          </a:xfrm>
        </p:grpSpPr>
        <p:sp>
          <p:nvSpPr>
            <p:cNvPr id="477" name="Google Shape;477;p42"/>
            <p:cNvSpPr/>
            <p:nvPr/>
          </p:nvSpPr>
          <p:spPr>
            <a:xfrm>
              <a:off x="4957600" y="1375725"/>
              <a:ext cx="3966300" cy="2764200"/>
            </a:xfrm>
            <a:prstGeom prst="roundRect">
              <a:avLst>
                <a:gd name="adj" fmla="val 16667"/>
              </a:avLst>
            </a:prstGeom>
            <a:noFill/>
            <a:ln w="19050" cap="flat" cmpd="sng">
              <a:solidFill>
                <a:schemeClr val="lt1"/>
              </a:solidFill>
              <a:prstDash val="lg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42"/>
            <p:cNvSpPr txBox="1"/>
            <p:nvPr/>
          </p:nvSpPr>
          <p:spPr>
            <a:xfrm>
              <a:off x="6035875" y="975525"/>
              <a:ext cx="2007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1"/>
                  </a:solidFill>
                  <a:latin typeface="Lato"/>
                  <a:ea typeface="Lato"/>
                  <a:cs typeface="Lato"/>
                  <a:sym typeface="Lato"/>
                </a:rPr>
                <a:t>Signature Verification</a:t>
              </a:r>
              <a:endParaRPr>
                <a:solidFill>
                  <a:schemeClr val="lt1"/>
                </a:solidFill>
                <a:latin typeface="Lato"/>
                <a:ea typeface="Lato"/>
                <a:cs typeface="Lato"/>
                <a:sym typeface="Lato"/>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0"/>
                                        </p:tgtEl>
                                        <p:attrNameLst>
                                          <p:attrName>style.visibility</p:attrName>
                                        </p:attrNameLst>
                                      </p:cBhvr>
                                      <p:to>
                                        <p:strVal val="visible"/>
                                      </p:to>
                                    </p:set>
                                    <p:animEffect transition="in" filter="fade">
                                      <p:cBhvr>
                                        <p:cTn id="7" dur="1000"/>
                                        <p:tgtEl>
                                          <p:spTgt spid="450"/>
                                        </p:tgtEl>
                                      </p:cBhvr>
                                    </p:animEffect>
                                  </p:childTnLst>
                                </p:cTn>
                              </p:par>
                              <p:par>
                                <p:cTn id="8" presetID="10" presetClass="entr" presetSubtype="0" fill="hold" nodeType="withEffect">
                                  <p:stCondLst>
                                    <p:cond delay="0"/>
                                  </p:stCondLst>
                                  <p:childTnLst>
                                    <p:set>
                                      <p:cBhvr>
                                        <p:cTn id="9" dur="1" fill="hold">
                                          <p:stCondLst>
                                            <p:cond delay="0"/>
                                          </p:stCondLst>
                                        </p:cTn>
                                        <p:tgtEl>
                                          <p:spTgt spid="451"/>
                                        </p:tgtEl>
                                        <p:attrNameLst>
                                          <p:attrName>style.visibility</p:attrName>
                                        </p:attrNameLst>
                                      </p:cBhvr>
                                      <p:to>
                                        <p:strVal val="visible"/>
                                      </p:to>
                                    </p:set>
                                    <p:animEffect transition="in" filter="fade">
                                      <p:cBhvr>
                                        <p:cTn id="10" dur="1000"/>
                                        <p:tgtEl>
                                          <p:spTgt spid="451"/>
                                        </p:tgtEl>
                                      </p:cBhvr>
                                    </p:animEffect>
                                  </p:childTnLst>
                                </p:cTn>
                              </p:par>
                              <p:par>
                                <p:cTn id="11" presetID="10" presetClass="entr" presetSubtype="0" fill="hold" nodeType="withEffect">
                                  <p:stCondLst>
                                    <p:cond delay="0"/>
                                  </p:stCondLst>
                                  <p:childTnLst>
                                    <p:set>
                                      <p:cBhvr>
                                        <p:cTn id="12" dur="1" fill="hold">
                                          <p:stCondLst>
                                            <p:cond delay="0"/>
                                          </p:stCondLst>
                                        </p:cTn>
                                        <p:tgtEl>
                                          <p:spTgt spid="452"/>
                                        </p:tgtEl>
                                        <p:attrNameLst>
                                          <p:attrName>style.visibility</p:attrName>
                                        </p:attrNameLst>
                                      </p:cBhvr>
                                      <p:to>
                                        <p:strVal val="visible"/>
                                      </p:to>
                                    </p:set>
                                    <p:animEffect transition="in" filter="fade">
                                      <p:cBhvr>
                                        <p:cTn id="13" dur="1000"/>
                                        <p:tgtEl>
                                          <p:spTgt spid="4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53"/>
                                        </p:tgtEl>
                                        <p:attrNameLst>
                                          <p:attrName>style.visibility</p:attrName>
                                        </p:attrNameLst>
                                      </p:cBhvr>
                                      <p:to>
                                        <p:strVal val="visible"/>
                                      </p:to>
                                    </p:set>
                                    <p:animEffect transition="in" filter="fade">
                                      <p:cBhvr>
                                        <p:cTn id="18" dur="1000"/>
                                        <p:tgtEl>
                                          <p:spTgt spid="453"/>
                                        </p:tgtEl>
                                      </p:cBhvr>
                                    </p:animEffect>
                                  </p:childTnLst>
                                </p:cTn>
                              </p:par>
                              <p:par>
                                <p:cTn id="19" presetID="10" presetClass="entr" presetSubtype="0" fill="hold" nodeType="withEffect">
                                  <p:stCondLst>
                                    <p:cond delay="0"/>
                                  </p:stCondLst>
                                  <p:childTnLst>
                                    <p:set>
                                      <p:cBhvr>
                                        <p:cTn id="20" dur="1" fill="hold">
                                          <p:stCondLst>
                                            <p:cond delay="0"/>
                                          </p:stCondLst>
                                        </p:cTn>
                                        <p:tgtEl>
                                          <p:spTgt spid="454"/>
                                        </p:tgtEl>
                                        <p:attrNameLst>
                                          <p:attrName>style.visibility</p:attrName>
                                        </p:attrNameLst>
                                      </p:cBhvr>
                                      <p:to>
                                        <p:strVal val="visible"/>
                                      </p:to>
                                    </p:set>
                                    <p:animEffect transition="in" filter="fade">
                                      <p:cBhvr>
                                        <p:cTn id="21" dur="1000"/>
                                        <p:tgtEl>
                                          <p:spTgt spid="454"/>
                                        </p:tgtEl>
                                      </p:cBhvr>
                                    </p:animEffect>
                                  </p:childTnLst>
                                </p:cTn>
                              </p:par>
                              <p:par>
                                <p:cTn id="22" presetID="10" presetClass="entr" presetSubtype="0" fill="hold" nodeType="withEffect">
                                  <p:stCondLst>
                                    <p:cond delay="0"/>
                                  </p:stCondLst>
                                  <p:childTnLst>
                                    <p:set>
                                      <p:cBhvr>
                                        <p:cTn id="23" dur="1" fill="hold">
                                          <p:stCondLst>
                                            <p:cond delay="0"/>
                                          </p:stCondLst>
                                        </p:cTn>
                                        <p:tgtEl>
                                          <p:spTgt spid="465"/>
                                        </p:tgtEl>
                                        <p:attrNameLst>
                                          <p:attrName>style.visibility</p:attrName>
                                        </p:attrNameLst>
                                      </p:cBhvr>
                                      <p:to>
                                        <p:strVal val="visible"/>
                                      </p:to>
                                    </p:set>
                                    <p:animEffect transition="in" filter="fade">
                                      <p:cBhvr>
                                        <p:cTn id="24" dur="1000"/>
                                        <p:tgtEl>
                                          <p:spTgt spid="465"/>
                                        </p:tgtEl>
                                      </p:cBhvr>
                                    </p:animEffect>
                                  </p:childTnLst>
                                </p:cTn>
                              </p:par>
                              <p:par>
                                <p:cTn id="25" presetID="10" presetClass="entr" presetSubtype="0" fill="hold" nodeType="withEffect">
                                  <p:stCondLst>
                                    <p:cond delay="0"/>
                                  </p:stCondLst>
                                  <p:childTnLst>
                                    <p:set>
                                      <p:cBhvr>
                                        <p:cTn id="26" dur="1" fill="hold">
                                          <p:stCondLst>
                                            <p:cond delay="0"/>
                                          </p:stCondLst>
                                        </p:cTn>
                                        <p:tgtEl>
                                          <p:spTgt spid="466"/>
                                        </p:tgtEl>
                                        <p:attrNameLst>
                                          <p:attrName>style.visibility</p:attrName>
                                        </p:attrNameLst>
                                      </p:cBhvr>
                                      <p:to>
                                        <p:strVal val="visible"/>
                                      </p:to>
                                    </p:set>
                                    <p:animEffect transition="in" filter="fade">
                                      <p:cBhvr>
                                        <p:cTn id="27" dur="1000"/>
                                        <p:tgtEl>
                                          <p:spTgt spid="466"/>
                                        </p:tgtEl>
                                      </p:cBhvr>
                                    </p:animEffect>
                                  </p:childTnLst>
                                </p:cTn>
                              </p:par>
                              <p:par>
                                <p:cTn id="28" presetID="10" presetClass="entr" presetSubtype="0" fill="hold" nodeType="withEffect">
                                  <p:stCondLst>
                                    <p:cond delay="0"/>
                                  </p:stCondLst>
                                  <p:childTnLst>
                                    <p:set>
                                      <p:cBhvr>
                                        <p:cTn id="29" dur="1" fill="hold">
                                          <p:stCondLst>
                                            <p:cond delay="0"/>
                                          </p:stCondLst>
                                        </p:cTn>
                                        <p:tgtEl>
                                          <p:spTgt spid="455"/>
                                        </p:tgtEl>
                                        <p:attrNameLst>
                                          <p:attrName>style.visibility</p:attrName>
                                        </p:attrNameLst>
                                      </p:cBhvr>
                                      <p:to>
                                        <p:strVal val="visible"/>
                                      </p:to>
                                    </p:set>
                                    <p:animEffect transition="in" filter="fade">
                                      <p:cBhvr>
                                        <p:cTn id="30" dur="1000"/>
                                        <p:tgtEl>
                                          <p:spTgt spid="45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456"/>
                                        </p:tgtEl>
                                        <p:attrNameLst>
                                          <p:attrName>style.visibility</p:attrName>
                                        </p:attrNameLst>
                                      </p:cBhvr>
                                      <p:to>
                                        <p:strVal val="visible"/>
                                      </p:to>
                                    </p:set>
                                    <p:animEffect transition="in" filter="fade">
                                      <p:cBhvr>
                                        <p:cTn id="35" dur="1000"/>
                                        <p:tgtEl>
                                          <p:spTgt spid="456"/>
                                        </p:tgtEl>
                                      </p:cBhvr>
                                    </p:animEffect>
                                  </p:childTnLst>
                                </p:cTn>
                              </p:par>
                              <p:par>
                                <p:cTn id="36" presetID="10" presetClass="entr" presetSubtype="0" fill="hold" nodeType="withEffect">
                                  <p:stCondLst>
                                    <p:cond delay="0"/>
                                  </p:stCondLst>
                                  <p:childTnLst>
                                    <p:set>
                                      <p:cBhvr>
                                        <p:cTn id="37" dur="1" fill="hold">
                                          <p:stCondLst>
                                            <p:cond delay="0"/>
                                          </p:stCondLst>
                                        </p:cTn>
                                        <p:tgtEl>
                                          <p:spTgt spid="467"/>
                                        </p:tgtEl>
                                        <p:attrNameLst>
                                          <p:attrName>style.visibility</p:attrName>
                                        </p:attrNameLst>
                                      </p:cBhvr>
                                      <p:to>
                                        <p:strVal val="visible"/>
                                      </p:to>
                                    </p:set>
                                    <p:animEffect transition="in" filter="fade">
                                      <p:cBhvr>
                                        <p:cTn id="38" dur="1000"/>
                                        <p:tgtEl>
                                          <p:spTgt spid="467"/>
                                        </p:tgtEl>
                                      </p:cBhvr>
                                    </p:animEffect>
                                  </p:childTnLst>
                                </p:cTn>
                              </p:par>
                              <p:par>
                                <p:cTn id="39" presetID="10" presetClass="entr" presetSubtype="0" fill="hold" nodeType="withEffect">
                                  <p:stCondLst>
                                    <p:cond delay="0"/>
                                  </p:stCondLst>
                                  <p:childTnLst>
                                    <p:set>
                                      <p:cBhvr>
                                        <p:cTn id="40" dur="1" fill="hold">
                                          <p:stCondLst>
                                            <p:cond delay="0"/>
                                          </p:stCondLst>
                                        </p:cTn>
                                        <p:tgtEl>
                                          <p:spTgt spid="468"/>
                                        </p:tgtEl>
                                        <p:attrNameLst>
                                          <p:attrName>style.visibility</p:attrName>
                                        </p:attrNameLst>
                                      </p:cBhvr>
                                      <p:to>
                                        <p:strVal val="visible"/>
                                      </p:to>
                                    </p:set>
                                    <p:animEffect transition="in" filter="fade">
                                      <p:cBhvr>
                                        <p:cTn id="41" dur="1000"/>
                                        <p:tgtEl>
                                          <p:spTgt spid="468"/>
                                        </p:tgtEl>
                                      </p:cBhvr>
                                    </p:animEffect>
                                  </p:childTnLst>
                                </p:cTn>
                              </p:par>
                              <p:par>
                                <p:cTn id="42" presetID="10" presetClass="entr" presetSubtype="0" fill="hold" nodeType="withEffect">
                                  <p:stCondLst>
                                    <p:cond delay="0"/>
                                  </p:stCondLst>
                                  <p:childTnLst>
                                    <p:set>
                                      <p:cBhvr>
                                        <p:cTn id="43" dur="1" fill="hold">
                                          <p:stCondLst>
                                            <p:cond delay="0"/>
                                          </p:stCondLst>
                                        </p:cTn>
                                        <p:tgtEl>
                                          <p:spTgt spid="469"/>
                                        </p:tgtEl>
                                        <p:attrNameLst>
                                          <p:attrName>style.visibility</p:attrName>
                                        </p:attrNameLst>
                                      </p:cBhvr>
                                      <p:to>
                                        <p:strVal val="visible"/>
                                      </p:to>
                                    </p:set>
                                    <p:animEffect transition="in" filter="fade">
                                      <p:cBhvr>
                                        <p:cTn id="44" dur="1000"/>
                                        <p:tgtEl>
                                          <p:spTgt spid="469"/>
                                        </p:tgtEl>
                                      </p:cBhvr>
                                    </p:animEffect>
                                  </p:childTnLst>
                                </p:cTn>
                              </p:par>
                              <p:par>
                                <p:cTn id="45" presetID="10" presetClass="entr" presetSubtype="0" fill="hold" nodeType="withEffect">
                                  <p:stCondLst>
                                    <p:cond delay="0"/>
                                  </p:stCondLst>
                                  <p:childTnLst>
                                    <p:set>
                                      <p:cBhvr>
                                        <p:cTn id="46" dur="1" fill="hold">
                                          <p:stCondLst>
                                            <p:cond delay="0"/>
                                          </p:stCondLst>
                                        </p:cTn>
                                        <p:tgtEl>
                                          <p:spTgt spid="457"/>
                                        </p:tgtEl>
                                        <p:attrNameLst>
                                          <p:attrName>style.visibility</p:attrName>
                                        </p:attrNameLst>
                                      </p:cBhvr>
                                      <p:to>
                                        <p:strVal val="visible"/>
                                      </p:to>
                                    </p:set>
                                    <p:animEffect transition="in" filter="fade">
                                      <p:cBhvr>
                                        <p:cTn id="47" dur="1000"/>
                                        <p:tgtEl>
                                          <p:spTgt spid="45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58"/>
                                        </p:tgtEl>
                                        <p:attrNameLst>
                                          <p:attrName>style.visibility</p:attrName>
                                        </p:attrNameLst>
                                      </p:cBhvr>
                                      <p:to>
                                        <p:strVal val="visible"/>
                                      </p:to>
                                    </p:set>
                                    <p:animEffect transition="in" filter="fade">
                                      <p:cBhvr>
                                        <p:cTn id="52" dur="1000"/>
                                        <p:tgtEl>
                                          <p:spTgt spid="458"/>
                                        </p:tgtEl>
                                      </p:cBhvr>
                                    </p:animEffect>
                                  </p:childTnLst>
                                </p:cTn>
                              </p:par>
                              <p:par>
                                <p:cTn id="53" presetID="10" presetClass="entr" presetSubtype="0" fill="hold" nodeType="withEffect">
                                  <p:stCondLst>
                                    <p:cond delay="0"/>
                                  </p:stCondLst>
                                  <p:childTnLst>
                                    <p:set>
                                      <p:cBhvr>
                                        <p:cTn id="54" dur="1" fill="hold">
                                          <p:stCondLst>
                                            <p:cond delay="0"/>
                                          </p:stCondLst>
                                        </p:cTn>
                                        <p:tgtEl>
                                          <p:spTgt spid="470"/>
                                        </p:tgtEl>
                                        <p:attrNameLst>
                                          <p:attrName>style.visibility</p:attrName>
                                        </p:attrNameLst>
                                      </p:cBhvr>
                                      <p:to>
                                        <p:strVal val="visible"/>
                                      </p:to>
                                    </p:set>
                                    <p:animEffect transition="in" filter="fade">
                                      <p:cBhvr>
                                        <p:cTn id="55" dur="1000"/>
                                        <p:tgtEl>
                                          <p:spTgt spid="470"/>
                                        </p:tgtEl>
                                      </p:cBhvr>
                                    </p:animEffect>
                                  </p:childTnLst>
                                </p:cTn>
                              </p:par>
                              <p:par>
                                <p:cTn id="56" presetID="10" presetClass="entr" presetSubtype="0" fill="hold" nodeType="withEffect">
                                  <p:stCondLst>
                                    <p:cond delay="0"/>
                                  </p:stCondLst>
                                  <p:childTnLst>
                                    <p:set>
                                      <p:cBhvr>
                                        <p:cTn id="57" dur="1" fill="hold">
                                          <p:stCondLst>
                                            <p:cond delay="0"/>
                                          </p:stCondLst>
                                        </p:cTn>
                                        <p:tgtEl>
                                          <p:spTgt spid="459"/>
                                        </p:tgtEl>
                                        <p:attrNameLst>
                                          <p:attrName>style.visibility</p:attrName>
                                        </p:attrNameLst>
                                      </p:cBhvr>
                                      <p:to>
                                        <p:strVal val="visible"/>
                                      </p:to>
                                    </p:set>
                                    <p:animEffect transition="in" filter="fade">
                                      <p:cBhvr>
                                        <p:cTn id="58" dur="1000"/>
                                        <p:tgtEl>
                                          <p:spTgt spid="45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476"/>
                                        </p:tgtEl>
                                        <p:attrNameLst>
                                          <p:attrName>style.visibility</p:attrName>
                                        </p:attrNameLst>
                                      </p:cBhvr>
                                      <p:to>
                                        <p:strVal val="visible"/>
                                      </p:to>
                                    </p:set>
                                    <p:animEffect transition="in" filter="fade">
                                      <p:cBhvr>
                                        <p:cTn id="63" dur="1000"/>
                                        <p:tgtEl>
                                          <p:spTgt spid="47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460"/>
                                        </p:tgtEl>
                                        <p:attrNameLst>
                                          <p:attrName>style.visibility</p:attrName>
                                        </p:attrNameLst>
                                      </p:cBhvr>
                                      <p:to>
                                        <p:strVal val="visible"/>
                                      </p:to>
                                    </p:set>
                                    <p:animEffect transition="in" filter="fade">
                                      <p:cBhvr>
                                        <p:cTn id="68" dur="1000"/>
                                        <p:tgtEl>
                                          <p:spTgt spid="460"/>
                                        </p:tgtEl>
                                      </p:cBhvr>
                                    </p:animEffect>
                                  </p:childTnLst>
                                </p:cTn>
                              </p:par>
                              <p:par>
                                <p:cTn id="69" presetID="10" presetClass="entr" presetSubtype="0" fill="hold" nodeType="withEffect">
                                  <p:stCondLst>
                                    <p:cond delay="0"/>
                                  </p:stCondLst>
                                  <p:childTnLst>
                                    <p:set>
                                      <p:cBhvr>
                                        <p:cTn id="70" dur="1" fill="hold">
                                          <p:stCondLst>
                                            <p:cond delay="0"/>
                                          </p:stCondLst>
                                        </p:cTn>
                                        <p:tgtEl>
                                          <p:spTgt spid="471"/>
                                        </p:tgtEl>
                                        <p:attrNameLst>
                                          <p:attrName>style.visibility</p:attrName>
                                        </p:attrNameLst>
                                      </p:cBhvr>
                                      <p:to>
                                        <p:strVal val="visible"/>
                                      </p:to>
                                    </p:set>
                                    <p:animEffect transition="in" filter="fade">
                                      <p:cBhvr>
                                        <p:cTn id="71" dur="1000"/>
                                        <p:tgtEl>
                                          <p:spTgt spid="471"/>
                                        </p:tgtEl>
                                      </p:cBhvr>
                                    </p:animEffect>
                                  </p:childTnLst>
                                </p:cTn>
                              </p:par>
                              <p:par>
                                <p:cTn id="72" presetID="10" presetClass="entr" presetSubtype="0" fill="hold" nodeType="withEffect">
                                  <p:stCondLst>
                                    <p:cond delay="0"/>
                                  </p:stCondLst>
                                  <p:childTnLst>
                                    <p:set>
                                      <p:cBhvr>
                                        <p:cTn id="73" dur="1" fill="hold">
                                          <p:stCondLst>
                                            <p:cond delay="0"/>
                                          </p:stCondLst>
                                        </p:cTn>
                                        <p:tgtEl>
                                          <p:spTgt spid="461"/>
                                        </p:tgtEl>
                                        <p:attrNameLst>
                                          <p:attrName>style.visibility</p:attrName>
                                        </p:attrNameLst>
                                      </p:cBhvr>
                                      <p:to>
                                        <p:strVal val="visible"/>
                                      </p:to>
                                    </p:set>
                                    <p:animEffect transition="in" filter="fade">
                                      <p:cBhvr>
                                        <p:cTn id="74" dur="1000"/>
                                        <p:tgtEl>
                                          <p:spTgt spid="461"/>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472"/>
                                        </p:tgtEl>
                                        <p:attrNameLst>
                                          <p:attrName>style.visibility</p:attrName>
                                        </p:attrNameLst>
                                      </p:cBhvr>
                                      <p:to>
                                        <p:strVal val="visible"/>
                                      </p:to>
                                    </p:set>
                                    <p:animEffect transition="in" filter="fade">
                                      <p:cBhvr>
                                        <p:cTn id="79" dur="1000"/>
                                        <p:tgtEl>
                                          <p:spTgt spid="472"/>
                                        </p:tgtEl>
                                      </p:cBhvr>
                                    </p:animEffect>
                                  </p:childTnLst>
                                </p:cTn>
                              </p:par>
                              <p:par>
                                <p:cTn id="80" presetID="10" presetClass="entr" presetSubtype="0" fill="hold" nodeType="withEffect">
                                  <p:stCondLst>
                                    <p:cond delay="0"/>
                                  </p:stCondLst>
                                  <p:childTnLst>
                                    <p:set>
                                      <p:cBhvr>
                                        <p:cTn id="81" dur="1" fill="hold">
                                          <p:stCondLst>
                                            <p:cond delay="0"/>
                                          </p:stCondLst>
                                        </p:cTn>
                                        <p:tgtEl>
                                          <p:spTgt spid="462"/>
                                        </p:tgtEl>
                                        <p:attrNameLst>
                                          <p:attrName>style.visibility</p:attrName>
                                        </p:attrNameLst>
                                      </p:cBhvr>
                                      <p:to>
                                        <p:strVal val="visible"/>
                                      </p:to>
                                    </p:set>
                                    <p:animEffect transition="in" filter="fade">
                                      <p:cBhvr>
                                        <p:cTn id="82" dur="1000"/>
                                        <p:tgtEl>
                                          <p:spTgt spid="462"/>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473"/>
                                        </p:tgtEl>
                                        <p:attrNameLst>
                                          <p:attrName>style.visibility</p:attrName>
                                        </p:attrNameLst>
                                      </p:cBhvr>
                                      <p:to>
                                        <p:strVal val="visible"/>
                                      </p:to>
                                    </p:set>
                                    <p:animEffect transition="in" filter="fade">
                                      <p:cBhvr>
                                        <p:cTn id="87" dur="1000"/>
                                        <p:tgtEl>
                                          <p:spTgt spid="473"/>
                                        </p:tgtEl>
                                      </p:cBhvr>
                                    </p:animEffect>
                                  </p:childTnLst>
                                </p:cTn>
                              </p:par>
                              <p:par>
                                <p:cTn id="88" presetID="10" presetClass="entr" presetSubtype="0" fill="hold" nodeType="withEffect">
                                  <p:stCondLst>
                                    <p:cond delay="0"/>
                                  </p:stCondLst>
                                  <p:childTnLst>
                                    <p:set>
                                      <p:cBhvr>
                                        <p:cTn id="89" dur="1" fill="hold">
                                          <p:stCondLst>
                                            <p:cond delay="0"/>
                                          </p:stCondLst>
                                        </p:cTn>
                                        <p:tgtEl>
                                          <p:spTgt spid="474"/>
                                        </p:tgtEl>
                                        <p:attrNameLst>
                                          <p:attrName>style.visibility</p:attrName>
                                        </p:attrNameLst>
                                      </p:cBhvr>
                                      <p:to>
                                        <p:strVal val="visible"/>
                                      </p:to>
                                    </p:set>
                                    <p:animEffect transition="in" filter="fade">
                                      <p:cBhvr>
                                        <p:cTn id="90" dur="1000"/>
                                        <p:tgtEl>
                                          <p:spTgt spid="474"/>
                                        </p:tgtEl>
                                      </p:cBhvr>
                                    </p:animEffect>
                                  </p:childTnLst>
                                </p:cTn>
                              </p:par>
                              <p:par>
                                <p:cTn id="91" presetID="10" presetClass="entr" presetSubtype="0" fill="hold" nodeType="withEffect">
                                  <p:stCondLst>
                                    <p:cond delay="0"/>
                                  </p:stCondLst>
                                  <p:childTnLst>
                                    <p:set>
                                      <p:cBhvr>
                                        <p:cTn id="92" dur="1" fill="hold">
                                          <p:stCondLst>
                                            <p:cond delay="0"/>
                                          </p:stCondLst>
                                        </p:cTn>
                                        <p:tgtEl>
                                          <p:spTgt spid="463"/>
                                        </p:tgtEl>
                                        <p:attrNameLst>
                                          <p:attrName>style.visibility</p:attrName>
                                        </p:attrNameLst>
                                      </p:cBhvr>
                                      <p:to>
                                        <p:strVal val="visible"/>
                                      </p:to>
                                    </p:set>
                                    <p:animEffect transition="in" filter="fade">
                                      <p:cBhvr>
                                        <p:cTn id="93" dur="1000"/>
                                        <p:tgtEl>
                                          <p:spTgt spid="463"/>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nodeType="clickEffect">
                                  <p:stCondLst>
                                    <p:cond delay="0"/>
                                  </p:stCondLst>
                                  <p:childTnLst>
                                    <p:set>
                                      <p:cBhvr>
                                        <p:cTn id="97" dur="1" fill="hold">
                                          <p:stCondLst>
                                            <p:cond delay="0"/>
                                          </p:stCondLst>
                                        </p:cTn>
                                        <p:tgtEl>
                                          <p:spTgt spid="475"/>
                                        </p:tgtEl>
                                        <p:attrNameLst>
                                          <p:attrName>style.visibility</p:attrName>
                                        </p:attrNameLst>
                                      </p:cBhvr>
                                      <p:to>
                                        <p:strVal val="visible"/>
                                      </p:to>
                                    </p:set>
                                    <p:animEffect transition="in" filter="fade">
                                      <p:cBhvr>
                                        <p:cTn id="98" dur="1000"/>
                                        <p:tgtEl>
                                          <p:spTgt spid="475"/>
                                        </p:tgtEl>
                                      </p:cBhvr>
                                    </p:animEffect>
                                  </p:childTnLst>
                                </p:cTn>
                              </p:par>
                              <p:par>
                                <p:cTn id="99" presetID="10" presetClass="entr" presetSubtype="0" fill="hold" nodeType="withEffect">
                                  <p:stCondLst>
                                    <p:cond delay="0"/>
                                  </p:stCondLst>
                                  <p:childTnLst>
                                    <p:set>
                                      <p:cBhvr>
                                        <p:cTn id="100" dur="1" fill="hold">
                                          <p:stCondLst>
                                            <p:cond delay="0"/>
                                          </p:stCondLst>
                                        </p:cTn>
                                        <p:tgtEl>
                                          <p:spTgt spid="464"/>
                                        </p:tgtEl>
                                        <p:attrNameLst>
                                          <p:attrName>style.visibility</p:attrName>
                                        </p:attrNameLst>
                                      </p:cBhvr>
                                      <p:to>
                                        <p:strVal val="visible"/>
                                      </p:to>
                                    </p:set>
                                    <p:animEffect transition="in" filter="fade">
                                      <p:cBhvr>
                                        <p:cTn id="101" dur="1000"/>
                                        <p:tgtEl>
                                          <p:spTgt spid="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200"/>
              <a:t>Thank You !!!</a:t>
            </a:r>
            <a:endParaRPr sz="3200"/>
          </a:p>
        </p:txBody>
      </p:sp>
      <p:sp>
        <p:nvSpPr>
          <p:cNvPr id="484" name="Google Shape;484;p4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References :</a:t>
            </a:r>
            <a:endParaRPr/>
          </a:p>
          <a:p>
            <a:pPr marL="457200" lvl="0" indent="-311150" algn="l" rtl="0">
              <a:spcBef>
                <a:spcPts val="1200"/>
              </a:spcBef>
              <a:spcAft>
                <a:spcPts val="0"/>
              </a:spcAft>
              <a:buSzPts val="1300"/>
              <a:buAutoNum type="arabicParenR"/>
            </a:pPr>
            <a:r>
              <a:rPr lang="en" sz="1100" u="sng">
                <a:solidFill>
                  <a:schemeClr val="hlink"/>
                </a:solidFill>
                <a:latin typeface="Arial"/>
                <a:ea typeface="Arial"/>
                <a:cs typeface="Arial"/>
                <a:sym typeface="Arial"/>
                <a:hlinkClick r:id="rId3"/>
              </a:rPr>
              <a:t>SMTP Security: Best Practices and Top Issues | Mailtrap Blog</a:t>
            </a:r>
            <a:endParaRPr/>
          </a:p>
          <a:p>
            <a:pPr marL="457200" lvl="0" indent="-311150" algn="l" rtl="0">
              <a:spcBef>
                <a:spcPts val="0"/>
              </a:spcBef>
              <a:spcAft>
                <a:spcPts val="0"/>
              </a:spcAft>
              <a:buSzPts val="1300"/>
              <a:buAutoNum type="arabicParenR"/>
            </a:pPr>
            <a:r>
              <a:rPr lang="en" sz="1100" u="sng">
                <a:solidFill>
                  <a:schemeClr val="hlink"/>
                </a:solidFill>
                <a:latin typeface="Arial"/>
                <a:ea typeface="Arial"/>
                <a:cs typeface="Arial"/>
                <a:sym typeface="Arial"/>
                <a:hlinkClick r:id="rId4"/>
              </a:rPr>
              <a:t>Simple Mail Transfer Protocol - Wikipedia</a:t>
            </a:r>
            <a:endParaRPr/>
          </a:p>
          <a:p>
            <a:pPr marL="457200" lvl="0" indent="-311150" algn="l" rtl="0">
              <a:spcBef>
                <a:spcPts val="0"/>
              </a:spcBef>
              <a:spcAft>
                <a:spcPts val="0"/>
              </a:spcAft>
              <a:buSzPts val="1300"/>
              <a:buAutoNum type="arabicParenR"/>
            </a:pPr>
            <a:r>
              <a:rPr lang="en" sz="1100" u="sng">
                <a:solidFill>
                  <a:schemeClr val="hlink"/>
                </a:solidFill>
                <a:latin typeface="Arial"/>
                <a:ea typeface="Arial"/>
                <a:cs typeface="Arial"/>
                <a:sym typeface="Arial"/>
                <a:hlinkClick r:id="rId5"/>
              </a:rPr>
              <a:t>Email - Wikipedia</a:t>
            </a:r>
            <a:endParaRPr/>
          </a:p>
          <a:p>
            <a:pPr marL="457200" lvl="0" indent="-311150" algn="l" rtl="0">
              <a:spcBef>
                <a:spcPts val="0"/>
              </a:spcBef>
              <a:spcAft>
                <a:spcPts val="0"/>
              </a:spcAft>
              <a:buSzPts val="1300"/>
              <a:buAutoNum type="arabicParenR"/>
            </a:pPr>
            <a:r>
              <a:rPr lang="en" sz="1100" u="sng">
                <a:solidFill>
                  <a:schemeClr val="hlink"/>
                </a:solidFill>
                <a:latin typeface="Arial"/>
                <a:ea typeface="Arial"/>
                <a:cs typeface="Arial"/>
                <a:sym typeface="Arial"/>
                <a:hlinkClick r:id="rId6"/>
              </a:rPr>
              <a:t>What are the rules for email address syntax? – Validity Help Center (returnpath.com)</a:t>
            </a:r>
            <a:endParaRPr/>
          </a:p>
          <a:p>
            <a:pPr marL="457200" lvl="0" indent="-311150" algn="l" rtl="0">
              <a:spcBef>
                <a:spcPts val="0"/>
              </a:spcBef>
              <a:spcAft>
                <a:spcPts val="0"/>
              </a:spcAft>
              <a:buSzPts val="1300"/>
              <a:buAutoNum type="arabicParenR"/>
            </a:pPr>
            <a:r>
              <a:rPr lang="en" sz="1100" u="sng">
                <a:solidFill>
                  <a:schemeClr val="hlink"/>
                </a:solidFill>
                <a:latin typeface="Arial"/>
                <a:ea typeface="Arial"/>
                <a:cs typeface="Arial"/>
                <a:sym typeface="Arial"/>
                <a:hlinkClick r:id="rId7"/>
              </a:rPr>
              <a:t>PGP - Authentication and Confidentiality - GeeksforGeeks</a:t>
            </a:r>
            <a:endParaRPr/>
          </a:p>
          <a:p>
            <a:pPr marL="457200" lvl="0" indent="-311150" algn="l" rtl="0">
              <a:spcBef>
                <a:spcPts val="0"/>
              </a:spcBef>
              <a:spcAft>
                <a:spcPts val="0"/>
              </a:spcAft>
              <a:buSzPts val="1300"/>
              <a:buAutoNum type="arabicParenR"/>
            </a:pPr>
            <a:r>
              <a:rPr lang="en" sz="1100" u="sng">
                <a:solidFill>
                  <a:schemeClr val="hlink"/>
                </a:solidFill>
                <a:latin typeface="Arial"/>
                <a:ea typeface="Arial"/>
                <a:cs typeface="Arial"/>
                <a:sym typeface="Arial"/>
                <a:hlinkClick r:id="rId8"/>
              </a:rPr>
              <a:t>Gmail (google.com)</a:t>
            </a:r>
            <a:endParaRPr/>
          </a:p>
          <a:p>
            <a:pPr marL="457200" lvl="0" indent="-311150" algn="l" rtl="0">
              <a:spcBef>
                <a:spcPts val="0"/>
              </a:spcBef>
              <a:spcAft>
                <a:spcPts val="0"/>
              </a:spcAft>
              <a:buSzPts val="1300"/>
              <a:buAutoNum type="arabicParenR"/>
            </a:pPr>
            <a:r>
              <a:rPr lang="en" sz="1100" u="sng">
                <a:solidFill>
                  <a:schemeClr val="hlink"/>
                </a:solidFill>
                <a:latin typeface="Arial"/>
                <a:ea typeface="Arial"/>
                <a:cs typeface="Arial"/>
                <a:sym typeface="Arial"/>
                <a:hlinkClick r:id="rId9"/>
              </a:rPr>
              <a:t>S/MIME - Encryption and other security extensions for email (zoho.com)</a:t>
            </a:r>
            <a:endParaRP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406</TotalTime>
  <Words>1164</Words>
  <PresentationFormat>On-screen Show (16:9)</PresentationFormat>
  <Paragraphs>212</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Montserrat</vt:lpstr>
      <vt:lpstr>Lato</vt:lpstr>
      <vt:lpstr>Times New Roman</vt:lpstr>
      <vt:lpstr>Focus</vt:lpstr>
      <vt:lpstr>Email Security</vt:lpstr>
      <vt:lpstr>Electronic Mail</vt:lpstr>
      <vt:lpstr>Slide 3</vt:lpstr>
      <vt:lpstr>Email Address</vt:lpstr>
      <vt:lpstr>Simple Mail Transfer Protocol</vt:lpstr>
      <vt:lpstr>Working Principle of SMTP</vt:lpstr>
      <vt:lpstr>SMTP Commands (Client)</vt:lpstr>
      <vt:lpstr>SMTP Responses (Server)</vt:lpstr>
      <vt:lpstr>Slide 9</vt:lpstr>
      <vt:lpstr>SMTP Advantages</vt:lpstr>
      <vt:lpstr>SMTP Disadvantages</vt:lpstr>
      <vt:lpstr>SMTP Security Issues</vt:lpstr>
      <vt:lpstr>Email Security Standards</vt:lpstr>
      <vt:lpstr>SSL/TLS</vt:lpstr>
      <vt:lpstr>TLS</vt:lpstr>
      <vt:lpstr>Opportunistic TLS  Forced TLS</vt:lpstr>
      <vt:lpstr>End-to-end encryption</vt:lpstr>
      <vt:lpstr>Slide 18</vt:lpstr>
      <vt:lpstr>Multipurpose Internet Mail Extension (MIME)</vt:lpstr>
      <vt:lpstr>Benefits of MIME</vt:lpstr>
      <vt:lpstr>S/MIME</vt:lpstr>
      <vt:lpstr>S/MIME Certificate</vt:lpstr>
      <vt:lpstr>Slide 23</vt:lpstr>
      <vt:lpstr>Slide 24</vt:lpstr>
      <vt:lpstr>Decryption</vt:lpstr>
      <vt:lpstr>Slide 26</vt:lpstr>
      <vt:lpstr>PGP</vt:lpstr>
      <vt:lpstr>PGP Encryption</vt:lpstr>
      <vt:lpstr>PGP Encryption</vt:lpstr>
      <vt:lpstr>PGP Decryption</vt:lpstr>
      <vt:lpstr>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Email Security</dc:title>
  <dc:creator>admin</dc:creator>
  <cp:lastModifiedBy>admin</cp:lastModifiedBy>
  <cp:revision>1</cp:revision>
  <dcterms:modified xsi:type="dcterms:W3CDTF">2023-10-10T11:01:29Z</dcterms:modified>
</cp:coreProperties>
</file>