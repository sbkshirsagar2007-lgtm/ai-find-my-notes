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 baseline="300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10306" autoAdjust="0"/>
    <p:restoredTop sz="90929"/>
  </p:normalViewPr>
  <p:slideViewPr>
    <p:cSldViewPr>
      <p:cViewPr varScale="1">
        <p:scale>
          <a:sx n="91" d="100"/>
          <a:sy n="91" d="100"/>
        </p:scale>
        <p:origin x="-150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174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174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174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CE2D096-E05A-4F76-B72F-0BCE05AAA81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fld id="{C2997F8A-B94A-4B13-A41D-97F8301FC55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79DEF9-FA4F-44A4-8E7F-977FDDB980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943777-9012-498B-8582-75B0AE902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8906FE-B69C-454F-B61C-3E9FF5877F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B5820-E44F-4F30-A014-2067BCD529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54A72-D155-49F4-A1B0-17D48E1D2B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EA49B3-66A8-461D-A288-7C77B91F14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D3262-F652-4D7E-87A6-FE16FFB2DA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2E7F3B-674C-40F5-9EC9-2CA322A032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63FABB-77C1-4B88-ADF3-1DD69634FE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31BE5-C97E-4E66-A207-03EE9763B2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F1F4B-7BB3-487F-80EE-7991BE3670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aseline="0"/>
            </a:lvl1pPr>
          </a:lstStyle>
          <a:p>
            <a:r>
              <a:rPr lang="en-US"/>
              <a:t>Henric Johnson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/>
            </a:lvl1pPr>
          </a:lstStyle>
          <a:p>
            <a:fld id="{6A5A0488-34BF-4888-B329-F936DAB7FDC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1DDC-E60A-40C5-9579-EB09CB0C0337}" type="slidenum">
              <a:rPr lang="en-US"/>
              <a:pPr/>
              <a:t>1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</p:spPr>
        <p:txBody>
          <a:bodyPr/>
          <a:lstStyle/>
          <a:p>
            <a:endParaRPr lang="en-US" sz="7200" b="1" dirty="0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48000"/>
            <a:ext cx="6400800" cy="2819400"/>
          </a:xfrm>
        </p:spPr>
        <p:txBody>
          <a:bodyPr/>
          <a:lstStyle/>
          <a:p>
            <a:r>
              <a:rPr lang="sv-SE" sz="4800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Firewalls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0" y="5567363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20000"/>
              </a:spcBef>
            </a:pPr>
            <a:endParaRPr lang="en-GB" sz="1600" baseline="0">
              <a:latin typeface="Comic Sans MS" pitchFamily="66" charset="0"/>
            </a:endParaRPr>
          </a:p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2054" name="Picture 6" descr="D:\bilder\bth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2400" y="5562600"/>
            <a:ext cx="914400" cy="914400"/>
          </a:xfrm>
          <a:prstGeom prst="rect">
            <a:avLst/>
          </a:prstGeom>
          <a:noFill/>
        </p:spPr>
      </p:pic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962400" y="62484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36B7D-37C2-4F13-9396-3B4F306EBB61}" type="slidenum">
              <a:rPr lang="en-US"/>
              <a:pPr/>
              <a:t>2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 Design</a:t>
            </a:r>
            <a:b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Principles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The firewall is inserted between the premises network and the Internet</a:t>
            </a:r>
          </a:p>
          <a:p>
            <a:r>
              <a:rPr lang="en-US">
                <a:latin typeface="Comic Sans MS" pitchFamily="66" charset="0"/>
              </a:rPr>
              <a:t>Aims:</a:t>
            </a:r>
          </a:p>
          <a:p>
            <a:pPr lvl="1"/>
            <a:r>
              <a:rPr lang="en-US">
                <a:latin typeface="Comic Sans MS" pitchFamily="66" charset="0"/>
              </a:rPr>
              <a:t>Establish a controlled link</a:t>
            </a:r>
          </a:p>
          <a:p>
            <a:pPr lvl="1"/>
            <a:r>
              <a:rPr lang="en-US">
                <a:latin typeface="Comic Sans MS" pitchFamily="66" charset="0"/>
              </a:rPr>
              <a:t>Protect the premises network from Internet-based attacks</a:t>
            </a:r>
          </a:p>
          <a:p>
            <a:pPr lvl="1"/>
            <a:r>
              <a:rPr lang="en-US">
                <a:latin typeface="Comic Sans MS" pitchFamily="66" charset="0"/>
              </a:rPr>
              <a:t>Provide a single choke point</a:t>
            </a:r>
          </a:p>
          <a:p>
            <a:endParaRPr lang="en-US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8157-C788-44A6-9E59-D5C25BD03FC7}" type="slidenum">
              <a:rPr lang="en-US"/>
              <a:pPr/>
              <a:t>3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 Characteristics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Design goals:</a:t>
            </a:r>
          </a:p>
          <a:p>
            <a:pPr lvl="1"/>
            <a:r>
              <a:rPr lang="en-US">
                <a:latin typeface="Comic Sans MS" pitchFamily="66" charset="0"/>
              </a:rPr>
              <a:t>All traffic from inside to outside must pass through the firewall (physically blocking all access to the local network except via the firewall)</a:t>
            </a:r>
          </a:p>
          <a:p>
            <a:pPr lvl="1"/>
            <a:r>
              <a:rPr lang="en-US">
                <a:latin typeface="Comic Sans MS" pitchFamily="66" charset="0"/>
              </a:rPr>
              <a:t>Only authorized traffic (defined by the local security police) will be allowed to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514F-1838-4875-A2C3-41661B189226}" type="slidenum">
              <a:rPr lang="en-US"/>
              <a:pPr/>
              <a:t>4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 Characteristics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Design goals:</a:t>
            </a:r>
          </a:p>
          <a:p>
            <a:pPr lvl="1"/>
            <a:r>
              <a:rPr lang="en-US">
                <a:latin typeface="Comic Sans MS" pitchFamily="66" charset="0"/>
              </a:rPr>
              <a:t>The firewall itself is immune to penetration (use of trusted system with a secure operating system)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7DBF-0B09-4B15-B869-9149E9AAC070}" type="slidenum">
              <a:rPr lang="en-US"/>
              <a:pPr/>
              <a:t>5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 Characteristics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Four general techniques:</a:t>
            </a:r>
          </a:p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Service control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Determines the types of Internet services that can be accessed, inbound or outbound</a:t>
            </a:r>
          </a:p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Direction control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Determines the direction in which particular service requests are allowed to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6C3EA-0A38-49FC-AEC2-728245C5FACB}" type="slidenum">
              <a:rPr lang="en-US"/>
              <a:pPr/>
              <a:t>6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Firewall Characteristics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User control</a:t>
            </a:r>
          </a:p>
          <a:p>
            <a:pPr lvl="1"/>
            <a:r>
              <a:rPr lang="en-US">
                <a:latin typeface="Comic Sans MS" pitchFamily="66" charset="0"/>
              </a:rPr>
              <a:t>Controls access to a service according to which user is attempting to access it</a:t>
            </a:r>
          </a:p>
          <a:p>
            <a:r>
              <a:rPr lang="en-US">
                <a:latin typeface="Comic Sans MS" pitchFamily="66" charset="0"/>
              </a:rPr>
              <a:t>Behavior control</a:t>
            </a:r>
          </a:p>
          <a:p>
            <a:pPr lvl="1"/>
            <a:r>
              <a:rPr lang="en-US">
                <a:latin typeface="Comic Sans MS" pitchFamily="66" charset="0"/>
              </a:rPr>
              <a:t>Controls how particular services are used (e.g. filter e-mail)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B58DC-D8CC-41B7-AFBD-CC70C04146F5}" type="slidenum">
              <a:rPr lang="en-US"/>
              <a:pPr/>
              <a:t>7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Three common types of Firewalls:</a:t>
            </a:r>
          </a:p>
          <a:p>
            <a:pPr lvl="1"/>
            <a:r>
              <a:rPr lang="en-US">
                <a:latin typeface="Comic Sans MS" pitchFamily="66" charset="0"/>
              </a:rPr>
              <a:t>Packet-filtering routers</a:t>
            </a:r>
          </a:p>
          <a:p>
            <a:pPr lvl="1"/>
            <a:r>
              <a:rPr lang="en-US">
                <a:latin typeface="Comic Sans MS" pitchFamily="66" charset="0"/>
              </a:rPr>
              <a:t>Application-level gateways</a:t>
            </a:r>
          </a:p>
          <a:p>
            <a:pPr lvl="1"/>
            <a:r>
              <a:rPr lang="en-US">
                <a:latin typeface="Comic Sans MS" pitchFamily="66" charset="0"/>
              </a:rPr>
              <a:t>Circuit-level gateways</a:t>
            </a:r>
          </a:p>
          <a:p>
            <a:pPr lvl="1"/>
            <a:r>
              <a:rPr lang="en-US">
                <a:latin typeface="Comic Sans MS" pitchFamily="66" charset="0"/>
              </a:rPr>
              <a:t>(Bastion host)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F7693-583A-4F08-BC74-309CB3397976}" type="slidenum">
              <a:rPr lang="en-US"/>
              <a:pPr/>
              <a:t>8</a:t>
            </a:fld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Packet-filtering Router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1447800" y="2667000"/>
          <a:ext cx="6440488" cy="2105025"/>
        </p:xfrm>
        <a:graphic>
          <a:graphicData uri="http://schemas.openxmlformats.org/presentationml/2006/ole">
            <p:oleObj spid="_x0000_s39940" name="Bitmap Image" r:id="rId3" imgW="6439799" imgH="2104762" progId="PBrush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4C4-256C-404C-8654-3751952A59BD}" type="slidenum">
              <a:rPr lang="en-US"/>
              <a:pPr/>
              <a:t>9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Packet-filtering Router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Applies a set of rules to each incoming IP packet and then forwards or discards the packet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Filter packets going in both directions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The packet filter is typically set up as a list of rules based on matches to fields in the IP or TCP header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Two default policies (discard or forward)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881C1-1094-4468-A988-E84C280AA31C}" type="slidenum">
              <a:rPr lang="en-US"/>
              <a:pPr/>
              <a:t>10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Simplicity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Transparency to users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High speed</a:t>
            </a:r>
          </a:p>
          <a:p>
            <a:pPr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Difficulty of setting up packet filter rules</a:t>
            </a:r>
          </a:p>
          <a:p>
            <a:pPr lvl="1">
              <a:lnSpc>
                <a:spcPct val="90000"/>
              </a:lnSpc>
            </a:pPr>
            <a:r>
              <a:rPr lang="en-US">
                <a:latin typeface="Comic Sans MS" pitchFamily="66" charset="0"/>
              </a:rPr>
              <a:t>Lack of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023-413C-4A31-BCFB-A0BE589356B9}" type="slidenum">
              <a:rPr lang="en-US"/>
              <a:pPr/>
              <a:t>11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Possible attacks and appropriate countermeasures</a:t>
            </a:r>
          </a:p>
          <a:p>
            <a:pPr lvl="1"/>
            <a:r>
              <a:rPr lang="en-US">
                <a:latin typeface="Comic Sans MS" pitchFamily="66" charset="0"/>
              </a:rPr>
              <a:t>IP address spoofing</a:t>
            </a:r>
          </a:p>
          <a:p>
            <a:pPr lvl="1"/>
            <a:r>
              <a:rPr lang="en-US">
                <a:latin typeface="Comic Sans MS" pitchFamily="66" charset="0"/>
              </a:rPr>
              <a:t>Source routing attacks</a:t>
            </a:r>
          </a:p>
          <a:p>
            <a:pPr lvl="1"/>
            <a:r>
              <a:rPr lang="en-US">
                <a:latin typeface="Comic Sans MS" pitchFamily="66" charset="0"/>
              </a:rPr>
              <a:t>Tiny fragment attacks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CB769-7229-4522-8DB1-D49A93EDD11F}" type="slidenum">
              <a:rPr lang="en-US"/>
              <a:pPr/>
              <a:t>12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Application-level Gateway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447800" y="2743200"/>
          <a:ext cx="6276975" cy="2352675"/>
        </p:xfrm>
        <a:graphic>
          <a:graphicData uri="http://schemas.openxmlformats.org/presentationml/2006/ole">
            <p:oleObj spid="_x0000_s44036" name="Bitmap Image" r:id="rId3" imgW="6276190" imgH="2352381" progId="PBrush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119EE-BC13-4172-B00F-6257B1EDC15E}" type="slidenum">
              <a:rPr lang="en-US"/>
              <a:pPr/>
              <a:t>13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Application-level Gateway</a:t>
            </a:r>
          </a:p>
          <a:p>
            <a:pPr lvl="1"/>
            <a:r>
              <a:rPr lang="en-US">
                <a:latin typeface="Comic Sans MS" pitchFamily="66" charset="0"/>
              </a:rPr>
              <a:t>Also called proxy server</a:t>
            </a:r>
          </a:p>
          <a:p>
            <a:pPr lvl="1"/>
            <a:r>
              <a:rPr lang="en-US">
                <a:latin typeface="Comic Sans MS" pitchFamily="66" charset="0"/>
              </a:rPr>
              <a:t>Acts as a relay of application-level traffic</a:t>
            </a:r>
          </a:p>
          <a:p>
            <a:endParaRPr lang="en-US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25B37-6FDD-4A8B-8CD1-5E9740B8CE76}" type="slidenum">
              <a:rPr lang="en-US"/>
              <a:pPr/>
              <a:t>14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Advantages:</a:t>
            </a:r>
          </a:p>
          <a:p>
            <a:pPr lvl="1"/>
            <a:r>
              <a:rPr lang="en-US">
                <a:latin typeface="Comic Sans MS" pitchFamily="66" charset="0"/>
              </a:rPr>
              <a:t>Higher security than packet filters</a:t>
            </a:r>
          </a:p>
          <a:p>
            <a:pPr lvl="1"/>
            <a:r>
              <a:rPr lang="en-US">
                <a:latin typeface="Comic Sans MS" pitchFamily="66" charset="0"/>
              </a:rPr>
              <a:t>Only need to scrutinize a few allowable applications</a:t>
            </a:r>
          </a:p>
          <a:p>
            <a:pPr lvl="1"/>
            <a:r>
              <a:rPr lang="en-US">
                <a:latin typeface="Comic Sans MS" pitchFamily="66" charset="0"/>
              </a:rPr>
              <a:t>Easy to log and audit all incoming traffic</a:t>
            </a:r>
          </a:p>
          <a:p>
            <a:r>
              <a:rPr lang="en-US">
                <a:latin typeface="Comic Sans MS" pitchFamily="66" charset="0"/>
              </a:rPr>
              <a:t>Disadvantages:</a:t>
            </a:r>
          </a:p>
          <a:p>
            <a:pPr lvl="1"/>
            <a:r>
              <a:rPr lang="en-US">
                <a:latin typeface="Comic Sans MS" pitchFamily="66" charset="0"/>
              </a:rPr>
              <a:t>Additional processing overhead on each connection (gateway as splice point)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C763-136B-4057-A048-E1E3E9711349}" type="slidenum">
              <a:rPr lang="en-US"/>
              <a:pPr/>
              <a:t>15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Circuit-level Gateway</a:t>
            </a:r>
          </a:p>
          <a:p>
            <a:endParaRPr lang="en-US">
              <a:latin typeface="Comic Sans MS" pitchFamily="66" charset="0"/>
            </a:endParaRP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1447800" y="2667000"/>
          <a:ext cx="6335713" cy="2590800"/>
        </p:xfrm>
        <a:graphic>
          <a:graphicData uri="http://schemas.openxmlformats.org/presentationml/2006/ole">
            <p:oleObj spid="_x0000_s48132" name="Bitmap Image" r:id="rId3" imgW="6335009" imgH="2591162" progId="PBrush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7582-C5CB-4048-B9A0-E63E6D947589}" type="slidenum">
              <a:rPr lang="en-US"/>
              <a:pPr/>
              <a:t>16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Circuit-level Gateway</a:t>
            </a:r>
          </a:p>
          <a:p>
            <a:pPr lvl="1"/>
            <a:r>
              <a:rPr lang="en-US">
                <a:latin typeface="Comic Sans MS" pitchFamily="66" charset="0"/>
              </a:rPr>
              <a:t>Stand-alone system or</a:t>
            </a:r>
          </a:p>
          <a:p>
            <a:pPr lvl="1"/>
            <a:r>
              <a:rPr lang="en-US">
                <a:latin typeface="Comic Sans MS" pitchFamily="66" charset="0"/>
              </a:rPr>
              <a:t>Specialized function performed by an Application-level Gateway</a:t>
            </a:r>
          </a:p>
          <a:p>
            <a:pPr lvl="1"/>
            <a:r>
              <a:rPr lang="en-US">
                <a:latin typeface="Comic Sans MS" pitchFamily="66" charset="0"/>
              </a:rPr>
              <a:t>Sets up two TCP connections</a:t>
            </a:r>
          </a:p>
          <a:p>
            <a:pPr lvl="1"/>
            <a:r>
              <a:rPr lang="en-US">
                <a:latin typeface="Comic Sans MS" pitchFamily="66" charset="0"/>
              </a:rPr>
              <a:t>The gateway typically relays TCP segments from one connection to the other without examining the contents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Henric Johnson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8CA6B-5763-46AD-8727-18D4B8D59CB8}" type="slidenum">
              <a:rPr lang="en-US"/>
              <a:pPr/>
              <a:t>17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Types of Firewalls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/>
            </a:r>
            <a:b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endParaRPr lang="en-US" b="1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omic Sans MS" pitchFamily="66" charset="0"/>
              </a:rPr>
              <a:t>Circuit-level Gateway</a:t>
            </a:r>
          </a:p>
          <a:p>
            <a:pPr lvl="1"/>
            <a:r>
              <a:rPr lang="en-US">
                <a:latin typeface="Comic Sans MS" pitchFamily="66" charset="0"/>
              </a:rPr>
              <a:t>The security function consists of determining which connections will be allowed</a:t>
            </a:r>
          </a:p>
          <a:p>
            <a:pPr lvl="1"/>
            <a:r>
              <a:rPr lang="en-US">
                <a:latin typeface="Comic Sans MS" pitchFamily="66" charset="0"/>
              </a:rPr>
              <a:t>Typically use is a situation in which the system administrator trusts the internal users</a:t>
            </a:r>
          </a:p>
          <a:p>
            <a:pPr lvl="1"/>
            <a:r>
              <a:rPr lang="en-US">
                <a:latin typeface="Comic Sans MS" pitchFamily="66" charset="0"/>
              </a:rPr>
              <a:t>An example is the SOCKS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481</Words>
  <Application>Microsoft PowerPoint</Application>
  <PresentationFormat>On-screen Show (4:3)</PresentationFormat>
  <Paragraphs>112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Default Design</vt:lpstr>
      <vt:lpstr>Bitmap Image</vt:lpstr>
      <vt:lpstr>Slide 1</vt:lpstr>
      <vt:lpstr>Firewall Design Principles </vt:lpstr>
      <vt:lpstr>Firewall Characteristics </vt:lpstr>
      <vt:lpstr>Firewall Characteristics </vt:lpstr>
      <vt:lpstr>Firewall Characteristics </vt:lpstr>
      <vt:lpstr>Firewall Characteristics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  <vt:lpstr>Types of Firewalls </vt:lpstr>
    </vt:vector>
  </TitlesOfParts>
  <Company>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Holger Brachmann</dc:creator>
  <cp:lastModifiedBy>admin</cp:lastModifiedBy>
  <cp:revision>45</cp:revision>
  <dcterms:created xsi:type="dcterms:W3CDTF">2001-06-12T12:49:13Z</dcterms:created>
  <dcterms:modified xsi:type="dcterms:W3CDTF">2023-09-14T04:49:41Z</dcterms:modified>
</cp:coreProperties>
</file>