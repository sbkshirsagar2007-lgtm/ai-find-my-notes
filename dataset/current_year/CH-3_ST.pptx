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Lst>
  <p:sldSz cx="10058400" cy="7772400"/>
  <p:notesSz cx="10058400" cy="7772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626" y="-1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4500" b="0" i="0">
                <a:solidFill>
                  <a:srgbClr val="93C500"/>
                </a:solidFill>
                <a:latin typeface="Verdana"/>
                <a:cs typeface="Verdana"/>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0058400" cy="7772400"/>
          </a:xfrm>
          <a:prstGeom prst="rect">
            <a:avLst/>
          </a:prstGeom>
        </p:spPr>
      </p:pic>
      <p:pic>
        <p:nvPicPr>
          <p:cNvPr id="17" name="bg object 17"/>
          <p:cNvPicPr/>
          <p:nvPr/>
        </p:nvPicPr>
        <p:blipFill>
          <a:blip r:embed="rId3" cstate="print"/>
          <a:stretch>
            <a:fillRect/>
          </a:stretch>
        </p:blipFill>
        <p:spPr>
          <a:xfrm>
            <a:off x="457200" y="457200"/>
            <a:ext cx="9144000" cy="391667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0058400" cy="7772400"/>
          </a:xfrm>
          <a:prstGeom prst="rect">
            <a:avLst/>
          </a:prstGeom>
        </p:spPr>
      </p:pic>
      <p:sp>
        <p:nvSpPr>
          <p:cNvPr id="17" name="bg object 17"/>
          <p:cNvSpPr/>
          <p:nvPr/>
        </p:nvSpPr>
        <p:spPr>
          <a:xfrm>
            <a:off x="1091209" y="0"/>
            <a:ext cx="1760220" cy="7772400"/>
          </a:xfrm>
          <a:custGeom>
            <a:avLst/>
            <a:gdLst/>
            <a:ahLst/>
            <a:cxnLst/>
            <a:rect l="l" t="t" r="r" b="b"/>
            <a:pathLst>
              <a:path w="1760220" h="7772400">
                <a:moveTo>
                  <a:pt x="1760220" y="0"/>
                </a:moveTo>
                <a:lnTo>
                  <a:pt x="0" y="0"/>
                </a:lnTo>
                <a:lnTo>
                  <a:pt x="0" y="7772400"/>
                </a:lnTo>
                <a:lnTo>
                  <a:pt x="1760220" y="7772400"/>
                </a:lnTo>
                <a:lnTo>
                  <a:pt x="1760220" y="0"/>
                </a:lnTo>
                <a:close/>
              </a:path>
            </a:pathLst>
          </a:custGeom>
          <a:solidFill>
            <a:srgbClr val="FFFFFF">
              <a:alpha val="10195"/>
            </a:srgbClr>
          </a:solidFill>
        </p:spPr>
        <p:txBody>
          <a:bodyPr wrap="square" lIns="0" tIns="0" rIns="0" bIns="0" rtlCol="0"/>
          <a:lstStyle/>
          <a:p>
            <a:endParaRPr/>
          </a:p>
        </p:txBody>
      </p:sp>
      <p:sp>
        <p:nvSpPr>
          <p:cNvPr id="18" name="bg object 18"/>
          <p:cNvSpPr/>
          <p:nvPr/>
        </p:nvSpPr>
        <p:spPr>
          <a:xfrm>
            <a:off x="85356" y="0"/>
            <a:ext cx="1089660" cy="7772400"/>
          </a:xfrm>
          <a:custGeom>
            <a:avLst/>
            <a:gdLst/>
            <a:ahLst/>
            <a:cxnLst/>
            <a:rect l="l" t="t" r="r" b="b"/>
            <a:pathLst>
              <a:path w="1089660" h="7772400">
                <a:moveTo>
                  <a:pt x="1089660" y="0"/>
                </a:moveTo>
                <a:lnTo>
                  <a:pt x="502920" y="0"/>
                </a:lnTo>
                <a:lnTo>
                  <a:pt x="251472" y="0"/>
                </a:lnTo>
                <a:lnTo>
                  <a:pt x="0" y="0"/>
                </a:lnTo>
                <a:lnTo>
                  <a:pt x="0" y="7772400"/>
                </a:lnTo>
                <a:lnTo>
                  <a:pt x="251472" y="7772400"/>
                </a:lnTo>
                <a:lnTo>
                  <a:pt x="502920" y="7772400"/>
                </a:lnTo>
                <a:lnTo>
                  <a:pt x="1089660" y="7772400"/>
                </a:lnTo>
                <a:lnTo>
                  <a:pt x="1089660" y="0"/>
                </a:lnTo>
                <a:close/>
              </a:path>
            </a:pathLst>
          </a:custGeom>
          <a:solidFill>
            <a:srgbClr val="FFFFFF">
              <a:alpha val="10195"/>
            </a:srgbClr>
          </a:solidFill>
        </p:spPr>
        <p:txBody>
          <a:bodyPr wrap="square" lIns="0" tIns="0" rIns="0" bIns="0" rtlCol="0"/>
          <a:lstStyle/>
          <a:p>
            <a:endParaRPr/>
          </a:p>
        </p:txBody>
      </p:sp>
      <p:sp>
        <p:nvSpPr>
          <p:cNvPr id="19" name="bg object 19"/>
          <p:cNvSpPr/>
          <p:nvPr/>
        </p:nvSpPr>
        <p:spPr>
          <a:xfrm>
            <a:off x="1556385" y="0"/>
            <a:ext cx="1760220" cy="7772400"/>
          </a:xfrm>
          <a:custGeom>
            <a:avLst/>
            <a:gdLst/>
            <a:ahLst/>
            <a:cxnLst/>
            <a:rect l="l" t="t" r="r" b="b"/>
            <a:pathLst>
              <a:path w="1760220" h="7772400">
                <a:moveTo>
                  <a:pt x="1760219" y="0"/>
                </a:moveTo>
                <a:lnTo>
                  <a:pt x="0" y="0"/>
                </a:lnTo>
                <a:lnTo>
                  <a:pt x="0" y="7772400"/>
                </a:lnTo>
                <a:lnTo>
                  <a:pt x="1760219" y="7772400"/>
                </a:lnTo>
                <a:lnTo>
                  <a:pt x="1760219" y="0"/>
                </a:lnTo>
                <a:close/>
              </a:path>
            </a:pathLst>
          </a:custGeom>
          <a:solidFill>
            <a:srgbClr val="FFFFFF">
              <a:alpha val="10195"/>
            </a:srgbClr>
          </a:solidFill>
        </p:spPr>
        <p:txBody>
          <a:bodyPr wrap="square" lIns="0" tIns="0" rIns="0" bIns="0" rtlCol="0"/>
          <a:lstStyle/>
          <a:p>
            <a:endParaRPr/>
          </a:p>
        </p:txBody>
      </p:sp>
      <p:sp>
        <p:nvSpPr>
          <p:cNvPr id="20" name="bg object 20"/>
          <p:cNvSpPr/>
          <p:nvPr/>
        </p:nvSpPr>
        <p:spPr>
          <a:xfrm>
            <a:off x="550570" y="0"/>
            <a:ext cx="1089660" cy="7772400"/>
          </a:xfrm>
          <a:custGeom>
            <a:avLst/>
            <a:gdLst/>
            <a:ahLst/>
            <a:cxnLst/>
            <a:rect l="l" t="t" r="r" b="b"/>
            <a:pathLst>
              <a:path w="1089660" h="7772400">
                <a:moveTo>
                  <a:pt x="1089647" y="0"/>
                </a:moveTo>
                <a:lnTo>
                  <a:pt x="502920" y="0"/>
                </a:lnTo>
                <a:lnTo>
                  <a:pt x="251460" y="0"/>
                </a:lnTo>
                <a:lnTo>
                  <a:pt x="0" y="0"/>
                </a:lnTo>
                <a:lnTo>
                  <a:pt x="0" y="7772400"/>
                </a:lnTo>
                <a:lnTo>
                  <a:pt x="251460" y="7772400"/>
                </a:lnTo>
                <a:lnTo>
                  <a:pt x="502920" y="7772400"/>
                </a:lnTo>
                <a:lnTo>
                  <a:pt x="1089647" y="7772400"/>
                </a:lnTo>
                <a:lnTo>
                  <a:pt x="1089647" y="0"/>
                </a:lnTo>
                <a:close/>
              </a:path>
            </a:pathLst>
          </a:custGeom>
          <a:solidFill>
            <a:srgbClr val="FFFFFF">
              <a:alpha val="10195"/>
            </a:srgbClr>
          </a:solidFill>
        </p:spPr>
        <p:txBody>
          <a:bodyPr wrap="square" lIns="0" tIns="0" rIns="0" bIns="0" rtlCol="0"/>
          <a:lstStyle/>
          <a:p>
            <a:endParaRPr/>
          </a:p>
        </p:txBody>
      </p:sp>
      <p:sp>
        <p:nvSpPr>
          <p:cNvPr id="21" name="bg object 21"/>
          <p:cNvSpPr/>
          <p:nvPr/>
        </p:nvSpPr>
        <p:spPr>
          <a:xfrm>
            <a:off x="7377683" y="0"/>
            <a:ext cx="1760220" cy="7772400"/>
          </a:xfrm>
          <a:custGeom>
            <a:avLst/>
            <a:gdLst/>
            <a:ahLst/>
            <a:cxnLst/>
            <a:rect l="l" t="t" r="r" b="b"/>
            <a:pathLst>
              <a:path w="1760220" h="7772400">
                <a:moveTo>
                  <a:pt x="1760220" y="0"/>
                </a:moveTo>
                <a:lnTo>
                  <a:pt x="0" y="0"/>
                </a:lnTo>
                <a:lnTo>
                  <a:pt x="0" y="7772400"/>
                </a:lnTo>
                <a:lnTo>
                  <a:pt x="1760220" y="7772400"/>
                </a:lnTo>
                <a:lnTo>
                  <a:pt x="1760220" y="0"/>
                </a:lnTo>
                <a:close/>
              </a:path>
            </a:pathLst>
          </a:custGeom>
          <a:solidFill>
            <a:srgbClr val="FFFFFF">
              <a:alpha val="10195"/>
            </a:srgbClr>
          </a:solidFill>
        </p:spPr>
        <p:txBody>
          <a:bodyPr wrap="square" lIns="0" tIns="0" rIns="0" bIns="0" rtlCol="0"/>
          <a:lstStyle/>
          <a:p>
            <a:endParaRPr/>
          </a:p>
        </p:txBody>
      </p:sp>
      <p:sp>
        <p:nvSpPr>
          <p:cNvPr id="22" name="bg object 22"/>
          <p:cNvSpPr/>
          <p:nvPr/>
        </p:nvSpPr>
        <p:spPr>
          <a:xfrm>
            <a:off x="9054084" y="0"/>
            <a:ext cx="1004569" cy="7772400"/>
          </a:xfrm>
          <a:custGeom>
            <a:avLst/>
            <a:gdLst/>
            <a:ahLst/>
            <a:cxnLst/>
            <a:rect l="l" t="t" r="r" b="b"/>
            <a:pathLst>
              <a:path w="1004570" h="7772400">
                <a:moveTo>
                  <a:pt x="1004316" y="0"/>
                </a:moveTo>
                <a:lnTo>
                  <a:pt x="838200" y="0"/>
                </a:lnTo>
                <a:lnTo>
                  <a:pt x="586740" y="0"/>
                </a:lnTo>
                <a:lnTo>
                  <a:pt x="0" y="0"/>
                </a:lnTo>
                <a:lnTo>
                  <a:pt x="0" y="7772400"/>
                </a:lnTo>
                <a:lnTo>
                  <a:pt x="586740" y="7772400"/>
                </a:lnTo>
                <a:lnTo>
                  <a:pt x="838200" y="7772400"/>
                </a:lnTo>
                <a:lnTo>
                  <a:pt x="1004316" y="7772400"/>
                </a:lnTo>
                <a:lnTo>
                  <a:pt x="1004316" y="0"/>
                </a:lnTo>
                <a:close/>
              </a:path>
            </a:pathLst>
          </a:custGeom>
          <a:solidFill>
            <a:srgbClr val="FFFFFF">
              <a:alpha val="10195"/>
            </a:srgbClr>
          </a:solidFill>
        </p:spPr>
        <p:txBody>
          <a:bodyPr wrap="square" lIns="0" tIns="0" rIns="0" bIns="0" rtlCol="0"/>
          <a:lstStyle/>
          <a:p>
            <a:endParaRPr/>
          </a:p>
        </p:txBody>
      </p:sp>
      <p:sp>
        <p:nvSpPr>
          <p:cNvPr id="23" name="bg object 23"/>
          <p:cNvSpPr/>
          <p:nvPr/>
        </p:nvSpPr>
        <p:spPr>
          <a:xfrm>
            <a:off x="4276344" y="0"/>
            <a:ext cx="3101340" cy="7772400"/>
          </a:xfrm>
          <a:custGeom>
            <a:avLst/>
            <a:gdLst/>
            <a:ahLst/>
            <a:cxnLst/>
            <a:rect l="l" t="t" r="r" b="b"/>
            <a:pathLst>
              <a:path w="3101340" h="7772400">
                <a:moveTo>
                  <a:pt x="3101340" y="0"/>
                </a:moveTo>
                <a:lnTo>
                  <a:pt x="0" y="0"/>
                </a:lnTo>
                <a:lnTo>
                  <a:pt x="0" y="7772400"/>
                </a:lnTo>
                <a:lnTo>
                  <a:pt x="3101340" y="7772400"/>
                </a:lnTo>
                <a:lnTo>
                  <a:pt x="3101340" y="0"/>
                </a:lnTo>
                <a:close/>
              </a:path>
            </a:pathLst>
          </a:custGeom>
          <a:solidFill>
            <a:srgbClr val="FFFFFF">
              <a:alpha val="10195"/>
            </a:srgbClr>
          </a:solidFill>
        </p:spPr>
        <p:txBody>
          <a:bodyPr wrap="square" lIns="0" tIns="0" rIns="0" bIns="0" rtlCol="0"/>
          <a:lstStyle/>
          <a:p>
            <a:endParaRPr/>
          </a:p>
        </p:txBody>
      </p:sp>
      <p:sp>
        <p:nvSpPr>
          <p:cNvPr id="24" name="bg object 24"/>
          <p:cNvSpPr/>
          <p:nvPr/>
        </p:nvSpPr>
        <p:spPr>
          <a:xfrm>
            <a:off x="3270491" y="0"/>
            <a:ext cx="1090295" cy="7772400"/>
          </a:xfrm>
          <a:custGeom>
            <a:avLst/>
            <a:gdLst/>
            <a:ahLst/>
            <a:cxnLst/>
            <a:rect l="l" t="t" r="r" b="b"/>
            <a:pathLst>
              <a:path w="1090295" h="7772400">
                <a:moveTo>
                  <a:pt x="1089672" y="0"/>
                </a:moveTo>
                <a:lnTo>
                  <a:pt x="502932" y="0"/>
                </a:lnTo>
                <a:lnTo>
                  <a:pt x="251472" y="0"/>
                </a:lnTo>
                <a:lnTo>
                  <a:pt x="0" y="0"/>
                </a:lnTo>
                <a:lnTo>
                  <a:pt x="0" y="7772400"/>
                </a:lnTo>
                <a:lnTo>
                  <a:pt x="251472" y="7772400"/>
                </a:lnTo>
                <a:lnTo>
                  <a:pt x="502932" y="7772400"/>
                </a:lnTo>
                <a:lnTo>
                  <a:pt x="1089672" y="7772400"/>
                </a:lnTo>
                <a:lnTo>
                  <a:pt x="1089672" y="0"/>
                </a:lnTo>
                <a:close/>
              </a:path>
            </a:pathLst>
          </a:custGeom>
          <a:solidFill>
            <a:srgbClr val="FFFFFF">
              <a:alpha val="10195"/>
            </a:srgbClr>
          </a:solidFill>
        </p:spPr>
        <p:txBody>
          <a:bodyPr wrap="square" lIns="0" tIns="0" rIns="0" bIns="0" rtlCol="0"/>
          <a:lstStyle/>
          <a:p>
            <a:endParaRPr/>
          </a:p>
        </p:txBody>
      </p:sp>
      <p:pic>
        <p:nvPicPr>
          <p:cNvPr id="25" name="bg object 25"/>
          <p:cNvPicPr/>
          <p:nvPr/>
        </p:nvPicPr>
        <p:blipFill>
          <a:blip r:embed="rId8" cstate="print"/>
          <a:stretch>
            <a:fillRect/>
          </a:stretch>
        </p:blipFill>
        <p:spPr>
          <a:xfrm>
            <a:off x="56062" y="252222"/>
            <a:ext cx="10008687" cy="7526528"/>
          </a:xfrm>
          <a:prstGeom prst="rect">
            <a:avLst/>
          </a:prstGeom>
        </p:spPr>
      </p:pic>
      <p:sp>
        <p:nvSpPr>
          <p:cNvPr id="26" name="bg object 26"/>
          <p:cNvSpPr/>
          <p:nvPr/>
        </p:nvSpPr>
        <p:spPr>
          <a:xfrm>
            <a:off x="502920" y="377952"/>
            <a:ext cx="9052560" cy="7010400"/>
          </a:xfrm>
          <a:custGeom>
            <a:avLst/>
            <a:gdLst/>
            <a:ahLst/>
            <a:cxnLst/>
            <a:rect l="l" t="t" r="r" b="b"/>
            <a:pathLst>
              <a:path w="9052560" h="7010400">
                <a:moveTo>
                  <a:pt x="9052560" y="0"/>
                </a:moveTo>
                <a:lnTo>
                  <a:pt x="0" y="0"/>
                </a:lnTo>
                <a:lnTo>
                  <a:pt x="0" y="7010400"/>
                </a:lnTo>
                <a:lnTo>
                  <a:pt x="9052560" y="7010400"/>
                </a:lnTo>
                <a:lnTo>
                  <a:pt x="9052560" y="0"/>
                </a:lnTo>
                <a:close/>
              </a:path>
            </a:pathLst>
          </a:custGeom>
          <a:solidFill>
            <a:srgbClr val="FFFFFF"/>
          </a:solidFill>
        </p:spPr>
        <p:txBody>
          <a:bodyPr wrap="square" lIns="0" tIns="0" rIns="0" bIns="0" rtlCol="0"/>
          <a:lstStyle/>
          <a:p>
            <a:endParaRPr/>
          </a:p>
        </p:txBody>
      </p:sp>
      <p:sp>
        <p:nvSpPr>
          <p:cNvPr id="27" name="bg object 27"/>
          <p:cNvSpPr/>
          <p:nvPr/>
        </p:nvSpPr>
        <p:spPr>
          <a:xfrm>
            <a:off x="502920" y="377952"/>
            <a:ext cx="9052560" cy="7010400"/>
          </a:xfrm>
          <a:custGeom>
            <a:avLst/>
            <a:gdLst/>
            <a:ahLst/>
            <a:cxnLst/>
            <a:rect l="l" t="t" r="r" b="b"/>
            <a:pathLst>
              <a:path w="9052560" h="7010400">
                <a:moveTo>
                  <a:pt x="0" y="7010400"/>
                </a:moveTo>
                <a:lnTo>
                  <a:pt x="9052560" y="7010400"/>
                </a:lnTo>
                <a:lnTo>
                  <a:pt x="9052560" y="0"/>
                </a:lnTo>
                <a:lnTo>
                  <a:pt x="0" y="0"/>
                </a:lnTo>
                <a:lnTo>
                  <a:pt x="0" y="7010400"/>
                </a:lnTo>
                <a:close/>
              </a:path>
            </a:pathLst>
          </a:custGeom>
          <a:ln w="6350">
            <a:solidFill>
              <a:srgbClr val="000000"/>
            </a:solidFill>
          </a:ln>
        </p:spPr>
        <p:txBody>
          <a:bodyPr wrap="square" lIns="0" tIns="0" rIns="0" bIns="0" rtlCol="0"/>
          <a:lstStyle/>
          <a:p>
            <a:endParaRPr/>
          </a:p>
        </p:txBody>
      </p:sp>
      <p:sp>
        <p:nvSpPr>
          <p:cNvPr id="28" name="bg object 28"/>
          <p:cNvSpPr/>
          <p:nvPr/>
        </p:nvSpPr>
        <p:spPr>
          <a:xfrm>
            <a:off x="5017389" y="0"/>
            <a:ext cx="4047490" cy="768350"/>
          </a:xfrm>
          <a:custGeom>
            <a:avLst/>
            <a:gdLst/>
            <a:ahLst/>
            <a:cxnLst/>
            <a:rect l="l" t="t" r="r" b="b"/>
            <a:pathLst>
              <a:path w="4047490" h="768350">
                <a:moveTo>
                  <a:pt x="4046982" y="0"/>
                </a:moveTo>
                <a:lnTo>
                  <a:pt x="0" y="0"/>
                </a:lnTo>
                <a:lnTo>
                  <a:pt x="0" y="768096"/>
                </a:lnTo>
                <a:lnTo>
                  <a:pt x="4046982" y="768096"/>
                </a:lnTo>
                <a:lnTo>
                  <a:pt x="4046982" y="0"/>
                </a:lnTo>
                <a:close/>
              </a:path>
            </a:pathLst>
          </a:custGeom>
          <a:solidFill>
            <a:srgbClr val="F5F5F5"/>
          </a:solidFill>
        </p:spPr>
        <p:txBody>
          <a:bodyPr wrap="square" lIns="0" tIns="0" rIns="0" bIns="0" rtlCol="0"/>
          <a:lstStyle/>
          <a:p>
            <a:endParaRPr/>
          </a:p>
        </p:txBody>
      </p:sp>
      <p:sp>
        <p:nvSpPr>
          <p:cNvPr id="29" name="bg object 29"/>
          <p:cNvSpPr/>
          <p:nvPr/>
        </p:nvSpPr>
        <p:spPr>
          <a:xfrm>
            <a:off x="5017389" y="0"/>
            <a:ext cx="4047490" cy="768350"/>
          </a:xfrm>
          <a:custGeom>
            <a:avLst/>
            <a:gdLst/>
            <a:ahLst/>
            <a:cxnLst/>
            <a:rect l="l" t="t" r="r" b="b"/>
            <a:pathLst>
              <a:path w="4047490" h="768350">
                <a:moveTo>
                  <a:pt x="0" y="0"/>
                </a:moveTo>
                <a:lnTo>
                  <a:pt x="0" y="768096"/>
                </a:lnTo>
                <a:lnTo>
                  <a:pt x="4046982" y="768096"/>
                </a:lnTo>
                <a:lnTo>
                  <a:pt x="4046982" y="0"/>
                </a:lnTo>
              </a:path>
            </a:pathLst>
          </a:custGeom>
          <a:ln w="15874">
            <a:solidFill>
              <a:srgbClr val="74A40F"/>
            </a:solidFill>
          </a:ln>
        </p:spPr>
        <p:txBody>
          <a:bodyPr wrap="square" lIns="0" tIns="0" rIns="0" bIns="0" rtlCol="0"/>
          <a:lstStyle/>
          <a:p>
            <a:endParaRPr/>
          </a:p>
        </p:txBody>
      </p:sp>
      <p:sp>
        <p:nvSpPr>
          <p:cNvPr id="30" name="bg object 30"/>
          <p:cNvSpPr/>
          <p:nvPr/>
        </p:nvSpPr>
        <p:spPr>
          <a:xfrm>
            <a:off x="5114035" y="0"/>
            <a:ext cx="3855720" cy="683260"/>
          </a:xfrm>
          <a:custGeom>
            <a:avLst/>
            <a:gdLst/>
            <a:ahLst/>
            <a:cxnLst/>
            <a:rect l="l" t="t" r="r" b="b"/>
            <a:pathLst>
              <a:path w="3855720" h="683260">
                <a:moveTo>
                  <a:pt x="3855719" y="0"/>
                </a:moveTo>
                <a:lnTo>
                  <a:pt x="0" y="0"/>
                </a:lnTo>
                <a:lnTo>
                  <a:pt x="0" y="682751"/>
                </a:lnTo>
                <a:lnTo>
                  <a:pt x="3855719" y="682751"/>
                </a:lnTo>
                <a:lnTo>
                  <a:pt x="3855719" y="0"/>
                </a:lnTo>
                <a:close/>
              </a:path>
            </a:pathLst>
          </a:custGeom>
          <a:solidFill>
            <a:srgbClr val="70685A"/>
          </a:solidFill>
        </p:spPr>
        <p:txBody>
          <a:bodyPr wrap="square" lIns="0" tIns="0" rIns="0" bIns="0" rtlCol="0"/>
          <a:lstStyle/>
          <a:p>
            <a:endParaRPr/>
          </a:p>
        </p:txBody>
      </p:sp>
      <p:sp>
        <p:nvSpPr>
          <p:cNvPr id="2" name="Holder 2"/>
          <p:cNvSpPr>
            <a:spLocks noGrp="1"/>
          </p:cNvSpPr>
          <p:nvPr>
            <p:ph type="title"/>
          </p:nvPr>
        </p:nvSpPr>
        <p:spPr>
          <a:xfrm>
            <a:off x="825500" y="424434"/>
            <a:ext cx="8407400" cy="1052194"/>
          </a:xfrm>
          <a:prstGeom prst="rect">
            <a:avLst/>
          </a:prstGeom>
        </p:spPr>
        <p:txBody>
          <a:bodyPr wrap="square" lIns="0" tIns="0" rIns="0" bIns="0">
            <a:spAutoFit/>
          </a:bodyPr>
          <a:lstStyle>
            <a:lvl1pPr>
              <a:defRPr sz="4500" b="0" i="0">
                <a:solidFill>
                  <a:srgbClr val="93C500"/>
                </a:solidFill>
                <a:latin typeface="Verdana"/>
                <a:cs typeface="Verdana"/>
              </a:defRPr>
            </a:lvl1pPr>
          </a:lstStyle>
          <a:p>
            <a:endParaRPr/>
          </a:p>
        </p:txBody>
      </p:sp>
      <p:sp>
        <p:nvSpPr>
          <p:cNvPr id="3" name="Holder 3"/>
          <p:cNvSpPr>
            <a:spLocks noGrp="1"/>
          </p:cNvSpPr>
          <p:nvPr>
            <p:ph type="body" idx="1"/>
          </p:nvPr>
        </p:nvSpPr>
        <p:spPr>
          <a:xfrm>
            <a:off x="972108" y="1461973"/>
            <a:ext cx="8073390" cy="216027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9/17/2025</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geeksforgeeks.org/software-testing/types-software-testing/" TargetMode="Externa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software-testing/software-testing-functional-test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software-testing/software-testing-load-testing/" TargetMode="External"/><Relationship Id="rId2" Type="http://schemas.openxmlformats.org/officeDocument/2006/relationships/hyperlink" Target="https://www.geeksforgeeks.org/software-testing/performance-testing-software-testing/" TargetMode="External"/><Relationship Id="rId1" Type="http://schemas.openxmlformats.org/officeDocument/2006/relationships/slideLayout" Target="../slideLayouts/slideLayout2.xml"/><Relationship Id="rId4" Type="http://schemas.openxmlformats.org/officeDocument/2006/relationships/hyperlink" Target="https://www.geeksforgeeks.org/software-testing/security-testi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software-testing/software-engineering-white-box-testing/" TargetMode="External"/><Relationship Id="rId2" Type="http://schemas.openxmlformats.org/officeDocument/2006/relationships/hyperlink" Target="https://www.geeksforgeeks.org/software-testing/software-engineering-black-box-testing/"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10333" y="1315669"/>
            <a:ext cx="6245225" cy="2769235"/>
          </a:xfrm>
          <a:prstGeom prst="rect">
            <a:avLst/>
          </a:prstGeom>
        </p:spPr>
        <p:txBody>
          <a:bodyPr vert="horz" wrap="square" lIns="0" tIns="12700" rIns="0" bIns="0" rtlCol="0">
            <a:spAutoFit/>
          </a:bodyPr>
          <a:lstStyle/>
          <a:p>
            <a:pPr algn="ctr">
              <a:lnSpc>
                <a:spcPts val="5390"/>
              </a:lnSpc>
              <a:spcBef>
                <a:spcPts val="100"/>
              </a:spcBef>
            </a:pPr>
            <a:r>
              <a:rPr sz="4500" spc="-10" dirty="0">
                <a:solidFill>
                  <a:srgbClr val="93C500"/>
                </a:solidFill>
                <a:latin typeface="Verdana"/>
                <a:cs typeface="Verdana"/>
              </a:rPr>
              <a:t>CO23115</a:t>
            </a:r>
            <a:endParaRPr sz="4500">
              <a:latin typeface="Verdana"/>
              <a:cs typeface="Verdana"/>
            </a:endParaRPr>
          </a:p>
          <a:p>
            <a:pPr algn="ctr">
              <a:lnSpc>
                <a:spcPts val="5390"/>
              </a:lnSpc>
            </a:pPr>
            <a:r>
              <a:rPr sz="4500" spc="-145" dirty="0">
                <a:solidFill>
                  <a:srgbClr val="93C500"/>
                </a:solidFill>
                <a:latin typeface="Verdana"/>
                <a:cs typeface="Verdana"/>
              </a:rPr>
              <a:t>Software</a:t>
            </a:r>
            <a:r>
              <a:rPr sz="4500" spc="-475" dirty="0">
                <a:solidFill>
                  <a:srgbClr val="93C500"/>
                </a:solidFill>
                <a:latin typeface="Verdana"/>
                <a:cs typeface="Verdana"/>
              </a:rPr>
              <a:t> </a:t>
            </a:r>
            <a:r>
              <a:rPr sz="4500" spc="-275" dirty="0">
                <a:solidFill>
                  <a:srgbClr val="93C500"/>
                </a:solidFill>
                <a:latin typeface="Verdana"/>
                <a:cs typeface="Verdana"/>
              </a:rPr>
              <a:t>Testing</a:t>
            </a:r>
            <a:r>
              <a:rPr sz="4500" spc="-275" dirty="0">
                <a:solidFill>
                  <a:srgbClr val="93C500"/>
                </a:solidFill>
                <a:latin typeface="Cambria Math"/>
                <a:cs typeface="Cambria Math"/>
              </a:rPr>
              <a:t>‐</a:t>
            </a:r>
            <a:r>
              <a:rPr sz="4500" spc="155" dirty="0">
                <a:solidFill>
                  <a:srgbClr val="93C500"/>
                </a:solidFill>
                <a:latin typeface="Cambria Math"/>
                <a:cs typeface="Cambria Math"/>
              </a:rPr>
              <a:t> </a:t>
            </a:r>
            <a:r>
              <a:rPr sz="4500" spc="-275" dirty="0">
                <a:solidFill>
                  <a:srgbClr val="93C500"/>
                </a:solidFill>
                <a:latin typeface="Verdana"/>
                <a:cs typeface="Verdana"/>
              </a:rPr>
              <a:t>Unit</a:t>
            </a:r>
            <a:r>
              <a:rPr sz="4500" spc="-415" dirty="0">
                <a:solidFill>
                  <a:srgbClr val="93C500"/>
                </a:solidFill>
                <a:latin typeface="Verdana"/>
                <a:cs typeface="Verdana"/>
              </a:rPr>
              <a:t> </a:t>
            </a:r>
            <a:r>
              <a:rPr sz="4500" spc="-425" dirty="0">
                <a:solidFill>
                  <a:srgbClr val="93C500"/>
                </a:solidFill>
                <a:latin typeface="Verdana"/>
                <a:cs typeface="Verdana"/>
              </a:rPr>
              <a:t>3</a:t>
            </a:r>
            <a:endParaRPr sz="4500">
              <a:latin typeface="Verdana"/>
              <a:cs typeface="Verdana"/>
            </a:endParaRPr>
          </a:p>
          <a:p>
            <a:pPr marL="487680" marR="487045" algn="ctr">
              <a:lnSpc>
                <a:spcPct val="100000"/>
              </a:lnSpc>
              <a:spcBef>
                <a:spcPts val="25"/>
              </a:spcBef>
            </a:pPr>
            <a:r>
              <a:rPr sz="4500" spc="-160" dirty="0">
                <a:solidFill>
                  <a:srgbClr val="93C500"/>
                </a:solidFill>
                <a:latin typeface="Verdana"/>
                <a:cs typeface="Verdana"/>
              </a:rPr>
              <a:t>Black-</a:t>
            </a:r>
            <a:r>
              <a:rPr sz="4500" spc="-285" dirty="0">
                <a:solidFill>
                  <a:srgbClr val="93C500"/>
                </a:solidFill>
                <a:latin typeface="Verdana"/>
                <a:cs typeface="Verdana"/>
              </a:rPr>
              <a:t>Box</a:t>
            </a:r>
            <a:r>
              <a:rPr sz="4500" spc="-265" dirty="0">
                <a:solidFill>
                  <a:srgbClr val="93C500"/>
                </a:solidFill>
                <a:latin typeface="Verdana"/>
                <a:cs typeface="Verdana"/>
              </a:rPr>
              <a:t> </a:t>
            </a:r>
            <a:r>
              <a:rPr sz="4500" spc="-110" dirty="0">
                <a:solidFill>
                  <a:srgbClr val="93C500"/>
                </a:solidFill>
                <a:latin typeface="Verdana"/>
                <a:cs typeface="Verdana"/>
              </a:rPr>
              <a:t>Software </a:t>
            </a:r>
            <a:r>
              <a:rPr sz="4500" spc="-254" dirty="0">
                <a:solidFill>
                  <a:srgbClr val="93C500"/>
                </a:solidFill>
                <a:latin typeface="Verdana"/>
                <a:cs typeface="Verdana"/>
              </a:rPr>
              <a:t>Testing</a:t>
            </a:r>
            <a:r>
              <a:rPr sz="4500" spc="-380" dirty="0">
                <a:solidFill>
                  <a:srgbClr val="93C500"/>
                </a:solidFill>
                <a:latin typeface="Verdana"/>
                <a:cs typeface="Verdana"/>
              </a:rPr>
              <a:t> </a:t>
            </a:r>
            <a:r>
              <a:rPr sz="4500" spc="-285" dirty="0">
                <a:solidFill>
                  <a:srgbClr val="93C500"/>
                </a:solidFill>
                <a:latin typeface="Verdana"/>
                <a:cs typeface="Verdana"/>
              </a:rPr>
              <a:t>(12M)</a:t>
            </a:r>
            <a:endParaRPr sz="4500">
              <a:latin typeface="Verdana"/>
              <a:cs typeface="Verdana"/>
            </a:endParaRPr>
          </a:p>
        </p:txBody>
      </p:sp>
      <p:grpSp>
        <p:nvGrpSpPr>
          <p:cNvPr id="3" name="object 3"/>
          <p:cNvGrpSpPr/>
          <p:nvPr/>
        </p:nvGrpSpPr>
        <p:grpSpPr>
          <a:xfrm>
            <a:off x="457200" y="4373879"/>
            <a:ext cx="9144000" cy="2941320"/>
            <a:chOff x="457200" y="4373879"/>
            <a:chExt cx="9144000" cy="2941320"/>
          </a:xfrm>
        </p:grpSpPr>
        <p:pic>
          <p:nvPicPr>
            <p:cNvPr id="4" name="object 4"/>
            <p:cNvPicPr/>
            <p:nvPr/>
          </p:nvPicPr>
          <p:blipFill>
            <a:blip r:embed="rId2" cstate="print"/>
            <a:stretch>
              <a:fillRect/>
            </a:stretch>
          </p:blipFill>
          <p:spPr>
            <a:xfrm>
              <a:off x="457200" y="4373879"/>
              <a:ext cx="9144000" cy="2941320"/>
            </a:xfrm>
            <a:prstGeom prst="rect">
              <a:avLst/>
            </a:prstGeom>
          </p:spPr>
        </p:pic>
        <p:pic>
          <p:nvPicPr>
            <p:cNvPr id="5" name="object 5"/>
            <p:cNvPicPr/>
            <p:nvPr/>
          </p:nvPicPr>
          <p:blipFill>
            <a:blip r:embed="rId3" cstate="print"/>
            <a:stretch>
              <a:fillRect/>
            </a:stretch>
          </p:blipFill>
          <p:spPr>
            <a:xfrm>
              <a:off x="8775954" y="6495287"/>
              <a:ext cx="594359" cy="561594"/>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4975" y="728548"/>
            <a:ext cx="4051300" cy="605790"/>
          </a:xfrm>
          <a:prstGeom prst="rect">
            <a:avLst/>
          </a:prstGeom>
        </p:spPr>
        <p:txBody>
          <a:bodyPr vert="horz" wrap="square" lIns="0" tIns="13335" rIns="0" bIns="0" rtlCol="0">
            <a:spAutoFit/>
          </a:bodyPr>
          <a:lstStyle/>
          <a:p>
            <a:pPr marL="12700">
              <a:lnSpc>
                <a:spcPct val="100000"/>
              </a:lnSpc>
              <a:spcBef>
                <a:spcPts val="105"/>
              </a:spcBef>
            </a:pPr>
            <a:r>
              <a:rPr sz="3800" b="1" dirty="0">
                <a:latin typeface="Tahoma"/>
                <a:cs typeface="Tahoma"/>
              </a:rPr>
              <a:t>Black</a:t>
            </a:r>
            <a:r>
              <a:rPr sz="3800" b="1" spc="-170" dirty="0">
                <a:latin typeface="Tahoma"/>
                <a:cs typeface="Tahoma"/>
              </a:rPr>
              <a:t> </a:t>
            </a:r>
            <a:r>
              <a:rPr sz="3800" b="1" spc="-165" dirty="0">
                <a:latin typeface="Tahoma"/>
                <a:cs typeface="Tahoma"/>
              </a:rPr>
              <a:t>Box</a:t>
            </a:r>
            <a:r>
              <a:rPr sz="3800" b="1" spc="-114" dirty="0">
                <a:latin typeface="Tahoma"/>
                <a:cs typeface="Tahoma"/>
              </a:rPr>
              <a:t> </a:t>
            </a:r>
            <a:r>
              <a:rPr sz="3800" b="1" spc="-204" dirty="0">
                <a:latin typeface="Tahoma"/>
                <a:cs typeface="Tahoma"/>
              </a:rPr>
              <a:t>Testing</a:t>
            </a:r>
            <a:endParaRPr sz="3800">
              <a:latin typeface="Tahoma"/>
              <a:cs typeface="Tahoma"/>
            </a:endParaRPr>
          </a:p>
        </p:txBody>
      </p:sp>
      <p:sp>
        <p:nvSpPr>
          <p:cNvPr id="3" name="object 3"/>
          <p:cNvSpPr txBox="1"/>
          <p:nvPr/>
        </p:nvSpPr>
        <p:spPr>
          <a:xfrm>
            <a:off x="746556" y="1412368"/>
            <a:ext cx="8387715" cy="2246630"/>
          </a:xfrm>
          <a:prstGeom prst="rect">
            <a:avLst/>
          </a:prstGeom>
        </p:spPr>
        <p:txBody>
          <a:bodyPr vert="horz" wrap="square" lIns="0" tIns="11430" rIns="0" bIns="0" rtlCol="0">
            <a:spAutoFit/>
          </a:bodyPr>
          <a:lstStyle/>
          <a:p>
            <a:pPr marL="353060" marR="5080" indent="-340360" algn="just">
              <a:lnSpc>
                <a:spcPct val="121500"/>
              </a:lnSpc>
              <a:spcBef>
                <a:spcPts val="90"/>
              </a:spcBef>
              <a:buFont typeface="Arial MT"/>
              <a:buChar char="•"/>
              <a:tabLst>
                <a:tab pos="355600" algn="l"/>
              </a:tabLst>
            </a:pPr>
            <a:r>
              <a:rPr sz="2400" spc="-10" dirty="0">
                <a:latin typeface="Times New Roman"/>
                <a:cs typeface="Times New Roman"/>
              </a:rPr>
              <a:t>Black-</a:t>
            </a:r>
            <a:r>
              <a:rPr sz="2400" dirty="0">
                <a:latin typeface="Times New Roman"/>
                <a:cs typeface="Times New Roman"/>
              </a:rPr>
              <a:t>box</a:t>
            </a:r>
            <a:r>
              <a:rPr sz="2400" spc="445" dirty="0">
                <a:latin typeface="Times New Roman"/>
                <a:cs typeface="Times New Roman"/>
              </a:rPr>
              <a:t> </a:t>
            </a:r>
            <a:r>
              <a:rPr sz="2400" dirty="0">
                <a:latin typeface="Times New Roman"/>
                <a:cs typeface="Times New Roman"/>
              </a:rPr>
              <a:t>testing</a:t>
            </a:r>
            <a:r>
              <a:rPr sz="2400" spc="455" dirty="0">
                <a:latin typeface="Times New Roman"/>
                <a:cs typeface="Times New Roman"/>
              </a:rPr>
              <a:t> </a:t>
            </a:r>
            <a:r>
              <a:rPr sz="2400" dirty="0">
                <a:latin typeface="Times New Roman"/>
                <a:cs typeface="Times New Roman"/>
              </a:rPr>
              <a:t>is</a:t>
            </a:r>
            <a:r>
              <a:rPr sz="2400" spc="455" dirty="0">
                <a:latin typeface="Times New Roman"/>
                <a:cs typeface="Times New Roman"/>
              </a:rPr>
              <a:t> </a:t>
            </a:r>
            <a:r>
              <a:rPr sz="2400" dirty="0">
                <a:latin typeface="Times New Roman"/>
                <a:cs typeface="Times New Roman"/>
              </a:rPr>
              <a:t>a</a:t>
            </a:r>
            <a:r>
              <a:rPr sz="2400" u="sng" spc="455" dirty="0">
                <a:solidFill>
                  <a:srgbClr val="E68200"/>
                </a:solidFill>
                <a:uFill>
                  <a:solidFill>
                    <a:srgbClr val="E68200"/>
                  </a:solidFill>
                </a:uFill>
                <a:latin typeface="Times New Roman"/>
                <a:cs typeface="Times New Roman"/>
              </a:rPr>
              <a:t> </a:t>
            </a:r>
            <a:r>
              <a:rPr sz="2400" u="sng" dirty="0">
                <a:solidFill>
                  <a:srgbClr val="E68200"/>
                </a:solidFill>
                <a:uFill>
                  <a:solidFill>
                    <a:srgbClr val="E68200"/>
                  </a:solidFill>
                </a:uFill>
                <a:latin typeface="Times New Roman"/>
                <a:cs typeface="Times New Roman"/>
                <a:hlinkClick r:id="rId2"/>
              </a:rPr>
              <a:t>Type</a:t>
            </a:r>
            <a:r>
              <a:rPr sz="2400" u="sng" spc="459" dirty="0">
                <a:solidFill>
                  <a:srgbClr val="E68200"/>
                </a:solidFill>
                <a:uFill>
                  <a:solidFill>
                    <a:srgbClr val="E68200"/>
                  </a:solidFill>
                </a:uFill>
                <a:latin typeface="Times New Roman"/>
                <a:cs typeface="Times New Roman"/>
              </a:rPr>
              <a:t> </a:t>
            </a:r>
            <a:r>
              <a:rPr sz="2400" u="sng" dirty="0">
                <a:solidFill>
                  <a:srgbClr val="E68200"/>
                </a:solidFill>
                <a:uFill>
                  <a:solidFill>
                    <a:srgbClr val="E68200"/>
                  </a:solidFill>
                </a:uFill>
                <a:latin typeface="Times New Roman"/>
                <a:cs typeface="Times New Roman"/>
                <a:hlinkClick r:id="rId2"/>
              </a:rPr>
              <a:t>of</a:t>
            </a:r>
            <a:r>
              <a:rPr sz="2400" u="sng" spc="450" dirty="0">
                <a:solidFill>
                  <a:srgbClr val="E68200"/>
                </a:solidFill>
                <a:uFill>
                  <a:solidFill>
                    <a:srgbClr val="E68200"/>
                  </a:solidFill>
                </a:uFill>
                <a:latin typeface="Times New Roman"/>
                <a:cs typeface="Times New Roman"/>
              </a:rPr>
              <a:t> </a:t>
            </a:r>
            <a:r>
              <a:rPr sz="2400" u="sng" dirty="0">
                <a:solidFill>
                  <a:srgbClr val="E68200"/>
                </a:solidFill>
                <a:uFill>
                  <a:solidFill>
                    <a:srgbClr val="E68200"/>
                  </a:solidFill>
                </a:uFill>
                <a:latin typeface="Times New Roman"/>
                <a:cs typeface="Times New Roman"/>
                <a:hlinkClick r:id="rId2"/>
              </a:rPr>
              <a:t>Software</a:t>
            </a:r>
            <a:r>
              <a:rPr sz="2400" u="sng" spc="470" dirty="0">
                <a:solidFill>
                  <a:srgbClr val="E68200"/>
                </a:solidFill>
                <a:uFill>
                  <a:solidFill>
                    <a:srgbClr val="E68200"/>
                  </a:solidFill>
                </a:uFill>
                <a:latin typeface="Times New Roman"/>
                <a:cs typeface="Times New Roman"/>
              </a:rPr>
              <a:t> </a:t>
            </a:r>
            <a:r>
              <a:rPr sz="2400" u="sng" dirty="0">
                <a:solidFill>
                  <a:srgbClr val="E68200"/>
                </a:solidFill>
                <a:uFill>
                  <a:solidFill>
                    <a:srgbClr val="E68200"/>
                  </a:solidFill>
                </a:uFill>
                <a:latin typeface="Times New Roman"/>
                <a:cs typeface="Times New Roman"/>
                <a:hlinkClick r:id="rId2"/>
              </a:rPr>
              <a:t>Testing</a:t>
            </a:r>
            <a:r>
              <a:rPr sz="2400" u="sng" spc="455" dirty="0">
                <a:solidFill>
                  <a:srgbClr val="E68200"/>
                </a:solidFill>
                <a:uFill>
                  <a:solidFill>
                    <a:srgbClr val="E68200"/>
                  </a:solidFill>
                </a:uFill>
                <a:latin typeface="Times New Roman"/>
                <a:cs typeface="Times New Roman"/>
              </a:rPr>
              <a:t> </a:t>
            </a:r>
            <a:r>
              <a:rPr sz="2400" dirty="0">
                <a:latin typeface="Times New Roman"/>
                <a:cs typeface="Times New Roman"/>
              </a:rPr>
              <a:t>in</a:t>
            </a:r>
            <a:r>
              <a:rPr sz="2400" spc="459" dirty="0">
                <a:latin typeface="Times New Roman"/>
                <a:cs typeface="Times New Roman"/>
              </a:rPr>
              <a:t> </a:t>
            </a:r>
            <a:r>
              <a:rPr sz="2400" dirty="0">
                <a:latin typeface="Times New Roman"/>
                <a:cs typeface="Times New Roman"/>
              </a:rPr>
              <a:t>which</a:t>
            </a:r>
            <a:r>
              <a:rPr sz="2400" spc="455" dirty="0">
                <a:latin typeface="Times New Roman"/>
                <a:cs typeface="Times New Roman"/>
              </a:rPr>
              <a:t> </a:t>
            </a:r>
            <a:r>
              <a:rPr sz="2400" spc="-25" dirty="0">
                <a:latin typeface="Times New Roman"/>
                <a:cs typeface="Times New Roman"/>
              </a:rPr>
              <a:t>the 	</a:t>
            </a:r>
            <a:r>
              <a:rPr sz="2400" dirty="0">
                <a:latin typeface="Times New Roman"/>
                <a:cs typeface="Times New Roman"/>
              </a:rPr>
              <a:t>tester</a:t>
            </a:r>
            <a:r>
              <a:rPr sz="2400" spc="295" dirty="0">
                <a:latin typeface="Times New Roman"/>
                <a:cs typeface="Times New Roman"/>
              </a:rPr>
              <a:t>   </a:t>
            </a:r>
            <a:r>
              <a:rPr sz="2400" dirty="0">
                <a:latin typeface="Times New Roman"/>
                <a:cs typeface="Times New Roman"/>
              </a:rPr>
              <a:t>is</a:t>
            </a:r>
            <a:r>
              <a:rPr sz="2400" spc="290" dirty="0">
                <a:latin typeface="Times New Roman"/>
                <a:cs typeface="Times New Roman"/>
              </a:rPr>
              <a:t>   </a:t>
            </a:r>
            <a:r>
              <a:rPr sz="2400" dirty="0">
                <a:latin typeface="Times New Roman"/>
                <a:cs typeface="Times New Roman"/>
              </a:rPr>
              <a:t>not</a:t>
            </a:r>
            <a:r>
              <a:rPr sz="2400" spc="295" dirty="0">
                <a:latin typeface="Times New Roman"/>
                <a:cs typeface="Times New Roman"/>
              </a:rPr>
              <a:t>   </a:t>
            </a:r>
            <a:r>
              <a:rPr sz="2400" dirty="0">
                <a:latin typeface="Times New Roman"/>
                <a:cs typeface="Times New Roman"/>
              </a:rPr>
              <a:t>concerned</a:t>
            </a:r>
            <a:r>
              <a:rPr sz="2400" spc="290" dirty="0">
                <a:latin typeface="Times New Roman"/>
                <a:cs typeface="Times New Roman"/>
              </a:rPr>
              <a:t>   </a:t>
            </a:r>
            <a:r>
              <a:rPr sz="2400" dirty="0">
                <a:latin typeface="Times New Roman"/>
                <a:cs typeface="Times New Roman"/>
              </a:rPr>
              <a:t>with</a:t>
            </a:r>
            <a:r>
              <a:rPr sz="2400" spc="290" dirty="0">
                <a:latin typeface="Times New Roman"/>
                <a:cs typeface="Times New Roman"/>
              </a:rPr>
              <a:t>   </a:t>
            </a:r>
            <a:r>
              <a:rPr sz="2400" dirty="0">
                <a:latin typeface="Times New Roman"/>
                <a:cs typeface="Times New Roman"/>
              </a:rPr>
              <a:t>the</a:t>
            </a:r>
            <a:r>
              <a:rPr sz="2400" spc="295" dirty="0">
                <a:latin typeface="Times New Roman"/>
                <a:cs typeface="Times New Roman"/>
              </a:rPr>
              <a:t>   </a:t>
            </a:r>
            <a:r>
              <a:rPr sz="2400" dirty="0">
                <a:latin typeface="Times New Roman"/>
                <a:cs typeface="Times New Roman"/>
              </a:rPr>
              <a:t>software’s</a:t>
            </a:r>
            <a:r>
              <a:rPr sz="2400" spc="300" dirty="0">
                <a:latin typeface="Times New Roman"/>
                <a:cs typeface="Times New Roman"/>
              </a:rPr>
              <a:t>   </a:t>
            </a:r>
            <a:r>
              <a:rPr sz="2400" spc="-10" dirty="0">
                <a:latin typeface="Times New Roman"/>
                <a:cs typeface="Times New Roman"/>
              </a:rPr>
              <a:t>internal 	</a:t>
            </a:r>
            <a:r>
              <a:rPr sz="2400" dirty="0">
                <a:latin typeface="Times New Roman"/>
                <a:cs typeface="Times New Roman"/>
              </a:rPr>
              <a:t>knowledge</a:t>
            </a:r>
            <a:r>
              <a:rPr sz="2400" spc="170" dirty="0">
                <a:latin typeface="Times New Roman"/>
                <a:cs typeface="Times New Roman"/>
              </a:rPr>
              <a:t>  </a:t>
            </a:r>
            <a:r>
              <a:rPr sz="2400" dirty="0">
                <a:latin typeface="Times New Roman"/>
                <a:cs typeface="Times New Roman"/>
              </a:rPr>
              <a:t>or</a:t>
            </a:r>
            <a:r>
              <a:rPr sz="2400" spc="180" dirty="0">
                <a:latin typeface="Times New Roman"/>
                <a:cs typeface="Times New Roman"/>
              </a:rPr>
              <a:t>  </a:t>
            </a:r>
            <a:r>
              <a:rPr sz="2400" dirty="0">
                <a:latin typeface="Times New Roman"/>
                <a:cs typeface="Times New Roman"/>
              </a:rPr>
              <a:t>implementation</a:t>
            </a:r>
            <a:r>
              <a:rPr sz="2400" spc="180" dirty="0">
                <a:latin typeface="Times New Roman"/>
                <a:cs typeface="Times New Roman"/>
              </a:rPr>
              <a:t>  </a:t>
            </a:r>
            <a:r>
              <a:rPr sz="2400" dirty="0">
                <a:latin typeface="Times New Roman"/>
                <a:cs typeface="Times New Roman"/>
              </a:rPr>
              <a:t>details</a:t>
            </a:r>
            <a:r>
              <a:rPr sz="2400" spc="180" dirty="0">
                <a:latin typeface="Times New Roman"/>
                <a:cs typeface="Times New Roman"/>
              </a:rPr>
              <a:t>  </a:t>
            </a:r>
            <a:r>
              <a:rPr sz="2400" dirty="0">
                <a:latin typeface="Times New Roman"/>
                <a:cs typeface="Times New Roman"/>
              </a:rPr>
              <a:t>but</a:t>
            </a:r>
            <a:r>
              <a:rPr sz="2400" spc="175" dirty="0">
                <a:latin typeface="Times New Roman"/>
                <a:cs typeface="Times New Roman"/>
              </a:rPr>
              <a:t>  </a:t>
            </a:r>
            <a:r>
              <a:rPr sz="2400" dirty="0">
                <a:latin typeface="Times New Roman"/>
                <a:cs typeface="Times New Roman"/>
              </a:rPr>
              <a:t>rather</a:t>
            </a:r>
            <a:r>
              <a:rPr sz="2400" spc="180" dirty="0">
                <a:latin typeface="Times New Roman"/>
                <a:cs typeface="Times New Roman"/>
              </a:rPr>
              <a:t>  </a:t>
            </a:r>
            <a:r>
              <a:rPr sz="2400" dirty="0">
                <a:latin typeface="Times New Roman"/>
                <a:cs typeface="Times New Roman"/>
              </a:rPr>
              <a:t>focuses</a:t>
            </a:r>
            <a:r>
              <a:rPr sz="2400" spc="175" dirty="0">
                <a:latin typeface="Times New Roman"/>
                <a:cs typeface="Times New Roman"/>
              </a:rPr>
              <a:t>  </a:t>
            </a:r>
            <a:r>
              <a:rPr sz="2400" spc="-25" dirty="0">
                <a:latin typeface="Times New Roman"/>
                <a:cs typeface="Times New Roman"/>
              </a:rPr>
              <a:t>on 	</a:t>
            </a:r>
            <a:r>
              <a:rPr sz="2400" dirty="0">
                <a:latin typeface="Times New Roman"/>
                <a:cs typeface="Times New Roman"/>
              </a:rPr>
              <a:t>validating</a:t>
            </a:r>
            <a:r>
              <a:rPr sz="2400" spc="495" dirty="0">
                <a:latin typeface="Times New Roman"/>
                <a:cs typeface="Times New Roman"/>
              </a:rPr>
              <a:t>     </a:t>
            </a:r>
            <a:r>
              <a:rPr sz="2400" dirty="0">
                <a:latin typeface="Times New Roman"/>
                <a:cs typeface="Times New Roman"/>
              </a:rPr>
              <a:t>the</a:t>
            </a:r>
            <a:r>
              <a:rPr sz="2400" spc="500" dirty="0">
                <a:latin typeface="Times New Roman"/>
                <a:cs typeface="Times New Roman"/>
              </a:rPr>
              <a:t>     </a:t>
            </a:r>
            <a:r>
              <a:rPr sz="2400" dirty="0">
                <a:latin typeface="Times New Roman"/>
                <a:cs typeface="Times New Roman"/>
              </a:rPr>
              <a:t>functionality</a:t>
            </a:r>
            <a:r>
              <a:rPr sz="2400" spc="500" dirty="0">
                <a:latin typeface="Times New Roman"/>
                <a:cs typeface="Times New Roman"/>
              </a:rPr>
              <a:t>     </a:t>
            </a:r>
            <a:r>
              <a:rPr sz="2400" dirty="0">
                <a:latin typeface="Times New Roman"/>
                <a:cs typeface="Times New Roman"/>
              </a:rPr>
              <a:t>based</a:t>
            </a:r>
            <a:r>
              <a:rPr sz="2400" spc="505" dirty="0">
                <a:latin typeface="Times New Roman"/>
                <a:cs typeface="Times New Roman"/>
              </a:rPr>
              <a:t>     </a:t>
            </a:r>
            <a:r>
              <a:rPr sz="2400" dirty="0">
                <a:latin typeface="Times New Roman"/>
                <a:cs typeface="Times New Roman"/>
              </a:rPr>
              <a:t>on</a:t>
            </a:r>
            <a:r>
              <a:rPr sz="2400" spc="500" dirty="0">
                <a:latin typeface="Times New Roman"/>
                <a:cs typeface="Times New Roman"/>
              </a:rPr>
              <a:t>     </a:t>
            </a:r>
            <a:r>
              <a:rPr sz="2400" spc="-25" dirty="0">
                <a:latin typeface="Times New Roman"/>
                <a:cs typeface="Times New Roman"/>
              </a:rPr>
              <a:t>the 	</a:t>
            </a:r>
            <a:r>
              <a:rPr sz="2400" dirty="0">
                <a:latin typeface="Times New Roman"/>
                <a:cs typeface="Times New Roman"/>
              </a:rPr>
              <a:t>provided</a:t>
            </a:r>
            <a:r>
              <a:rPr sz="2400" spc="-35" dirty="0">
                <a:latin typeface="Times New Roman"/>
                <a:cs typeface="Times New Roman"/>
              </a:rPr>
              <a:t> </a:t>
            </a:r>
            <a:r>
              <a:rPr sz="2400" dirty="0">
                <a:latin typeface="Times New Roman"/>
                <a:cs typeface="Times New Roman"/>
              </a:rPr>
              <a:t>specifications</a:t>
            </a:r>
            <a:r>
              <a:rPr sz="2400" spc="-60" dirty="0">
                <a:latin typeface="Times New Roman"/>
                <a:cs typeface="Times New Roman"/>
              </a:rPr>
              <a:t> </a:t>
            </a:r>
            <a:r>
              <a:rPr sz="2400" dirty="0">
                <a:latin typeface="Times New Roman"/>
                <a:cs typeface="Times New Roman"/>
              </a:rPr>
              <a:t>or</a:t>
            </a:r>
            <a:r>
              <a:rPr sz="2400" spc="-10" dirty="0">
                <a:latin typeface="Times New Roman"/>
                <a:cs typeface="Times New Roman"/>
              </a:rPr>
              <a:t> requirements.</a:t>
            </a:r>
            <a:endParaRPr sz="2400">
              <a:latin typeface="Times New Roman"/>
              <a:cs typeface="Times New Roman"/>
            </a:endParaRPr>
          </a:p>
        </p:txBody>
      </p:sp>
      <p:grpSp>
        <p:nvGrpSpPr>
          <p:cNvPr id="4" name="object 4"/>
          <p:cNvGrpSpPr/>
          <p:nvPr/>
        </p:nvGrpSpPr>
        <p:grpSpPr>
          <a:xfrm>
            <a:off x="990600" y="3884295"/>
            <a:ext cx="8380095" cy="3378200"/>
            <a:chOff x="990600" y="3884295"/>
            <a:chExt cx="8380095" cy="3378200"/>
          </a:xfrm>
        </p:grpSpPr>
        <p:pic>
          <p:nvPicPr>
            <p:cNvPr id="5" name="object 5"/>
            <p:cNvPicPr/>
            <p:nvPr/>
          </p:nvPicPr>
          <p:blipFill>
            <a:blip r:embed="rId3" cstate="print"/>
            <a:stretch>
              <a:fillRect/>
            </a:stretch>
          </p:blipFill>
          <p:spPr>
            <a:xfrm>
              <a:off x="8775954" y="6495288"/>
              <a:ext cx="594359" cy="561594"/>
            </a:xfrm>
            <a:prstGeom prst="rect">
              <a:avLst/>
            </a:prstGeom>
          </p:spPr>
        </p:pic>
        <p:pic>
          <p:nvPicPr>
            <p:cNvPr id="6" name="object 6"/>
            <p:cNvPicPr/>
            <p:nvPr/>
          </p:nvPicPr>
          <p:blipFill>
            <a:blip r:embed="rId4" cstate="print"/>
            <a:stretch>
              <a:fillRect/>
            </a:stretch>
          </p:blipFill>
          <p:spPr>
            <a:xfrm>
              <a:off x="990600" y="3884295"/>
              <a:ext cx="8082533" cy="337820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353" rIns="0" bIns="0" rtlCol="0">
            <a:spAutoFit/>
          </a:bodyPr>
          <a:lstStyle/>
          <a:p>
            <a:pPr marL="2162175">
              <a:lnSpc>
                <a:spcPct val="100000"/>
              </a:lnSpc>
              <a:spcBef>
                <a:spcPts val="105"/>
              </a:spcBef>
            </a:pPr>
            <a:r>
              <a:rPr sz="3800" b="1" dirty="0">
                <a:latin typeface="Calibri"/>
                <a:cs typeface="Calibri"/>
              </a:rPr>
              <a:t>Classification</a:t>
            </a:r>
            <a:r>
              <a:rPr sz="3800" b="1" spc="-85" dirty="0">
                <a:latin typeface="Calibri"/>
                <a:cs typeface="Calibri"/>
              </a:rPr>
              <a:t> </a:t>
            </a:r>
            <a:r>
              <a:rPr sz="3800" b="1" dirty="0">
                <a:latin typeface="Calibri"/>
                <a:cs typeface="Calibri"/>
              </a:rPr>
              <a:t>of</a:t>
            </a:r>
            <a:r>
              <a:rPr sz="3800" b="1" spc="-70" dirty="0">
                <a:latin typeface="Calibri"/>
                <a:cs typeface="Calibri"/>
              </a:rPr>
              <a:t> </a:t>
            </a:r>
            <a:r>
              <a:rPr sz="3800" b="1" spc="-25" dirty="0">
                <a:latin typeface="Calibri"/>
                <a:cs typeface="Calibri"/>
              </a:rPr>
              <a:t>BBT</a:t>
            </a:r>
            <a:endParaRPr sz="3800">
              <a:latin typeface="Calibri"/>
              <a:cs typeface="Calibri"/>
            </a:endParaRPr>
          </a:p>
        </p:txBody>
      </p:sp>
      <p:grpSp>
        <p:nvGrpSpPr>
          <p:cNvPr id="3" name="object 3"/>
          <p:cNvGrpSpPr/>
          <p:nvPr/>
        </p:nvGrpSpPr>
        <p:grpSpPr>
          <a:xfrm>
            <a:off x="1066800" y="1600200"/>
            <a:ext cx="8303895" cy="5457190"/>
            <a:chOff x="1066800" y="1600200"/>
            <a:chExt cx="8303895" cy="5457190"/>
          </a:xfrm>
        </p:grpSpPr>
        <p:pic>
          <p:nvPicPr>
            <p:cNvPr id="4" name="object 4"/>
            <p:cNvPicPr/>
            <p:nvPr/>
          </p:nvPicPr>
          <p:blipFill>
            <a:blip r:embed="rId2" cstate="print"/>
            <a:stretch>
              <a:fillRect/>
            </a:stretch>
          </p:blipFill>
          <p:spPr>
            <a:xfrm>
              <a:off x="8775954" y="6495288"/>
              <a:ext cx="594359" cy="561594"/>
            </a:xfrm>
            <a:prstGeom prst="rect">
              <a:avLst/>
            </a:prstGeom>
          </p:spPr>
        </p:pic>
        <p:pic>
          <p:nvPicPr>
            <p:cNvPr id="5" name="object 5"/>
            <p:cNvPicPr/>
            <p:nvPr/>
          </p:nvPicPr>
          <p:blipFill>
            <a:blip r:embed="rId3" cstate="print"/>
            <a:stretch>
              <a:fillRect/>
            </a:stretch>
          </p:blipFill>
          <p:spPr>
            <a:xfrm>
              <a:off x="1066800" y="1600200"/>
              <a:ext cx="7924800" cy="5175885"/>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5500" y="-2667"/>
            <a:ext cx="4461510" cy="574040"/>
          </a:xfrm>
          <a:prstGeom prst="rect">
            <a:avLst/>
          </a:prstGeom>
        </p:spPr>
        <p:txBody>
          <a:bodyPr vert="horz" wrap="square" lIns="0" tIns="12700" rIns="0" bIns="0" rtlCol="0">
            <a:spAutoFit/>
          </a:bodyPr>
          <a:lstStyle/>
          <a:p>
            <a:pPr marL="12700">
              <a:lnSpc>
                <a:spcPct val="100000"/>
              </a:lnSpc>
              <a:spcBef>
                <a:spcPts val="100"/>
              </a:spcBef>
            </a:pPr>
            <a:r>
              <a:rPr sz="3600" b="1" spc="-200" dirty="0">
                <a:latin typeface="Tahoma"/>
                <a:cs typeface="Tahoma"/>
              </a:rPr>
              <a:t>1.</a:t>
            </a:r>
            <a:r>
              <a:rPr sz="3600" b="1" spc="-65" dirty="0">
                <a:latin typeface="Tahoma"/>
                <a:cs typeface="Tahoma"/>
              </a:rPr>
              <a:t> </a:t>
            </a:r>
            <a:r>
              <a:rPr sz="3600" b="1" spc="-90" dirty="0">
                <a:latin typeface="Tahoma"/>
                <a:cs typeface="Tahoma"/>
              </a:rPr>
              <a:t>Functional</a:t>
            </a:r>
            <a:r>
              <a:rPr sz="3600" b="1" spc="-95" dirty="0">
                <a:latin typeface="Tahoma"/>
                <a:cs typeface="Tahoma"/>
              </a:rPr>
              <a:t> </a:t>
            </a:r>
            <a:r>
              <a:rPr sz="3600" b="1" spc="-200" dirty="0">
                <a:latin typeface="Tahoma"/>
                <a:cs typeface="Tahoma"/>
              </a:rPr>
              <a:t>Testing</a:t>
            </a:r>
            <a:endParaRPr sz="3600">
              <a:latin typeface="Tahoma"/>
              <a:cs typeface="Tahoma"/>
            </a:endParaRPr>
          </a:p>
        </p:txBody>
      </p:sp>
      <p:sp>
        <p:nvSpPr>
          <p:cNvPr id="3" name="object 3"/>
          <p:cNvSpPr txBox="1"/>
          <p:nvPr/>
        </p:nvSpPr>
        <p:spPr>
          <a:xfrm>
            <a:off x="368300" y="528904"/>
            <a:ext cx="9173845" cy="7160259"/>
          </a:xfrm>
          <a:prstGeom prst="rect">
            <a:avLst/>
          </a:prstGeom>
        </p:spPr>
        <p:txBody>
          <a:bodyPr vert="horz" wrap="square" lIns="0" tIns="13335" rIns="0" bIns="0" rtlCol="0">
            <a:spAutoFit/>
          </a:bodyPr>
          <a:lstStyle/>
          <a:p>
            <a:pPr marL="352425" marR="8255" indent="-339725" algn="just">
              <a:lnSpc>
                <a:spcPct val="100000"/>
              </a:lnSpc>
              <a:spcBef>
                <a:spcPts val="105"/>
              </a:spcBef>
              <a:buClr>
                <a:srgbClr val="93C500"/>
              </a:buClr>
              <a:buSzPct val="75000"/>
              <a:buFont typeface="Arial MT"/>
              <a:buChar char="•"/>
              <a:tabLst>
                <a:tab pos="355600" algn="l"/>
              </a:tabLst>
            </a:pPr>
            <a:r>
              <a:rPr sz="2600" u="sng" spc="-40" dirty="0">
                <a:solidFill>
                  <a:srgbClr val="E68200"/>
                </a:solidFill>
                <a:uFill>
                  <a:solidFill>
                    <a:srgbClr val="E68200"/>
                  </a:solidFill>
                </a:uFill>
                <a:latin typeface="Verdana"/>
                <a:cs typeface="Verdana"/>
                <a:hlinkClick r:id="rId2"/>
              </a:rPr>
              <a:t>Functional</a:t>
            </a:r>
            <a:r>
              <a:rPr sz="2600" u="sng" spc="-190" dirty="0">
                <a:solidFill>
                  <a:srgbClr val="E68200"/>
                </a:solidFill>
                <a:uFill>
                  <a:solidFill>
                    <a:srgbClr val="E68200"/>
                  </a:solidFill>
                </a:uFill>
                <a:latin typeface="Verdana"/>
                <a:cs typeface="Verdana"/>
              </a:rPr>
              <a:t> </a:t>
            </a:r>
            <a:r>
              <a:rPr sz="2600" u="sng" spc="-155" dirty="0">
                <a:solidFill>
                  <a:srgbClr val="E68200"/>
                </a:solidFill>
                <a:uFill>
                  <a:solidFill>
                    <a:srgbClr val="E68200"/>
                  </a:solidFill>
                </a:uFill>
                <a:latin typeface="Verdana"/>
                <a:cs typeface="Verdana"/>
                <a:hlinkClick r:id="rId2"/>
              </a:rPr>
              <a:t>Testing</a:t>
            </a:r>
            <a:r>
              <a:rPr sz="2600" spc="-75" dirty="0">
                <a:solidFill>
                  <a:srgbClr val="E68200"/>
                </a:solidFill>
                <a:latin typeface="Verdana"/>
                <a:cs typeface="Verdana"/>
              </a:rPr>
              <a:t> </a:t>
            </a:r>
            <a:r>
              <a:rPr sz="2600" spc="-470" dirty="0">
                <a:solidFill>
                  <a:srgbClr val="3D3C2C"/>
                </a:solidFill>
                <a:latin typeface="Verdana"/>
                <a:cs typeface="Verdana"/>
              </a:rPr>
              <a:t>is</a:t>
            </a:r>
            <a:r>
              <a:rPr sz="2600" spc="245" dirty="0">
                <a:solidFill>
                  <a:srgbClr val="3D3C2C"/>
                </a:solidFill>
                <a:latin typeface="Verdana"/>
                <a:cs typeface="Verdana"/>
              </a:rPr>
              <a:t> </a:t>
            </a:r>
            <a:r>
              <a:rPr sz="2600" spc="200" dirty="0">
                <a:solidFill>
                  <a:srgbClr val="3D3C2C"/>
                </a:solidFill>
                <a:latin typeface="Verdana"/>
                <a:cs typeface="Verdana"/>
              </a:rPr>
              <a:t>a</a:t>
            </a:r>
            <a:r>
              <a:rPr sz="2600" spc="-229" dirty="0">
                <a:solidFill>
                  <a:srgbClr val="3D3C2C"/>
                </a:solidFill>
                <a:latin typeface="Verdana"/>
                <a:cs typeface="Verdana"/>
              </a:rPr>
              <a:t> </a:t>
            </a:r>
            <a:r>
              <a:rPr sz="2600" dirty="0">
                <a:solidFill>
                  <a:srgbClr val="3D3C2C"/>
                </a:solidFill>
                <a:latin typeface="Verdana"/>
                <a:cs typeface="Verdana"/>
              </a:rPr>
              <a:t>type</a:t>
            </a:r>
            <a:r>
              <a:rPr sz="2600" spc="-120" dirty="0">
                <a:solidFill>
                  <a:srgbClr val="3D3C2C"/>
                </a:solidFill>
                <a:latin typeface="Verdana"/>
                <a:cs typeface="Verdana"/>
              </a:rPr>
              <a:t> </a:t>
            </a:r>
            <a:r>
              <a:rPr sz="2600" dirty="0">
                <a:solidFill>
                  <a:srgbClr val="3D3C2C"/>
                </a:solidFill>
                <a:latin typeface="Verdana"/>
                <a:cs typeface="Verdana"/>
              </a:rPr>
              <a:t>of</a:t>
            </a:r>
            <a:r>
              <a:rPr sz="2600" spc="-70" dirty="0">
                <a:solidFill>
                  <a:srgbClr val="3D3C2C"/>
                </a:solidFill>
                <a:latin typeface="Verdana"/>
                <a:cs typeface="Verdana"/>
              </a:rPr>
              <a:t> </a:t>
            </a:r>
            <a:r>
              <a:rPr sz="2600" spc="-90" dirty="0">
                <a:solidFill>
                  <a:srgbClr val="3D3C2C"/>
                </a:solidFill>
                <a:latin typeface="Verdana"/>
                <a:cs typeface="Verdana"/>
              </a:rPr>
              <a:t>Software</a:t>
            </a:r>
            <a:r>
              <a:rPr sz="2600" spc="-75" dirty="0">
                <a:solidFill>
                  <a:srgbClr val="3D3C2C"/>
                </a:solidFill>
                <a:latin typeface="Verdana"/>
                <a:cs typeface="Verdana"/>
              </a:rPr>
              <a:t> </a:t>
            </a:r>
            <a:r>
              <a:rPr sz="2600" spc="-155" dirty="0">
                <a:solidFill>
                  <a:srgbClr val="3D3C2C"/>
                </a:solidFill>
                <a:latin typeface="Verdana"/>
                <a:cs typeface="Verdana"/>
              </a:rPr>
              <a:t>Testing</a:t>
            </a:r>
            <a:r>
              <a:rPr sz="2600" spc="-70" dirty="0">
                <a:solidFill>
                  <a:srgbClr val="3D3C2C"/>
                </a:solidFill>
                <a:latin typeface="Verdana"/>
                <a:cs typeface="Verdana"/>
              </a:rPr>
              <a:t> </a:t>
            </a:r>
            <a:r>
              <a:rPr sz="2600" spc="-195" dirty="0">
                <a:solidFill>
                  <a:srgbClr val="3D3C2C"/>
                </a:solidFill>
                <a:latin typeface="Verdana"/>
                <a:cs typeface="Verdana"/>
              </a:rPr>
              <a:t>in</a:t>
            </a:r>
            <a:r>
              <a:rPr sz="2600" spc="-35" dirty="0">
                <a:solidFill>
                  <a:srgbClr val="3D3C2C"/>
                </a:solidFill>
                <a:latin typeface="Verdana"/>
                <a:cs typeface="Verdana"/>
              </a:rPr>
              <a:t> </a:t>
            </a:r>
            <a:r>
              <a:rPr sz="2600" spc="-10" dirty="0">
                <a:solidFill>
                  <a:srgbClr val="3D3C2C"/>
                </a:solidFill>
                <a:latin typeface="Verdana"/>
                <a:cs typeface="Verdana"/>
              </a:rPr>
              <a:t>which 	</a:t>
            </a:r>
            <a:r>
              <a:rPr sz="2600" dirty="0">
                <a:solidFill>
                  <a:srgbClr val="3D3C2C"/>
                </a:solidFill>
                <a:latin typeface="Verdana"/>
                <a:cs typeface="Verdana"/>
              </a:rPr>
              <a:t>the</a:t>
            </a:r>
            <a:r>
              <a:rPr sz="2600" spc="165" dirty="0">
                <a:solidFill>
                  <a:srgbClr val="3D3C2C"/>
                </a:solidFill>
                <a:latin typeface="Verdana"/>
                <a:cs typeface="Verdana"/>
              </a:rPr>
              <a:t>   </a:t>
            </a:r>
            <a:r>
              <a:rPr sz="2600" dirty="0">
                <a:solidFill>
                  <a:srgbClr val="3D3C2C"/>
                </a:solidFill>
                <a:latin typeface="Verdana"/>
                <a:cs typeface="Verdana"/>
              </a:rPr>
              <a:t>system</a:t>
            </a:r>
            <a:r>
              <a:rPr sz="2600" spc="165" dirty="0">
                <a:solidFill>
                  <a:srgbClr val="3D3C2C"/>
                </a:solidFill>
                <a:latin typeface="Verdana"/>
                <a:cs typeface="Verdana"/>
              </a:rPr>
              <a:t>   </a:t>
            </a:r>
            <a:r>
              <a:rPr sz="2600" spc="-275" dirty="0">
                <a:solidFill>
                  <a:srgbClr val="3D3C2C"/>
                </a:solidFill>
                <a:latin typeface="Verdana"/>
                <a:cs typeface="Verdana"/>
              </a:rPr>
              <a:t>is</a:t>
            </a:r>
            <a:r>
              <a:rPr sz="2600" spc="170" dirty="0">
                <a:solidFill>
                  <a:srgbClr val="3D3C2C"/>
                </a:solidFill>
                <a:latin typeface="Verdana"/>
                <a:cs typeface="Verdana"/>
              </a:rPr>
              <a:t>   </a:t>
            </a:r>
            <a:r>
              <a:rPr sz="2600" dirty="0">
                <a:solidFill>
                  <a:srgbClr val="3D3C2C"/>
                </a:solidFill>
                <a:latin typeface="Verdana"/>
                <a:cs typeface="Verdana"/>
              </a:rPr>
              <a:t>tested</a:t>
            </a:r>
            <a:r>
              <a:rPr sz="2600" spc="160" dirty="0">
                <a:solidFill>
                  <a:srgbClr val="3D3C2C"/>
                </a:solidFill>
                <a:latin typeface="Verdana"/>
                <a:cs typeface="Verdana"/>
              </a:rPr>
              <a:t>   </a:t>
            </a:r>
            <a:r>
              <a:rPr sz="2600" dirty="0">
                <a:solidFill>
                  <a:srgbClr val="3D3C2C"/>
                </a:solidFill>
                <a:latin typeface="Verdana"/>
                <a:cs typeface="Verdana"/>
              </a:rPr>
              <a:t>against</a:t>
            </a:r>
            <a:r>
              <a:rPr sz="2600" spc="165" dirty="0">
                <a:solidFill>
                  <a:srgbClr val="3D3C2C"/>
                </a:solidFill>
                <a:latin typeface="Verdana"/>
                <a:cs typeface="Verdana"/>
              </a:rPr>
              <a:t>   </a:t>
            </a:r>
            <a:r>
              <a:rPr sz="2600" dirty="0">
                <a:solidFill>
                  <a:srgbClr val="3D3C2C"/>
                </a:solidFill>
                <a:latin typeface="Verdana"/>
                <a:cs typeface="Verdana"/>
              </a:rPr>
              <a:t>the</a:t>
            </a:r>
            <a:r>
              <a:rPr sz="2600" spc="165" dirty="0">
                <a:solidFill>
                  <a:srgbClr val="3D3C2C"/>
                </a:solidFill>
                <a:latin typeface="Verdana"/>
                <a:cs typeface="Verdana"/>
              </a:rPr>
              <a:t>   </a:t>
            </a:r>
            <a:r>
              <a:rPr sz="2600" spc="-10" dirty="0">
                <a:solidFill>
                  <a:srgbClr val="3D3C2C"/>
                </a:solidFill>
                <a:latin typeface="Verdana"/>
                <a:cs typeface="Verdana"/>
              </a:rPr>
              <a:t>functional 	</a:t>
            </a:r>
            <a:r>
              <a:rPr sz="2600" spc="-100" dirty="0">
                <a:solidFill>
                  <a:srgbClr val="3D3C2C"/>
                </a:solidFill>
                <a:latin typeface="Verdana"/>
                <a:cs typeface="Verdana"/>
              </a:rPr>
              <a:t>requirements</a:t>
            </a:r>
            <a:r>
              <a:rPr sz="2600" spc="-170" dirty="0">
                <a:solidFill>
                  <a:srgbClr val="3D3C2C"/>
                </a:solidFill>
                <a:latin typeface="Verdana"/>
                <a:cs typeface="Verdana"/>
              </a:rPr>
              <a:t> </a:t>
            </a:r>
            <a:r>
              <a:rPr sz="2600" spc="90" dirty="0">
                <a:solidFill>
                  <a:srgbClr val="3D3C2C"/>
                </a:solidFill>
                <a:latin typeface="Verdana"/>
                <a:cs typeface="Verdana"/>
              </a:rPr>
              <a:t>and</a:t>
            </a:r>
            <a:r>
              <a:rPr sz="2600" spc="-165" dirty="0">
                <a:solidFill>
                  <a:srgbClr val="3D3C2C"/>
                </a:solidFill>
                <a:latin typeface="Verdana"/>
                <a:cs typeface="Verdana"/>
              </a:rPr>
              <a:t> </a:t>
            </a:r>
            <a:r>
              <a:rPr sz="2600" spc="-10" dirty="0">
                <a:solidFill>
                  <a:srgbClr val="3D3C2C"/>
                </a:solidFill>
                <a:latin typeface="Verdana"/>
                <a:cs typeface="Verdana"/>
              </a:rPr>
              <a:t>specifications.</a:t>
            </a:r>
            <a:endParaRPr sz="2600">
              <a:latin typeface="Verdana"/>
              <a:cs typeface="Verdana"/>
            </a:endParaRPr>
          </a:p>
          <a:p>
            <a:pPr marL="352425" marR="8890" indent="-339725" algn="just">
              <a:lnSpc>
                <a:spcPct val="100000"/>
              </a:lnSpc>
              <a:spcBef>
                <a:spcPts val="625"/>
              </a:spcBef>
              <a:buClr>
                <a:srgbClr val="93C500"/>
              </a:buClr>
              <a:buSzPct val="75000"/>
              <a:buFont typeface="Arial MT"/>
              <a:buChar char="•"/>
              <a:tabLst>
                <a:tab pos="355600" algn="l"/>
              </a:tabLst>
            </a:pPr>
            <a:r>
              <a:rPr sz="2600" dirty="0">
                <a:solidFill>
                  <a:srgbClr val="3D3C2C"/>
                </a:solidFill>
                <a:latin typeface="Verdana"/>
                <a:cs typeface="Verdana"/>
              </a:rPr>
              <a:t>Functional</a:t>
            </a:r>
            <a:r>
              <a:rPr sz="2600" spc="275" dirty="0">
                <a:solidFill>
                  <a:srgbClr val="3D3C2C"/>
                </a:solidFill>
                <a:latin typeface="Verdana"/>
                <a:cs typeface="Verdana"/>
              </a:rPr>
              <a:t> </a:t>
            </a:r>
            <a:r>
              <a:rPr sz="2600" dirty="0">
                <a:solidFill>
                  <a:srgbClr val="3D3C2C"/>
                </a:solidFill>
                <a:latin typeface="Verdana"/>
                <a:cs typeface="Verdana"/>
              </a:rPr>
              <a:t>testing</a:t>
            </a:r>
            <a:r>
              <a:rPr sz="2600" spc="265" dirty="0">
                <a:solidFill>
                  <a:srgbClr val="3D3C2C"/>
                </a:solidFill>
                <a:latin typeface="Verdana"/>
                <a:cs typeface="Verdana"/>
              </a:rPr>
              <a:t> </a:t>
            </a:r>
            <a:r>
              <a:rPr sz="2600" dirty="0">
                <a:solidFill>
                  <a:srgbClr val="3D3C2C"/>
                </a:solidFill>
                <a:latin typeface="Verdana"/>
                <a:cs typeface="Verdana"/>
              </a:rPr>
              <a:t>ensures</a:t>
            </a:r>
            <a:r>
              <a:rPr sz="2600" spc="270" dirty="0">
                <a:solidFill>
                  <a:srgbClr val="3D3C2C"/>
                </a:solidFill>
                <a:latin typeface="Verdana"/>
                <a:cs typeface="Verdana"/>
              </a:rPr>
              <a:t> </a:t>
            </a:r>
            <a:r>
              <a:rPr sz="2600" dirty="0">
                <a:solidFill>
                  <a:srgbClr val="3D3C2C"/>
                </a:solidFill>
                <a:latin typeface="Verdana"/>
                <a:cs typeface="Verdana"/>
              </a:rPr>
              <a:t>that</a:t>
            </a:r>
            <a:r>
              <a:rPr sz="2600" spc="270" dirty="0">
                <a:solidFill>
                  <a:srgbClr val="3D3C2C"/>
                </a:solidFill>
                <a:latin typeface="Verdana"/>
                <a:cs typeface="Verdana"/>
              </a:rPr>
              <a:t> </a:t>
            </a:r>
            <a:r>
              <a:rPr sz="2600" dirty="0">
                <a:solidFill>
                  <a:srgbClr val="3D3C2C"/>
                </a:solidFill>
                <a:latin typeface="Verdana"/>
                <a:cs typeface="Verdana"/>
              </a:rPr>
              <a:t>the</a:t>
            </a:r>
            <a:r>
              <a:rPr sz="2600" spc="270" dirty="0">
                <a:solidFill>
                  <a:srgbClr val="3D3C2C"/>
                </a:solidFill>
                <a:latin typeface="Verdana"/>
                <a:cs typeface="Verdana"/>
              </a:rPr>
              <a:t> </a:t>
            </a:r>
            <a:r>
              <a:rPr sz="2600" spc="-10" dirty="0">
                <a:solidFill>
                  <a:srgbClr val="3D3C2C"/>
                </a:solidFill>
                <a:latin typeface="Verdana"/>
                <a:cs typeface="Verdana"/>
              </a:rPr>
              <a:t>requirements</a:t>
            </a:r>
            <a:r>
              <a:rPr sz="2600" spc="280" dirty="0">
                <a:solidFill>
                  <a:srgbClr val="3D3C2C"/>
                </a:solidFill>
                <a:latin typeface="Verdana"/>
                <a:cs typeface="Verdana"/>
              </a:rPr>
              <a:t> </a:t>
            </a:r>
            <a:r>
              <a:rPr sz="2600" spc="-25" dirty="0">
                <a:solidFill>
                  <a:srgbClr val="3D3C2C"/>
                </a:solidFill>
                <a:latin typeface="Verdana"/>
                <a:cs typeface="Verdana"/>
              </a:rPr>
              <a:t>or 	</a:t>
            </a:r>
            <a:r>
              <a:rPr sz="2600" spc="-30" dirty="0">
                <a:solidFill>
                  <a:srgbClr val="3D3C2C"/>
                </a:solidFill>
                <a:latin typeface="Verdana"/>
                <a:cs typeface="Verdana"/>
              </a:rPr>
              <a:t>specifications</a:t>
            </a:r>
            <a:r>
              <a:rPr sz="2600" spc="-140" dirty="0">
                <a:solidFill>
                  <a:srgbClr val="3D3C2C"/>
                </a:solidFill>
                <a:latin typeface="Verdana"/>
                <a:cs typeface="Verdana"/>
              </a:rPr>
              <a:t> </a:t>
            </a:r>
            <a:r>
              <a:rPr sz="2600" dirty="0">
                <a:solidFill>
                  <a:srgbClr val="3D3C2C"/>
                </a:solidFill>
                <a:latin typeface="Verdana"/>
                <a:cs typeface="Verdana"/>
              </a:rPr>
              <a:t>are</a:t>
            </a:r>
            <a:r>
              <a:rPr sz="2600" spc="-185" dirty="0">
                <a:solidFill>
                  <a:srgbClr val="3D3C2C"/>
                </a:solidFill>
                <a:latin typeface="Verdana"/>
                <a:cs typeface="Verdana"/>
              </a:rPr>
              <a:t> </a:t>
            </a:r>
            <a:r>
              <a:rPr sz="2600" spc="-55" dirty="0">
                <a:solidFill>
                  <a:srgbClr val="3D3C2C"/>
                </a:solidFill>
                <a:latin typeface="Verdana"/>
                <a:cs typeface="Verdana"/>
              </a:rPr>
              <a:t>properly</a:t>
            </a:r>
            <a:r>
              <a:rPr sz="2600" spc="-150" dirty="0">
                <a:solidFill>
                  <a:srgbClr val="3D3C2C"/>
                </a:solidFill>
                <a:latin typeface="Verdana"/>
                <a:cs typeface="Verdana"/>
              </a:rPr>
              <a:t> </a:t>
            </a:r>
            <a:r>
              <a:rPr sz="2600" spc="-100" dirty="0">
                <a:solidFill>
                  <a:srgbClr val="3D3C2C"/>
                </a:solidFill>
                <a:latin typeface="Verdana"/>
                <a:cs typeface="Verdana"/>
              </a:rPr>
              <a:t>satisfied</a:t>
            </a:r>
            <a:r>
              <a:rPr sz="2600" spc="-190" dirty="0">
                <a:solidFill>
                  <a:srgbClr val="3D3C2C"/>
                </a:solidFill>
                <a:latin typeface="Verdana"/>
                <a:cs typeface="Verdana"/>
              </a:rPr>
              <a:t> </a:t>
            </a:r>
            <a:r>
              <a:rPr sz="2600" dirty="0">
                <a:solidFill>
                  <a:srgbClr val="3D3C2C"/>
                </a:solidFill>
                <a:latin typeface="Verdana"/>
                <a:cs typeface="Verdana"/>
              </a:rPr>
              <a:t>by</a:t>
            </a:r>
            <a:r>
              <a:rPr sz="2600" spc="-170" dirty="0">
                <a:solidFill>
                  <a:srgbClr val="3D3C2C"/>
                </a:solidFill>
                <a:latin typeface="Verdana"/>
                <a:cs typeface="Verdana"/>
              </a:rPr>
              <a:t> </a:t>
            </a:r>
            <a:r>
              <a:rPr sz="2600" spc="-35" dirty="0">
                <a:solidFill>
                  <a:srgbClr val="3D3C2C"/>
                </a:solidFill>
                <a:latin typeface="Verdana"/>
                <a:cs typeface="Verdana"/>
              </a:rPr>
              <a:t>the</a:t>
            </a:r>
            <a:r>
              <a:rPr sz="2600" spc="-175" dirty="0">
                <a:solidFill>
                  <a:srgbClr val="3D3C2C"/>
                </a:solidFill>
                <a:latin typeface="Verdana"/>
                <a:cs typeface="Verdana"/>
              </a:rPr>
              <a:t> </a:t>
            </a:r>
            <a:r>
              <a:rPr sz="2600" spc="-10" dirty="0">
                <a:solidFill>
                  <a:srgbClr val="3D3C2C"/>
                </a:solidFill>
                <a:latin typeface="Verdana"/>
                <a:cs typeface="Verdana"/>
              </a:rPr>
              <a:t>application.</a:t>
            </a:r>
            <a:endParaRPr sz="2600">
              <a:latin typeface="Verdana"/>
              <a:cs typeface="Verdana"/>
            </a:endParaRPr>
          </a:p>
          <a:p>
            <a:pPr marL="352425" marR="6350" indent="-339725" algn="just">
              <a:lnSpc>
                <a:spcPct val="100000"/>
              </a:lnSpc>
              <a:spcBef>
                <a:spcPts val="625"/>
              </a:spcBef>
              <a:buClr>
                <a:srgbClr val="93C500"/>
              </a:buClr>
              <a:buSzPct val="75000"/>
              <a:buFont typeface="Arial MT"/>
              <a:buChar char="•"/>
              <a:tabLst>
                <a:tab pos="355600" algn="l"/>
              </a:tabLst>
            </a:pPr>
            <a:r>
              <a:rPr sz="2600" spc="-285" dirty="0">
                <a:solidFill>
                  <a:srgbClr val="3D3C2C"/>
                </a:solidFill>
                <a:latin typeface="Verdana"/>
                <a:cs typeface="Verdana"/>
              </a:rPr>
              <a:t>This</a:t>
            </a:r>
            <a:r>
              <a:rPr sz="2600" spc="55" dirty="0">
                <a:solidFill>
                  <a:srgbClr val="3D3C2C"/>
                </a:solidFill>
                <a:latin typeface="Verdana"/>
                <a:cs typeface="Verdana"/>
              </a:rPr>
              <a:t> </a:t>
            </a:r>
            <a:r>
              <a:rPr sz="2600" spc="-40" dirty="0">
                <a:solidFill>
                  <a:srgbClr val="3D3C2C"/>
                </a:solidFill>
                <a:latin typeface="Verdana"/>
                <a:cs typeface="Verdana"/>
              </a:rPr>
              <a:t>testing</a:t>
            </a:r>
            <a:r>
              <a:rPr sz="2600" spc="40" dirty="0">
                <a:solidFill>
                  <a:srgbClr val="3D3C2C"/>
                </a:solidFill>
                <a:latin typeface="Verdana"/>
                <a:cs typeface="Verdana"/>
              </a:rPr>
              <a:t> </a:t>
            </a:r>
            <a:r>
              <a:rPr sz="2600" spc="-275" dirty="0">
                <a:solidFill>
                  <a:srgbClr val="3D3C2C"/>
                </a:solidFill>
                <a:latin typeface="Verdana"/>
                <a:cs typeface="Verdana"/>
              </a:rPr>
              <a:t>is</a:t>
            </a:r>
            <a:r>
              <a:rPr sz="2600" spc="60" dirty="0">
                <a:solidFill>
                  <a:srgbClr val="3D3C2C"/>
                </a:solidFill>
                <a:latin typeface="Verdana"/>
                <a:cs typeface="Verdana"/>
              </a:rPr>
              <a:t> </a:t>
            </a:r>
            <a:r>
              <a:rPr sz="2600" dirty="0">
                <a:solidFill>
                  <a:srgbClr val="3D3C2C"/>
                </a:solidFill>
                <a:latin typeface="Verdana"/>
                <a:cs typeface="Verdana"/>
              </a:rPr>
              <a:t>not</a:t>
            </a:r>
            <a:r>
              <a:rPr sz="2600" spc="55" dirty="0">
                <a:solidFill>
                  <a:srgbClr val="3D3C2C"/>
                </a:solidFill>
                <a:latin typeface="Verdana"/>
                <a:cs typeface="Verdana"/>
              </a:rPr>
              <a:t> </a:t>
            </a:r>
            <a:r>
              <a:rPr sz="2600" spc="75" dirty="0">
                <a:solidFill>
                  <a:srgbClr val="3D3C2C"/>
                </a:solidFill>
                <a:latin typeface="Verdana"/>
                <a:cs typeface="Verdana"/>
              </a:rPr>
              <a:t>concerned</a:t>
            </a:r>
            <a:r>
              <a:rPr sz="2600" spc="55" dirty="0">
                <a:solidFill>
                  <a:srgbClr val="3D3C2C"/>
                </a:solidFill>
                <a:latin typeface="Verdana"/>
                <a:cs typeface="Verdana"/>
              </a:rPr>
              <a:t> </a:t>
            </a:r>
            <a:r>
              <a:rPr sz="2600" spc="-10" dirty="0">
                <a:solidFill>
                  <a:srgbClr val="3D3C2C"/>
                </a:solidFill>
                <a:latin typeface="Verdana"/>
                <a:cs typeface="Verdana"/>
              </a:rPr>
              <a:t>with</a:t>
            </a:r>
            <a:r>
              <a:rPr sz="2600" spc="40" dirty="0">
                <a:solidFill>
                  <a:srgbClr val="3D3C2C"/>
                </a:solidFill>
                <a:latin typeface="Verdana"/>
                <a:cs typeface="Verdana"/>
              </a:rPr>
              <a:t> </a:t>
            </a:r>
            <a:r>
              <a:rPr sz="2600" dirty="0">
                <a:solidFill>
                  <a:srgbClr val="3D3C2C"/>
                </a:solidFill>
                <a:latin typeface="Verdana"/>
                <a:cs typeface="Verdana"/>
              </a:rPr>
              <a:t>the</a:t>
            </a:r>
            <a:r>
              <a:rPr sz="2600" spc="50" dirty="0">
                <a:solidFill>
                  <a:srgbClr val="3D3C2C"/>
                </a:solidFill>
                <a:latin typeface="Verdana"/>
                <a:cs typeface="Verdana"/>
              </a:rPr>
              <a:t> </a:t>
            </a:r>
            <a:r>
              <a:rPr sz="2600" dirty="0">
                <a:solidFill>
                  <a:srgbClr val="3D3C2C"/>
                </a:solidFill>
                <a:latin typeface="Verdana"/>
                <a:cs typeface="Verdana"/>
              </a:rPr>
              <a:t>source</a:t>
            </a:r>
            <a:r>
              <a:rPr sz="2600" spc="50" dirty="0">
                <a:solidFill>
                  <a:srgbClr val="3D3C2C"/>
                </a:solidFill>
                <a:latin typeface="Verdana"/>
                <a:cs typeface="Verdana"/>
              </a:rPr>
              <a:t> </a:t>
            </a:r>
            <a:r>
              <a:rPr sz="2600" spc="180" dirty="0">
                <a:solidFill>
                  <a:srgbClr val="3D3C2C"/>
                </a:solidFill>
                <a:latin typeface="Verdana"/>
                <a:cs typeface="Verdana"/>
              </a:rPr>
              <a:t>code</a:t>
            </a:r>
            <a:r>
              <a:rPr sz="2600" spc="40" dirty="0">
                <a:solidFill>
                  <a:srgbClr val="3D3C2C"/>
                </a:solidFill>
                <a:latin typeface="Verdana"/>
                <a:cs typeface="Verdana"/>
              </a:rPr>
              <a:t> </a:t>
            </a:r>
            <a:r>
              <a:rPr sz="2600" spc="-25" dirty="0">
                <a:solidFill>
                  <a:srgbClr val="3D3C2C"/>
                </a:solidFill>
                <a:latin typeface="Verdana"/>
                <a:cs typeface="Verdana"/>
              </a:rPr>
              <a:t>of 	</a:t>
            </a:r>
            <a:r>
              <a:rPr sz="2600" spc="-30" dirty="0">
                <a:solidFill>
                  <a:srgbClr val="3D3C2C"/>
                </a:solidFill>
                <a:latin typeface="Verdana"/>
                <a:cs typeface="Verdana"/>
              </a:rPr>
              <a:t>the</a:t>
            </a:r>
            <a:r>
              <a:rPr sz="2600" spc="-200" dirty="0">
                <a:solidFill>
                  <a:srgbClr val="3D3C2C"/>
                </a:solidFill>
                <a:latin typeface="Verdana"/>
                <a:cs typeface="Verdana"/>
              </a:rPr>
              <a:t> </a:t>
            </a:r>
            <a:r>
              <a:rPr sz="2600" spc="-10" dirty="0">
                <a:solidFill>
                  <a:srgbClr val="3D3C2C"/>
                </a:solidFill>
                <a:latin typeface="Verdana"/>
                <a:cs typeface="Verdana"/>
              </a:rPr>
              <a:t>application.</a:t>
            </a:r>
            <a:endParaRPr sz="2600">
              <a:latin typeface="Verdana"/>
              <a:cs typeface="Verdana"/>
            </a:endParaRPr>
          </a:p>
          <a:p>
            <a:pPr marL="352425" marR="6350" indent="-339725" algn="just">
              <a:lnSpc>
                <a:spcPct val="100000"/>
              </a:lnSpc>
              <a:spcBef>
                <a:spcPts val="625"/>
              </a:spcBef>
              <a:buClr>
                <a:srgbClr val="93C500"/>
              </a:buClr>
              <a:buSzPct val="75000"/>
              <a:buFont typeface="Arial MT"/>
              <a:buChar char="•"/>
              <a:tabLst>
                <a:tab pos="355600" algn="l"/>
              </a:tabLst>
            </a:pPr>
            <a:r>
              <a:rPr sz="2600" dirty="0">
                <a:solidFill>
                  <a:srgbClr val="3D3C2C"/>
                </a:solidFill>
                <a:latin typeface="Verdana"/>
                <a:cs typeface="Verdana"/>
              </a:rPr>
              <a:t>Each</a:t>
            </a:r>
            <a:r>
              <a:rPr sz="2600" spc="-135" dirty="0">
                <a:solidFill>
                  <a:srgbClr val="3D3C2C"/>
                </a:solidFill>
                <a:latin typeface="Verdana"/>
                <a:cs typeface="Verdana"/>
              </a:rPr>
              <a:t> </a:t>
            </a:r>
            <a:r>
              <a:rPr sz="2600" spc="-55" dirty="0">
                <a:solidFill>
                  <a:srgbClr val="3D3C2C"/>
                </a:solidFill>
                <a:latin typeface="Verdana"/>
                <a:cs typeface="Verdana"/>
              </a:rPr>
              <a:t>functionality</a:t>
            </a:r>
            <a:r>
              <a:rPr sz="2600" spc="5" dirty="0">
                <a:solidFill>
                  <a:srgbClr val="3D3C2C"/>
                </a:solidFill>
                <a:latin typeface="Verdana"/>
                <a:cs typeface="Verdana"/>
              </a:rPr>
              <a:t> </a:t>
            </a:r>
            <a:r>
              <a:rPr sz="2600" dirty="0">
                <a:solidFill>
                  <a:srgbClr val="3D3C2C"/>
                </a:solidFill>
                <a:latin typeface="Verdana"/>
                <a:cs typeface="Verdana"/>
              </a:rPr>
              <a:t>of</a:t>
            </a:r>
            <a:r>
              <a:rPr sz="2600" spc="5" dirty="0">
                <a:solidFill>
                  <a:srgbClr val="3D3C2C"/>
                </a:solidFill>
                <a:latin typeface="Verdana"/>
                <a:cs typeface="Verdana"/>
              </a:rPr>
              <a:t> </a:t>
            </a:r>
            <a:r>
              <a:rPr sz="2600" dirty="0">
                <a:solidFill>
                  <a:srgbClr val="3D3C2C"/>
                </a:solidFill>
                <a:latin typeface="Verdana"/>
                <a:cs typeface="Verdana"/>
              </a:rPr>
              <a:t>the</a:t>
            </a:r>
            <a:r>
              <a:rPr sz="2600" spc="5" dirty="0">
                <a:solidFill>
                  <a:srgbClr val="3D3C2C"/>
                </a:solidFill>
                <a:latin typeface="Verdana"/>
                <a:cs typeface="Verdana"/>
              </a:rPr>
              <a:t> </a:t>
            </a:r>
            <a:r>
              <a:rPr sz="2600" spc="-45" dirty="0">
                <a:solidFill>
                  <a:srgbClr val="3D3C2C"/>
                </a:solidFill>
                <a:latin typeface="Verdana"/>
                <a:cs typeface="Verdana"/>
              </a:rPr>
              <a:t>software</a:t>
            </a:r>
            <a:r>
              <a:rPr sz="2600" dirty="0">
                <a:solidFill>
                  <a:srgbClr val="3D3C2C"/>
                </a:solidFill>
                <a:latin typeface="Verdana"/>
                <a:cs typeface="Verdana"/>
              </a:rPr>
              <a:t> application</a:t>
            </a:r>
            <a:r>
              <a:rPr sz="2600" spc="15" dirty="0">
                <a:solidFill>
                  <a:srgbClr val="3D3C2C"/>
                </a:solidFill>
                <a:latin typeface="Verdana"/>
                <a:cs typeface="Verdana"/>
              </a:rPr>
              <a:t> </a:t>
            </a:r>
            <a:r>
              <a:rPr sz="2600" spc="-390" dirty="0">
                <a:solidFill>
                  <a:srgbClr val="3D3C2C"/>
                </a:solidFill>
                <a:latin typeface="Verdana"/>
                <a:cs typeface="Verdana"/>
              </a:rPr>
              <a:t>is</a:t>
            </a:r>
            <a:r>
              <a:rPr sz="2600" spc="165" dirty="0">
                <a:solidFill>
                  <a:srgbClr val="3D3C2C"/>
                </a:solidFill>
                <a:latin typeface="Verdana"/>
                <a:cs typeface="Verdana"/>
              </a:rPr>
              <a:t> </a:t>
            </a:r>
            <a:r>
              <a:rPr sz="2600" spc="-10" dirty="0">
                <a:solidFill>
                  <a:srgbClr val="3D3C2C"/>
                </a:solidFill>
                <a:latin typeface="Verdana"/>
                <a:cs typeface="Verdana"/>
              </a:rPr>
              <a:t>tested 	</a:t>
            </a:r>
            <a:r>
              <a:rPr sz="2600" dirty="0">
                <a:solidFill>
                  <a:srgbClr val="3D3C2C"/>
                </a:solidFill>
                <a:latin typeface="Verdana"/>
                <a:cs typeface="Verdana"/>
              </a:rPr>
              <a:t>by</a:t>
            </a:r>
            <a:r>
              <a:rPr sz="2600" spc="605" dirty="0">
                <a:solidFill>
                  <a:srgbClr val="3D3C2C"/>
                </a:solidFill>
                <a:latin typeface="Verdana"/>
                <a:cs typeface="Verdana"/>
              </a:rPr>
              <a:t> </a:t>
            </a:r>
            <a:r>
              <a:rPr sz="2600" dirty="0">
                <a:solidFill>
                  <a:srgbClr val="3D3C2C"/>
                </a:solidFill>
                <a:latin typeface="Verdana"/>
                <a:cs typeface="Verdana"/>
              </a:rPr>
              <a:t>providing</a:t>
            </a:r>
            <a:r>
              <a:rPr sz="2600" spc="615" dirty="0">
                <a:solidFill>
                  <a:srgbClr val="3D3C2C"/>
                </a:solidFill>
                <a:latin typeface="Verdana"/>
                <a:cs typeface="Verdana"/>
              </a:rPr>
              <a:t> </a:t>
            </a:r>
            <a:r>
              <a:rPr sz="2600" dirty="0">
                <a:solidFill>
                  <a:srgbClr val="3D3C2C"/>
                </a:solidFill>
                <a:latin typeface="Verdana"/>
                <a:cs typeface="Verdana"/>
              </a:rPr>
              <a:t>appropriate</a:t>
            </a:r>
            <a:r>
              <a:rPr sz="2600" spc="615" dirty="0">
                <a:solidFill>
                  <a:srgbClr val="3D3C2C"/>
                </a:solidFill>
                <a:latin typeface="Verdana"/>
                <a:cs typeface="Verdana"/>
              </a:rPr>
              <a:t> </a:t>
            </a:r>
            <a:r>
              <a:rPr sz="2600" dirty="0">
                <a:solidFill>
                  <a:srgbClr val="3D3C2C"/>
                </a:solidFill>
                <a:latin typeface="Verdana"/>
                <a:cs typeface="Verdana"/>
              </a:rPr>
              <a:t>test</a:t>
            </a:r>
            <a:r>
              <a:rPr sz="2600" spc="620" dirty="0">
                <a:solidFill>
                  <a:srgbClr val="3D3C2C"/>
                </a:solidFill>
                <a:latin typeface="Verdana"/>
                <a:cs typeface="Verdana"/>
              </a:rPr>
              <a:t> </a:t>
            </a:r>
            <a:r>
              <a:rPr sz="2600" dirty="0">
                <a:solidFill>
                  <a:srgbClr val="3D3C2C"/>
                </a:solidFill>
                <a:latin typeface="Verdana"/>
                <a:cs typeface="Verdana"/>
              </a:rPr>
              <a:t>input,</a:t>
            </a:r>
            <a:r>
              <a:rPr sz="2600" spc="610" dirty="0">
                <a:solidFill>
                  <a:srgbClr val="3D3C2C"/>
                </a:solidFill>
                <a:latin typeface="Verdana"/>
                <a:cs typeface="Verdana"/>
              </a:rPr>
              <a:t> </a:t>
            </a:r>
            <a:r>
              <a:rPr sz="2600" dirty="0">
                <a:solidFill>
                  <a:srgbClr val="3D3C2C"/>
                </a:solidFill>
                <a:latin typeface="Verdana"/>
                <a:cs typeface="Verdana"/>
              </a:rPr>
              <a:t>expecting</a:t>
            </a:r>
            <a:r>
              <a:rPr sz="2600" spc="610" dirty="0">
                <a:solidFill>
                  <a:srgbClr val="3D3C2C"/>
                </a:solidFill>
                <a:latin typeface="Verdana"/>
                <a:cs typeface="Verdana"/>
              </a:rPr>
              <a:t> </a:t>
            </a:r>
            <a:r>
              <a:rPr sz="2600" spc="-25" dirty="0">
                <a:solidFill>
                  <a:srgbClr val="3D3C2C"/>
                </a:solidFill>
                <a:latin typeface="Verdana"/>
                <a:cs typeface="Verdana"/>
              </a:rPr>
              <a:t>the 	</a:t>
            </a:r>
            <a:r>
              <a:rPr sz="2600" dirty="0">
                <a:solidFill>
                  <a:srgbClr val="3D3C2C"/>
                </a:solidFill>
                <a:latin typeface="Verdana"/>
                <a:cs typeface="Verdana"/>
              </a:rPr>
              <a:t>output,</a:t>
            </a:r>
            <a:r>
              <a:rPr sz="2600" spc="545" dirty="0">
                <a:solidFill>
                  <a:srgbClr val="3D3C2C"/>
                </a:solidFill>
                <a:latin typeface="Verdana"/>
                <a:cs typeface="Verdana"/>
              </a:rPr>
              <a:t> </a:t>
            </a:r>
            <a:r>
              <a:rPr sz="2600" spc="90" dirty="0">
                <a:solidFill>
                  <a:srgbClr val="3D3C2C"/>
                </a:solidFill>
                <a:latin typeface="Verdana"/>
                <a:cs typeface="Verdana"/>
              </a:rPr>
              <a:t>and</a:t>
            </a:r>
            <a:r>
              <a:rPr sz="2600" spc="550" dirty="0">
                <a:solidFill>
                  <a:srgbClr val="3D3C2C"/>
                </a:solidFill>
                <a:latin typeface="Verdana"/>
                <a:cs typeface="Verdana"/>
              </a:rPr>
              <a:t> </a:t>
            </a:r>
            <a:r>
              <a:rPr sz="2600" dirty="0">
                <a:solidFill>
                  <a:srgbClr val="3D3C2C"/>
                </a:solidFill>
                <a:latin typeface="Verdana"/>
                <a:cs typeface="Verdana"/>
              </a:rPr>
              <a:t>comparing</a:t>
            </a:r>
            <a:r>
              <a:rPr sz="2600" spc="550" dirty="0">
                <a:solidFill>
                  <a:srgbClr val="3D3C2C"/>
                </a:solidFill>
                <a:latin typeface="Verdana"/>
                <a:cs typeface="Verdana"/>
              </a:rPr>
              <a:t> </a:t>
            </a:r>
            <a:r>
              <a:rPr sz="2600" dirty="0">
                <a:solidFill>
                  <a:srgbClr val="3D3C2C"/>
                </a:solidFill>
                <a:latin typeface="Verdana"/>
                <a:cs typeface="Verdana"/>
              </a:rPr>
              <a:t>the</a:t>
            </a:r>
            <a:r>
              <a:rPr sz="2600" spc="555" dirty="0">
                <a:solidFill>
                  <a:srgbClr val="3D3C2C"/>
                </a:solidFill>
                <a:latin typeface="Verdana"/>
                <a:cs typeface="Verdana"/>
              </a:rPr>
              <a:t> </a:t>
            </a:r>
            <a:r>
              <a:rPr sz="2600" dirty="0">
                <a:solidFill>
                  <a:srgbClr val="3D3C2C"/>
                </a:solidFill>
                <a:latin typeface="Verdana"/>
                <a:cs typeface="Verdana"/>
              </a:rPr>
              <a:t>actual</a:t>
            </a:r>
            <a:r>
              <a:rPr sz="2600" spc="545" dirty="0">
                <a:solidFill>
                  <a:srgbClr val="3D3C2C"/>
                </a:solidFill>
                <a:latin typeface="Verdana"/>
                <a:cs typeface="Verdana"/>
              </a:rPr>
              <a:t> </a:t>
            </a:r>
            <a:r>
              <a:rPr sz="2600" dirty="0">
                <a:solidFill>
                  <a:srgbClr val="3D3C2C"/>
                </a:solidFill>
                <a:latin typeface="Verdana"/>
                <a:cs typeface="Verdana"/>
              </a:rPr>
              <a:t>output</a:t>
            </a:r>
            <a:r>
              <a:rPr sz="2600" spc="540" dirty="0">
                <a:solidFill>
                  <a:srgbClr val="3D3C2C"/>
                </a:solidFill>
                <a:latin typeface="Verdana"/>
                <a:cs typeface="Verdana"/>
              </a:rPr>
              <a:t> </a:t>
            </a:r>
            <a:r>
              <a:rPr sz="2600" dirty="0">
                <a:solidFill>
                  <a:srgbClr val="3D3C2C"/>
                </a:solidFill>
                <a:latin typeface="Verdana"/>
                <a:cs typeface="Verdana"/>
              </a:rPr>
              <a:t>with</a:t>
            </a:r>
            <a:r>
              <a:rPr sz="2600" spc="540" dirty="0">
                <a:solidFill>
                  <a:srgbClr val="3D3C2C"/>
                </a:solidFill>
                <a:latin typeface="Verdana"/>
                <a:cs typeface="Verdana"/>
              </a:rPr>
              <a:t> </a:t>
            </a:r>
            <a:r>
              <a:rPr sz="2600" spc="-25" dirty="0">
                <a:solidFill>
                  <a:srgbClr val="3D3C2C"/>
                </a:solidFill>
                <a:latin typeface="Verdana"/>
                <a:cs typeface="Verdana"/>
              </a:rPr>
              <a:t>the 	</a:t>
            </a:r>
            <a:r>
              <a:rPr sz="2600" spc="70" dirty="0">
                <a:solidFill>
                  <a:srgbClr val="3D3C2C"/>
                </a:solidFill>
                <a:latin typeface="Verdana"/>
                <a:cs typeface="Verdana"/>
              </a:rPr>
              <a:t>expected</a:t>
            </a:r>
            <a:r>
              <a:rPr sz="2600" spc="-210" dirty="0">
                <a:solidFill>
                  <a:srgbClr val="3D3C2C"/>
                </a:solidFill>
                <a:latin typeface="Verdana"/>
                <a:cs typeface="Verdana"/>
              </a:rPr>
              <a:t> </a:t>
            </a:r>
            <a:r>
              <a:rPr sz="2600" spc="-10" dirty="0">
                <a:solidFill>
                  <a:srgbClr val="3D3C2C"/>
                </a:solidFill>
                <a:latin typeface="Verdana"/>
                <a:cs typeface="Verdana"/>
              </a:rPr>
              <a:t>output.</a:t>
            </a:r>
            <a:endParaRPr sz="2600">
              <a:latin typeface="Verdana"/>
              <a:cs typeface="Verdana"/>
            </a:endParaRPr>
          </a:p>
          <a:p>
            <a:pPr marL="352425" marR="5080" indent="-339725" algn="just">
              <a:lnSpc>
                <a:spcPct val="100000"/>
              </a:lnSpc>
              <a:spcBef>
                <a:spcPts val="630"/>
              </a:spcBef>
              <a:buClr>
                <a:srgbClr val="93C500"/>
              </a:buClr>
              <a:buSzPct val="75000"/>
              <a:buFont typeface="Arial MT"/>
              <a:buChar char="•"/>
              <a:tabLst>
                <a:tab pos="355600" algn="l"/>
              </a:tabLst>
            </a:pPr>
            <a:r>
              <a:rPr sz="2600" spc="-285" dirty="0">
                <a:solidFill>
                  <a:srgbClr val="3D3C2C"/>
                </a:solidFill>
                <a:latin typeface="Verdana"/>
                <a:cs typeface="Verdana"/>
              </a:rPr>
              <a:t>This</a:t>
            </a:r>
            <a:r>
              <a:rPr sz="2600" spc="425" dirty="0">
                <a:solidFill>
                  <a:srgbClr val="3D3C2C"/>
                </a:solidFill>
                <a:latin typeface="Verdana"/>
                <a:cs typeface="Verdana"/>
              </a:rPr>
              <a:t> </a:t>
            </a:r>
            <a:r>
              <a:rPr sz="2600" dirty="0">
                <a:solidFill>
                  <a:srgbClr val="3D3C2C"/>
                </a:solidFill>
                <a:latin typeface="Verdana"/>
                <a:cs typeface="Verdana"/>
              </a:rPr>
              <a:t>testing</a:t>
            </a:r>
            <a:r>
              <a:rPr sz="2600" spc="420" dirty="0">
                <a:solidFill>
                  <a:srgbClr val="3D3C2C"/>
                </a:solidFill>
                <a:latin typeface="Verdana"/>
                <a:cs typeface="Verdana"/>
              </a:rPr>
              <a:t> </a:t>
            </a:r>
            <a:r>
              <a:rPr sz="2600" dirty="0">
                <a:solidFill>
                  <a:srgbClr val="3D3C2C"/>
                </a:solidFill>
                <a:latin typeface="Verdana"/>
                <a:cs typeface="Verdana"/>
              </a:rPr>
              <a:t>focuses</a:t>
            </a:r>
            <a:r>
              <a:rPr sz="2600" spc="420" dirty="0">
                <a:solidFill>
                  <a:srgbClr val="3D3C2C"/>
                </a:solidFill>
                <a:latin typeface="Verdana"/>
                <a:cs typeface="Verdana"/>
              </a:rPr>
              <a:t> </a:t>
            </a:r>
            <a:r>
              <a:rPr sz="2600" dirty="0">
                <a:solidFill>
                  <a:srgbClr val="3D3C2C"/>
                </a:solidFill>
                <a:latin typeface="Verdana"/>
                <a:cs typeface="Verdana"/>
              </a:rPr>
              <a:t>on</a:t>
            </a:r>
            <a:r>
              <a:rPr sz="2600" spc="430" dirty="0">
                <a:solidFill>
                  <a:srgbClr val="3D3C2C"/>
                </a:solidFill>
                <a:latin typeface="Verdana"/>
                <a:cs typeface="Verdana"/>
              </a:rPr>
              <a:t> </a:t>
            </a:r>
            <a:r>
              <a:rPr sz="2600" dirty="0">
                <a:solidFill>
                  <a:srgbClr val="3D3C2C"/>
                </a:solidFill>
                <a:latin typeface="Verdana"/>
                <a:cs typeface="Verdana"/>
              </a:rPr>
              <a:t>checking</a:t>
            </a:r>
            <a:r>
              <a:rPr sz="2600" spc="434" dirty="0">
                <a:solidFill>
                  <a:srgbClr val="3D3C2C"/>
                </a:solidFill>
                <a:latin typeface="Verdana"/>
                <a:cs typeface="Verdana"/>
              </a:rPr>
              <a:t> </a:t>
            </a:r>
            <a:r>
              <a:rPr sz="2600" dirty="0">
                <a:solidFill>
                  <a:srgbClr val="3D3C2C"/>
                </a:solidFill>
                <a:latin typeface="Verdana"/>
                <a:cs typeface="Verdana"/>
              </a:rPr>
              <a:t>the</a:t>
            </a:r>
            <a:r>
              <a:rPr sz="2600" spc="420" dirty="0">
                <a:solidFill>
                  <a:srgbClr val="3D3C2C"/>
                </a:solidFill>
                <a:latin typeface="Verdana"/>
                <a:cs typeface="Verdana"/>
              </a:rPr>
              <a:t> </a:t>
            </a:r>
            <a:r>
              <a:rPr sz="2600" dirty="0">
                <a:solidFill>
                  <a:srgbClr val="3D3C2C"/>
                </a:solidFill>
                <a:latin typeface="Verdana"/>
                <a:cs typeface="Verdana"/>
              </a:rPr>
              <a:t>user</a:t>
            </a:r>
            <a:r>
              <a:rPr sz="2600" spc="405" dirty="0">
                <a:solidFill>
                  <a:srgbClr val="3D3C2C"/>
                </a:solidFill>
                <a:latin typeface="Verdana"/>
                <a:cs typeface="Verdana"/>
              </a:rPr>
              <a:t> </a:t>
            </a:r>
            <a:r>
              <a:rPr sz="2600" spc="-10" dirty="0">
                <a:solidFill>
                  <a:srgbClr val="3D3C2C"/>
                </a:solidFill>
                <a:latin typeface="Verdana"/>
                <a:cs typeface="Verdana"/>
              </a:rPr>
              <a:t>interface, 	</a:t>
            </a:r>
            <a:r>
              <a:rPr sz="2600" spc="-90" dirty="0">
                <a:solidFill>
                  <a:srgbClr val="3D3C2C"/>
                </a:solidFill>
                <a:latin typeface="Verdana"/>
                <a:cs typeface="Verdana"/>
              </a:rPr>
              <a:t>APIs,</a:t>
            </a:r>
            <a:r>
              <a:rPr sz="2600" spc="120" dirty="0">
                <a:solidFill>
                  <a:srgbClr val="3D3C2C"/>
                </a:solidFill>
                <a:latin typeface="Verdana"/>
                <a:cs typeface="Verdana"/>
              </a:rPr>
              <a:t> </a:t>
            </a:r>
            <a:r>
              <a:rPr sz="2600" dirty="0">
                <a:solidFill>
                  <a:srgbClr val="3D3C2C"/>
                </a:solidFill>
                <a:latin typeface="Verdana"/>
                <a:cs typeface="Verdana"/>
              </a:rPr>
              <a:t>database,</a:t>
            </a:r>
            <a:r>
              <a:rPr sz="2600" spc="120" dirty="0">
                <a:solidFill>
                  <a:srgbClr val="3D3C2C"/>
                </a:solidFill>
                <a:latin typeface="Verdana"/>
                <a:cs typeface="Verdana"/>
              </a:rPr>
              <a:t> </a:t>
            </a:r>
            <a:r>
              <a:rPr sz="2600" spc="-50" dirty="0">
                <a:solidFill>
                  <a:srgbClr val="3D3C2C"/>
                </a:solidFill>
                <a:latin typeface="Verdana"/>
                <a:cs typeface="Verdana"/>
              </a:rPr>
              <a:t>security,</a:t>
            </a:r>
            <a:r>
              <a:rPr sz="2600" spc="125" dirty="0">
                <a:solidFill>
                  <a:srgbClr val="3D3C2C"/>
                </a:solidFill>
                <a:latin typeface="Verdana"/>
                <a:cs typeface="Verdana"/>
              </a:rPr>
              <a:t> </a:t>
            </a:r>
            <a:r>
              <a:rPr sz="2600" dirty="0">
                <a:solidFill>
                  <a:srgbClr val="3D3C2C"/>
                </a:solidFill>
                <a:latin typeface="Verdana"/>
                <a:cs typeface="Verdana"/>
              </a:rPr>
              <a:t>client</a:t>
            </a:r>
            <a:r>
              <a:rPr sz="2600" spc="120" dirty="0">
                <a:solidFill>
                  <a:srgbClr val="3D3C2C"/>
                </a:solidFill>
                <a:latin typeface="Verdana"/>
                <a:cs typeface="Verdana"/>
              </a:rPr>
              <a:t> </a:t>
            </a:r>
            <a:r>
              <a:rPr sz="2600" dirty="0">
                <a:solidFill>
                  <a:srgbClr val="3D3C2C"/>
                </a:solidFill>
                <a:latin typeface="Verdana"/>
                <a:cs typeface="Verdana"/>
              </a:rPr>
              <a:t>or</a:t>
            </a:r>
            <a:r>
              <a:rPr sz="2600" spc="130" dirty="0">
                <a:solidFill>
                  <a:srgbClr val="3D3C2C"/>
                </a:solidFill>
                <a:latin typeface="Verdana"/>
                <a:cs typeface="Verdana"/>
              </a:rPr>
              <a:t> </a:t>
            </a:r>
            <a:r>
              <a:rPr sz="2600" spc="-50" dirty="0">
                <a:solidFill>
                  <a:srgbClr val="3D3C2C"/>
                </a:solidFill>
                <a:latin typeface="Verdana"/>
                <a:cs typeface="Verdana"/>
              </a:rPr>
              <a:t>server</a:t>
            </a:r>
            <a:r>
              <a:rPr sz="2600" spc="125" dirty="0">
                <a:solidFill>
                  <a:srgbClr val="3D3C2C"/>
                </a:solidFill>
                <a:latin typeface="Verdana"/>
                <a:cs typeface="Verdana"/>
              </a:rPr>
              <a:t> </a:t>
            </a:r>
            <a:r>
              <a:rPr sz="2600" spc="-10" dirty="0">
                <a:solidFill>
                  <a:srgbClr val="3D3C2C"/>
                </a:solidFill>
                <a:latin typeface="Verdana"/>
                <a:cs typeface="Verdana"/>
              </a:rPr>
              <a:t>application, 	</a:t>
            </a:r>
            <a:r>
              <a:rPr sz="2600" spc="90" dirty="0">
                <a:solidFill>
                  <a:srgbClr val="3D3C2C"/>
                </a:solidFill>
                <a:latin typeface="Verdana"/>
                <a:cs typeface="Verdana"/>
              </a:rPr>
              <a:t>and</a:t>
            </a:r>
            <a:r>
              <a:rPr sz="2600" spc="215" dirty="0">
                <a:solidFill>
                  <a:srgbClr val="3D3C2C"/>
                </a:solidFill>
                <a:latin typeface="Verdana"/>
                <a:cs typeface="Verdana"/>
              </a:rPr>
              <a:t>  </a:t>
            </a:r>
            <a:r>
              <a:rPr sz="2600" dirty="0">
                <a:solidFill>
                  <a:srgbClr val="3D3C2C"/>
                </a:solidFill>
                <a:latin typeface="Verdana"/>
                <a:cs typeface="Verdana"/>
              </a:rPr>
              <a:t>functionality</a:t>
            </a:r>
            <a:r>
              <a:rPr sz="2600" spc="225" dirty="0">
                <a:solidFill>
                  <a:srgbClr val="3D3C2C"/>
                </a:solidFill>
                <a:latin typeface="Verdana"/>
                <a:cs typeface="Verdana"/>
              </a:rPr>
              <a:t>  </a:t>
            </a:r>
            <a:r>
              <a:rPr sz="2600" dirty="0">
                <a:solidFill>
                  <a:srgbClr val="3D3C2C"/>
                </a:solidFill>
                <a:latin typeface="Verdana"/>
                <a:cs typeface="Verdana"/>
              </a:rPr>
              <a:t>of</a:t>
            </a:r>
            <a:r>
              <a:rPr sz="2600" spc="220" dirty="0">
                <a:solidFill>
                  <a:srgbClr val="3D3C2C"/>
                </a:solidFill>
                <a:latin typeface="Verdana"/>
                <a:cs typeface="Verdana"/>
              </a:rPr>
              <a:t>  </a:t>
            </a:r>
            <a:r>
              <a:rPr sz="2600" dirty="0">
                <a:solidFill>
                  <a:srgbClr val="3D3C2C"/>
                </a:solidFill>
                <a:latin typeface="Verdana"/>
                <a:cs typeface="Verdana"/>
              </a:rPr>
              <a:t>the</a:t>
            </a:r>
            <a:r>
              <a:rPr sz="2600" spc="215" dirty="0">
                <a:solidFill>
                  <a:srgbClr val="3D3C2C"/>
                </a:solidFill>
                <a:latin typeface="Verdana"/>
                <a:cs typeface="Verdana"/>
              </a:rPr>
              <a:t>  </a:t>
            </a:r>
            <a:r>
              <a:rPr sz="2600" dirty="0">
                <a:solidFill>
                  <a:srgbClr val="3D3C2C"/>
                </a:solidFill>
                <a:latin typeface="Verdana"/>
                <a:cs typeface="Verdana"/>
              </a:rPr>
              <a:t>Application</a:t>
            </a:r>
            <a:r>
              <a:rPr sz="2600" spc="215" dirty="0">
                <a:solidFill>
                  <a:srgbClr val="3D3C2C"/>
                </a:solidFill>
                <a:latin typeface="Verdana"/>
                <a:cs typeface="Verdana"/>
              </a:rPr>
              <a:t>  </a:t>
            </a:r>
            <a:r>
              <a:rPr sz="2600" dirty="0">
                <a:solidFill>
                  <a:srgbClr val="3D3C2C"/>
                </a:solidFill>
                <a:latin typeface="Verdana"/>
                <a:cs typeface="Verdana"/>
              </a:rPr>
              <a:t>Under</a:t>
            </a:r>
            <a:r>
              <a:rPr sz="2600" spc="220" dirty="0">
                <a:solidFill>
                  <a:srgbClr val="3D3C2C"/>
                </a:solidFill>
                <a:latin typeface="Verdana"/>
                <a:cs typeface="Verdana"/>
              </a:rPr>
              <a:t>  </a:t>
            </a:r>
            <a:r>
              <a:rPr sz="2600" spc="-170" dirty="0">
                <a:solidFill>
                  <a:srgbClr val="3D3C2C"/>
                </a:solidFill>
                <a:latin typeface="Verdana"/>
                <a:cs typeface="Verdana"/>
              </a:rPr>
              <a:t>Test. 	</a:t>
            </a:r>
            <a:r>
              <a:rPr sz="2600" spc="-45" dirty="0">
                <a:solidFill>
                  <a:srgbClr val="3D3C2C"/>
                </a:solidFill>
                <a:latin typeface="Verdana"/>
                <a:cs typeface="Verdana"/>
              </a:rPr>
              <a:t>Functional</a:t>
            </a:r>
            <a:r>
              <a:rPr sz="2600" spc="-175" dirty="0">
                <a:solidFill>
                  <a:srgbClr val="3D3C2C"/>
                </a:solidFill>
                <a:latin typeface="Verdana"/>
                <a:cs typeface="Verdana"/>
              </a:rPr>
              <a:t> </a:t>
            </a:r>
            <a:r>
              <a:rPr sz="2600" spc="-95" dirty="0">
                <a:solidFill>
                  <a:srgbClr val="3D3C2C"/>
                </a:solidFill>
                <a:latin typeface="Verdana"/>
                <a:cs typeface="Verdana"/>
              </a:rPr>
              <a:t>testing</a:t>
            </a:r>
            <a:r>
              <a:rPr sz="2600" spc="-200" dirty="0">
                <a:solidFill>
                  <a:srgbClr val="3D3C2C"/>
                </a:solidFill>
                <a:latin typeface="Verdana"/>
                <a:cs typeface="Verdana"/>
              </a:rPr>
              <a:t> </a:t>
            </a:r>
            <a:r>
              <a:rPr sz="2600" spc="155" dirty="0">
                <a:solidFill>
                  <a:srgbClr val="3D3C2C"/>
                </a:solidFill>
                <a:latin typeface="Verdana"/>
                <a:cs typeface="Verdana"/>
              </a:rPr>
              <a:t>can</a:t>
            </a:r>
            <a:r>
              <a:rPr sz="2600" spc="-170" dirty="0">
                <a:solidFill>
                  <a:srgbClr val="3D3C2C"/>
                </a:solidFill>
                <a:latin typeface="Verdana"/>
                <a:cs typeface="Verdana"/>
              </a:rPr>
              <a:t> </a:t>
            </a:r>
            <a:r>
              <a:rPr sz="2600" spc="140" dirty="0">
                <a:solidFill>
                  <a:srgbClr val="3D3C2C"/>
                </a:solidFill>
                <a:latin typeface="Verdana"/>
                <a:cs typeface="Verdana"/>
              </a:rPr>
              <a:t>be</a:t>
            </a:r>
            <a:r>
              <a:rPr sz="2600" spc="-185" dirty="0">
                <a:solidFill>
                  <a:srgbClr val="3D3C2C"/>
                </a:solidFill>
                <a:latin typeface="Verdana"/>
                <a:cs typeface="Verdana"/>
              </a:rPr>
              <a:t> </a:t>
            </a:r>
            <a:r>
              <a:rPr sz="2600" spc="-10" dirty="0">
                <a:solidFill>
                  <a:srgbClr val="3D3C2C"/>
                </a:solidFill>
                <a:latin typeface="Verdana"/>
                <a:cs typeface="Verdana"/>
              </a:rPr>
              <a:t>manual</a:t>
            </a:r>
            <a:r>
              <a:rPr sz="2600" spc="-180" dirty="0">
                <a:solidFill>
                  <a:srgbClr val="3D3C2C"/>
                </a:solidFill>
                <a:latin typeface="Verdana"/>
                <a:cs typeface="Verdana"/>
              </a:rPr>
              <a:t> </a:t>
            </a:r>
            <a:r>
              <a:rPr sz="2600" spc="-110" dirty="0">
                <a:solidFill>
                  <a:srgbClr val="3D3C2C"/>
                </a:solidFill>
                <a:latin typeface="Verdana"/>
                <a:cs typeface="Verdana"/>
              </a:rPr>
              <a:t>or</a:t>
            </a:r>
            <a:r>
              <a:rPr sz="2600" spc="-175" dirty="0">
                <a:solidFill>
                  <a:srgbClr val="3D3C2C"/>
                </a:solidFill>
                <a:latin typeface="Verdana"/>
                <a:cs typeface="Verdana"/>
              </a:rPr>
              <a:t> </a:t>
            </a:r>
            <a:r>
              <a:rPr sz="2600" spc="-10" dirty="0">
                <a:solidFill>
                  <a:srgbClr val="3D3C2C"/>
                </a:solidFill>
                <a:latin typeface="Verdana"/>
                <a:cs typeface="Verdana"/>
              </a:rPr>
              <a:t>automated.</a:t>
            </a:r>
            <a:endParaRPr sz="2600">
              <a:latin typeface="Verdana"/>
              <a:cs typeface="Verdana"/>
            </a:endParaRPr>
          </a:p>
          <a:p>
            <a:pPr marL="352425" marR="7620" indent="-339725" algn="just">
              <a:lnSpc>
                <a:spcPct val="100000"/>
              </a:lnSpc>
              <a:spcBef>
                <a:spcPts val="625"/>
              </a:spcBef>
              <a:buClr>
                <a:srgbClr val="93C500"/>
              </a:buClr>
              <a:buSzPct val="75000"/>
              <a:buFont typeface="Arial MT"/>
              <a:buChar char="•"/>
              <a:tabLst>
                <a:tab pos="355600" algn="l"/>
              </a:tabLst>
            </a:pPr>
            <a:r>
              <a:rPr sz="2600" spc="-325" dirty="0">
                <a:solidFill>
                  <a:srgbClr val="3D3C2C"/>
                </a:solidFill>
                <a:latin typeface="Verdana"/>
                <a:cs typeface="Verdana"/>
              </a:rPr>
              <a:t>It</a:t>
            </a:r>
            <a:r>
              <a:rPr sz="2600" spc="420" dirty="0">
                <a:solidFill>
                  <a:srgbClr val="3D3C2C"/>
                </a:solidFill>
                <a:latin typeface="Verdana"/>
                <a:cs typeface="Verdana"/>
              </a:rPr>
              <a:t>  </a:t>
            </a:r>
            <a:r>
              <a:rPr sz="2600" dirty="0">
                <a:solidFill>
                  <a:srgbClr val="3D3C2C"/>
                </a:solidFill>
                <a:latin typeface="Verdana"/>
                <a:cs typeface="Verdana"/>
              </a:rPr>
              <a:t>determines</a:t>
            </a:r>
            <a:r>
              <a:rPr sz="2600" spc="430" dirty="0">
                <a:solidFill>
                  <a:srgbClr val="3D3C2C"/>
                </a:solidFill>
                <a:latin typeface="Verdana"/>
                <a:cs typeface="Verdana"/>
              </a:rPr>
              <a:t>  </a:t>
            </a:r>
            <a:r>
              <a:rPr sz="2600" dirty="0">
                <a:solidFill>
                  <a:srgbClr val="3D3C2C"/>
                </a:solidFill>
                <a:latin typeface="Verdana"/>
                <a:cs typeface="Verdana"/>
              </a:rPr>
              <a:t>the</a:t>
            </a:r>
            <a:r>
              <a:rPr sz="2600" spc="434" dirty="0">
                <a:solidFill>
                  <a:srgbClr val="3D3C2C"/>
                </a:solidFill>
                <a:latin typeface="Verdana"/>
                <a:cs typeface="Verdana"/>
              </a:rPr>
              <a:t>  </a:t>
            </a:r>
            <a:r>
              <a:rPr sz="2600" dirty="0">
                <a:solidFill>
                  <a:srgbClr val="3D3C2C"/>
                </a:solidFill>
                <a:latin typeface="Verdana"/>
                <a:cs typeface="Verdana"/>
              </a:rPr>
              <a:t>system’s</a:t>
            </a:r>
            <a:r>
              <a:rPr sz="2600" spc="430" dirty="0">
                <a:solidFill>
                  <a:srgbClr val="3D3C2C"/>
                </a:solidFill>
                <a:latin typeface="Verdana"/>
                <a:cs typeface="Verdana"/>
              </a:rPr>
              <a:t>  </a:t>
            </a:r>
            <a:r>
              <a:rPr sz="2600" dirty="0">
                <a:solidFill>
                  <a:srgbClr val="3D3C2C"/>
                </a:solidFill>
                <a:latin typeface="Verdana"/>
                <a:cs typeface="Verdana"/>
              </a:rPr>
              <a:t>software</a:t>
            </a:r>
            <a:r>
              <a:rPr sz="2600" spc="434" dirty="0">
                <a:solidFill>
                  <a:srgbClr val="3D3C2C"/>
                </a:solidFill>
                <a:latin typeface="Verdana"/>
                <a:cs typeface="Verdana"/>
              </a:rPr>
              <a:t>  </a:t>
            </a:r>
            <a:r>
              <a:rPr sz="2600" spc="-10" dirty="0">
                <a:solidFill>
                  <a:srgbClr val="3D3C2C"/>
                </a:solidFill>
                <a:latin typeface="Verdana"/>
                <a:cs typeface="Verdana"/>
              </a:rPr>
              <a:t>functional 	</a:t>
            </a:r>
            <a:r>
              <a:rPr sz="2600" spc="-30" dirty="0">
                <a:solidFill>
                  <a:srgbClr val="3D3C2C"/>
                </a:solidFill>
                <a:latin typeface="Verdana"/>
                <a:cs typeface="Verdana"/>
              </a:rPr>
              <a:t>requirements.</a:t>
            </a:r>
            <a:endParaRPr sz="2600">
              <a:latin typeface="Verdana"/>
              <a:cs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844" y="424434"/>
            <a:ext cx="3940175" cy="513715"/>
          </a:xfrm>
          <a:prstGeom prst="rect">
            <a:avLst/>
          </a:prstGeom>
        </p:spPr>
        <p:txBody>
          <a:bodyPr vert="horz" wrap="square" lIns="0" tIns="12700" rIns="0" bIns="0" rtlCol="0">
            <a:spAutoFit/>
          </a:bodyPr>
          <a:lstStyle/>
          <a:p>
            <a:pPr marL="12700">
              <a:lnSpc>
                <a:spcPct val="100000"/>
              </a:lnSpc>
              <a:spcBef>
                <a:spcPts val="100"/>
              </a:spcBef>
            </a:pPr>
            <a:r>
              <a:rPr sz="3200" b="1" spc="-140" dirty="0">
                <a:latin typeface="Tahoma"/>
                <a:cs typeface="Tahoma"/>
              </a:rPr>
              <a:t>2.Regression</a:t>
            </a:r>
            <a:r>
              <a:rPr sz="3200" b="1" spc="-30" dirty="0">
                <a:latin typeface="Tahoma"/>
                <a:cs typeface="Tahoma"/>
              </a:rPr>
              <a:t> </a:t>
            </a:r>
            <a:r>
              <a:rPr sz="3200" b="1" spc="-160" dirty="0">
                <a:latin typeface="Tahoma"/>
                <a:cs typeface="Tahoma"/>
              </a:rPr>
              <a:t>Testing</a:t>
            </a:r>
            <a:endParaRPr sz="3200">
              <a:latin typeface="Tahoma"/>
              <a:cs typeface="Tahoma"/>
            </a:endParaRPr>
          </a:p>
        </p:txBody>
      </p:sp>
      <p:sp>
        <p:nvSpPr>
          <p:cNvPr id="3" name="object 3"/>
          <p:cNvSpPr txBox="1"/>
          <p:nvPr/>
        </p:nvSpPr>
        <p:spPr>
          <a:xfrm>
            <a:off x="980643" y="903858"/>
            <a:ext cx="8402320" cy="1854835"/>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sz="2400" b="1" dirty="0">
                <a:latin typeface="Arial"/>
                <a:cs typeface="Arial"/>
              </a:rPr>
              <a:t>Regression</a:t>
            </a:r>
            <a:r>
              <a:rPr sz="2400" b="1" spc="60" dirty="0">
                <a:latin typeface="Arial"/>
                <a:cs typeface="Arial"/>
              </a:rPr>
              <a:t>  </a:t>
            </a:r>
            <a:r>
              <a:rPr sz="2400" b="1" dirty="0">
                <a:latin typeface="Arial"/>
                <a:cs typeface="Arial"/>
              </a:rPr>
              <a:t>Testing</a:t>
            </a:r>
            <a:r>
              <a:rPr sz="2400" b="1" spc="50" dirty="0">
                <a:latin typeface="Arial"/>
                <a:cs typeface="Arial"/>
              </a:rPr>
              <a:t>  </a:t>
            </a:r>
            <a:r>
              <a:rPr sz="2400" dirty="0">
                <a:latin typeface="Arial MT"/>
                <a:cs typeface="Arial MT"/>
              </a:rPr>
              <a:t>involves</a:t>
            </a:r>
            <a:r>
              <a:rPr sz="2400" spc="65" dirty="0">
                <a:latin typeface="Arial MT"/>
                <a:cs typeface="Arial MT"/>
              </a:rPr>
              <a:t>  </a:t>
            </a:r>
            <a:r>
              <a:rPr sz="2400" spc="-20" dirty="0">
                <a:latin typeface="Arial MT"/>
                <a:cs typeface="Arial MT"/>
              </a:rPr>
              <a:t>re-</a:t>
            </a:r>
            <a:r>
              <a:rPr sz="2400" dirty="0">
                <a:latin typeface="Arial MT"/>
                <a:cs typeface="Arial MT"/>
              </a:rPr>
              <a:t>executing</a:t>
            </a:r>
            <a:r>
              <a:rPr sz="2400" spc="60" dirty="0">
                <a:latin typeface="Arial MT"/>
                <a:cs typeface="Arial MT"/>
              </a:rPr>
              <a:t>  </a:t>
            </a:r>
            <a:r>
              <a:rPr sz="2400" dirty="0">
                <a:latin typeface="Arial MT"/>
                <a:cs typeface="Arial MT"/>
              </a:rPr>
              <a:t>a</a:t>
            </a:r>
            <a:r>
              <a:rPr sz="2400" spc="55" dirty="0">
                <a:latin typeface="Arial MT"/>
                <a:cs typeface="Arial MT"/>
              </a:rPr>
              <a:t>  </a:t>
            </a:r>
            <a:r>
              <a:rPr sz="2400" spc="-10" dirty="0">
                <a:latin typeface="Arial MT"/>
                <a:cs typeface="Arial MT"/>
              </a:rPr>
              <a:t>previously 	</a:t>
            </a:r>
            <a:r>
              <a:rPr sz="2400" dirty="0">
                <a:latin typeface="Arial MT"/>
                <a:cs typeface="Arial MT"/>
              </a:rPr>
              <a:t>created</a:t>
            </a:r>
            <a:r>
              <a:rPr sz="2400" spc="155" dirty="0">
                <a:latin typeface="Arial MT"/>
                <a:cs typeface="Arial MT"/>
              </a:rPr>
              <a:t>  </a:t>
            </a:r>
            <a:r>
              <a:rPr sz="2400" dirty="0">
                <a:latin typeface="Arial MT"/>
                <a:cs typeface="Arial MT"/>
              </a:rPr>
              <a:t>test</a:t>
            </a:r>
            <a:r>
              <a:rPr sz="2400" spc="160" dirty="0">
                <a:latin typeface="Arial MT"/>
                <a:cs typeface="Arial MT"/>
              </a:rPr>
              <a:t>  </a:t>
            </a:r>
            <a:r>
              <a:rPr sz="2400" dirty="0">
                <a:latin typeface="Arial MT"/>
                <a:cs typeface="Arial MT"/>
              </a:rPr>
              <a:t>suite</a:t>
            </a:r>
            <a:r>
              <a:rPr sz="2400" spc="155" dirty="0">
                <a:latin typeface="Arial MT"/>
                <a:cs typeface="Arial MT"/>
              </a:rPr>
              <a:t>  </a:t>
            </a:r>
            <a:r>
              <a:rPr sz="2400" dirty="0">
                <a:latin typeface="Arial MT"/>
                <a:cs typeface="Arial MT"/>
              </a:rPr>
              <a:t>to</a:t>
            </a:r>
            <a:r>
              <a:rPr sz="2400" spc="155" dirty="0">
                <a:latin typeface="Arial MT"/>
                <a:cs typeface="Arial MT"/>
              </a:rPr>
              <a:t>  </a:t>
            </a:r>
            <a:r>
              <a:rPr sz="2400" dirty="0">
                <a:latin typeface="Arial MT"/>
                <a:cs typeface="Arial MT"/>
              </a:rPr>
              <a:t>verify</a:t>
            </a:r>
            <a:r>
              <a:rPr sz="2400" spc="160" dirty="0">
                <a:latin typeface="Arial MT"/>
                <a:cs typeface="Arial MT"/>
              </a:rPr>
              <a:t>  </a:t>
            </a:r>
            <a:r>
              <a:rPr sz="2400" dirty="0">
                <a:latin typeface="Arial MT"/>
                <a:cs typeface="Arial MT"/>
              </a:rPr>
              <a:t>that</a:t>
            </a:r>
            <a:r>
              <a:rPr sz="2400" spc="160" dirty="0">
                <a:latin typeface="Arial MT"/>
                <a:cs typeface="Arial MT"/>
              </a:rPr>
              <a:t>  </a:t>
            </a:r>
            <a:r>
              <a:rPr sz="2400" dirty="0">
                <a:latin typeface="Arial MT"/>
                <a:cs typeface="Arial MT"/>
              </a:rPr>
              <a:t>recent</a:t>
            </a:r>
            <a:r>
              <a:rPr sz="2400" spc="160" dirty="0">
                <a:latin typeface="Arial MT"/>
                <a:cs typeface="Arial MT"/>
              </a:rPr>
              <a:t>  </a:t>
            </a:r>
            <a:r>
              <a:rPr sz="2400" dirty="0">
                <a:latin typeface="Arial MT"/>
                <a:cs typeface="Arial MT"/>
              </a:rPr>
              <a:t>code</a:t>
            </a:r>
            <a:r>
              <a:rPr sz="2400" spc="155" dirty="0">
                <a:latin typeface="Arial MT"/>
                <a:cs typeface="Arial MT"/>
              </a:rPr>
              <a:t>  </a:t>
            </a:r>
            <a:r>
              <a:rPr sz="2400" spc="-10" dirty="0">
                <a:latin typeface="Arial MT"/>
                <a:cs typeface="Arial MT"/>
              </a:rPr>
              <a:t>changes 	</a:t>
            </a:r>
            <a:r>
              <a:rPr sz="2400" dirty="0">
                <a:latin typeface="Arial MT"/>
                <a:cs typeface="Arial MT"/>
              </a:rPr>
              <a:t>haven't</a:t>
            </a:r>
            <a:r>
              <a:rPr sz="2400" spc="75" dirty="0">
                <a:latin typeface="Arial MT"/>
                <a:cs typeface="Arial MT"/>
              </a:rPr>
              <a:t> </a:t>
            </a:r>
            <a:r>
              <a:rPr sz="2400" dirty="0">
                <a:latin typeface="Arial MT"/>
                <a:cs typeface="Arial MT"/>
              </a:rPr>
              <a:t>caused</a:t>
            </a:r>
            <a:r>
              <a:rPr sz="2400" spc="80" dirty="0">
                <a:latin typeface="Arial MT"/>
                <a:cs typeface="Arial MT"/>
              </a:rPr>
              <a:t> </a:t>
            </a:r>
            <a:r>
              <a:rPr sz="2400" dirty="0">
                <a:latin typeface="Arial MT"/>
                <a:cs typeface="Arial MT"/>
              </a:rPr>
              <a:t>new</a:t>
            </a:r>
            <a:r>
              <a:rPr sz="2400" spc="90" dirty="0">
                <a:latin typeface="Arial MT"/>
                <a:cs typeface="Arial MT"/>
              </a:rPr>
              <a:t> </a:t>
            </a:r>
            <a:r>
              <a:rPr sz="2400" dirty="0">
                <a:latin typeface="Arial MT"/>
                <a:cs typeface="Arial MT"/>
              </a:rPr>
              <a:t>issues.</a:t>
            </a:r>
            <a:r>
              <a:rPr sz="2400" spc="90" dirty="0">
                <a:latin typeface="Arial MT"/>
                <a:cs typeface="Arial MT"/>
              </a:rPr>
              <a:t> </a:t>
            </a:r>
            <a:r>
              <a:rPr sz="2400" dirty="0">
                <a:latin typeface="Arial MT"/>
                <a:cs typeface="Arial MT"/>
              </a:rPr>
              <a:t>This</a:t>
            </a:r>
            <a:r>
              <a:rPr sz="2400" spc="90" dirty="0">
                <a:latin typeface="Arial MT"/>
                <a:cs typeface="Arial MT"/>
              </a:rPr>
              <a:t> </a:t>
            </a:r>
            <a:r>
              <a:rPr sz="2400" dirty="0">
                <a:latin typeface="Arial MT"/>
                <a:cs typeface="Arial MT"/>
              </a:rPr>
              <a:t>verifies</a:t>
            </a:r>
            <a:r>
              <a:rPr sz="2400" spc="75" dirty="0">
                <a:latin typeface="Arial MT"/>
                <a:cs typeface="Arial MT"/>
              </a:rPr>
              <a:t> </a:t>
            </a:r>
            <a:r>
              <a:rPr sz="2400" dirty="0">
                <a:latin typeface="Arial MT"/>
                <a:cs typeface="Arial MT"/>
              </a:rPr>
              <a:t>that</a:t>
            </a:r>
            <a:r>
              <a:rPr sz="2400" spc="90" dirty="0">
                <a:latin typeface="Arial MT"/>
                <a:cs typeface="Arial MT"/>
              </a:rPr>
              <a:t> </a:t>
            </a:r>
            <a:r>
              <a:rPr sz="2400" dirty="0">
                <a:latin typeface="Arial MT"/>
                <a:cs typeface="Arial MT"/>
              </a:rPr>
              <a:t>updates,</a:t>
            </a:r>
            <a:r>
              <a:rPr sz="2400" spc="90" dirty="0">
                <a:latin typeface="Arial MT"/>
                <a:cs typeface="Arial MT"/>
              </a:rPr>
              <a:t> </a:t>
            </a:r>
            <a:r>
              <a:rPr sz="2400" spc="-25" dirty="0">
                <a:latin typeface="Arial MT"/>
                <a:cs typeface="Arial MT"/>
              </a:rPr>
              <a:t>bug 	</a:t>
            </a:r>
            <a:r>
              <a:rPr sz="2400" dirty="0">
                <a:latin typeface="Arial MT"/>
                <a:cs typeface="Arial MT"/>
              </a:rPr>
              <a:t>fixes,</a:t>
            </a:r>
            <a:r>
              <a:rPr sz="2400" spc="-10" dirty="0">
                <a:latin typeface="Arial MT"/>
                <a:cs typeface="Arial MT"/>
              </a:rPr>
              <a:t> </a:t>
            </a:r>
            <a:r>
              <a:rPr sz="2400" dirty="0">
                <a:latin typeface="Arial MT"/>
                <a:cs typeface="Arial MT"/>
              </a:rPr>
              <a:t>or</a:t>
            </a:r>
            <a:r>
              <a:rPr sz="2400" spc="-5" dirty="0">
                <a:latin typeface="Arial MT"/>
                <a:cs typeface="Arial MT"/>
              </a:rPr>
              <a:t> </a:t>
            </a:r>
            <a:r>
              <a:rPr sz="2400" dirty="0">
                <a:latin typeface="Arial MT"/>
                <a:cs typeface="Arial MT"/>
              </a:rPr>
              <a:t>enhancements</a:t>
            </a:r>
            <a:r>
              <a:rPr sz="2400" spc="-5" dirty="0">
                <a:latin typeface="Arial MT"/>
                <a:cs typeface="Arial MT"/>
              </a:rPr>
              <a:t> </a:t>
            </a:r>
            <a:r>
              <a:rPr sz="2400" dirty="0">
                <a:latin typeface="Arial MT"/>
                <a:cs typeface="Arial MT"/>
              </a:rPr>
              <a:t>do</a:t>
            </a:r>
            <a:r>
              <a:rPr sz="2400" spc="-10" dirty="0">
                <a:latin typeface="Arial MT"/>
                <a:cs typeface="Arial MT"/>
              </a:rPr>
              <a:t> </a:t>
            </a:r>
            <a:r>
              <a:rPr sz="2400" dirty="0">
                <a:latin typeface="Arial MT"/>
                <a:cs typeface="Arial MT"/>
              </a:rPr>
              <a:t>not</a:t>
            </a:r>
            <a:r>
              <a:rPr sz="2400" spc="-20" dirty="0">
                <a:latin typeface="Arial MT"/>
                <a:cs typeface="Arial MT"/>
              </a:rPr>
              <a:t> </a:t>
            </a:r>
            <a:r>
              <a:rPr sz="2400" dirty="0">
                <a:latin typeface="Arial MT"/>
                <a:cs typeface="Arial MT"/>
              </a:rPr>
              <a:t>break</a:t>
            </a:r>
            <a:r>
              <a:rPr sz="2400" spc="-15" dirty="0">
                <a:latin typeface="Arial MT"/>
                <a:cs typeface="Arial MT"/>
              </a:rPr>
              <a:t> </a:t>
            </a:r>
            <a:r>
              <a:rPr sz="2400" dirty="0">
                <a:latin typeface="Arial MT"/>
                <a:cs typeface="Arial MT"/>
              </a:rPr>
              <a:t>the</a:t>
            </a:r>
            <a:r>
              <a:rPr sz="2400" spc="-20" dirty="0">
                <a:latin typeface="Arial MT"/>
                <a:cs typeface="Arial MT"/>
              </a:rPr>
              <a:t> </a:t>
            </a:r>
            <a:r>
              <a:rPr sz="2400" dirty="0">
                <a:latin typeface="Arial MT"/>
                <a:cs typeface="Arial MT"/>
              </a:rPr>
              <a:t>functionality of</a:t>
            </a:r>
            <a:r>
              <a:rPr sz="2400" spc="-30" dirty="0">
                <a:latin typeface="Arial MT"/>
                <a:cs typeface="Arial MT"/>
              </a:rPr>
              <a:t> </a:t>
            </a:r>
            <a:r>
              <a:rPr sz="2400" spc="-25" dirty="0">
                <a:latin typeface="Arial MT"/>
                <a:cs typeface="Arial MT"/>
              </a:rPr>
              <a:t>the 	</a:t>
            </a:r>
            <a:r>
              <a:rPr sz="2400" spc="-10" dirty="0">
                <a:latin typeface="Arial MT"/>
                <a:cs typeface="Arial MT"/>
              </a:rPr>
              <a:t>application.</a:t>
            </a:r>
            <a:endParaRPr sz="2400">
              <a:latin typeface="Arial MT"/>
              <a:cs typeface="Arial MT"/>
            </a:endParaRPr>
          </a:p>
        </p:txBody>
      </p:sp>
      <p:grpSp>
        <p:nvGrpSpPr>
          <p:cNvPr id="4" name="object 4"/>
          <p:cNvGrpSpPr/>
          <p:nvPr/>
        </p:nvGrpSpPr>
        <p:grpSpPr>
          <a:xfrm>
            <a:off x="2895600" y="2514600"/>
            <a:ext cx="6475095" cy="4648200"/>
            <a:chOff x="2895600" y="2514600"/>
            <a:chExt cx="6475095" cy="4648200"/>
          </a:xfrm>
        </p:grpSpPr>
        <p:pic>
          <p:nvPicPr>
            <p:cNvPr id="5" name="object 5"/>
            <p:cNvPicPr/>
            <p:nvPr/>
          </p:nvPicPr>
          <p:blipFill>
            <a:blip r:embed="rId2" cstate="print"/>
            <a:stretch>
              <a:fillRect/>
            </a:stretch>
          </p:blipFill>
          <p:spPr>
            <a:xfrm>
              <a:off x="8775953" y="6495288"/>
              <a:ext cx="594359" cy="561594"/>
            </a:xfrm>
            <a:prstGeom prst="rect">
              <a:avLst/>
            </a:prstGeom>
          </p:spPr>
        </p:pic>
        <p:pic>
          <p:nvPicPr>
            <p:cNvPr id="6" name="object 6"/>
            <p:cNvPicPr/>
            <p:nvPr/>
          </p:nvPicPr>
          <p:blipFill>
            <a:blip r:embed="rId3" cstate="print"/>
            <a:stretch>
              <a:fillRect/>
            </a:stretch>
          </p:blipFill>
          <p:spPr>
            <a:xfrm>
              <a:off x="2895600" y="2514600"/>
              <a:ext cx="5419725" cy="464820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844" y="790193"/>
            <a:ext cx="6957695" cy="574040"/>
          </a:xfrm>
          <a:prstGeom prst="rect">
            <a:avLst/>
          </a:prstGeom>
        </p:spPr>
        <p:txBody>
          <a:bodyPr vert="horz" wrap="square" lIns="0" tIns="12700" rIns="0" bIns="0" rtlCol="0">
            <a:spAutoFit/>
          </a:bodyPr>
          <a:lstStyle/>
          <a:p>
            <a:pPr marL="12700">
              <a:lnSpc>
                <a:spcPct val="100000"/>
              </a:lnSpc>
              <a:spcBef>
                <a:spcPts val="100"/>
              </a:spcBef>
            </a:pPr>
            <a:r>
              <a:rPr sz="3600" b="1" spc="-150" dirty="0">
                <a:latin typeface="Tahoma"/>
                <a:cs typeface="Tahoma"/>
              </a:rPr>
              <a:t>When</a:t>
            </a:r>
            <a:r>
              <a:rPr sz="3600" b="1" spc="-70" dirty="0">
                <a:latin typeface="Tahoma"/>
                <a:cs typeface="Tahoma"/>
              </a:rPr>
              <a:t> </a:t>
            </a:r>
            <a:r>
              <a:rPr sz="3600" b="1" spc="-170" dirty="0">
                <a:latin typeface="Tahoma"/>
                <a:cs typeface="Tahoma"/>
              </a:rPr>
              <a:t>to</a:t>
            </a:r>
            <a:r>
              <a:rPr sz="3600" b="1" spc="-70" dirty="0">
                <a:latin typeface="Tahoma"/>
                <a:cs typeface="Tahoma"/>
              </a:rPr>
              <a:t> </a:t>
            </a:r>
            <a:r>
              <a:rPr sz="3600" b="1" spc="85" dirty="0">
                <a:latin typeface="Tahoma"/>
                <a:cs typeface="Tahoma"/>
              </a:rPr>
              <a:t>do</a:t>
            </a:r>
            <a:r>
              <a:rPr sz="3600" b="1" spc="-55" dirty="0">
                <a:latin typeface="Tahoma"/>
                <a:cs typeface="Tahoma"/>
              </a:rPr>
              <a:t> </a:t>
            </a:r>
            <a:r>
              <a:rPr sz="3600" b="1" spc="-145" dirty="0">
                <a:latin typeface="Tahoma"/>
                <a:cs typeface="Tahoma"/>
              </a:rPr>
              <a:t>Regression</a:t>
            </a:r>
            <a:r>
              <a:rPr sz="3600" b="1" spc="-70" dirty="0">
                <a:latin typeface="Tahoma"/>
                <a:cs typeface="Tahoma"/>
              </a:rPr>
              <a:t> </a:t>
            </a:r>
            <a:r>
              <a:rPr sz="3600" b="1" spc="-150" dirty="0">
                <a:latin typeface="Tahoma"/>
                <a:cs typeface="Tahoma"/>
              </a:rPr>
              <a:t>Testing?</a:t>
            </a:r>
            <a:endParaRPr sz="3600">
              <a:latin typeface="Tahoma"/>
              <a:cs typeface="Tahoma"/>
            </a:endParaRPr>
          </a:p>
        </p:txBody>
      </p:sp>
      <p:sp>
        <p:nvSpPr>
          <p:cNvPr id="3" name="object 3"/>
          <p:cNvSpPr txBox="1"/>
          <p:nvPr/>
        </p:nvSpPr>
        <p:spPr>
          <a:xfrm>
            <a:off x="825500" y="1304366"/>
            <a:ext cx="8637905" cy="4904105"/>
          </a:xfrm>
          <a:prstGeom prst="rect">
            <a:avLst/>
          </a:prstGeom>
        </p:spPr>
        <p:txBody>
          <a:bodyPr vert="horz" wrap="square" lIns="0" tIns="13335" rIns="0" bIns="0" rtlCol="0">
            <a:spAutoFit/>
          </a:bodyPr>
          <a:lstStyle/>
          <a:p>
            <a:pPr marL="468630" marR="5080" indent="-456565" algn="just">
              <a:lnSpc>
                <a:spcPct val="100000"/>
              </a:lnSpc>
              <a:spcBef>
                <a:spcPts val="105"/>
              </a:spcBef>
              <a:buChar char="•"/>
              <a:tabLst>
                <a:tab pos="469900" algn="l"/>
              </a:tabLst>
            </a:pPr>
            <a:r>
              <a:rPr sz="3200" dirty="0">
                <a:solidFill>
                  <a:srgbClr val="FF0000"/>
                </a:solidFill>
                <a:latin typeface="Arial MT"/>
                <a:cs typeface="Arial MT"/>
              </a:rPr>
              <a:t>Regression</a:t>
            </a:r>
            <a:r>
              <a:rPr sz="3200" spc="-20" dirty="0">
                <a:solidFill>
                  <a:srgbClr val="FF0000"/>
                </a:solidFill>
                <a:latin typeface="Arial MT"/>
                <a:cs typeface="Arial MT"/>
              </a:rPr>
              <a:t>  </a:t>
            </a:r>
            <a:r>
              <a:rPr sz="3200" dirty="0">
                <a:solidFill>
                  <a:srgbClr val="FF0000"/>
                </a:solidFill>
                <a:latin typeface="Arial MT"/>
                <a:cs typeface="Arial MT"/>
              </a:rPr>
              <a:t>testing</a:t>
            </a:r>
            <a:r>
              <a:rPr sz="3200" spc="-25" dirty="0">
                <a:solidFill>
                  <a:srgbClr val="FF0000"/>
                </a:solidFill>
                <a:latin typeface="Arial MT"/>
                <a:cs typeface="Arial MT"/>
              </a:rPr>
              <a:t>  </a:t>
            </a:r>
            <a:r>
              <a:rPr sz="3200" dirty="0">
                <a:solidFill>
                  <a:srgbClr val="FF0000"/>
                </a:solidFill>
                <a:latin typeface="Arial MT"/>
                <a:cs typeface="Arial MT"/>
              </a:rPr>
              <a:t>is</a:t>
            </a:r>
            <a:r>
              <a:rPr sz="3200" spc="-20" dirty="0">
                <a:solidFill>
                  <a:srgbClr val="FF0000"/>
                </a:solidFill>
                <a:latin typeface="Arial MT"/>
                <a:cs typeface="Arial MT"/>
              </a:rPr>
              <a:t>  </a:t>
            </a:r>
            <a:r>
              <a:rPr sz="3200" dirty="0">
                <a:solidFill>
                  <a:srgbClr val="FF0000"/>
                </a:solidFill>
                <a:latin typeface="Arial MT"/>
                <a:cs typeface="Arial MT"/>
              </a:rPr>
              <a:t>necessary</a:t>
            </a:r>
            <a:r>
              <a:rPr sz="3200" spc="-10" dirty="0">
                <a:solidFill>
                  <a:srgbClr val="FF0000"/>
                </a:solidFill>
                <a:latin typeface="Arial MT"/>
                <a:cs typeface="Arial MT"/>
              </a:rPr>
              <a:t>  </a:t>
            </a:r>
            <a:r>
              <a:rPr sz="3200" dirty="0">
                <a:solidFill>
                  <a:srgbClr val="FF0000"/>
                </a:solidFill>
                <a:latin typeface="Arial MT"/>
                <a:cs typeface="Arial MT"/>
              </a:rPr>
              <a:t>in</a:t>
            </a:r>
            <a:r>
              <a:rPr sz="3200" spc="-20" dirty="0">
                <a:solidFill>
                  <a:srgbClr val="FF0000"/>
                </a:solidFill>
                <a:latin typeface="Arial MT"/>
                <a:cs typeface="Arial MT"/>
              </a:rPr>
              <a:t>  </a:t>
            </a:r>
            <a:r>
              <a:rPr sz="3200" spc="-10" dirty="0">
                <a:solidFill>
                  <a:srgbClr val="FF0000"/>
                </a:solidFill>
                <a:latin typeface="Arial MT"/>
                <a:cs typeface="Arial MT"/>
              </a:rPr>
              <a:t>several 	</a:t>
            </a:r>
            <a:r>
              <a:rPr sz="3200" dirty="0">
                <a:solidFill>
                  <a:srgbClr val="FF0000"/>
                </a:solidFill>
                <a:latin typeface="Arial MT"/>
                <a:cs typeface="Arial MT"/>
              </a:rPr>
              <a:t>scenarios</a:t>
            </a:r>
            <a:r>
              <a:rPr sz="3200" spc="-65" dirty="0">
                <a:solidFill>
                  <a:srgbClr val="FF0000"/>
                </a:solidFill>
                <a:latin typeface="Arial MT"/>
                <a:cs typeface="Arial MT"/>
              </a:rPr>
              <a:t> </a:t>
            </a:r>
            <a:r>
              <a:rPr sz="3200" dirty="0">
                <a:solidFill>
                  <a:srgbClr val="FF0000"/>
                </a:solidFill>
                <a:latin typeface="Arial MT"/>
                <a:cs typeface="Arial MT"/>
              </a:rPr>
              <a:t>to</a:t>
            </a:r>
            <a:r>
              <a:rPr sz="3200" spc="-50" dirty="0">
                <a:solidFill>
                  <a:srgbClr val="FF0000"/>
                </a:solidFill>
                <a:latin typeface="Arial MT"/>
                <a:cs typeface="Arial MT"/>
              </a:rPr>
              <a:t> </a:t>
            </a:r>
            <a:r>
              <a:rPr sz="3200" dirty="0">
                <a:solidFill>
                  <a:srgbClr val="FF0000"/>
                </a:solidFill>
                <a:latin typeface="Arial MT"/>
                <a:cs typeface="Arial MT"/>
              </a:rPr>
              <a:t>maintain</a:t>
            </a:r>
            <a:r>
              <a:rPr sz="3200" spc="-40" dirty="0">
                <a:solidFill>
                  <a:srgbClr val="FF0000"/>
                </a:solidFill>
                <a:latin typeface="Arial MT"/>
                <a:cs typeface="Arial MT"/>
              </a:rPr>
              <a:t> </a:t>
            </a:r>
            <a:r>
              <a:rPr sz="3200" dirty="0">
                <a:solidFill>
                  <a:srgbClr val="FF0000"/>
                </a:solidFill>
                <a:latin typeface="Arial MT"/>
                <a:cs typeface="Arial MT"/>
              </a:rPr>
              <a:t>software</a:t>
            </a:r>
            <a:r>
              <a:rPr sz="3200" spc="-65" dirty="0">
                <a:solidFill>
                  <a:srgbClr val="FF0000"/>
                </a:solidFill>
                <a:latin typeface="Arial MT"/>
                <a:cs typeface="Arial MT"/>
              </a:rPr>
              <a:t> </a:t>
            </a:r>
            <a:r>
              <a:rPr sz="3200" spc="-10" dirty="0">
                <a:solidFill>
                  <a:srgbClr val="FF0000"/>
                </a:solidFill>
                <a:latin typeface="Arial MT"/>
                <a:cs typeface="Arial MT"/>
              </a:rPr>
              <a:t>quality:</a:t>
            </a:r>
            <a:endParaRPr sz="3200">
              <a:latin typeface="Arial MT"/>
              <a:cs typeface="Arial MT"/>
            </a:endParaRPr>
          </a:p>
          <a:p>
            <a:pPr marL="525780" marR="5080" indent="-513715" algn="just">
              <a:lnSpc>
                <a:spcPct val="100000"/>
              </a:lnSpc>
              <a:buAutoNum type="arabicPeriod"/>
              <a:tabLst>
                <a:tab pos="527685" algn="l"/>
              </a:tabLst>
            </a:pPr>
            <a:r>
              <a:rPr sz="3200" dirty="0">
                <a:latin typeface="Arial MT"/>
                <a:cs typeface="Arial MT"/>
              </a:rPr>
              <a:t>When</a:t>
            </a:r>
            <a:r>
              <a:rPr sz="3200" spc="275" dirty="0">
                <a:latin typeface="Arial MT"/>
                <a:cs typeface="Arial MT"/>
              </a:rPr>
              <a:t>  </a:t>
            </a:r>
            <a:r>
              <a:rPr sz="3200" dirty="0">
                <a:latin typeface="Arial MT"/>
                <a:cs typeface="Arial MT"/>
              </a:rPr>
              <a:t>new</a:t>
            </a:r>
            <a:r>
              <a:rPr sz="3200" spc="295" dirty="0">
                <a:latin typeface="Arial MT"/>
                <a:cs typeface="Arial MT"/>
              </a:rPr>
              <a:t>  </a:t>
            </a:r>
            <a:r>
              <a:rPr sz="3200" dirty="0">
                <a:latin typeface="Arial MT"/>
                <a:cs typeface="Arial MT"/>
              </a:rPr>
              <a:t>functionality</a:t>
            </a:r>
            <a:r>
              <a:rPr sz="3200" spc="290" dirty="0">
                <a:latin typeface="Arial MT"/>
                <a:cs typeface="Arial MT"/>
              </a:rPr>
              <a:t>  </a:t>
            </a:r>
            <a:r>
              <a:rPr sz="3200" dirty="0">
                <a:latin typeface="Arial MT"/>
                <a:cs typeface="Arial MT"/>
              </a:rPr>
              <a:t>is</a:t>
            </a:r>
            <a:r>
              <a:rPr sz="3200" spc="290" dirty="0">
                <a:latin typeface="Arial MT"/>
                <a:cs typeface="Arial MT"/>
              </a:rPr>
              <a:t>  </a:t>
            </a:r>
            <a:r>
              <a:rPr sz="3200" dirty="0">
                <a:latin typeface="Arial MT"/>
                <a:cs typeface="Arial MT"/>
              </a:rPr>
              <a:t>added</a:t>
            </a:r>
            <a:r>
              <a:rPr sz="3200" spc="285" dirty="0">
                <a:latin typeface="Arial MT"/>
                <a:cs typeface="Arial MT"/>
              </a:rPr>
              <a:t>  </a:t>
            </a:r>
            <a:r>
              <a:rPr sz="3200" dirty="0">
                <a:latin typeface="Arial MT"/>
                <a:cs typeface="Arial MT"/>
              </a:rPr>
              <a:t>to</a:t>
            </a:r>
            <a:r>
              <a:rPr sz="3200" spc="285" dirty="0">
                <a:latin typeface="Arial MT"/>
                <a:cs typeface="Arial MT"/>
              </a:rPr>
              <a:t>  </a:t>
            </a:r>
            <a:r>
              <a:rPr sz="3200" spc="-25" dirty="0">
                <a:latin typeface="Arial MT"/>
                <a:cs typeface="Arial MT"/>
              </a:rPr>
              <a:t>the 	</a:t>
            </a:r>
            <a:r>
              <a:rPr sz="3200" dirty="0">
                <a:latin typeface="Arial MT"/>
                <a:cs typeface="Arial MT"/>
              </a:rPr>
              <a:t>system</a:t>
            </a:r>
            <a:r>
              <a:rPr sz="3200" spc="470" dirty="0">
                <a:latin typeface="Arial MT"/>
                <a:cs typeface="Arial MT"/>
              </a:rPr>
              <a:t> </a:t>
            </a:r>
            <a:r>
              <a:rPr sz="3200" dirty="0">
                <a:latin typeface="Arial MT"/>
                <a:cs typeface="Arial MT"/>
              </a:rPr>
              <a:t>and</a:t>
            </a:r>
            <a:r>
              <a:rPr sz="3200" spc="490" dirty="0">
                <a:latin typeface="Arial MT"/>
                <a:cs typeface="Arial MT"/>
              </a:rPr>
              <a:t> </a:t>
            </a:r>
            <a:r>
              <a:rPr sz="3200" dirty="0">
                <a:latin typeface="Arial MT"/>
                <a:cs typeface="Arial MT"/>
              </a:rPr>
              <a:t>the</a:t>
            </a:r>
            <a:r>
              <a:rPr sz="3200" spc="490" dirty="0">
                <a:latin typeface="Arial MT"/>
                <a:cs typeface="Arial MT"/>
              </a:rPr>
              <a:t> </a:t>
            </a:r>
            <a:r>
              <a:rPr sz="3200" dirty="0">
                <a:latin typeface="Arial MT"/>
                <a:cs typeface="Arial MT"/>
              </a:rPr>
              <a:t>code</a:t>
            </a:r>
            <a:r>
              <a:rPr sz="3200" spc="480" dirty="0">
                <a:latin typeface="Arial MT"/>
                <a:cs typeface="Arial MT"/>
              </a:rPr>
              <a:t> </a:t>
            </a:r>
            <a:r>
              <a:rPr sz="3200" dirty="0">
                <a:latin typeface="Arial MT"/>
                <a:cs typeface="Arial MT"/>
              </a:rPr>
              <a:t>has</a:t>
            </a:r>
            <a:r>
              <a:rPr sz="3200" spc="495" dirty="0">
                <a:latin typeface="Arial MT"/>
                <a:cs typeface="Arial MT"/>
              </a:rPr>
              <a:t> </a:t>
            </a:r>
            <a:r>
              <a:rPr sz="3200" dirty="0">
                <a:latin typeface="Arial MT"/>
                <a:cs typeface="Arial MT"/>
              </a:rPr>
              <a:t>been</a:t>
            </a:r>
            <a:r>
              <a:rPr sz="3200" spc="475" dirty="0">
                <a:latin typeface="Arial MT"/>
                <a:cs typeface="Arial MT"/>
              </a:rPr>
              <a:t> </a:t>
            </a:r>
            <a:r>
              <a:rPr sz="3200" dirty="0">
                <a:latin typeface="Arial MT"/>
                <a:cs typeface="Arial MT"/>
              </a:rPr>
              <a:t>modified</a:t>
            </a:r>
            <a:r>
              <a:rPr sz="3200" spc="495" dirty="0">
                <a:latin typeface="Arial MT"/>
                <a:cs typeface="Arial MT"/>
              </a:rPr>
              <a:t> </a:t>
            </a:r>
            <a:r>
              <a:rPr sz="3200" spc="-25" dirty="0">
                <a:latin typeface="Arial MT"/>
                <a:cs typeface="Arial MT"/>
              </a:rPr>
              <a:t>to 	</a:t>
            </a:r>
            <a:r>
              <a:rPr sz="3200" dirty="0">
                <a:latin typeface="Arial MT"/>
                <a:cs typeface="Arial MT"/>
              </a:rPr>
              <a:t>absorb</a:t>
            </a:r>
            <a:r>
              <a:rPr sz="3200" spc="700" dirty="0">
                <a:latin typeface="Arial MT"/>
                <a:cs typeface="Arial MT"/>
              </a:rPr>
              <a:t> </a:t>
            </a:r>
            <a:r>
              <a:rPr sz="3200" dirty="0">
                <a:latin typeface="Arial MT"/>
                <a:cs typeface="Arial MT"/>
              </a:rPr>
              <a:t>and</a:t>
            </a:r>
            <a:r>
              <a:rPr sz="3200" spc="725" dirty="0">
                <a:latin typeface="Arial MT"/>
                <a:cs typeface="Arial MT"/>
              </a:rPr>
              <a:t> </a:t>
            </a:r>
            <a:r>
              <a:rPr sz="3200" dirty="0">
                <a:latin typeface="Arial MT"/>
                <a:cs typeface="Arial MT"/>
              </a:rPr>
              <a:t>integrate</a:t>
            </a:r>
            <a:r>
              <a:rPr sz="3200" spc="715" dirty="0">
                <a:latin typeface="Arial MT"/>
                <a:cs typeface="Arial MT"/>
              </a:rPr>
              <a:t> </a:t>
            </a:r>
            <a:r>
              <a:rPr sz="3200" dirty="0">
                <a:latin typeface="Arial MT"/>
                <a:cs typeface="Arial MT"/>
              </a:rPr>
              <a:t>that</a:t>
            </a:r>
            <a:r>
              <a:rPr sz="3200" spc="720" dirty="0">
                <a:latin typeface="Arial MT"/>
                <a:cs typeface="Arial MT"/>
              </a:rPr>
              <a:t> </a:t>
            </a:r>
            <a:r>
              <a:rPr sz="3200" dirty="0">
                <a:latin typeface="Arial MT"/>
                <a:cs typeface="Arial MT"/>
              </a:rPr>
              <a:t>functionality</a:t>
            </a:r>
            <a:r>
              <a:rPr sz="3200" spc="735" dirty="0">
                <a:latin typeface="Arial MT"/>
                <a:cs typeface="Arial MT"/>
              </a:rPr>
              <a:t> </a:t>
            </a:r>
            <a:r>
              <a:rPr sz="3200" spc="-20" dirty="0">
                <a:latin typeface="Arial MT"/>
                <a:cs typeface="Arial MT"/>
              </a:rPr>
              <a:t>with 	</a:t>
            </a:r>
            <a:r>
              <a:rPr sz="3200" dirty="0">
                <a:latin typeface="Arial MT"/>
                <a:cs typeface="Arial MT"/>
              </a:rPr>
              <a:t>the</a:t>
            </a:r>
            <a:r>
              <a:rPr sz="3200" spc="-40" dirty="0">
                <a:latin typeface="Arial MT"/>
                <a:cs typeface="Arial MT"/>
              </a:rPr>
              <a:t> </a:t>
            </a:r>
            <a:r>
              <a:rPr sz="3200" dirty="0">
                <a:latin typeface="Arial MT"/>
                <a:cs typeface="Arial MT"/>
              </a:rPr>
              <a:t>existing</a:t>
            </a:r>
            <a:r>
              <a:rPr sz="3200" spc="-45" dirty="0">
                <a:latin typeface="Arial MT"/>
                <a:cs typeface="Arial MT"/>
              </a:rPr>
              <a:t> </a:t>
            </a:r>
            <a:r>
              <a:rPr sz="3200" spc="-20" dirty="0">
                <a:latin typeface="Arial MT"/>
                <a:cs typeface="Arial MT"/>
              </a:rPr>
              <a:t>code.</a:t>
            </a:r>
            <a:endParaRPr sz="3200">
              <a:latin typeface="Arial MT"/>
              <a:cs typeface="Arial MT"/>
            </a:endParaRPr>
          </a:p>
          <a:p>
            <a:pPr marL="525780" marR="5080" indent="-513715" algn="just">
              <a:lnSpc>
                <a:spcPct val="100000"/>
              </a:lnSpc>
              <a:buAutoNum type="arabicPeriod"/>
              <a:tabLst>
                <a:tab pos="527685" algn="l"/>
              </a:tabLst>
            </a:pPr>
            <a:r>
              <a:rPr sz="3200" dirty="0">
                <a:latin typeface="Arial MT"/>
                <a:cs typeface="Arial MT"/>
              </a:rPr>
              <a:t>When</a:t>
            </a:r>
            <a:r>
              <a:rPr sz="3200" spc="45" dirty="0">
                <a:latin typeface="Arial MT"/>
                <a:cs typeface="Arial MT"/>
              </a:rPr>
              <a:t> </a:t>
            </a:r>
            <a:r>
              <a:rPr sz="3200" dirty="0">
                <a:latin typeface="Arial MT"/>
                <a:cs typeface="Arial MT"/>
              </a:rPr>
              <a:t>some</a:t>
            </a:r>
            <a:r>
              <a:rPr sz="3200" spc="60" dirty="0">
                <a:latin typeface="Arial MT"/>
                <a:cs typeface="Arial MT"/>
              </a:rPr>
              <a:t> </a:t>
            </a:r>
            <a:r>
              <a:rPr sz="3200" dirty="0">
                <a:latin typeface="Arial MT"/>
                <a:cs typeface="Arial MT"/>
              </a:rPr>
              <a:t>defect</a:t>
            </a:r>
            <a:r>
              <a:rPr sz="3200" spc="55" dirty="0">
                <a:latin typeface="Arial MT"/>
                <a:cs typeface="Arial MT"/>
              </a:rPr>
              <a:t> </a:t>
            </a:r>
            <a:r>
              <a:rPr sz="3200" dirty="0">
                <a:latin typeface="Arial MT"/>
                <a:cs typeface="Arial MT"/>
              </a:rPr>
              <a:t>has</a:t>
            </a:r>
            <a:r>
              <a:rPr sz="3200" spc="75" dirty="0">
                <a:latin typeface="Arial MT"/>
                <a:cs typeface="Arial MT"/>
              </a:rPr>
              <a:t> </a:t>
            </a:r>
            <a:r>
              <a:rPr sz="3200" dirty="0">
                <a:latin typeface="Arial MT"/>
                <a:cs typeface="Arial MT"/>
              </a:rPr>
              <a:t>been</a:t>
            </a:r>
            <a:r>
              <a:rPr sz="3200" spc="55" dirty="0">
                <a:latin typeface="Arial MT"/>
                <a:cs typeface="Arial MT"/>
              </a:rPr>
              <a:t> </a:t>
            </a:r>
            <a:r>
              <a:rPr sz="3200" dirty="0">
                <a:latin typeface="Arial MT"/>
                <a:cs typeface="Arial MT"/>
              </a:rPr>
              <a:t>identified</a:t>
            </a:r>
            <a:r>
              <a:rPr sz="3200" spc="70" dirty="0">
                <a:latin typeface="Arial MT"/>
                <a:cs typeface="Arial MT"/>
              </a:rPr>
              <a:t> </a:t>
            </a:r>
            <a:r>
              <a:rPr sz="3200" dirty="0">
                <a:latin typeface="Arial MT"/>
                <a:cs typeface="Arial MT"/>
              </a:rPr>
              <a:t>in</a:t>
            </a:r>
            <a:r>
              <a:rPr sz="3200" spc="60" dirty="0">
                <a:latin typeface="Arial MT"/>
                <a:cs typeface="Arial MT"/>
              </a:rPr>
              <a:t> </a:t>
            </a:r>
            <a:r>
              <a:rPr sz="3200" spc="-25" dirty="0">
                <a:latin typeface="Arial MT"/>
                <a:cs typeface="Arial MT"/>
              </a:rPr>
              <a:t>the 	</a:t>
            </a:r>
            <a:r>
              <a:rPr sz="3200" dirty="0">
                <a:latin typeface="Arial MT"/>
                <a:cs typeface="Arial MT"/>
              </a:rPr>
              <a:t>software</a:t>
            </a:r>
            <a:r>
              <a:rPr sz="3200" spc="-70" dirty="0">
                <a:latin typeface="Arial MT"/>
                <a:cs typeface="Arial MT"/>
              </a:rPr>
              <a:t> </a:t>
            </a:r>
            <a:r>
              <a:rPr sz="3200" dirty="0">
                <a:latin typeface="Arial MT"/>
                <a:cs typeface="Arial MT"/>
              </a:rPr>
              <a:t>and</a:t>
            </a:r>
            <a:r>
              <a:rPr sz="3200" spc="-25" dirty="0">
                <a:latin typeface="Arial MT"/>
                <a:cs typeface="Arial MT"/>
              </a:rPr>
              <a:t> </a:t>
            </a:r>
            <a:r>
              <a:rPr sz="3200" dirty="0">
                <a:latin typeface="Arial MT"/>
                <a:cs typeface="Arial MT"/>
              </a:rPr>
              <a:t>the</a:t>
            </a:r>
            <a:r>
              <a:rPr sz="3200" spc="-35" dirty="0">
                <a:latin typeface="Arial MT"/>
                <a:cs typeface="Arial MT"/>
              </a:rPr>
              <a:t> </a:t>
            </a:r>
            <a:r>
              <a:rPr sz="3200" dirty="0">
                <a:latin typeface="Arial MT"/>
                <a:cs typeface="Arial MT"/>
              </a:rPr>
              <a:t>code</a:t>
            </a:r>
            <a:r>
              <a:rPr sz="3200" spc="-45" dirty="0">
                <a:latin typeface="Arial MT"/>
                <a:cs typeface="Arial MT"/>
              </a:rPr>
              <a:t> </a:t>
            </a:r>
            <a:r>
              <a:rPr sz="3200" dirty="0">
                <a:latin typeface="Arial MT"/>
                <a:cs typeface="Arial MT"/>
              </a:rPr>
              <a:t>is</a:t>
            </a:r>
            <a:r>
              <a:rPr sz="3200" spc="-35" dirty="0">
                <a:latin typeface="Arial MT"/>
                <a:cs typeface="Arial MT"/>
              </a:rPr>
              <a:t> </a:t>
            </a:r>
            <a:r>
              <a:rPr sz="3200" dirty="0">
                <a:latin typeface="Arial MT"/>
                <a:cs typeface="Arial MT"/>
              </a:rPr>
              <a:t>debugged</a:t>
            </a:r>
            <a:r>
              <a:rPr sz="3200" spc="-30" dirty="0">
                <a:latin typeface="Arial MT"/>
                <a:cs typeface="Arial MT"/>
              </a:rPr>
              <a:t> </a:t>
            </a:r>
            <a:r>
              <a:rPr sz="3200" dirty="0">
                <a:latin typeface="Arial MT"/>
                <a:cs typeface="Arial MT"/>
              </a:rPr>
              <a:t>to</a:t>
            </a:r>
            <a:r>
              <a:rPr sz="3200" spc="-25" dirty="0">
                <a:latin typeface="Arial MT"/>
                <a:cs typeface="Arial MT"/>
              </a:rPr>
              <a:t> </a:t>
            </a:r>
            <a:r>
              <a:rPr sz="3200" dirty="0">
                <a:latin typeface="Arial MT"/>
                <a:cs typeface="Arial MT"/>
              </a:rPr>
              <a:t>fix</a:t>
            </a:r>
            <a:r>
              <a:rPr sz="3200" spc="-30" dirty="0">
                <a:latin typeface="Arial MT"/>
                <a:cs typeface="Arial MT"/>
              </a:rPr>
              <a:t> </a:t>
            </a:r>
            <a:r>
              <a:rPr sz="3200" spc="-25" dirty="0">
                <a:latin typeface="Arial MT"/>
                <a:cs typeface="Arial MT"/>
              </a:rPr>
              <a:t>it.</a:t>
            </a:r>
            <a:endParaRPr sz="3200">
              <a:latin typeface="Arial MT"/>
              <a:cs typeface="Arial MT"/>
            </a:endParaRPr>
          </a:p>
          <a:p>
            <a:pPr marL="525780" marR="7620" indent="-513715" algn="just">
              <a:lnSpc>
                <a:spcPct val="100000"/>
              </a:lnSpc>
              <a:spcBef>
                <a:spcPts val="5"/>
              </a:spcBef>
              <a:buAutoNum type="arabicPeriod"/>
              <a:tabLst>
                <a:tab pos="527685" algn="l"/>
              </a:tabLst>
            </a:pPr>
            <a:r>
              <a:rPr sz="3200" dirty="0">
                <a:latin typeface="Arial MT"/>
                <a:cs typeface="Arial MT"/>
              </a:rPr>
              <a:t>When</a:t>
            </a:r>
            <a:r>
              <a:rPr sz="3200" spc="755" dirty="0">
                <a:latin typeface="Arial MT"/>
                <a:cs typeface="Arial MT"/>
              </a:rPr>
              <a:t> </a:t>
            </a:r>
            <a:r>
              <a:rPr sz="3200" dirty="0">
                <a:latin typeface="Arial MT"/>
                <a:cs typeface="Arial MT"/>
              </a:rPr>
              <a:t>the</a:t>
            </a:r>
            <a:r>
              <a:rPr sz="3200" spc="760" dirty="0">
                <a:latin typeface="Arial MT"/>
                <a:cs typeface="Arial MT"/>
              </a:rPr>
              <a:t> </a:t>
            </a:r>
            <a:r>
              <a:rPr sz="3200" dirty="0">
                <a:latin typeface="Arial MT"/>
                <a:cs typeface="Arial MT"/>
              </a:rPr>
              <a:t>code</a:t>
            </a:r>
            <a:r>
              <a:rPr sz="3200" spc="750" dirty="0">
                <a:latin typeface="Arial MT"/>
                <a:cs typeface="Arial MT"/>
              </a:rPr>
              <a:t> </a:t>
            </a:r>
            <a:r>
              <a:rPr sz="3200" dirty="0">
                <a:latin typeface="Arial MT"/>
                <a:cs typeface="Arial MT"/>
              </a:rPr>
              <a:t>is</a:t>
            </a:r>
            <a:r>
              <a:rPr sz="3200" spc="780" dirty="0">
                <a:latin typeface="Arial MT"/>
                <a:cs typeface="Arial MT"/>
              </a:rPr>
              <a:t> </a:t>
            </a:r>
            <a:r>
              <a:rPr sz="3200" dirty="0">
                <a:latin typeface="Arial MT"/>
                <a:cs typeface="Arial MT"/>
              </a:rPr>
              <a:t>modified</a:t>
            </a:r>
            <a:r>
              <a:rPr sz="3200" spc="765" dirty="0">
                <a:latin typeface="Arial MT"/>
                <a:cs typeface="Arial MT"/>
              </a:rPr>
              <a:t> </a:t>
            </a:r>
            <a:r>
              <a:rPr sz="3200" dirty="0">
                <a:latin typeface="Arial MT"/>
                <a:cs typeface="Arial MT"/>
              </a:rPr>
              <a:t>to</a:t>
            </a:r>
            <a:r>
              <a:rPr sz="3200" spc="780" dirty="0">
                <a:latin typeface="Arial MT"/>
                <a:cs typeface="Arial MT"/>
              </a:rPr>
              <a:t> </a:t>
            </a:r>
            <a:r>
              <a:rPr sz="3200" dirty="0">
                <a:latin typeface="Arial MT"/>
                <a:cs typeface="Arial MT"/>
              </a:rPr>
              <a:t>optimize</a:t>
            </a:r>
            <a:r>
              <a:rPr sz="3200" spc="780" dirty="0">
                <a:latin typeface="Arial MT"/>
                <a:cs typeface="Arial MT"/>
              </a:rPr>
              <a:t> </a:t>
            </a:r>
            <a:r>
              <a:rPr sz="3200" spc="-25" dirty="0">
                <a:latin typeface="Arial MT"/>
                <a:cs typeface="Arial MT"/>
              </a:rPr>
              <a:t>its 	</a:t>
            </a:r>
            <a:r>
              <a:rPr sz="3200" spc="-10" dirty="0">
                <a:latin typeface="Arial MT"/>
                <a:cs typeface="Arial MT"/>
              </a:rPr>
              <a:t>working.</a:t>
            </a:r>
            <a:endParaRPr sz="320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608" y="160401"/>
            <a:ext cx="4448810" cy="406400"/>
          </a:xfrm>
          <a:prstGeom prst="rect">
            <a:avLst/>
          </a:prstGeom>
        </p:spPr>
        <p:txBody>
          <a:bodyPr vert="horz" wrap="square" lIns="0" tIns="12065" rIns="0" bIns="0" rtlCol="0">
            <a:spAutoFit/>
          </a:bodyPr>
          <a:lstStyle/>
          <a:p>
            <a:pPr marL="12700">
              <a:lnSpc>
                <a:spcPct val="100000"/>
              </a:lnSpc>
              <a:spcBef>
                <a:spcPts val="95"/>
              </a:spcBef>
            </a:pPr>
            <a:r>
              <a:rPr sz="2500" b="1" spc="-55" dirty="0">
                <a:latin typeface="Tahoma"/>
                <a:cs typeface="Tahoma"/>
              </a:rPr>
              <a:t>Process</a:t>
            </a:r>
            <a:r>
              <a:rPr sz="2500" b="1" spc="-95" dirty="0">
                <a:latin typeface="Tahoma"/>
                <a:cs typeface="Tahoma"/>
              </a:rPr>
              <a:t> </a:t>
            </a:r>
            <a:r>
              <a:rPr sz="2500" b="1" spc="-50" dirty="0">
                <a:latin typeface="Tahoma"/>
                <a:cs typeface="Tahoma"/>
              </a:rPr>
              <a:t>of</a:t>
            </a:r>
            <a:r>
              <a:rPr sz="2500" b="1" spc="-95" dirty="0">
                <a:latin typeface="Tahoma"/>
                <a:cs typeface="Tahoma"/>
              </a:rPr>
              <a:t> </a:t>
            </a:r>
            <a:r>
              <a:rPr sz="2500" b="1" spc="-100" dirty="0">
                <a:latin typeface="Tahoma"/>
                <a:cs typeface="Tahoma"/>
              </a:rPr>
              <a:t>Regression</a:t>
            </a:r>
            <a:r>
              <a:rPr sz="2500" b="1" spc="-85" dirty="0">
                <a:latin typeface="Tahoma"/>
                <a:cs typeface="Tahoma"/>
              </a:rPr>
              <a:t> </a:t>
            </a:r>
            <a:r>
              <a:rPr sz="2500" b="1" spc="-135" dirty="0">
                <a:latin typeface="Tahoma"/>
                <a:cs typeface="Tahoma"/>
              </a:rPr>
              <a:t>Testing</a:t>
            </a:r>
            <a:endParaRPr sz="2500">
              <a:latin typeface="Tahoma"/>
              <a:cs typeface="Tahoma"/>
            </a:endParaRPr>
          </a:p>
        </p:txBody>
      </p:sp>
      <p:sp>
        <p:nvSpPr>
          <p:cNvPr id="3" name="object 3"/>
          <p:cNvSpPr txBox="1"/>
          <p:nvPr/>
        </p:nvSpPr>
        <p:spPr>
          <a:xfrm>
            <a:off x="546608" y="539876"/>
            <a:ext cx="8670925" cy="406400"/>
          </a:xfrm>
          <a:prstGeom prst="rect">
            <a:avLst/>
          </a:prstGeom>
        </p:spPr>
        <p:txBody>
          <a:bodyPr vert="horz" wrap="square" lIns="0" tIns="12065" rIns="0" bIns="0" rtlCol="0">
            <a:spAutoFit/>
          </a:bodyPr>
          <a:lstStyle/>
          <a:p>
            <a:pPr marL="12700">
              <a:lnSpc>
                <a:spcPct val="100000"/>
              </a:lnSpc>
              <a:spcBef>
                <a:spcPts val="95"/>
              </a:spcBef>
            </a:pPr>
            <a:r>
              <a:rPr sz="2500" spc="-60" dirty="0">
                <a:solidFill>
                  <a:srgbClr val="93C500"/>
                </a:solidFill>
                <a:latin typeface="Verdana"/>
                <a:cs typeface="Verdana"/>
              </a:rPr>
              <a:t>Here</a:t>
            </a:r>
            <a:r>
              <a:rPr sz="2500" spc="-165" dirty="0">
                <a:solidFill>
                  <a:srgbClr val="93C500"/>
                </a:solidFill>
                <a:latin typeface="Verdana"/>
                <a:cs typeface="Verdana"/>
              </a:rPr>
              <a:t> </a:t>
            </a:r>
            <a:r>
              <a:rPr sz="2500" spc="-270" dirty="0">
                <a:solidFill>
                  <a:srgbClr val="93C500"/>
                </a:solidFill>
                <a:latin typeface="Verdana"/>
                <a:cs typeface="Verdana"/>
              </a:rPr>
              <a:t>is</a:t>
            </a:r>
            <a:r>
              <a:rPr sz="2500" spc="-160" dirty="0">
                <a:solidFill>
                  <a:srgbClr val="93C500"/>
                </a:solidFill>
                <a:latin typeface="Verdana"/>
                <a:cs typeface="Verdana"/>
              </a:rPr>
              <a:t> </a:t>
            </a:r>
            <a:r>
              <a:rPr sz="2500" spc="-35" dirty="0">
                <a:solidFill>
                  <a:srgbClr val="93C500"/>
                </a:solidFill>
                <a:latin typeface="Verdana"/>
                <a:cs typeface="Verdana"/>
              </a:rPr>
              <a:t>the</a:t>
            </a:r>
            <a:r>
              <a:rPr sz="2500" spc="-160" dirty="0">
                <a:solidFill>
                  <a:srgbClr val="93C500"/>
                </a:solidFill>
                <a:latin typeface="Verdana"/>
                <a:cs typeface="Verdana"/>
              </a:rPr>
              <a:t> </a:t>
            </a:r>
            <a:r>
              <a:rPr sz="2500" spc="-120" dirty="0">
                <a:solidFill>
                  <a:srgbClr val="93C500"/>
                </a:solidFill>
                <a:latin typeface="Verdana"/>
                <a:cs typeface="Verdana"/>
              </a:rPr>
              <a:t>step-</a:t>
            </a:r>
            <a:r>
              <a:rPr sz="2500" spc="-114" dirty="0">
                <a:solidFill>
                  <a:srgbClr val="93C500"/>
                </a:solidFill>
                <a:latin typeface="Verdana"/>
                <a:cs typeface="Verdana"/>
              </a:rPr>
              <a:t>by-</a:t>
            </a:r>
            <a:r>
              <a:rPr sz="2500" spc="-65" dirty="0">
                <a:solidFill>
                  <a:srgbClr val="93C500"/>
                </a:solidFill>
                <a:latin typeface="Verdana"/>
                <a:cs typeface="Verdana"/>
              </a:rPr>
              <a:t>step</a:t>
            </a:r>
            <a:r>
              <a:rPr sz="2500" spc="-165" dirty="0">
                <a:solidFill>
                  <a:srgbClr val="93C500"/>
                </a:solidFill>
                <a:latin typeface="Verdana"/>
                <a:cs typeface="Verdana"/>
              </a:rPr>
              <a:t> </a:t>
            </a:r>
            <a:r>
              <a:rPr sz="2500" spc="-50" dirty="0">
                <a:solidFill>
                  <a:srgbClr val="93C500"/>
                </a:solidFill>
                <a:latin typeface="Verdana"/>
                <a:cs typeface="Verdana"/>
              </a:rPr>
              <a:t>process</a:t>
            </a:r>
            <a:r>
              <a:rPr sz="2500" spc="-155" dirty="0">
                <a:solidFill>
                  <a:srgbClr val="93C500"/>
                </a:solidFill>
                <a:latin typeface="Verdana"/>
                <a:cs typeface="Verdana"/>
              </a:rPr>
              <a:t> </a:t>
            </a:r>
            <a:r>
              <a:rPr sz="2500" dirty="0">
                <a:solidFill>
                  <a:srgbClr val="93C500"/>
                </a:solidFill>
                <a:latin typeface="Verdana"/>
                <a:cs typeface="Verdana"/>
              </a:rPr>
              <a:t>of</a:t>
            </a:r>
            <a:r>
              <a:rPr sz="2500" spc="-160" dirty="0">
                <a:solidFill>
                  <a:srgbClr val="93C500"/>
                </a:solidFill>
                <a:latin typeface="Verdana"/>
                <a:cs typeface="Verdana"/>
              </a:rPr>
              <a:t> </a:t>
            </a:r>
            <a:r>
              <a:rPr sz="2500" spc="-35" dirty="0">
                <a:solidFill>
                  <a:srgbClr val="93C500"/>
                </a:solidFill>
                <a:latin typeface="Verdana"/>
                <a:cs typeface="Verdana"/>
              </a:rPr>
              <a:t>the</a:t>
            </a:r>
            <a:r>
              <a:rPr sz="2500" spc="-150" dirty="0">
                <a:solidFill>
                  <a:srgbClr val="93C500"/>
                </a:solidFill>
                <a:latin typeface="Verdana"/>
                <a:cs typeface="Verdana"/>
              </a:rPr>
              <a:t> </a:t>
            </a:r>
            <a:r>
              <a:rPr sz="2500" spc="-120" dirty="0">
                <a:solidFill>
                  <a:srgbClr val="93C500"/>
                </a:solidFill>
                <a:latin typeface="Verdana"/>
                <a:cs typeface="Verdana"/>
              </a:rPr>
              <a:t>regression</a:t>
            </a:r>
            <a:r>
              <a:rPr sz="2500" spc="-160" dirty="0">
                <a:solidFill>
                  <a:srgbClr val="93C500"/>
                </a:solidFill>
                <a:latin typeface="Verdana"/>
                <a:cs typeface="Verdana"/>
              </a:rPr>
              <a:t> </a:t>
            </a:r>
            <a:r>
              <a:rPr sz="2500" spc="-80" dirty="0">
                <a:solidFill>
                  <a:srgbClr val="93C500"/>
                </a:solidFill>
                <a:latin typeface="Verdana"/>
                <a:cs typeface="Verdana"/>
              </a:rPr>
              <a:t>testing:</a:t>
            </a:r>
            <a:endParaRPr sz="2500">
              <a:latin typeface="Verdana"/>
              <a:cs typeface="Verdana"/>
            </a:endParaRPr>
          </a:p>
        </p:txBody>
      </p:sp>
      <p:pic>
        <p:nvPicPr>
          <p:cNvPr id="4" name="object 4"/>
          <p:cNvPicPr/>
          <p:nvPr/>
        </p:nvPicPr>
        <p:blipFill>
          <a:blip r:embed="rId2" cstate="print"/>
          <a:stretch>
            <a:fillRect/>
          </a:stretch>
        </p:blipFill>
        <p:spPr>
          <a:xfrm>
            <a:off x="457200" y="1600200"/>
            <a:ext cx="9220200" cy="59975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900" y="74422"/>
            <a:ext cx="3927475" cy="452120"/>
          </a:xfrm>
          <a:prstGeom prst="rect">
            <a:avLst/>
          </a:prstGeom>
        </p:spPr>
        <p:txBody>
          <a:bodyPr vert="horz" wrap="square" lIns="0" tIns="12065" rIns="0" bIns="0" rtlCol="0">
            <a:spAutoFit/>
          </a:bodyPr>
          <a:lstStyle/>
          <a:p>
            <a:pPr marL="12700">
              <a:lnSpc>
                <a:spcPct val="100000"/>
              </a:lnSpc>
              <a:spcBef>
                <a:spcPts val="95"/>
              </a:spcBef>
            </a:pPr>
            <a:r>
              <a:rPr sz="2800" b="1" spc="-65" dirty="0">
                <a:latin typeface="Tahoma"/>
                <a:cs typeface="Tahoma"/>
              </a:rPr>
              <a:t>Non-</a:t>
            </a:r>
            <a:r>
              <a:rPr sz="2800" b="1" spc="-90" dirty="0">
                <a:latin typeface="Tahoma"/>
                <a:cs typeface="Tahoma"/>
              </a:rPr>
              <a:t>Functional</a:t>
            </a:r>
            <a:r>
              <a:rPr sz="2800" b="1" spc="-15" dirty="0">
                <a:latin typeface="Tahoma"/>
                <a:cs typeface="Tahoma"/>
              </a:rPr>
              <a:t> </a:t>
            </a:r>
            <a:r>
              <a:rPr sz="2800" b="1" spc="-130" dirty="0">
                <a:latin typeface="Tahoma"/>
                <a:cs typeface="Tahoma"/>
              </a:rPr>
              <a:t>Testing</a:t>
            </a:r>
            <a:endParaRPr sz="2800">
              <a:latin typeface="Tahoma"/>
              <a:cs typeface="Tahoma"/>
            </a:endParaRPr>
          </a:p>
        </p:txBody>
      </p:sp>
      <p:sp>
        <p:nvSpPr>
          <p:cNvPr id="3" name="object 3"/>
          <p:cNvSpPr txBox="1"/>
          <p:nvPr/>
        </p:nvSpPr>
        <p:spPr>
          <a:xfrm>
            <a:off x="520700" y="610869"/>
            <a:ext cx="9017000" cy="1854835"/>
          </a:xfrm>
          <a:prstGeom prst="rect">
            <a:avLst/>
          </a:prstGeom>
        </p:spPr>
        <p:txBody>
          <a:bodyPr vert="horz" wrap="square" lIns="0" tIns="12700" rIns="0" bIns="0" rtlCol="0">
            <a:spAutoFit/>
          </a:bodyPr>
          <a:lstStyle/>
          <a:p>
            <a:pPr marL="467359" marR="5080" indent="-454659" algn="just">
              <a:lnSpc>
                <a:spcPct val="100000"/>
              </a:lnSpc>
              <a:spcBef>
                <a:spcPts val="100"/>
              </a:spcBef>
              <a:buFont typeface="Arial MT"/>
              <a:buChar char="•"/>
              <a:tabLst>
                <a:tab pos="469900" algn="l"/>
              </a:tabLst>
            </a:pPr>
            <a:r>
              <a:rPr sz="2400" b="1" spc="-10" dirty="0">
                <a:latin typeface="Arial"/>
                <a:cs typeface="Arial"/>
              </a:rPr>
              <a:t>Non-</a:t>
            </a:r>
            <a:r>
              <a:rPr sz="2400" b="1" dirty="0">
                <a:latin typeface="Arial"/>
                <a:cs typeface="Arial"/>
              </a:rPr>
              <a:t>functional</a:t>
            </a:r>
            <a:r>
              <a:rPr sz="2400" b="1" spc="440" dirty="0">
                <a:latin typeface="Arial"/>
                <a:cs typeface="Arial"/>
              </a:rPr>
              <a:t> </a:t>
            </a:r>
            <a:r>
              <a:rPr sz="2400" b="1" dirty="0">
                <a:latin typeface="Arial"/>
                <a:cs typeface="Arial"/>
              </a:rPr>
              <a:t>Testing</a:t>
            </a:r>
            <a:r>
              <a:rPr sz="2400" b="1" spc="450" dirty="0">
                <a:latin typeface="Arial"/>
                <a:cs typeface="Arial"/>
              </a:rPr>
              <a:t> </a:t>
            </a:r>
            <a:r>
              <a:rPr sz="2400" dirty="0">
                <a:latin typeface="Arial MT"/>
                <a:cs typeface="Arial MT"/>
              </a:rPr>
              <a:t>is</a:t>
            </a:r>
            <a:r>
              <a:rPr sz="2400" spc="440" dirty="0">
                <a:latin typeface="Arial MT"/>
                <a:cs typeface="Arial MT"/>
              </a:rPr>
              <a:t> </a:t>
            </a:r>
            <a:r>
              <a:rPr sz="2400" dirty="0">
                <a:latin typeface="Arial MT"/>
                <a:cs typeface="Arial MT"/>
              </a:rPr>
              <a:t>a</a:t>
            </a:r>
            <a:r>
              <a:rPr sz="2400" spc="430" dirty="0">
                <a:latin typeface="Arial MT"/>
                <a:cs typeface="Arial MT"/>
              </a:rPr>
              <a:t> </a:t>
            </a:r>
            <a:r>
              <a:rPr sz="2400" dirty="0">
                <a:latin typeface="Arial MT"/>
                <a:cs typeface="Arial MT"/>
              </a:rPr>
              <a:t>type</a:t>
            </a:r>
            <a:r>
              <a:rPr sz="2400" spc="450" dirty="0">
                <a:latin typeface="Arial MT"/>
                <a:cs typeface="Arial MT"/>
              </a:rPr>
              <a:t> </a:t>
            </a:r>
            <a:r>
              <a:rPr sz="2400" dirty="0">
                <a:latin typeface="Arial MT"/>
                <a:cs typeface="Arial MT"/>
              </a:rPr>
              <a:t>of</a:t>
            </a:r>
            <a:r>
              <a:rPr sz="2400" spc="445" dirty="0">
                <a:latin typeface="Arial MT"/>
                <a:cs typeface="Arial MT"/>
              </a:rPr>
              <a:t> </a:t>
            </a:r>
            <a:r>
              <a:rPr sz="2400" dirty="0">
                <a:latin typeface="Arial MT"/>
                <a:cs typeface="Arial MT"/>
              </a:rPr>
              <a:t>software</a:t>
            </a:r>
            <a:r>
              <a:rPr sz="2400" spc="445" dirty="0">
                <a:latin typeface="Arial MT"/>
                <a:cs typeface="Arial MT"/>
              </a:rPr>
              <a:t> </a:t>
            </a:r>
            <a:r>
              <a:rPr sz="2400" dirty="0">
                <a:latin typeface="Arial MT"/>
                <a:cs typeface="Arial MT"/>
              </a:rPr>
              <a:t>testing</a:t>
            </a:r>
            <a:r>
              <a:rPr sz="2400" spc="450" dirty="0">
                <a:latin typeface="Arial MT"/>
                <a:cs typeface="Arial MT"/>
              </a:rPr>
              <a:t> </a:t>
            </a:r>
            <a:r>
              <a:rPr sz="2400" dirty="0">
                <a:latin typeface="Arial MT"/>
                <a:cs typeface="Arial MT"/>
              </a:rPr>
              <a:t>that</a:t>
            </a:r>
            <a:r>
              <a:rPr sz="2400" spc="445" dirty="0">
                <a:latin typeface="Arial MT"/>
                <a:cs typeface="Arial MT"/>
              </a:rPr>
              <a:t> </a:t>
            </a:r>
            <a:r>
              <a:rPr sz="2400" spc="-25" dirty="0">
                <a:latin typeface="Arial MT"/>
                <a:cs typeface="Arial MT"/>
              </a:rPr>
              <a:t>is 	</a:t>
            </a:r>
            <a:r>
              <a:rPr sz="2400" dirty="0">
                <a:latin typeface="Arial MT"/>
                <a:cs typeface="Arial MT"/>
              </a:rPr>
              <a:t>performed</a:t>
            </a:r>
            <a:r>
              <a:rPr sz="2400" spc="65" dirty="0">
                <a:latin typeface="Arial MT"/>
                <a:cs typeface="Arial MT"/>
              </a:rPr>
              <a:t>  </a:t>
            </a:r>
            <a:r>
              <a:rPr sz="2400" dirty="0">
                <a:latin typeface="Arial MT"/>
                <a:cs typeface="Arial MT"/>
              </a:rPr>
              <a:t>to</a:t>
            </a:r>
            <a:r>
              <a:rPr sz="2400" spc="60" dirty="0">
                <a:latin typeface="Arial MT"/>
                <a:cs typeface="Arial MT"/>
              </a:rPr>
              <a:t>  </a:t>
            </a:r>
            <a:r>
              <a:rPr sz="2400" dirty="0">
                <a:latin typeface="Arial MT"/>
                <a:cs typeface="Arial MT"/>
              </a:rPr>
              <a:t>verify</a:t>
            </a:r>
            <a:r>
              <a:rPr sz="2400" spc="70" dirty="0">
                <a:latin typeface="Arial MT"/>
                <a:cs typeface="Arial MT"/>
              </a:rPr>
              <a:t>  </a:t>
            </a:r>
            <a:r>
              <a:rPr sz="2400" dirty="0">
                <a:latin typeface="Arial MT"/>
                <a:cs typeface="Arial MT"/>
              </a:rPr>
              <a:t>the</a:t>
            </a:r>
            <a:r>
              <a:rPr sz="2400" spc="70" dirty="0">
                <a:latin typeface="Arial MT"/>
                <a:cs typeface="Arial MT"/>
              </a:rPr>
              <a:t>  </a:t>
            </a:r>
            <a:r>
              <a:rPr sz="2400" spc="-25" dirty="0">
                <a:latin typeface="Arial MT"/>
                <a:cs typeface="Arial MT"/>
              </a:rPr>
              <a:t>non-</a:t>
            </a:r>
            <a:r>
              <a:rPr sz="2400" dirty="0">
                <a:latin typeface="Arial MT"/>
                <a:cs typeface="Arial MT"/>
              </a:rPr>
              <a:t>functional</a:t>
            </a:r>
            <a:r>
              <a:rPr sz="2400" spc="70" dirty="0">
                <a:latin typeface="Arial MT"/>
                <a:cs typeface="Arial MT"/>
              </a:rPr>
              <a:t>  </a:t>
            </a:r>
            <a:r>
              <a:rPr sz="2400" dirty="0">
                <a:latin typeface="Arial MT"/>
                <a:cs typeface="Arial MT"/>
              </a:rPr>
              <a:t>requirements</a:t>
            </a:r>
            <a:r>
              <a:rPr sz="2400" spc="70" dirty="0">
                <a:latin typeface="Arial MT"/>
                <a:cs typeface="Arial MT"/>
              </a:rPr>
              <a:t>  </a:t>
            </a:r>
            <a:r>
              <a:rPr sz="2400" dirty="0">
                <a:latin typeface="Arial MT"/>
                <a:cs typeface="Arial MT"/>
              </a:rPr>
              <a:t>of</a:t>
            </a:r>
            <a:r>
              <a:rPr sz="2400" spc="60" dirty="0">
                <a:latin typeface="Arial MT"/>
                <a:cs typeface="Arial MT"/>
              </a:rPr>
              <a:t>  </a:t>
            </a:r>
            <a:r>
              <a:rPr sz="2400" spc="-25" dirty="0">
                <a:latin typeface="Arial MT"/>
                <a:cs typeface="Arial MT"/>
              </a:rPr>
              <a:t>the 	</a:t>
            </a:r>
            <a:r>
              <a:rPr sz="2400" dirty="0">
                <a:latin typeface="Arial MT"/>
                <a:cs typeface="Arial MT"/>
              </a:rPr>
              <a:t>application.</a:t>
            </a:r>
            <a:r>
              <a:rPr sz="2400" spc="70" dirty="0">
                <a:latin typeface="Arial MT"/>
                <a:cs typeface="Arial MT"/>
              </a:rPr>
              <a:t> </a:t>
            </a:r>
            <a:r>
              <a:rPr sz="2400" dirty="0">
                <a:latin typeface="Arial MT"/>
                <a:cs typeface="Arial MT"/>
              </a:rPr>
              <a:t>It</a:t>
            </a:r>
            <a:r>
              <a:rPr sz="2400" spc="55" dirty="0">
                <a:latin typeface="Arial MT"/>
                <a:cs typeface="Arial MT"/>
              </a:rPr>
              <a:t> </a:t>
            </a:r>
            <a:r>
              <a:rPr sz="2400" dirty="0">
                <a:latin typeface="Arial MT"/>
                <a:cs typeface="Arial MT"/>
              </a:rPr>
              <a:t>verifies</a:t>
            </a:r>
            <a:r>
              <a:rPr sz="2400" spc="55" dirty="0">
                <a:latin typeface="Arial MT"/>
                <a:cs typeface="Arial MT"/>
              </a:rPr>
              <a:t> </a:t>
            </a:r>
            <a:r>
              <a:rPr sz="2400" dirty="0">
                <a:latin typeface="Arial MT"/>
                <a:cs typeface="Arial MT"/>
              </a:rPr>
              <a:t>whether</a:t>
            </a:r>
            <a:r>
              <a:rPr sz="2400" spc="50"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behavior</a:t>
            </a:r>
            <a:r>
              <a:rPr sz="2400" spc="75"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system</a:t>
            </a:r>
            <a:r>
              <a:rPr sz="2400" spc="60" dirty="0">
                <a:latin typeface="Arial MT"/>
                <a:cs typeface="Arial MT"/>
              </a:rPr>
              <a:t> </a:t>
            </a:r>
            <a:r>
              <a:rPr sz="2400" dirty="0">
                <a:latin typeface="Arial MT"/>
                <a:cs typeface="Arial MT"/>
              </a:rPr>
              <a:t>is</a:t>
            </a:r>
            <a:r>
              <a:rPr sz="2400" spc="50" dirty="0">
                <a:latin typeface="Arial MT"/>
                <a:cs typeface="Arial MT"/>
              </a:rPr>
              <a:t> </a:t>
            </a:r>
            <a:r>
              <a:rPr sz="2400" spc="-25" dirty="0">
                <a:latin typeface="Arial MT"/>
                <a:cs typeface="Arial MT"/>
              </a:rPr>
              <a:t>as 	</a:t>
            </a:r>
            <a:r>
              <a:rPr sz="2400" dirty="0">
                <a:latin typeface="Arial MT"/>
                <a:cs typeface="Arial MT"/>
              </a:rPr>
              <a:t>per</a:t>
            </a:r>
            <a:r>
              <a:rPr sz="2400" spc="-60" dirty="0">
                <a:latin typeface="Arial MT"/>
                <a:cs typeface="Arial MT"/>
              </a:rPr>
              <a:t> </a:t>
            </a:r>
            <a:r>
              <a:rPr sz="2400" dirty="0">
                <a:latin typeface="Arial MT"/>
                <a:cs typeface="Arial MT"/>
              </a:rPr>
              <a:t>the</a:t>
            </a:r>
            <a:r>
              <a:rPr sz="2400" spc="-80" dirty="0">
                <a:latin typeface="Arial MT"/>
                <a:cs typeface="Arial MT"/>
              </a:rPr>
              <a:t> </a:t>
            </a:r>
            <a:r>
              <a:rPr sz="2400" dirty="0">
                <a:latin typeface="Arial MT"/>
                <a:cs typeface="Arial MT"/>
              </a:rPr>
              <a:t>requirement</a:t>
            </a:r>
            <a:r>
              <a:rPr sz="2400" spc="-50" dirty="0">
                <a:latin typeface="Arial MT"/>
                <a:cs typeface="Arial MT"/>
              </a:rPr>
              <a:t> </a:t>
            </a:r>
            <a:r>
              <a:rPr sz="2400" dirty="0">
                <a:latin typeface="Arial MT"/>
                <a:cs typeface="Arial MT"/>
              </a:rPr>
              <a:t>or</a:t>
            </a:r>
            <a:r>
              <a:rPr sz="2400" spc="-70" dirty="0">
                <a:latin typeface="Arial MT"/>
                <a:cs typeface="Arial MT"/>
              </a:rPr>
              <a:t> </a:t>
            </a:r>
            <a:r>
              <a:rPr sz="2400" spc="-20" dirty="0">
                <a:latin typeface="Arial MT"/>
                <a:cs typeface="Arial MT"/>
              </a:rPr>
              <a:t>not.</a:t>
            </a:r>
            <a:endParaRPr sz="2400">
              <a:latin typeface="Arial MT"/>
              <a:cs typeface="Arial MT"/>
            </a:endParaRPr>
          </a:p>
          <a:p>
            <a:pPr marL="354965" indent="-342265">
              <a:lnSpc>
                <a:spcPct val="100000"/>
              </a:lnSpc>
              <a:buFont typeface="Wingdings"/>
              <a:buChar char=""/>
              <a:tabLst>
                <a:tab pos="354965" algn="l"/>
              </a:tabLst>
            </a:pPr>
            <a:r>
              <a:rPr sz="2400" b="1" spc="-10" dirty="0">
                <a:latin typeface="Arial"/>
                <a:cs typeface="Arial"/>
              </a:rPr>
              <a:t>Non-</a:t>
            </a:r>
            <a:r>
              <a:rPr sz="2400" b="1" dirty="0">
                <a:latin typeface="Arial"/>
                <a:cs typeface="Arial"/>
              </a:rPr>
              <a:t>Functional</a:t>
            </a:r>
            <a:r>
              <a:rPr sz="2400" b="1" spc="-40" dirty="0">
                <a:latin typeface="Arial"/>
                <a:cs typeface="Arial"/>
              </a:rPr>
              <a:t> </a:t>
            </a:r>
            <a:r>
              <a:rPr sz="2400" b="1" dirty="0">
                <a:latin typeface="Arial"/>
                <a:cs typeface="Arial"/>
              </a:rPr>
              <a:t>Testing</a:t>
            </a:r>
            <a:r>
              <a:rPr sz="2400" b="1" spc="-50" dirty="0">
                <a:latin typeface="Arial"/>
                <a:cs typeface="Arial"/>
              </a:rPr>
              <a:t> </a:t>
            </a:r>
            <a:r>
              <a:rPr sz="2400" b="1" dirty="0">
                <a:latin typeface="Arial"/>
                <a:cs typeface="Arial"/>
              </a:rPr>
              <a:t>Types</a:t>
            </a:r>
            <a:r>
              <a:rPr sz="2400" b="1" spc="-5" dirty="0">
                <a:latin typeface="Arial"/>
                <a:cs typeface="Arial"/>
              </a:rPr>
              <a:t> </a:t>
            </a:r>
            <a:r>
              <a:rPr sz="2400" b="1" dirty="0">
                <a:latin typeface="Arial"/>
                <a:cs typeface="Arial"/>
              </a:rPr>
              <a:t>and</a:t>
            </a:r>
            <a:r>
              <a:rPr sz="2400" b="1" spc="-40" dirty="0">
                <a:latin typeface="Arial"/>
                <a:cs typeface="Arial"/>
              </a:rPr>
              <a:t> </a:t>
            </a:r>
            <a:r>
              <a:rPr sz="2400" b="1" spc="-10" dirty="0">
                <a:latin typeface="Arial"/>
                <a:cs typeface="Arial"/>
              </a:rPr>
              <a:t>Techniques</a:t>
            </a:r>
            <a:endParaRPr sz="2400">
              <a:latin typeface="Arial"/>
              <a:cs typeface="Arial"/>
            </a:endParaRPr>
          </a:p>
        </p:txBody>
      </p:sp>
      <p:sp>
        <p:nvSpPr>
          <p:cNvPr id="4" name="object 4"/>
          <p:cNvSpPr txBox="1"/>
          <p:nvPr/>
        </p:nvSpPr>
        <p:spPr>
          <a:xfrm>
            <a:off x="520700" y="2440000"/>
            <a:ext cx="7190740" cy="391795"/>
          </a:xfrm>
          <a:prstGeom prst="rect">
            <a:avLst/>
          </a:prstGeom>
        </p:spPr>
        <p:txBody>
          <a:bodyPr vert="horz" wrap="square" lIns="0" tIns="12700" rIns="0" bIns="0" rtlCol="0">
            <a:spAutoFit/>
          </a:bodyPr>
          <a:lstStyle/>
          <a:p>
            <a:pPr marL="12700">
              <a:lnSpc>
                <a:spcPct val="100000"/>
              </a:lnSpc>
              <a:spcBef>
                <a:spcPts val="100"/>
              </a:spcBef>
              <a:tabLst>
                <a:tab pos="916305" algn="l"/>
                <a:tab pos="1379855" algn="l"/>
                <a:tab pos="2045335" algn="l"/>
                <a:tab pos="4358005" algn="l"/>
                <a:tab pos="5600065" algn="l"/>
              </a:tabLst>
            </a:pPr>
            <a:r>
              <a:rPr sz="2400" spc="-20" dirty="0">
                <a:latin typeface="Arial MT"/>
                <a:cs typeface="Arial MT"/>
              </a:rPr>
              <a:t>Here</a:t>
            </a:r>
            <a:r>
              <a:rPr sz="2400" dirty="0">
                <a:latin typeface="Arial MT"/>
                <a:cs typeface="Arial MT"/>
              </a:rPr>
              <a:t>	</a:t>
            </a:r>
            <a:r>
              <a:rPr sz="2400" spc="-25" dirty="0">
                <a:latin typeface="Arial MT"/>
                <a:cs typeface="Arial MT"/>
              </a:rPr>
              <a:t>is</a:t>
            </a:r>
            <a:r>
              <a:rPr sz="2400" dirty="0">
                <a:latin typeface="Arial MT"/>
                <a:cs typeface="Arial MT"/>
              </a:rPr>
              <a:t>	</a:t>
            </a:r>
            <a:r>
              <a:rPr sz="2400" spc="-25" dirty="0">
                <a:latin typeface="Arial MT"/>
                <a:cs typeface="Arial MT"/>
              </a:rPr>
              <a:t>the</a:t>
            </a:r>
            <a:r>
              <a:rPr sz="2400" dirty="0">
                <a:latin typeface="Arial MT"/>
                <a:cs typeface="Arial MT"/>
              </a:rPr>
              <a:t>	</a:t>
            </a:r>
            <a:r>
              <a:rPr sz="2400" spc="-20" dirty="0">
                <a:latin typeface="Arial MT"/>
                <a:cs typeface="Arial MT"/>
              </a:rPr>
              <a:t>Non-</a:t>
            </a:r>
            <a:r>
              <a:rPr sz="2400" spc="-10" dirty="0">
                <a:latin typeface="Arial MT"/>
                <a:cs typeface="Arial MT"/>
              </a:rPr>
              <a:t>Functional</a:t>
            </a:r>
            <a:r>
              <a:rPr sz="2400" dirty="0">
                <a:latin typeface="Arial MT"/>
                <a:cs typeface="Arial MT"/>
              </a:rPr>
              <a:t>	</a:t>
            </a:r>
            <a:r>
              <a:rPr sz="2400" spc="-10" dirty="0">
                <a:latin typeface="Arial MT"/>
                <a:cs typeface="Arial MT"/>
              </a:rPr>
              <a:t>Testing</a:t>
            </a:r>
            <a:r>
              <a:rPr sz="2400" dirty="0">
                <a:latin typeface="Arial MT"/>
                <a:cs typeface="Arial MT"/>
              </a:rPr>
              <a:t>	</a:t>
            </a:r>
            <a:r>
              <a:rPr sz="2400" spc="-10" dirty="0">
                <a:latin typeface="Arial MT"/>
                <a:cs typeface="Arial MT"/>
              </a:rPr>
              <a:t>Techniques</a:t>
            </a:r>
            <a:endParaRPr sz="2400">
              <a:latin typeface="Arial MT"/>
              <a:cs typeface="Arial MT"/>
            </a:endParaRPr>
          </a:p>
        </p:txBody>
      </p:sp>
      <p:sp>
        <p:nvSpPr>
          <p:cNvPr id="5" name="object 5"/>
          <p:cNvSpPr txBox="1"/>
          <p:nvPr/>
        </p:nvSpPr>
        <p:spPr>
          <a:xfrm>
            <a:off x="7931657" y="2440000"/>
            <a:ext cx="1606550" cy="391795"/>
          </a:xfrm>
          <a:prstGeom prst="rect">
            <a:avLst/>
          </a:prstGeom>
        </p:spPr>
        <p:txBody>
          <a:bodyPr vert="horz" wrap="square" lIns="0" tIns="12700" rIns="0" bIns="0" rtlCol="0">
            <a:spAutoFit/>
          </a:bodyPr>
          <a:lstStyle/>
          <a:p>
            <a:pPr marL="12700">
              <a:lnSpc>
                <a:spcPct val="100000"/>
              </a:lnSpc>
              <a:spcBef>
                <a:spcPts val="100"/>
              </a:spcBef>
              <a:tabLst>
                <a:tab pos="763905" algn="l"/>
              </a:tabLst>
            </a:pPr>
            <a:r>
              <a:rPr sz="2400" spc="-25" dirty="0">
                <a:latin typeface="Arial MT"/>
                <a:cs typeface="Arial MT"/>
              </a:rPr>
              <a:t>and</a:t>
            </a:r>
            <a:r>
              <a:rPr sz="2400" dirty="0">
                <a:latin typeface="Arial MT"/>
                <a:cs typeface="Arial MT"/>
              </a:rPr>
              <a:t>	</a:t>
            </a:r>
            <a:r>
              <a:rPr sz="2400" spc="-10" dirty="0">
                <a:latin typeface="Arial MT"/>
                <a:cs typeface="Arial MT"/>
              </a:rPr>
              <a:t>Types</a:t>
            </a:r>
            <a:endParaRPr sz="2400">
              <a:latin typeface="Arial MT"/>
              <a:cs typeface="Arial MT"/>
            </a:endParaRPr>
          </a:p>
        </p:txBody>
      </p:sp>
      <p:sp>
        <p:nvSpPr>
          <p:cNvPr id="6" name="object 6"/>
          <p:cNvSpPr txBox="1"/>
          <p:nvPr/>
        </p:nvSpPr>
        <p:spPr>
          <a:xfrm>
            <a:off x="520700" y="2806065"/>
            <a:ext cx="9018270" cy="4415790"/>
          </a:xfrm>
          <a:prstGeom prst="rect">
            <a:avLst/>
          </a:prstGeom>
        </p:spPr>
        <p:txBody>
          <a:bodyPr vert="horz" wrap="square" lIns="0" tIns="12700" rIns="0" bIns="0" rtlCol="0">
            <a:spAutoFit/>
          </a:bodyPr>
          <a:lstStyle/>
          <a:p>
            <a:pPr marL="12700" algn="just">
              <a:lnSpc>
                <a:spcPct val="100000"/>
              </a:lnSpc>
              <a:spcBef>
                <a:spcPts val="100"/>
              </a:spcBef>
            </a:pPr>
            <a:r>
              <a:rPr sz="2400" dirty="0">
                <a:latin typeface="Arial MT"/>
                <a:cs typeface="Arial MT"/>
              </a:rPr>
              <a:t>mentioned</a:t>
            </a:r>
            <a:r>
              <a:rPr sz="2400" spc="-135" dirty="0">
                <a:latin typeface="Arial MT"/>
                <a:cs typeface="Arial MT"/>
              </a:rPr>
              <a:t> </a:t>
            </a:r>
            <a:r>
              <a:rPr sz="2400" spc="-10" dirty="0">
                <a:latin typeface="Arial MT"/>
                <a:cs typeface="Arial MT"/>
              </a:rPr>
              <a:t>bellow:</a:t>
            </a:r>
            <a:endParaRPr sz="2400">
              <a:latin typeface="Arial MT"/>
              <a:cs typeface="Arial MT"/>
            </a:endParaRPr>
          </a:p>
          <a:p>
            <a:pPr marL="353060" marR="6985" indent="-340360" algn="just">
              <a:lnSpc>
                <a:spcPct val="100000"/>
              </a:lnSpc>
              <a:buClr>
                <a:srgbClr val="000000"/>
              </a:buClr>
              <a:buFont typeface="Arial MT"/>
              <a:buChar char="•"/>
              <a:tabLst>
                <a:tab pos="355600" algn="l"/>
              </a:tabLst>
            </a:pPr>
            <a:r>
              <a:rPr sz="2400" b="1" u="sng" dirty="0">
                <a:solidFill>
                  <a:srgbClr val="E68200"/>
                </a:solidFill>
                <a:uFill>
                  <a:solidFill>
                    <a:srgbClr val="E68200"/>
                  </a:solidFill>
                </a:uFill>
                <a:latin typeface="Arial"/>
                <a:cs typeface="Arial"/>
                <a:hlinkClick r:id="rId2"/>
              </a:rPr>
              <a:t>Performance</a:t>
            </a:r>
            <a:r>
              <a:rPr sz="2400" b="1" u="sng" spc="270" dirty="0">
                <a:solidFill>
                  <a:srgbClr val="E68200"/>
                </a:solidFill>
                <a:uFill>
                  <a:solidFill>
                    <a:srgbClr val="E68200"/>
                  </a:solidFill>
                </a:uFill>
                <a:latin typeface="Arial"/>
                <a:cs typeface="Arial"/>
              </a:rPr>
              <a:t>  </a:t>
            </a:r>
            <a:r>
              <a:rPr sz="2400" b="1" u="sng" dirty="0">
                <a:solidFill>
                  <a:srgbClr val="E68200"/>
                </a:solidFill>
                <a:uFill>
                  <a:solidFill>
                    <a:srgbClr val="E68200"/>
                  </a:solidFill>
                </a:uFill>
                <a:latin typeface="Arial"/>
                <a:cs typeface="Arial"/>
                <a:hlinkClick r:id="rId2"/>
              </a:rPr>
              <a:t>Testing</a:t>
            </a:r>
            <a:r>
              <a:rPr sz="2400" b="1" dirty="0">
                <a:latin typeface="Arial"/>
                <a:cs typeface="Arial"/>
              </a:rPr>
              <a:t>:</a:t>
            </a:r>
            <a:r>
              <a:rPr sz="2400" b="1" spc="275" dirty="0">
                <a:latin typeface="Arial"/>
                <a:cs typeface="Arial"/>
              </a:rPr>
              <a:t>  </a:t>
            </a:r>
            <a:r>
              <a:rPr sz="2400" dirty="0">
                <a:latin typeface="Arial MT"/>
                <a:cs typeface="Arial MT"/>
              </a:rPr>
              <a:t>Performance</a:t>
            </a:r>
            <a:r>
              <a:rPr sz="2400" spc="275" dirty="0">
                <a:latin typeface="Arial MT"/>
                <a:cs typeface="Arial MT"/>
              </a:rPr>
              <a:t>  </a:t>
            </a:r>
            <a:r>
              <a:rPr sz="2400" dirty="0">
                <a:latin typeface="Arial MT"/>
                <a:cs typeface="Arial MT"/>
              </a:rPr>
              <a:t>testing</a:t>
            </a:r>
            <a:r>
              <a:rPr sz="2400" spc="270" dirty="0">
                <a:latin typeface="Arial MT"/>
                <a:cs typeface="Arial MT"/>
              </a:rPr>
              <a:t>  </a:t>
            </a:r>
            <a:r>
              <a:rPr sz="2400" dirty="0">
                <a:latin typeface="Arial MT"/>
                <a:cs typeface="Arial MT"/>
              </a:rPr>
              <a:t>is</a:t>
            </a:r>
            <a:r>
              <a:rPr sz="2400" spc="270" dirty="0">
                <a:latin typeface="Arial MT"/>
                <a:cs typeface="Arial MT"/>
              </a:rPr>
              <a:t>  </a:t>
            </a:r>
            <a:r>
              <a:rPr sz="2400" dirty="0">
                <a:latin typeface="Arial MT"/>
                <a:cs typeface="Arial MT"/>
              </a:rPr>
              <a:t>a</a:t>
            </a:r>
            <a:r>
              <a:rPr sz="2400" spc="275" dirty="0">
                <a:latin typeface="Arial MT"/>
                <a:cs typeface="Arial MT"/>
              </a:rPr>
              <a:t>  </a:t>
            </a:r>
            <a:r>
              <a:rPr sz="2400" dirty="0">
                <a:latin typeface="Arial MT"/>
                <a:cs typeface="Arial MT"/>
              </a:rPr>
              <a:t>type</a:t>
            </a:r>
            <a:r>
              <a:rPr sz="2400" spc="275" dirty="0">
                <a:latin typeface="Arial MT"/>
                <a:cs typeface="Arial MT"/>
              </a:rPr>
              <a:t>  </a:t>
            </a:r>
            <a:r>
              <a:rPr sz="2400" spc="-25" dirty="0">
                <a:latin typeface="Arial MT"/>
                <a:cs typeface="Arial MT"/>
              </a:rPr>
              <a:t>of 	</a:t>
            </a:r>
            <a:r>
              <a:rPr sz="2400" dirty="0">
                <a:latin typeface="Arial MT"/>
                <a:cs typeface="Arial MT"/>
              </a:rPr>
              <a:t>software</a:t>
            </a:r>
            <a:r>
              <a:rPr sz="2400" spc="575" dirty="0">
                <a:latin typeface="Arial MT"/>
                <a:cs typeface="Arial MT"/>
              </a:rPr>
              <a:t> </a:t>
            </a:r>
            <a:r>
              <a:rPr sz="2400" dirty="0">
                <a:latin typeface="Arial MT"/>
                <a:cs typeface="Arial MT"/>
              </a:rPr>
              <a:t>testing</a:t>
            </a:r>
            <a:r>
              <a:rPr sz="2400" spc="565" dirty="0">
                <a:latin typeface="Arial MT"/>
                <a:cs typeface="Arial MT"/>
              </a:rPr>
              <a:t> </a:t>
            </a:r>
            <a:r>
              <a:rPr sz="2400" dirty="0">
                <a:latin typeface="Arial MT"/>
                <a:cs typeface="Arial MT"/>
              </a:rPr>
              <a:t>that</a:t>
            </a:r>
            <a:r>
              <a:rPr sz="2400" spc="580" dirty="0">
                <a:latin typeface="Arial MT"/>
                <a:cs typeface="Arial MT"/>
              </a:rPr>
              <a:t> </a:t>
            </a:r>
            <a:r>
              <a:rPr sz="2400" dirty="0">
                <a:latin typeface="Arial MT"/>
                <a:cs typeface="Arial MT"/>
              </a:rPr>
              <a:t>focuses</a:t>
            </a:r>
            <a:r>
              <a:rPr sz="2400" spc="565" dirty="0">
                <a:latin typeface="Arial MT"/>
                <a:cs typeface="Arial MT"/>
              </a:rPr>
              <a:t> </a:t>
            </a:r>
            <a:r>
              <a:rPr sz="2400" dirty="0">
                <a:latin typeface="Arial MT"/>
                <a:cs typeface="Arial MT"/>
              </a:rPr>
              <a:t>on</a:t>
            </a:r>
            <a:r>
              <a:rPr sz="2400" spc="575" dirty="0">
                <a:latin typeface="Arial MT"/>
                <a:cs typeface="Arial MT"/>
              </a:rPr>
              <a:t> </a:t>
            </a:r>
            <a:r>
              <a:rPr sz="2400" dirty="0">
                <a:latin typeface="Arial MT"/>
                <a:cs typeface="Arial MT"/>
              </a:rPr>
              <a:t>evaluating</a:t>
            </a:r>
            <a:r>
              <a:rPr sz="2400" spc="570" dirty="0">
                <a:latin typeface="Arial MT"/>
                <a:cs typeface="Arial MT"/>
              </a:rPr>
              <a:t> </a:t>
            </a:r>
            <a:r>
              <a:rPr sz="2400" dirty="0">
                <a:latin typeface="Arial MT"/>
                <a:cs typeface="Arial MT"/>
              </a:rPr>
              <a:t>the</a:t>
            </a:r>
            <a:r>
              <a:rPr sz="2400" spc="575" dirty="0">
                <a:latin typeface="Arial MT"/>
                <a:cs typeface="Arial MT"/>
              </a:rPr>
              <a:t> </a:t>
            </a:r>
            <a:r>
              <a:rPr sz="2400" spc="-10" dirty="0">
                <a:latin typeface="Arial MT"/>
                <a:cs typeface="Arial MT"/>
              </a:rPr>
              <a:t>performance 	</a:t>
            </a:r>
            <a:r>
              <a:rPr sz="2400" dirty="0">
                <a:latin typeface="Arial MT"/>
                <a:cs typeface="Arial MT"/>
              </a:rPr>
              <a:t>and</a:t>
            </a:r>
            <a:r>
              <a:rPr sz="2400" spc="-25" dirty="0">
                <a:latin typeface="Arial MT"/>
                <a:cs typeface="Arial MT"/>
              </a:rPr>
              <a:t> </a:t>
            </a:r>
            <a:r>
              <a:rPr sz="2400" dirty="0">
                <a:latin typeface="Arial MT"/>
                <a:cs typeface="Arial MT"/>
              </a:rPr>
              <a:t>scalability</a:t>
            </a:r>
            <a:r>
              <a:rPr sz="2400" spc="-10" dirty="0">
                <a:latin typeface="Arial MT"/>
                <a:cs typeface="Arial MT"/>
              </a:rPr>
              <a:t> </a:t>
            </a:r>
            <a:r>
              <a:rPr sz="2400" dirty="0">
                <a:latin typeface="Arial MT"/>
                <a:cs typeface="Arial MT"/>
              </a:rPr>
              <a:t>of</a:t>
            </a:r>
            <a:r>
              <a:rPr sz="2400" spc="-50" dirty="0">
                <a:latin typeface="Arial MT"/>
                <a:cs typeface="Arial MT"/>
              </a:rPr>
              <a:t> </a:t>
            </a:r>
            <a:r>
              <a:rPr sz="2400" dirty="0">
                <a:latin typeface="Arial MT"/>
                <a:cs typeface="Arial MT"/>
              </a:rPr>
              <a:t>a</a:t>
            </a:r>
            <a:r>
              <a:rPr sz="2400" spc="-40" dirty="0">
                <a:latin typeface="Arial MT"/>
                <a:cs typeface="Arial MT"/>
              </a:rPr>
              <a:t> </a:t>
            </a:r>
            <a:r>
              <a:rPr sz="2400" dirty="0">
                <a:latin typeface="Arial MT"/>
                <a:cs typeface="Arial MT"/>
              </a:rPr>
              <a:t>system</a:t>
            </a:r>
            <a:r>
              <a:rPr sz="2400" spc="-50" dirty="0">
                <a:latin typeface="Arial MT"/>
                <a:cs typeface="Arial MT"/>
              </a:rPr>
              <a:t> </a:t>
            </a:r>
            <a:r>
              <a:rPr sz="2400" dirty="0">
                <a:latin typeface="Arial MT"/>
                <a:cs typeface="Arial MT"/>
              </a:rPr>
              <a:t>or</a:t>
            </a:r>
            <a:r>
              <a:rPr sz="2400" spc="-45" dirty="0">
                <a:latin typeface="Arial MT"/>
                <a:cs typeface="Arial MT"/>
              </a:rPr>
              <a:t> </a:t>
            </a:r>
            <a:r>
              <a:rPr sz="2400" spc="-10" dirty="0">
                <a:latin typeface="Arial MT"/>
                <a:cs typeface="Arial MT"/>
              </a:rPr>
              <a:t>application.</a:t>
            </a:r>
            <a:endParaRPr sz="2400">
              <a:latin typeface="Arial MT"/>
              <a:cs typeface="Arial MT"/>
            </a:endParaRPr>
          </a:p>
          <a:p>
            <a:pPr marL="353060" marR="5715" indent="-340360" algn="just">
              <a:lnSpc>
                <a:spcPct val="100000"/>
              </a:lnSpc>
              <a:buClr>
                <a:srgbClr val="000000"/>
              </a:buClr>
              <a:buFont typeface="Arial MT"/>
              <a:buChar char="•"/>
              <a:tabLst>
                <a:tab pos="355600" algn="l"/>
              </a:tabLst>
            </a:pPr>
            <a:r>
              <a:rPr sz="2400" b="1" u="sng" dirty="0">
                <a:solidFill>
                  <a:srgbClr val="E68200"/>
                </a:solidFill>
                <a:uFill>
                  <a:solidFill>
                    <a:srgbClr val="E68200"/>
                  </a:solidFill>
                </a:uFill>
                <a:latin typeface="Arial"/>
                <a:cs typeface="Arial"/>
                <a:hlinkClick r:id="rId3"/>
              </a:rPr>
              <a:t>Load</a:t>
            </a:r>
            <a:r>
              <a:rPr sz="2400" b="1" u="sng" spc="-10" dirty="0">
                <a:solidFill>
                  <a:srgbClr val="E68200"/>
                </a:solidFill>
                <a:uFill>
                  <a:solidFill>
                    <a:srgbClr val="E68200"/>
                  </a:solidFill>
                </a:uFill>
                <a:latin typeface="Arial"/>
                <a:cs typeface="Arial"/>
              </a:rPr>
              <a:t>  </a:t>
            </a:r>
            <a:r>
              <a:rPr sz="2400" b="1" u="sng" dirty="0">
                <a:solidFill>
                  <a:srgbClr val="E68200"/>
                </a:solidFill>
                <a:uFill>
                  <a:solidFill>
                    <a:srgbClr val="E68200"/>
                  </a:solidFill>
                </a:uFill>
                <a:latin typeface="Arial"/>
                <a:cs typeface="Arial"/>
                <a:hlinkClick r:id="rId3"/>
              </a:rPr>
              <a:t>Testing</a:t>
            </a:r>
            <a:r>
              <a:rPr sz="2400" dirty="0">
                <a:latin typeface="Arial MT"/>
                <a:cs typeface="Arial MT"/>
              </a:rPr>
              <a:t>:</a:t>
            </a:r>
            <a:r>
              <a:rPr sz="2400" spc="-15" dirty="0">
                <a:latin typeface="Arial MT"/>
                <a:cs typeface="Arial MT"/>
              </a:rPr>
              <a:t>  </a:t>
            </a:r>
            <a:r>
              <a:rPr sz="2400" dirty="0">
                <a:latin typeface="Arial MT"/>
                <a:cs typeface="Arial MT"/>
              </a:rPr>
              <a:t>Load</a:t>
            </a:r>
            <a:r>
              <a:rPr sz="2400" spc="-10" dirty="0">
                <a:latin typeface="Arial MT"/>
                <a:cs typeface="Arial MT"/>
              </a:rPr>
              <a:t>  </a:t>
            </a:r>
            <a:r>
              <a:rPr sz="2400" dirty="0">
                <a:latin typeface="Arial MT"/>
                <a:cs typeface="Arial MT"/>
              </a:rPr>
              <a:t>testing</a:t>
            </a:r>
            <a:r>
              <a:rPr sz="2400" spc="-10" dirty="0">
                <a:latin typeface="Arial MT"/>
                <a:cs typeface="Arial MT"/>
              </a:rPr>
              <a:t>  </a:t>
            </a:r>
            <a:r>
              <a:rPr sz="2400" dirty="0">
                <a:latin typeface="Arial MT"/>
                <a:cs typeface="Arial MT"/>
              </a:rPr>
              <a:t>determines</a:t>
            </a:r>
            <a:r>
              <a:rPr sz="2400" spc="-10" dirty="0">
                <a:latin typeface="Arial MT"/>
                <a:cs typeface="Arial MT"/>
              </a:rPr>
              <a:t>  </a:t>
            </a:r>
            <a:r>
              <a:rPr sz="2400" dirty="0">
                <a:latin typeface="Arial MT"/>
                <a:cs typeface="Arial MT"/>
              </a:rPr>
              <a:t>the</a:t>
            </a:r>
            <a:r>
              <a:rPr sz="2400" spc="-5" dirty="0">
                <a:latin typeface="Arial MT"/>
                <a:cs typeface="Arial MT"/>
              </a:rPr>
              <a:t>  </a:t>
            </a:r>
            <a:r>
              <a:rPr sz="2400" dirty="0">
                <a:latin typeface="Arial MT"/>
                <a:cs typeface="Arial MT"/>
              </a:rPr>
              <a:t>behavior</a:t>
            </a:r>
            <a:r>
              <a:rPr sz="2400" spc="-5" dirty="0">
                <a:latin typeface="Arial MT"/>
                <a:cs typeface="Arial MT"/>
              </a:rPr>
              <a:t>  </a:t>
            </a:r>
            <a:r>
              <a:rPr sz="2400" dirty="0">
                <a:latin typeface="Arial MT"/>
                <a:cs typeface="Arial MT"/>
              </a:rPr>
              <a:t>of</a:t>
            </a:r>
            <a:r>
              <a:rPr sz="2400" spc="-20" dirty="0">
                <a:latin typeface="Arial MT"/>
                <a:cs typeface="Arial MT"/>
              </a:rPr>
              <a:t>  </a:t>
            </a:r>
            <a:r>
              <a:rPr sz="2400" spc="-25" dirty="0">
                <a:latin typeface="Arial MT"/>
                <a:cs typeface="Arial MT"/>
              </a:rPr>
              <a:t>the 	</a:t>
            </a:r>
            <a:r>
              <a:rPr sz="2400" dirty="0">
                <a:latin typeface="Arial MT"/>
                <a:cs typeface="Arial MT"/>
              </a:rPr>
              <a:t>application</a:t>
            </a:r>
            <a:r>
              <a:rPr sz="2400" spc="25" dirty="0">
                <a:latin typeface="Arial MT"/>
                <a:cs typeface="Arial MT"/>
              </a:rPr>
              <a:t> </a:t>
            </a:r>
            <a:r>
              <a:rPr sz="2400" dirty="0">
                <a:latin typeface="Arial MT"/>
                <a:cs typeface="Arial MT"/>
              </a:rPr>
              <a:t>when</a:t>
            </a:r>
            <a:r>
              <a:rPr sz="2400" spc="20" dirty="0">
                <a:latin typeface="Arial MT"/>
                <a:cs typeface="Arial MT"/>
              </a:rPr>
              <a:t> </a:t>
            </a:r>
            <a:r>
              <a:rPr sz="2400" dirty="0">
                <a:latin typeface="Arial MT"/>
                <a:cs typeface="Arial MT"/>
              </a:rPr>
              <a:t>multiple</a:t>
            </a:r>
            <a:r>
              <a:rPr sz="2400" spc="30" dirty="0">
                <a:latin typeface="Arial MT"/>
                <a:cs typeface="Arial MT"/>
              </a:rPr>
              <a:t> </a:t>
            </a:r>
            <a:r>
              <a:rPr sz="2400" dirty="0">
                <a:latin typeface="Arial MT"/>
                <a:cs typeface="Arial MT"/>
              </a:rPr>
              <a:t>users</a:t>
            </a:r>
            <a:r>
              <a:rPr sz="2400" spc="20" dirty="0">
                <a:latin typeface="Arial MT"/>
                <a:cs typeface="Arial MT"/>
              </a:rPr>
              <a:t> </a:t>
            </a:r>
            <a:r>
              <a:rPr sz="2400" dirty="0">
                <a:latin typeface="Arial MT"/>
                <a:cs typeface="Arial MT"/>
              </a:rPr>
              <a:t>use</a:t>
            </a:r>
            <a:r>
              <a:rPr sz="2400" spc="15" dirty="0">
                <a:latin typeface="Arial MT"/>
                <a:cs typeface="Arial MT"/>
              </a:rPr>
              <a:t> </a:t>
            </a:r>
            <a:r>
              <a:rPr sz="2400" dirty="0">
                <a:latin typeface="Arial MT"/>
                <a:cs typeface="Arial MT"/>
              </a:rPr>
              <a:t>it</a:t>
            </a:r>
            <a:r>
              <a:rPr sz="2400" spc="25" dirty="0">
                <a:latin typeface="Arial MT"/>
                <a:cs typeface="Arial MT"/>
              </a:rPr>
              <a:t> </a:t>
            </a:r>
            <a:r>
              <a:rPr sz="2400" dirty="0">
                <a:latin typeface="Arial MT"/>
                <a:cs typeface="Arial MT"/>
              </a:rPr>
              <a:t>at the</a:t>
            </a:r>
            <a:r>
              <a:rPr sz="2400" spc="15" dirty="0">
                <a:latin typeface="Arial MT"/>
                <a:cs typeface="Arial MT"/>
              </a:rPr>
              <a:t> </a:t>
            </a:r>
            <a:r>
              <a:rPr sz="2400" dirty="0">
                <a:latin typeface="Arial MT"/>
                <a:cs typeface="Arial MT"/>
              </a:rPr>
              <a:t>same</a:t>
            </a:r>
            <a:r>
              <a:rPr sz="2400" spc="20" dirty="0">
                <a:latin typeface="Arial MT"/>
                <a:cs typeface="Arial MT"/>
              </a:rPr>
              <a:t> </a:t>
            </a:r>
            <a:r>
              <a:rPr sz="2400" dirty="0">
                <a:latin typeface="Arial MT"/>
                <a:cs typeface="Arial MT"/>
              </a:rPr>
              <a:t>time. It</a:t>
            </a:r>
            <a:r>
              <a:rPr sz="2400" spc="15" dirty="0">
                <a:latin typeface="Arial MT"/>
                <a:cs typeface="Arial MT"/>
              </a:rPr>
              <a:t> </a:t>
            </a:r>
            <a:r>
              <a:rPr sz="2400" dirty="0">
                <a:latin typeface="Arial MT"/>
                <a:cs typeface="Arial MT"/>
              </a:rPr>
              <a:t>is</a:t>
            </a:r>
            <a:r>
              <a:rPr sz="2400" spc="20" dirty="0">
                <a:latin typeface="Arial MT"/>
                <a:cs typeface="Arial MT"/>
              </a:rPr>
              <a:t> </a:t>
            </a:r>
            <a:r>
              <a:rPr sz="2400" spc="-25" dirty="0">
                <a:latin typeface="Arial MT"/>
                <a:cs typeface="Arial MT"/>
              </a:rPr>
              <a:t>the 	</a:t>
            </a:r>
            <a:r>
              <a:rPr sz="2400" dirty="0">
                <a:latin typeface="Arial MT"/>
                <a:cs typeface="Arial MT"/>
              </a:rPr>
              <a:t>response</a:t>
            </a:r>
            <a:r>
              <a:rPr sz="2400" spc="450" dirty="0">
                <a:latin typeface="Arial MT"/>
                <a:cs typeface="Arial MT"/>
              </a:rPr>
              <a:t>  </a:t>
            </a:r>
            <a:r>
              <a:rPr sz="2400" dirty="0">
                <a:latin typeface="Arial MT"/>
                <a:cs typeface="Arial MT"/>
              </a:rPr>
              <a:t>of</a:t>
            </a:r>
            <a:r>
              <a:rPr sz="2400" spc="450" dirty="0">
                <a:latin typeface="Arial MT"/>
                <a:cs typeface="Arial MT"/>
              </a:rPr>
              <a:t>  </a:t>
            </a:r>
            <a:r>
              <a:rPr sz="2400" dirty="0">
                <a:latin typeface="Arial MT"/>
                <a:cs typeface="Arial MT"/>
              </a:rPr>
              <a:t>the</a:t>
            </a:r>
            <a:r>
              <a:rPr sz="2400" spc="455" dirty="0">
                <a:latin typeface="Arial MT"/>
                <a:cs typeface="Arial MT"/>
              </a:rPr>
              <a:t>  </a:t>
            </a:r>
            <a:r>
              <a:rPr sz="2400" dirty="0">
                <a:latin typeface="Arial MT"/>
                <a:cs typeface="Arial MT"/>
              </a:rPr>
              <a:t>system</a:t>
            </a:r>
            <a:r>
              <a:rPr sz="2400" spc="450" dirty="0">
                <a:latin typeface="Arial MT"/>
                <a:cs typeface="Arial MT"/>
              </a:rPr>
              <a:t>  </a:t>
            </a:r>
            <a:r>
              <a:rPr sz="2400" dirty="0">
                <a:latin typeface="Arial MT"/>
                <a:cs typeface="Arial MT"/>
              </a:rPr>
              <a:t>measured</a:t>
            </a:r>
            <a:r>
              <a:rPr sz="2400" spc="455" dirty="0">
                <a:latin typeface="Arial MT"/>
                <a:cs typeface="Arial MT"/>
              </a:rPr>
              <a:t>  </a:t>
            </a:r>
            <a:r>
              <a:rPr sz="2400" dirty="0">
                <a:latin typeface="Arial MT"/>
                <a:cs typeface="Arial MT"/>
              </a:rPr>
              <a:t>under</a:t>
            </a:r>
            <a:r>
              <a:rPr sz="2400" spc="455" dirty="0">
                <a:latin typeface="Arial MT"/>
                <a:cs typeface="Arial MT"/>
              </a:rPr>
              <a:t>  </a:t>
            </a:r>
            <a:r>
              <a:rPr sz="2400" dirty="0">
                <a:latin typeface="Arial MT"/>
                <a:cs typeface="Arial MT"/>
              </a:rPr>
              <a:t>varying</a:t>
            </a:r>
            <a:r>
              <a:rPr sz="2400" spc="455" dirty="0">
                <a:latin typeface="Arial MT"/>
                <a:cs typeface="Arial MT"/>
              </a:rPr>
              <a:t>  </a:t>
            </a:r>
            <a:r>
              <a:rPr sz="2400" spc="-20" dirty="0">
                <a:latin typeface="Arial MT"/>
                <a:cs typeface="Arial MT"/>
              </a:rPr>
              <a:t>load 	</a:t>
            </a:r>
            <a:r>
              <a:rPr sz="2400" spc="-10" dirty="0">
                <a:latin typeface="Arial MT"/>
                <a:cs typeface="Arial MT"/>
              </a:rPr>
              <a:t>conditions.</a:t>
            </a:r>
            <a:endParaRPr sz="2400">
              <a:latin typeface="Arial MT"/>
              <a:cs typeface="Arial MT"/>
            </a:endParaRPr>
          </a:p>
          <a:p>
            <a:pPr marL="353060" marR="5080" indent="-340360" algn="just">
              <a:lnSpc>
                <a:spcPct val="100000"/>
              </a:lnSpc>
              <a:spcBef>
                <a:spcPts val="5"/>
              </a:spcBef>
              <a:buClr>
                <a:srgbClr val="000000"/>
              </a:buClr>
              <a:buFont typeface="Arial MT"/>
              <a:buChar char="•"/>
              <a:tabLst>
                <a:tab pos="355600" algn="l"/>
              </a:tabLst>
            </a:pPr>
            <a:r>
              <a:rPr sz="2400" b="1" u="sng" dirty="0">
                <a:solidFill>
                  <a:srgbClr val="E68200"/>
                </a:solidFill>
                <a:uFill>
                  <a:solidFill>
                    <a:srgbClr val="E68200"/>
                  </a:solidFill>
                </a:uFill>
                <a:latin typeface="Arial"/>
                <a:cs typeface="Arial"/>
                <a:hlinkClick r:id="rId4"/>
              </a:rPr>
              <a:t>Security</a:t>
            </a:r>
            <a:r>
              <a:rPr sz="2400" b="1" u="sng" spc="445" dirty="0">
                <a:solidFill>
                  <a:srgbClr val="E68200"/>
                </a:solidFill>
                <a:uFill>
                  <a:solidFill>
                    <a:srgbClr val="E68200"/>
                  </a:solidFill>
                </a:uFill>
                <a:latin typeface="Arial"/>
                <a:cs typeface="Arial"/>
              </a:rPr>
              <a:t> </a:t>
            </a:r>
            <a:r>
              <a:rPr sz="2400" b="1" u="sng" dirty="0">
                <a:solidFill>
                  <a:srgbClr val="E68200"/>
                </a:solidFill>
                <a:uFill>
                  <a:solidFill>
                    <a:srgbClr val="E68200"/>
                  </a:solidFill>
                </a:uFill>
                <a:latin typeface="Arial"/>
                <a:cs typeface="Arial"/>
                <a:hlinkClick r:id="rId4"/>
              </a:rPr>
              <a:t>Testing</a:t>
            </a:r>
            <a:r>
              <a:rPr sz="2400" b="1" dirty="0">
                <a:latin typeface="Arial"/>
                <a:cs typeface="Arial"/>
              </a:rPr>
              <a:t>:</a:t>
            </a:r>
            <a:r>
              <a:rPr sz="2400" b="1" spc="465" dirty="0">
                <a:latin typeface="Arial"/>
                <a:cs typeface="Arial"/>
              </a:rPr>
              <a:t> </a:t>
            </a:r>
            <a:r>
              <a:rPr sz="2400" dirty="0">
                <a:latin typeface="Arial MT"/>
                <a:cs typeface="Arial MT"/>
              </a:rPr>
              <a:t>Security</a:t>
            </a:r>
            <a:r>
              <a:rPr sz="2400" spc="459" dirty="0">
                <a:latin typeface="Arial MT"/>
                <a:cs typeface="Arial MT"/>
              </a:rPr>
              <a:t> </a:t>
            </a:r>
            <a:r>
              <a:rPr sz="2400" dirty="0">
                <a:latin typeface="Arial MT"/>
                <a:cs typeface="Arial MT"/>
              </a:rPr>
              <a:t>testing</a:t>
            </a:r>
            <a:r>
              <a:rPr sz="2400" spc="465" dirty="0">
                <a:latin typeface="Arial MT"/>
                <a:cs typeface="Arial MT"/>
              </a:rPr>
              <a:t> </a:t>
            </a:r>
            <a:r>
              <a:rPr sz="2400" dirty="0">
                <a:latin typeface="Arial MT"/>
                <a:cs typeface="Arial MT"/>
              </a:rPr>
              <a:t>is</a:t>
            </a:r>
            <a:r>
              <a:rPr sz="2400" spc="470" dirty="0">
                <a:latin typeface="Arial MT"/>
                <a:cs typeface="Arial MT"/>
              </a:rPr>
              <a:t> </a:t>
            </a:r>
            <a:r>
              <a:rPr sz="2400" dirty="0">
                <a:latin typeface="Arial MT"/>
                <a:cs typeface="Arial MT"/>
              </a:rPr>
              <a:t>important</a:t>
            </a:r>
            <a:r>
              <a:rPr sz="2400" spc="450" dirty="0">
                <a:latin typeface="Arial MT"/>
                <a:cs typeface="Arial MT"/>
              </a:rPr>
              <a:t> </a:t>
            </a:r>
            <a:r>
              <a:rPr sz="2400" dirty="0">
                <a:latin typeface="Arial MT"/>
                <a:cs typeface="Arial MT"/>
              </a:rPr>
              <a:t>to</a:t>
            </a:r>
            <a:r>
              <a:rPr sz="2400" spc="470" dirty="0">
                <a:latin typeface="Arial MT"/>
                <a:cs typeface="Arial MT"/>
              </a:rPr>
              <a:t> </a:t>
            </a:r>
            <a:r>
              <a:rPr sz="2400" dirty="0">
                <a:latin typeface="Arial MT"/>
                <a:cs typeface="Arial MT"/>
              </a:rPr>
              <a:t>check</a:t>
            </a:r>
            <a:r>
              <a:rPr sz="2400" spc="465" dirty="0">
                <a:latin typeface="Arial MT"/>
                <a:cs typeface="Arial MT"/>
              </a:rPr>
              <a:t> </a:t>
            </a:r>
            <a:r>
              <a:rPr sz="2400" spc="-25" dirty="0">
                <a:latin typeface="Arial MT"/>
                <a:cs typeface="Arial MT"/>
              </a:rPr>
              <a:t>and 	</a:t>
            </a:r>
            <a:r>
              <a:rPr sz="2400" dirty="0">
                <a:latin typeface="Arial MT"/>
                <a:cs typeface="Arial MT"/>
              </a:rPr>
              <a:t>sure</a:t>
            </a:r>
            <a:r>
              <a:rPr sz="2400" spc="280" dirty="0">
                <a:latin typeface="Arial MT"/>
                <a:cs typeface="Arial MT"/>
              </a:rPr>
              <a:t> </a:t>
            </a:r>
            <a:r>
              <a:rPr sz="2400" dirty="0">
                <a:latin typeface="Arial MT"/>
                <a:cs typeface="Arial MT"/>
              </a:rPr>
              <a:t>that</a:t>
            </a:r>
            <a:r>
              <a:rPr sz="2400" spc="270" dirty="0">
                <a:latin typeface="Arial MT"/>
                <a:cs typeface="Arial MT"/>
              </a:rPr>
              <a:t> </a:t>
            </a:r>
            <a:r>
              <a:rPr sz="2400" dirty="0">
                <a:latin typeface="Arial MT"/>
                <a:cs typeface="Arial MT"/>
              </a:rPr>
              <a:t>applications</a:t>
            </a:r>
            <a:r>
              <a:rPr sz="2400" spc="295" dirty="0">
                <a:latin typeface="Arial MT"/>
                <a:cs typeface="Arial MT"/>
              </a:rPr>
              <a:t> </a:t>
            </a:r>
            <a:r>
              <a:rPr sz="2400" dirty="0">
                <a:latin typeface="Arial MT"/>
                <a:cs typeface="Arial MT"/>
              </a:rPr>
              <a:t>and</a:t>
            </a:r>
            <a:r>
              <a:rPr sz="2400" spc="280" dirty="0">
                <a:latin typeface="Arial MT"/>
                <a:cs typeface="Arial MT"/>
              </a:rPr>
              <a:t> </a:t>
            </a:r>
            <a:r>
              <a:rPr sz="2400" dirty="0">
                <a:latin typeface="Arial MT"/>
                <a:cs typeface="Arial MT"/>
              </a:rPr>
              <a:t>systems</a:t>
            </a:r>
            <a:r>
              <a:rPr sz="2400" spc="275" dirty="0">
                <a:latin typeface="Arial MT"/>
                <a:cs typeface="Arial MT"/>
              </a:rPr>
              <a:t> </a:t>
            </a:r>
            <a:r>
              <a:rPr sz="2400" dirty="0">
                <a:latin typeface="Arial MT"/>
                <a:cs typeface="Arial MT"/>
              </a:rPr>
              <a:t>are</a:t>
            </a:r>
            <a:r>
              <a:rPr sz="2400" spc="265" dirty="0">
                <a:latin typeface="Arial MT"/>
                <a:cs typeface="Arial MT"/>
              </a:rPr>
              <a:t> </a:t>
            </a:r>
            <a:r>
              <a:rPr sz="2400" dirty="0">
                <a:latin typeface="Arial MT"/>
                <a:cs typeface="Arial MT"/>
              </a:rPr>
              <a:t>protected</a:t>
            </a:r>
            <a:r>
              <a:rPr sz="2400" spc="265" dirty="0">
                <a:latin typeface="Arial MT"/>
                <a:cs typeface="Arial MT"/>
              </a:rPr>
              <a:t> </a:t>
            </a:r>
            <a:r>
              <a:rPr sz="2400" dirty="0">
                <a:latin typeface="Arial MT"/>
                <a:cs typeface="Arial MT"/>
              </a:rPr>
              <a:t>from</a:t>
            </a:r>
            <a:r>
              <a:rPr sz="2400" spc="280" dirty="0">
                <a:latin typeface="Arial MT"/>
                <a:cs typeface="Arial MT"/>
              </a:rPr>
              <a:t> </a:t>
            </a:r>
            <a:r>
              <a:rPr sz="2400" spc="-10" dirty="0">
                <a:latin typeface="Arial MT"/>
                <a:cs typeface="Arial MT"/>
              </a:rPr>
              <a:t>various 	</a:t>
            </a:r>
            <a:r>
              <a:rPr sz="2400" dirty="0">
                <a:latin typeface="Arial MT"/>
                <a:cs typeface="Arial MT"/>
              </a:rPr>
              <a:t>threats.</a:t>
            </a:r>
            <a:r>
              <a:rPr sz="2400" spc="150" dirty="0">
                <a:latin typeface="Arial MT"/>
                <a:cs typeface="Arial MT"/>
              </a:rPr>
              <a:t>  </a:t>
            </a:r>
            <a:r>
              <a:rPr sz="2400" dirty="0">
                <a:latin typeface="Arial MT"/>
                <a:cs typeface="Arial MT"/>
              </a:rPr>
              <a:t>There</a:t>
            </a:r>
            <a:r>
              <a:rPr sz="2400" spc="155" dirty="0">
                <a:latin typeface="Arial MT"/>
                <a:cs typeface="Arial MT"/>
              </a:rPr>
              <a:t>  </a:t>
            </a:r>
            <a:r>
              <a:rPr sz="2400" dirty="0">
                <a:latin typeface="Arial MT"/>
                <a:cs typeface="Arial MT"/>
              </a:rPr>
              <a:t>are</a:t>
            </a:r>
            <a:r>
              <a:rPr sz="2400" spc="160" dirty="0">
                <a:latin typeface="Arial MT"/>
                <a:cs typeface="Arial MT"/>
              </a:rPr>
              <a:t>  </a:t>
            </a:r>
            <a:r>
              <a:rPr sz="2400" dirty="0">
                <a:latin typeface="Arial MT"/>
                <a:cs typeface="Arial MT"/>
              </a:rPr>
              <a:t>several</a:t>
            </a:r>
            <a:r>
              <a:rPr sz="2400" spc="160" dirty="0">
                <a:latin typeface="Arial MT"/>
                <a:cs typeface="Arial MT"/>
              </a:rPr>
              <a:t>  </a:t>
            </a:r>
            <a:r>
              <a:rPr sz="2400" dirty="0">
                <a:latin typeface="Arial MT"/>
                <a:cs typeface="Arial MT"/>
              </a:rPr>
              <a:t>types</a:t>
            </a:r>
            <a:r>
              <a:rPr sz="2400" spc="155" dirty="0">
                <a:latin typeface="Arial MT"/>
                <a:cs typeface="Arial MT"/>
              </a:rPr>
              <a:t>  </a:t>
            </a:r>
            <a:r>
              <a:rPr sz="2400" dirty="0">
                <a:latin typeface="Arial MT"/>
                <a:cs typeface="Arial MT"/>
              </a:rPr>
              <a:t>of</a:t>
            </a:r>
            <a:r>
              <a:rPr sz="2400" spc="155" dirty="0">
                <a:latin typeface="Arial MT"/>
                <a:cs typeface="Arial MT"/>
              </a:rPr>
              <a:t>  </a:t>
            </a:r>
            <a:r>
              <a:rPr sz="2400" dirty="0">
                <a:latin typeface="Arial MT"/>
                <a:cs typeface="Arial MT"/>
              </a:rPr>
              <a:t>security</a:t>
            </a:r>
            <a:r>
              <a:rPr sz="2400" spc="155" dirty="0">
                <a:latin typeface="Arial MT"/>
                <a:cs typeface="Arial MT"/>
              </a:rPr>
              <a:t>  </a:t>
            </a:r>
            <a:r>
              <a:rPr sz="2400" dirty="0">
                <a:latin typeface="Arial MT"/>
                <a:cs typeface="Arial MT"/>
              </a:rPr>
              <a:t>testing,</a:t>
            </a:r>
            <a:r>
              <a:rPr sz="2400" spc="165" dirty="0">
                <a:latin typeface="Arial MT"/>
                <a:cs typeface="Arial MT"/>
              </a:rPr>
              <a:t>  </a:t>
            </a:r>
            <a:r>
              <a:rPr sz="2400" spc="-20" dirty="0">
                <a:latin typeface="Arial MT"/>
                <a:cs typeface="Arial MT"/>
              </a:rPr>
              <a:t>each 	</a:t>
            </a:r>
            <a:r>
              <a:rPr sz="2400" dirty="0">
                <a:latin typeface="Arial MT"/>
                <a:cs typeface="Arial MT"/>
              </a:rPr>
              <a:t>targeting</a:t>
            </a:r>
            <a:r>
              <a:rPr sz="2400" spc="-85" dirty="0">
                <a:latin typeface="Arial MT"/>
                <a:cs typeface="Arial MT"/>
              </a:rPr>
              <a:t> </a:t>
            </a:r>
            <a:r>
              <a:rPr sz="2400" dirty="0">
                <a:latin typeface="Arial MT"/>
                <a:cs typeface="Arial MT"/>
              </a:rPr>
              <a:t>specific</a:t>
            </a:r>
            <a:r>
              <a:rPr sz="2400" spc="-65" dirty="0">
                <a:latin typeface="Arial MT"/>
                <a:cs typeface="Arial MT"/>
              </a:rPr>
              <a:t> </a:t>
            </a:r>
            <a:r>
              <a:rPr sz="2400" dirty="0">
                <a:latin typeface="Arial MT"/>
                <a:cs typeface="Arial MT"/>
              </a:rPr>
              <a:t>vulnerabilities</a:t>
            </a:r>
            <a:r>
              <a:rPr sz="2400" spc="-40" dirty="0">
                <a:latin typeface="Arial MT"/>
                <a:cs typeface="Arial MT"/>
              </a:rPr>
              <a:t> </a:t>
            </a:r>
            <a:r>
              <a:rPr sz="2400" dirty="0">
                <a:latin typeface="Arial MT"/>
                <a:cs typeface="Arial MT"/>
              </a:rPr>
              <a:t>and</a:t>
            </a:r>
            <a:r>
              <a:rPr sz="2400" spc="-70" dirty="0">
                <a:latin typeface="Arial MT"/>
                <a:cs typeface="Arial MT"/>
              </a:rPr>
              <a:t> </a:t>
            </a:r>
            <a:r>
              <a:rPr sz="2400" dirty="0">
                <a:latin typeface="Arial MT"/>
                <a:cs typeface="Arial MT"/>
              </a:rPr>
              <a:t>aspects</a:t>
            </a:r>
            <a:r>
              <a:rPr sz="2400" spc="-90" dirty="0">
                <a:latin typeface="Arial MT"/>
                <a:cs typeface="Arial MT"/>
              </a:rPr>
              <a:t> </a:t>
            </a:r>
            <a:r>
              <a:rPr sz="2400" dirty="0">
                <a:latin typeface="Arial MT"/>
                <a:cs typeface="Arial MT"/>
              </a:rPr>
              <a:t>of</a:t>
            </a:r>
            <a:r>
              <a:rPr sz="2400" spc="-85" dirty="0">
                <a:latin typeface="Arial MT"/>
                <a:cs typeface="Arial MT"/>
              </a:rPr>
              <a:t> </a:t>
            </a:r>
            <a:r>
              <a:rPr sz="2400" spc="-10" dirty="0">
                <a:latin typeface="Arial MT"/>
                <a:cs typeface="Arial MT"/>
              </a:rPr>
              <a:t>security.</a:t>
            </a:r>
            <a:endParaRPr sz="240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5548" rIns="0" bIns="0" rtlCol="0">
            <a:spAutoFit/>
          </a:bodyPr>
          <a:lstStyle/>
          <a:p>
            <a:pPr marL="332740">
              <a:lnSpc>
                <a:spcPct val="100000"/>
              </a:lnSpc>
              <a:spcBef>
                <a:spcPts val="95"/>
              </a:spcBef>
            </a:pPr>
            <a:r>
              <a:rPr sz="2800" b="1" spc="-65" dirty="0">
                <a:latin typeface="Tahoma"/>
                <a:cs typeface="Tahoma"/>
              </a:rPr>
              <a:t>Non-</a:t>
            </a:r>
            <a:r>
              <a:rPr sz="2800" b="1" spc="-75" dirty="0">
                <a:latin typeface="Tahoma"/>
                <a:cs typeface="Tahoma"/>
              </a:rPr>
              <a:t>functional</a:t>
            </a:r>
            <a:r>
              <a:rPr sz="2800" b="1" spc="-50" dirty="0">
                <a:latin typeface="Tahoma"/>
                <a:cs typeface="Tahoma"/>
              </a:rPr>
              <a:t> </a:t>
            </a:r>
            <a:r>
              <a:rPr sz="2800" b="1" spc="-185" dirty="0">
                <a:latin typeface="Tahoma"/>
                <a:cs typeface="Tahoma"/>
              </a:rPr>
              <a:t>Testing</a:t>
            </a:r>
            <a:r>
              <a:rPr sz="2800" b="1" spc="-40" dirty="0">
                <a:latin typeface="Tahoma"/>
                <a:cs typeface="Tahoma"/>
              </a:rPr>
              <a:t> </a:t>
            </a:r>
            <a:r>
              <a:rPr sz="2800" b="1" spc="-65" dirty="0">
                <a:latin typeface="Tahoma"/>
                <a:cs typeface="Tahoma"/>
              </a:rPr>
              <a:t>Parameters</a:t>
            </a:r>
            <a:endParaRPr sz="2800">
              <a:latin typeface="Tahoma"/>
              <a:cs typeface="Tahoma"/>
            </a:endParaRPr>
          </a:p>
        </p:txBody>
      </p:sp>
      <p:grpSp>
        <p:nvGrpSpPr>
          <p:cNvPr id="3" name="object 3"/>
          <p:cNvGrpSpPr/>
          <p:nvPr/>
        </p:nvGrpSpPr>
        <p:grpSpPr>
          <a:xfrm>
            <a:off x="914400" y="1453641"/>
            <a:ext cx="8456295" cy="5603240"/>
            <a:chOff x="914400" y="1453641"/>
            <a:chExt cx="8456295" cy="5603240"/>
          </a:xfrm>
        </p:grpSpPr>
        <p:pic>
          <p:nvPicPr>
            <p:cNvPr id="4" name="object 4"/>
            <p:cNvPicPr/>
            <p:nvPr/>
          </p:nvPicPr>
          <p:blipFill>
            <a:blip r:embed="rId2" cstate="print"/>
            <a:stretch>
              <a:fillRect/>
            </a:stretch>
          </p:blipFill>
          <p:spPr>
            <a:xfrm>
              <a:off x="8775954" y="6495288"/>
              <a:ext cx="594359" cy="561594"/>
            </a:xfrm>
            <a:prstGeom prst="rect">
              <a:avLst/>
            </a:prstGeom>
          </p:spPr>
        </p:pic>
        <p:pic>
          <p:nvPicPr>
            <p:cNvPr id="5" name="object 5"/>
            <p:cNvPicPr/>
            <p:nvPr/>
          </p:nvPicPr>
          <p:blipFill>
            <a:blip r:embed="rId3" cstate="print"/>
            <a:stretch>
              <a:fillRect/>
            </a:stretch>
          </p:blipFill>
          <p:spPr>
            <a:xfrm>
              <a:off x="914400" y="1453641"/>
              <a:ext cx="8229600" cy="560323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2259" rIns="0" bIns="0" rtlCol="0">
            <a:spAutoFit/>
          </a:bodyPr>
          <a:lstStyle/>
          <a:p>
            <a:pPr marL="546100">
              <a:lnSpc>
                <a:spcPct val="100000"/>
              </a:lnSpc>
              <a:spcBef>
                <a:spcPts val="100"/>
              </a:spcBef>
            </a:pPr>
            <a:r>
              <a:rPr sz="3600" b="1" dirty="0">
                <a:latin typeface="Tahoma"/>
                <a:cs typeface="Tahoma"/>
              </a:rPr>
              <a:t>Black</a:t>
            </a:r>
            <a:r>
              <a:rPr sz="3600" b="1" spc="-165" dirty="0">
                <a:latin typeface="Tahoma"/>
                <a:cs typeface="Tahoma"/>
              </a:rPr>
              <a:t> </a:t>
            </a:r>
            <a:r>
              <a:rPr sz="3600" b="1" spc="-145" dirty="0">
                <a:latin typeface="Tahoma"/>
                <a:cs typeface="Tahoma"/>
              </a:rPr>
              <a:t>Box</a:t>
            </a:r>
            <a:r>
              <a:rPr sz="3600" b="1" spc="-114" dirty="0">
                <a:latin typeface="Tahoma"/>
                <a:cs typeface="Tahoma"/>
              </a:rPr>
              <a:t> </a:t>
            </a:r>
            <a:r>
              <a:rPr sz="3600" b="1" spc="-215" dirty="0">
                <a:latin typeface="Tahoma"/>
                <a:cs typeface="Tahoma"/>
              </a:rPr>
              <a:t>Testing</a:t>
            </a:r>
            <a:r>
              <a:rPr sz="3600" b="1" spc="-50" dirty="0">
                <a:latin typeface="Tahoma"/>
                <a:cs typeface="Tahoma"/>
              </a:rPr>
              <a:t> </a:t>
            </a:r>
            <a:r>
              <a:rPr sz="3600" b="1" spc="-65" dirty="0">
                <a:latin typeface="Tahoma"/>
                <a:cs typeface="Tahoma"/>
              </a:rPr>
              <a:t>Techniques</a:t>
            </a:r>
            <a:endParaRPr sz="3600">
              <a:latin typeface="Tahoma"/>
              <a:cs typeface="Tahoma"/>
            </a:endParaRPr>
          </a:p>
        </p:txBody>
      </p:sp>
      <p:sp>
        <p:nvSpPr>
          <p:cNvPr id="3" name="object 3"/>
          <p:cNvSpPr txBox="1"/>
          <p:nvPr/>
        </p:nvSpPr>
        <p:spPr>
          <a:xfrm>
            <a:off x="1374394" y="3307460"/>
            <a:ext cx="5683250" cy="1977389"/>
          </a:xfrm>
          <a:prstGeom prst="rect">
            <a:avLst/>
          </a:prstGeom>
        </p:spPr>
        <p:txBody>
          <a:bodyPr vert="horz" wrap="square" lIns="0" tIns="13335" rIns="0" bIns="0" rtlCol="0">
            <a:spAutoFit/>
          </a:bodyPr>
          <a:lstStyle/>
          <a:p>
            <a:pPr marL="298450" indent="-285750">
              <a:lnSpc>
                <a:spcPct val="100000"/>
              </a:lnSpc>
              <a:spcBef>
                <a:spcPts val="105"/>
              </a:spcBef>
              <a:buChar char="•"/>
              <a:tabLst>
                <a:tab pos="298450" algn="l"/>
              </a:tabLst>
            </a:pPr>
            <a:r>
              <a:rPr sz="3200" dirty="0">
                <a:latin typeface="Arial MT"/>
                <a:cs typeface="Arial MT"/>
              </a:rPr>
              <a:t>Equivalence</a:t>
            </a:r>
            <a:r>
              <a:rPr sz="3200" spc="-90" dirty="0">
                <a:latin typeface="Arial MT"/>
                <a:cs typeface="Arial MT"/>
              </a:rPr>
              <a:t> </a:t>
            </a:r>
            <a:r>
              <a:rPr sz="3200" spc="-10" dirty="0">
                <a:latin typeface="Arial MT"/>
                <a:cs typeface="Arial MT"/>
              </a:rPr>
              <a:t>Partitioning</a:t>
            </a:r>
            <a:endParaRPr sz="3200">
              <a:latin typeface="Arial MT"/>
              <a:cs typeface="Arial MT"/>
            </a:endParaRPr>
          </a:p>
          <a:p>
            <a:pPr marL="298450" indent="-285750">
              <a:lnSpc>
                <a:spcPct val="100000"/>
              </a:lnSpc>
              <a:buChar char="•"/>
              <a:tabLst>
                <a:tab pos="298450" algn="l"/>
              </a:tabLst>
            </a:pPr>
            <a:r>
              <a:rPr sz="3200" dirty="0">
                <a:latin typeface="Arial MT"/>
                <a:cs typeface="Arial MT"/>
              </a:rPr>
              <a:t>Boundary</a:t>
            </a:r>
            <a:r>
              <a:rPr sz="3200" spc="-65" dirty="0">
                <a:latin typeface="Arial MT"/>
                <a:cs typeface="Arial MT"/>
              </a:rPr>
              <a:t> </a:t>
            </a:r>
            <a:r>
              <a:rPr sz="3200" dirty="0">
                <a:latin typeface="Arial MT"/>
                <a:cs typeface="Arial MT"/>
              </a:rPr>
              <a:t>Value</a:t>
            </a:r>
            <a:r>
              <a:rPr sz="3200" spc="-55" dirty="0">
                <a:latin typeface="Arial MT"/>
                <a:cs typeface="Arial MT"/>
              </a:rPr>
              <a:t> </a:t>
            </a:r>
            <a:r>
              <a:rPr sz="3200" spc="-10" dirty="0">
                <a:latin typeface="Arial MT"/>
                <a:cs typeface="Arial MT"/>
              </a:rPr>
              <a:t>Analysis</a:t>
            </a:r>
            <a:endParaRPr sz="3200">
              <a:latin typeface="Arial MT"/>
              <a:cs typeface="Arial MT"/>
            </a:endParaRPr>
          </a:p>
          <a:p>
            <a:pPr marL="298450" indent="-285750">
              <a:lnSpc>
                <a:spcPct val="100000"/>
              </a:lnSpc>
              <a:buChar char="•"/>
              <a:tabLst>
                <a:tab pos="298450" algn="l"/>
              </a:tabLst>
            </a:pPr>
            <a:r>
              <a:rPr sz="3200" spc="-10" dirty="0">
                <a:latin typeface="Arial MT"/>
                <a:cs typeface="Arial MT"/>
              </a:rPr>
              <a:t>Requirement-</a:t>
            </a:r>
            <a:r>
              <a:rPr sz="3200" dirty="0">
                <a:latin typeface="Arial MT"/>
                <a:cs typeface="Arial MT"/>
              </a:rPr>
              <a:t>based</a:t>
            </a:r>
            <a:r>
              <a:rPr sz="3200" spc="-35" dirty="0">
                <a:latin typeface="Arial MT"/>
                <a:cs typeface="Arial MT"/>
              </a:rPr>
              <a:t> </a:t>
            </a:r>
            <a:r>
              <a:rPr sz="3200" spc="-10" dirty="0">
                <a:latin typeface="Arial MT"/>
                <a:cs typeface="Arial MT"/>
              </a:rPr>
              <a:t>testing</a:t>
            </a:r>
            <a:endParaRPr sz="3200">
              <a:latin typeface="Arial MT"/>
              <a:cs typeface="Arial MT"/>
            </a:endParaRPr>
          </a:p>
          <a:p>
            <a:pPr marL="298450" indent="-285750">
              <a:lnSpc>
                <a:spcPct val="100000"/>
              </a:lnSpc>
              <a:buChar char="•"/>
              <a:tabLst>
                <a:tab pos="298450" algn="l"/>
              </a:tabLst>
            </a:pPr>
            <a:r>
              <a:rPr sz="3200" dirty="0">
                <a:latin typeface="Arial MT"/>
                <a:cs typeface="Arial MT"/>
              </a:rPr>
              <a:t>Positive</a:t>
            </a:r>
            <a:r>
              <a:rPr sz="3200" spc="-65" dirty="0">
                <a:latin typeface="Arial MT"/>
                <a:cs typeface="Arial MT"/>
              </a:rPr>
              <a:t> </a:t>
            </a:r>
            <a:r>
              <a:rPr sz="3200" dirty="0">
                <a:latin typeface="Arial MT"/>
                <a:cs typeface="Arial MT"/>
              </a:rPr>
              <a:t>and</a:t>
            </a:r>
            <a:r>
              <a:rPr sz="3200" spc="-45" dirty="0">
                <a:latin typeface="Arial MT"/>
                <a:cs typeface="Arial MT"/>
              </a:rPr>
              <a:t> </a:t>
            </a:r>
            <a:r>
              <a:rPr sz="3200" dirty="0">
                <a:latin typeface="Arial MT"/>
                <a:cs typeface="Arial MT"/>
              </a:rPr>
              <a:t>Negative</a:t>
            </a:r>
            <a:r>
              <a:rPr sz="3200" spc="-55" dirty="0">
                <a:latin typeface="Arial MT"/>
                <a:cs typeface="Arial MT"/>
              </a:rPr>
              <a:t> </a:t>
            </a:r>
            <a:r>
              <a:rPr sz="3200" spc="-10" dirty="0">
                <a:latin typeface="Arial MT"/>
                <a:cs typeface="Arial MT"/>
              </a:rPr>
              <a:t>Testing</a:t>
            </a:r>
            <a:endParaRPr sz="320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3694" rIns="0" bIns="0" rtlCol="0">
            <a:spAutoFit/>
          </a:bodyPr>
          <a:lstStyle/>
          <a:p>
            <a:pPr marL="12700">
              <a:lnSpc>
                <a:spcPct val="100000"/>
              </a:lnSpc>
              <a:spcBef>
                <a:spcPts val="100"/>
              </a:spcBef>
            </a:pPr>
            <a:r>
              <a:rPr dirty="0"/>
              <a:t>Equivalence</a:t>
            </a:r>
            <a:r>
              <a:rPr spc="-250" dirty="0"/>
              <a:t> </a:t>
            </a:r>
            <a:r>
              <a:rPr spc="-114" dirty="0"/>
              <a:t>Partitioning</a:t>
            </a:r>
          </a:p>
        </p:txBody>
      </p:sp>
      <p:sp>
        <p:nvSpPr>
          <p:cNvPr id="3" name="object 3"/>
          <p:cNvSpPr txBox="1"/>
          <p:nvPr/>
        </p:nvSpPr>
        <p:spPr>
          <a:xfrm>
            <a:off x="980643" y="1618615"/>
            <a:ext cx="8402955" cy="3866515"/>
          </a:xfrm>
          <a:prstGeom prst="rect">
            <a:avLst/>
          </a:prstGeom>
        </p:spPr>
        <p:txBody>
          <a:bodyPr vert="horz" wrap="square" lIns="0" tIns="12065" rIns="0" bIns="0" rtlCol="0">
            <a:spAutoFit/>
          </a:bodyPr>
          <a:lstStyle/>
          <a:p>
            <a:pPr marL="467359" marR="5080" indent="-455295" algn="just">
              <a:lnSpc>
                <a:spcPct val="100000"/>
              </a:lnSpc>
              <a:spcBef>
                <a:spcPts val="95"/>
              </a:spcBef>
              <a:buChar char="•"/>
              <a:tabLst>
                <a:tab pos="469900" algn="l"/>
              </a:tabLst>
            </a:pPr>
            <a:r>
              <a:rPr sz="2800" dirty="0">
                <a:latin typeface="Arial MT"/>
                <a:cs typeface="Arial MT"/>
              </a:rPr>
              <a:t>Testers</a:t>
            </a:r>
            <a:r>
              <a:rPr sz="2800" spc="260" dirty="0">
                <a:latin typeface="Arial MT"/>
                <a:cs typeface="Arial MT"/>
              </a:rPr>
              <a:t> </a:t>
            </a:r>
            <a:r>
              <a:rPr sz="2800" dirty="0">
                <a:latin typeface="Arial MT"/>
                <a:cs typeface="Arial MT"/>
              </a:rPr>
              <a:t>can</a:t>
            </a:r>
            <a:r>
              <a:rPr sz="2800" spc="265" dirty="0">
                <a:latin typeface="Arial MT"/>
                <a:cs typeface="Arial MT"/>
              </a:rPr>
              <a:t> </a:t>
            </a:r>
            <a:r>
              <a:rPr sz="2800" dirty="0">
                <a:latin typeface="Arial MT"/>
                <a:cs typeface="Arial MT"/>
              </a:rPr>
              <a:t>divide</a:t>
            </a:r>
            <a:r>
              <a:rPr sz="2800" spc="290" dirty="0">
                <a:latin typeface="Arial MT"/>
                <a:cs typeface="Arial MT"/>
              </a:rPr>
              <a:t> </a:t>
            </a:r>
            <a:r>
              <a:rPr sz="2800" dirty="0">
                <a:latin typeface="Arial MT"/>
                <a:cs typeface="Arial MT"/>
              </a:rPr>
              <a:t>possible</a:t>
            </a:r>
            <a:r>
              <a:rPr sz="2800" spc="275" dirty="0">
                <a:latin typeface="Arial MT"/>
                <a:cs typeface="Arial MT"/>
              </a:rPr>
              <a:t> </a:t>
            </a:r>
            <a:r>
              <a:rPr sz="2800" dirty="0">
                <a:latin typeface="Arial MT"/>
                <a:cs typeface="Arial MT"/>
              </a:rPr>
              <a:t>inputs</a:t>
            </a:r>
            <a:r>
              <a:rPr sz="2800" spc="260" dirty="0">
                <a:latin typeface="Arial MT"/>
                <a:cs typeface="Arial MT"/>
              </a:rPr>
              <a:t> </a:t>
            </a:r>
            <a:r>
              <a:rPr sz="2800" dirty="0">
                <a:latin typeface="Arial MT"/>
                <a:cs typeface="Arial MT"/>
              </a:rPr>
              <a:t>into</a:t>
            </a:r>
            <a:r>
              <a:rPr sz="2800" spc="275" dirty="0">
                <a:latin typeface="Arial MT"/>
                <a:cs typeface="Arial MT"/>
              </a:rPr>
              <a:t> </a:t>
            </a:r>
            <a:r>
              <a:rPr sz="2800" dirty="0">
                <a:latin typeface="Arial MT"/>
                <a:cs typeface="Arial MT"/>
              </a:rPr>
              <a:t>groups</a:t>
            </a:r>
            <a:r>
              <a:rPr sz="2800" spc="270" dirty="0">
                <a:latin typeface="Arial MT"/>
                <a:cs typeface="Arial MT"/>
              </a:rPr>
              <a:t> </a:t>
            </a:r>
            <a:r>
              <a:rPr sz="2800" spc="-25" dirty="0">
                <a:latin typeface="Arial MT"/>
                <a:cs typeface="Arial MT"/>
              </a:rPr>
              <a:t>or 	</a:t>
            </a:r>
            <a:r>
              <a:rPr sz="2800" dirty="0">
                <a:latin typeface="Arial MT"/>
                <a:cs typeface="Arial MT"/>
              </a:rPr>
              <a:t>“partitions”,</a:t>
            </a:r>
            <a:r>
              <a:rPr sz="2800" spc="170" dirty="0">
                <a:latin typeface="Arial MT"/>
                <a:cs typeface="Arial MT"/>
              </a:rPr>
              <a:t> </a:t>
            </a:r>
            <a:r>
              <a:rPr sz="2800" dirty="0">
                <a:latin typeface="Arial MT"/>
                <a:cs typeface="Arial MT"/>
              </a:rPr>
              <a:t>and</a:t>
            </a:r>
            <a:r>
              <a:rPr sz="2800" spc="155" dirty="0">
                <a:latin typeface="Arial MT"/>
                <a:cs typeface="Arial MT"/>
              </a:rPr>
              <a:t> </a:t>
            </a:r>
            <a:r>
              <a:rPr sz="2800" dirty="0">
                <a:latin typeface="Arial MT"/>
                <a:cs typeface="Arial MT"/>
              </a:rPr>
              <a:t>test</a:t>
            </a:r>
            <a:r>
              <a:rPr sz="2800" spc="160" dirty="0">
                <a:latin typeface="Arial MT"/>
                <a:cs typeface="Arial MT"/>
              </a:rPr>
              <a:t> </a:t>
            </a:r>
            <a:r>
              <a:rPr sz="2800" dirty="0">
                <a:latin typeface="Arial MT"/>
                <a:cs typeface="Arial MT"/>
              </a:rPr>
              <a:t>only</a:t>
            </a:r>
            <a:r>
              <a:rPr sz="2800" spc="165" dirty="0">
                <a:latin typeface="Arial MT"/>
                <a:cs typeface="Arial MT"/>
              </a:rPr>
              <a:t> </a:t>
            </a:r>
            <a:r>
              <a:rPr sz="2800" dirty="0">
                <a:latin typeface="Arial MT"/>
                <a:cs typeface="Arial MT"/>
              </a:rPr>
              <a:t>one</a:t>
            </a:r>
            <a:r>
              <a:rPr sz="2800" spc="155" dirty="0">
                <a:latin typeface="Arial MT"/>
                <a:cs typeface="Arial MT"/>
              </a:rPr>
              <a:t> </a:t>
            </a:r>
            <a:r>
              <a:rPr sz="2800" dirty="0">
                <a:latin typeface="Arial MT"/>
                <a:cs typeface="Arial MT"/>
              </a:rPr>
              <a:t>example</a:t>
            </a:r>
            <a:r>
              <a:rPr sz="2800" spc="170" dirty="0">
                <a:latin typeface="Arial MT"/>
                <a:cs typeface="Arial MT"/>
              </a:rPr>
              <a:t> </a:t>
            </a:r>
            <a:r>
              <a:rPr sz="2800" dirty="0">
                <a:latin typeface="Arial MT"/>
                <a:cs typeface="Arial MT"/>
              </a:rPr>
              <a:t>input</a:t>
            </a:r>
            <a:r>
              <a:rPr sz="2800" spc="170" dirty="0">
                <a:latin typeface="Arial MT"/>
                <a:cs typeface="Arial MT"/>
              </a:rPr>
              <a:t> </a:t>
            </a:r>
            <a:r>
              <a:rPr sz="2800" spc="-20" dirty="0">
                <a:latin typeface="Arial MT"/>
                <a:cs typeface="Arial MT"/>
              </a:rPr>
              <a:t>from 	</a:t>
            </a:r>
            <a:r>
              <a:rPr sz="2800" dirty="0">
                <a:latin typeface="Arial MT"/>
                <a:cs typeface="Arial MT"/>
              </a:rPr>
              <a:t>each</a:t>
            </a:r>
            <a:r>
              <a:rPr sz="2800" spc="-45" dirty="0">
                <a:latin typeface="Arial MT"/>
                <a:cs typeface="Arial MT"/>
              </a:rPr>
              <a:t> </a:t>
            </a:r>
            <a:r>
              <a:rPr sz="2800" spc="-10" dirty="0">
                <a:latin typeface="Arial MT"/>
                <a:cs typeface="Arial MT"/>
              </a:rPr>
              <a:t>group.</a:t>
            </a:r>
            <a:endParaRPr sz="2800">
              <a:latin typeface="Arial MT"/>
              <a:cs typeface="Arial MT"/>
            </a:endParaRPr>
          </a:p>
          <a:p>
            <a:pPr marL="467359" marR="5080" indent="-455295" algn="just">
              <a:lnSpc>
                <a:spcPct val="100000"/>
              </a:lnSpc>
              <a:buChar char="•"/>
              <a:tabLst>
                <a:tab pos="469900" algn="l"/>
              </a:tabLst>
            </a:pPr>
            <a:r>
              <a:rPr sz="2800" dirty="0">
                <a:latin typeface="Arial MT"/>
                <a:cs typeface="Arial MT"/>
              </a:rPr>
              <a:t>For</a:t>
            </a:r>
            <a:r>
              <a:rPr sz="2800" spc="445" dirty="0">
                <a:latin typeface="Arial MT"/>
                <a:cs typeface="Arial MT"/>
              </a:rPr>
              <a:t> </a:t>
            </a:r>
            <a:r>
              <a:rPr sz="2800" dirty="0">
                <a:latin typeface="Arial MT"/>
                <a:cs typeface="Arial MT"/>
              </a:rPr>
              <a:t>example,</a:t>
            </a:r>
            <a:r>
              <a:rPr sz="2800" spc="459" dirty="0">
                <a:latin typeface="Arial MT"/>
                <a:cs typeface="Arial MT"/>
              </a:rPr>
              <a:t> </a:t>
            </a:r>
            <a:r>
              <a:rPr sz="2800" dirty="0">
                <a:latin typeface="Arial MT"/>
                <a:cs typeface="Arial MT"/>
              </a:rPr>
              <a:t>if</a:t>
            </a:r>
            <a:r>
              <a:rPr sz="2800" spc="445" dirty="0">
                <a:latin typeface="Arial MT"/>
                <a:cs typeface="Arial MT"/>
              </a:rPr>
              <a:t> </a:t>
            </a:r>
            <a:r>
              <a:rPr sz="2800" dirty="0">
                <a:latin typeface="Arial MT"/>
                <a:cs typeface="Arial MT"/>
              </a:rPr>
              <a:t>a</a:t>
            </a:r>
            <a:r>
              <a:rPr sz="2800" spc="445" dirty="0">
                <a:latin typeface="Arial MT"/>
                <a:cs typeface="Arial MT"/>
              </a:rPr>
              <a:t> </a:t>
            </a:r>
            <a:r>
              <a:rPr sz="2800" dirty="0">
                <a:latin typeface="Arial MT"/>
                <a:cs typeface="Arial MT"/>
              </a:rPr>
              <a:t>system</a:t>
            </a:r>
            <a:r>
              <a:rPr sz="2800" spc="450" dirty="0">
                <a:latin typeface="Arial MT"/>
                <a:cs typeface="Arial MT"/>
              </a:rPr>
              <a:t> </a:t>
            </a:r>
            <a:r>
              <a:rPr sz="2800" dirty="0">
                <a:latin typeface="Arial MT"/>
                <a:cs typeface="Arial MT"/>
              </a:rPr>
              <a:t>requires</a:t>
            </a:r>
            <a:r>
              <a:rPr sz="2800" spc="475" dirty="0">
                <a:latin typeface="Arial MT"/>
                <a:cs typeface="Arial MT"/>
              </a:rPr>
              <a:t> </a:t>
            </a:r>
            <a:r>
              <a:rPr sz="2800" dirty="0">
                <a:latin typeface="Arial MT"/>
                <a:cs typeface="Arial MT"/>
              </a:rPr>
              <a:t>a</a:t>
            </a:r>
            <a:r>
              <a:rPr sz="2800" spc="450" dirty="0">
                <a:latin typeface="Arial MT"/>
                <a:cs typeface="Arial MT"/>
              </a:rPr>
              <a:t> </a:t>
            </a:r>
            <a:r>
              <a:rPr sz="2800" dirty="0">
                <a:latin typeface="Arial MT"/>
                <a:cs typeface="Arial MT"/>
              </a:rPr>
              <a:t>user’s</a:t>
            </a:r>
            <a:r>
              <a:rPr sz="2800" spc="450" dirty="0">
                <a:latin typeface="Arial MT"/>
                <a:cs typeface="Arial MT"/>
              </a:rPr>
              <a:t> </a:t>
            </a:r>
            <a:r>
              <a:rPr sz="2800" spc="-10" dirty="0">
                <a:latin typeface="Arial MT"/>
                <a:cs typeface="Arial MT"/>
              </a:rPr>
              <a:t>birth 	</a:t>
            </a:r>
            <a:r>
              <a:rPr sz="2800" dirty="0">
                <a:latin typeface="Arial MT"/>
                <a:cs typeface="Arial MT"/>
              </a:rPr>
              <a:t>date</a:t>
            </a:r>
            <a:r>
              <a:rPr sz="2800" spc="-40" dirty="0">
                <a:latin typeface="Arial MT"/>
                <a:cs typeface="Arial MT"/>
              </a:rPr>
              <a:t> </a:t>
            </a:r>
            <a:r>
              <a:rPr sz="2800" dirty="0">
                <a:latin typeface="Arial MT"/>
                <a:cs typeface="Arial MT"/>
              </a:rPr>
              <a:t>and</a:t>
            </a:r>
            <a:r>
              <a:rPr sz="2800" spc="-30" dirty="0">
                <a:latin typeface="Arial MT"/>
                <a:cs typeface="Arial MT"/>
              </a:rPr>
              <a:t> </a:t>
            </a:r>
            <a:r>
              <a:rPr sz="2800" dirty="0">
                <a:latin typeface="Arial MT"/>
                <a:cs typeface="Arial MT"/>
              </a:rPr>
              <a:t>provides</a:t>
            </a:r>
            <a:r>
              <a:rPr sz="2800" spc="-35" dirty="0">
                <a:latin typeface="Arial MT"/>
                <a:cs typeface="Arial MT"/>
              </a:rPr>
              <a:t> </a:t>
            </a:r>
            <a:r>
              <a:rPr sz="2800" dirty="0">
                <a:latin typeface="Arial MT"/>
                <a:cs typeface="Arial MT"/>
              </a:rPr>
              <a:t>the</a:t>
            </a:r>
            <a:r>
              <a:rPr sz="2800" spc="-30" dirty="0">
                <a:latin typeface="Arial MT"/>
                <a:cs typeface="Arial MT"/>
              </a:rPr>
              <a:t> </a:t>
            </a:r>
            <a:r>
              <a:rPr sz="2800" dirty="0">
                <a:latin typeface="Arial MT"/>
                <a:cs typeface="Arial MT"/>
              </a:rPr>
              <a:t>same</a:t>
            </a:r>
            <a:r>
              <a:rPr sz="2800" spc="-35" dirty="0">
                <a:latin typeface="Arial MT"/>
                <a:cs typeface="Arial MT"/>
              </a:rPr>
              <a:t> </a:t>
            </a:r>
            <a:r>
              <a:rPr sz="2800" dirty="0">
                <a:latin typeface="Arial MT"/>
                <a:cs typeface="Arial MT"/>
              </a:rPr>
              <a:t>response</a:t>
            </a:r>
            <a:r>
              <a:rPr sz="2800" spc="-25" dirty="0">
                <a:latin typeface="Arial MT"/>
                <a:cs typeface="Arial MT"/>
              </a:rPr>
              <a:t> </a:t>
            </a:r>
            <a:r>
              <a:rPr sz="2800" dirty="0">
                <a:latin typeface="Arial MT"/>
                <a:cs typeface="Arial MT"/>
              </a:rPr>
              <a:t>for</a:t>
            </a:r>
            <a:r>
              <a:rPr sz="2800" spc="-40" dirty="0">
                <a:latin typeface="Arial MT"/>
                <a:cs typeface="Arial MT"/>
              </a:rPr>
              <a:t> </a:t>
            </a:r>
            <a:r>
              <a:rPr sz="2800" dirty="0">
                <a:latin typeface="Arial MT"/>
                <a:cs typeface="Arial MT"/>
              </a:rPr>
              <a:t>all</a:t>
            </a:r>
            <a:r>
              <a:rPr sz="2800" spc="-40" dirty="0">
                <a:latin typeface="Arial MT"/>
                <a:cs typeface="Arial MT"/>
              </a:rPr>
              <a:t> </a:t>
            </a:r>
            <a:r>
              <a:rPr sz="2800" spc="-10" dirty="0">
                <a:latin typeface="Arial MT"/>
                <a:cs typeface="Arial MT"/>
              </a:rPr>
              <a:t>users 	</a:t>
            </a:r>
            <a:r>
              <a:rPr sz="2800" dirty="0">
                <a:latin typeface="Arial MT"/>
                <a:cs typeface="Arial MT"/>
              </a:rPr>
              <a:t>under</a:t>
            </a:r>
            <a:r>
              <a:rPr sz="2800" spc="190" dirty="0">
                <a:latin typeface="Arial MT"/>
                <a:cs typeface="Arial MT"/>
              </a:rPr>
              <a:t> </a:t>
            </a:r>
            <a:r>
              <a:rPr sz="2800" dirty="0">
                <a:latin typeface="Arial MT"/>
                <a:cs typeface="Arial MT"/>
              </a:rPr>
              <a:t>the</a:t>
            </a:r>
            <a:r>
              <a:rPr sz="2800" spc="200" dirty="0">
                <a:latin typeface="Arial MT"/>
                <a:cs typeface="Arial MT"/>
              </a:rPr>
              <a:t> </a:t>
            </a:r>
            <a:r>
              <a:rPr sz="2800" dirty="0">
                <a:latin typeface="Arial MT"/>
                <a:cs typeface="Arial MT"/>
              </a:rPr>
              <a:t>age</a:t>
            </a:r>
            <a:r>
              <a:rPr sz="2800" spc="190" dirty="0">
                <a:latin typeface="Arial MT"/>
                <a:cs typeface="Arial MT"/>
              </a:rPr>
              <a:t> </a:t>
            </a:r>
            <a:r>
              <a:rPr sz="2800" dirty="0">
                <a:latin typeface="Arial MT"/>
                <a:cs typeface="Arial MT"/>
              </a:rPr>
              <a:t>of</a:t>
            </a:r>
            <a:r>
              <a:rPr sz="2800" spc="190" dirty="0">
                <a:latin typeface="Arial MT"/>
                <a:cs typeface="Arial MT"/>
              </a:rPr>
              <a:t> </a:t>
            </a:r>
            <a:r>
              <a:rPr sz="2800" dirty="0">
                <a:latin typeface="Arial MT"/>
                <a:cs typeface="Arial MT"/>
              </a:rPr>
              <a:t>18,</a:t>
            </a:r>
            <a:r>
              <a:rPr sz="2800" spc="185" dirty="0">
                <a:latin typeface="Arial MT"/>
                <a:cs typeface="Arial MT"/>
              </a:rPr>
              <a:t> </a:t>
            </a:r>
            <a:r>
              <a:rPr sz="2800" dirty="0">
                <a:latin typeface="Arial MT"/>
                <a:cs typeface="Arial MT"/>
              </a:rPr>
              <a:t>and</a:t>
            </a:r>
            <a:r>
              <a:rPr sz="2800" spc="190" dirty="0">
                <a:latin typeface="Arial MT"/>
                <a:cs typeface="Arial MT"/>
              </a:rPr>
              <a:t> </a:t>
            </a:r>
            <a:r>
              <a:rPr sz="2800" dirty="0">
                <a:latin typeface="Arial MT"/>
                <a:cs typeface="Arial MT"/>
              </a:rPr>
              <a:t>a</a:t>
            </a:r>
            <a:r>
              <a:rPr sz="2800" spc="185" dirty="0">
                <a:latin typeface="Arial MT"/>
                <a:cs typeface="Arial MT"/>
              </a:rPr>
              <a:t> </a:t>
            </a:r>
            <a:r>
              <a:rPr sz="2800" dirty="0">
                <a:latin typeface="Arial MT"/>
                <a:cs typeface="Arial MT"/>
              </a:rPr>
              <a:t>different</a:t>
            </a:r>
            <a:r>
              <a:rPr sz="2800" spc="204" dirty="0">
                <a:latin typeface="Arial MT"/>
                <a:cs typeface="Arial MT"/>
              </a:rPr>
              <a:t> </a:t>
            </a:r>
            <a:r>
              <a:rPr sz="2800" dirty="0">
                <a:latin typeface="Arial MT"/>
                <a:cs typeface="Arial MT"/>
              </a:rPr>
              <a:t>response</a:t>
            </a:r>
            <a:r>
              <a:rPr sz="2800" spc="204" dirty="0">
                <a:latin typeface="Arial MT"/>
                <a:cs typeface="Arial MT"/>
              </a:rPr>
              <a:t> </a:t>
            </a:r>
            <a:r>
              <a:rPr sz="2800" spc="-25" dirty="0">
                <a:latin typeface="Arial MT"/>
                <a:cs typeface="Arial MT"/>
              </a:rPr>
              <a:t>for 	</a:t>
            </a:r>
            <a:r>
              <a:rPr sz="2800" dirty="0">
                <a:latin typeface="Arial MT"/>
                <a:cs typeface="Arial MT"/>
              </a:rPr>
              <a:t>users</a:t>
            </a:r>
            <a:r>
              <a:rPr sz="2800" spc="325" dirty="0">
                <a:latin typeface="Arial MT"/>
                <a:cs typeface="Arial MT"/>
              </a:rPr>
              <a:t> </a:t>
            </a:r>
            <a:r>
              <a:rPr sz="2800" dirty="0">
                <a:latin typeface="Arial MT"/>
                <a:cs typeface="Arial MT"/>
              </a:rPr>
              <a:t>over</a:t>
            </a:r>
            <a:r>
              <a:rPr sz="2800" spc="335" dirty="0">
                <a:latin typeface="Arial MT"/>
                <a:cs typeface="Arial MT"/>
              </a:rPr>
              <a:t> </a:t>
            </a:r>
            <a:r>
              <a:rPr sz="2800" dirty="0">
                <a:latin typeface="Arial MT"/>
                <a:cs typeface="Arial MT"/>
              </a:rPr>
              <a:t>18,</a:t>
            </a:r>
            <a:r>
              <a:rPr sz="2800" spc="330" dirty="0">
                <a:latin typeface="Arial MT"/>
                <a:cs typeface="Arial MT"/>
              </a:rPr>
              <a:t> </a:t>
            </a:r>
            <a:r>
              <a:rPr sz="2800" dirty="0">
                <a:latin typeface="Arial MT"/>
                <a:cs typeface="Arial MT"/>
              </a:rPr>
              <a:t>it</a:t>
            </a:r>
            <a:r>
              <a:rPr sz="2800" spc="325" dirty="0">
                <a:latin typeface="Arial MT"/>
                <a:cs typeface="Arial MT"/>
              </a:rPr>
              <a:t> </a:t>
            </a:r>
            <a:r>
              <a:rPr sz="2800" dirty="0">
                <a:latin typeface="Arial MT"/>
                <a:cs typeface="Arial MT"/>
              </a:rPr>
              <a:t>is</a:t>
            </a:r>
            <a:r>
              <a:rPr sz="2800" spc="325" dirty="0">
                <a:latin typeface="Arial MT"/>
                <a:cs typeface="Arial MT"/>
              </a:rPr>
              <a:t> </a:t>
            </a:r>
            <a:r>
              <a:rPr sz="2800" dirty="0">
                <a:latin typeface="Arial MT"/>
                <a:cs typeface="Arial MT"/>
              </a:rPr>
              <a:t>sufficient</a:t>
            </a:r>
            <a:r>
              <a:rPr sz="2800" spc="335" dirty="0">
                <a:latin typeface="Arial MT"/>
                <a:cs typeface="Arial MT"/>
              </a:rPr>
              <a:t> </a:t>
            </a:r>
            <a:r>
              <a:rPr sz="2800" dirty="0">
                <a:latin typeface="Arial MT"/>
                <a:cs typeface="Arial MT"/>
              </a:rPr>
              <a:t>for</a:t>
            </a:r>
            <a:r>
              <a:rPr sz="2800" spc="325" dirty="0">
                <a:latin typeface="Arial MT"/>
                <a:cs typeface="Arial MT"/>
              </a:rPr>
              <a:t> </a:t>
            </a:r>
            <a:r>
              <a:rPr sz="2800" dirty="0">
                <a:latin typeface="Arial MT"/>
                <a:cs typeface="Arial MT"/>
              </a:rPr>
              <a:t>testers</a:t>
            </a:r>
            <a:r>
              <a:rPr sz="2800" spc="330" dirty="0">
                <a:latin typeface="Arial MT"/>
                <a:cs typeface="Arial MT"/>
              </a:rPr>
              <a:t> </a:t>
            </a:r>
            <a:r>
              <a:rPr sz="2800" dirty="0">
                <a:latin typeface="Arial MT"/>
                <a:cs typeface="Arial MT"/>
              </a:rPr>
              <a:t>to</a:t>
            </a:r>
            <a:r>
              <a:rPr sz="2800" spc="335" dirty="0">
                <a:latin typeface="Arial MT"/>
                <a:cs typeface="Arial MT"/>
              </a:rPr>
              <a:t> </a:t>
            </a:r>
            <a:r>
              <a:rPr sz="2800" spc="-10" dirty="0">
                <a:latin typeface="Arial MT"/>
                <a:cs typeface="Arial MT"/>
              </a:rPr>
              <a:t>check 	</a:t>
            </a:r>
            <a:r>
              <a:rPr sz="2800" dirty="0">
                <a:latin typeface="Arial MT"/>
                <a:cs typeface="Arial MT"/>
              </a:rPr>
              <a:t>one</a:t>
            </a:r>
            <a:r>
              <a:rPr sz="2800" spc="495" dirty="0">
                <a:latin typeface="Arial MT"/>
                <a:cs typeface="Arial MT"/>
              </a:rPr>
              <a:t> </a:t>
            </a:r>
            <a:r>
              <a:rPr sz="2800" dirty="0">
                <a:latin typeface="Arial MT"/>
                <a:cs typeface="Arial MT"/>
              </a:rPr>
              <a:t>birth</a:t>
            </a:r>
            <a:r>
              <a:rPr sz="2800" spc="509" dirty="0">
                <a:latin typeface="Arial MT"/>
                <a:cs typeface="Arial MT"/>
              </a:rPr>
              <a:t> </a:t>
            </a:r>
            <a:r>
              <a:rPr sz="2800" dirty="0">
                <a:latin typeface="Arial MT"/>
                <a:cs typeface="Arial MT"/>
              </a:rPr>
              <a:t>date</a:t>
            </a:r>
            <a:r>
              <a:rPr sz="2800" spc="500" dirty="0">
                <a:latin typeface="Arial MT"/>
                <a:cs typeface="Arial MT"/>
              </a:rPr>
              <a:t> </a:t>
            </a:r>
            <a:r>
              <a:rPr sz="2800" dirty="0">
                <a:latin typeface="Arial MT"/>
                <a:cs typeface="Arial MT"/>
              </a:rPr>
              <a:t>in</a:t>
            </a:r>
            <a:r>
              <a:rPr sz="2800" spc="475" dirty="0">
                <a:latin typeface="Arial MT"/>
                <a:cs typeface="Arial MT"/>
              </a:rPr>
              <a:t> </a:t>
            </a:r>
            <a:r>
              <a:rPr sz="2800" dirty="0">
                <a:latin typeface="Arial MT"/>
                <a:cs typeface="Arial MT"/>
              </a:rPr>
              <a:t>the</a:t>
            </a:r>
            <a:r>
              <a:rPr sz="2800" spc="509" dirty="0">
                <a:latin typeface="Arial MT"/>
                <a:cs typeface="Arial MT"/>
              </a:rPr>
              <a:t> </a:t>
            </a:r>
            <a:r>
              <a:rPr sz="2800" dirty="0">
                <a:latin typeface="Arial MT"/>
                <a:cs typeface="Arial MT"/>
              </a:rPr>
              <a:t>“under</a:t>
            </a:r>
            <a:r>
              <a:rPr sz="2800" spc="500" dirty="0">
                <a:latin typeface="Arial MT"/>
                <a:cs typeface="Arial MT"/>
              </a:rPr>
              <a:t> </a:t>
            </a:r>
            <a:r>
              <a:rPr sz="2800" dirty="0">
                <a:latin typeface="Arial MT"/>
                <a:cs typeface="Arial MT"/>
              </a:rPr>
              <a:t>18”</a:t>
            </a:r>
            <a:r>
              <a:rPr sz="2800" spc="505" dirty="0">
                <a:latin typeface="Arial MT"/>
                <a:cs typeface="Arial MT"/>
              </a:rPr>
              <a:t> </a:t>
            </a:r>
            <a:r>
              <a:rPr sz="2800" dirty="0">
                <a:latin typeface="Arial MT"/>
                <a:cs typeface="Arial MT"/>
              </a:rPr>
              <a:t>group</a:t>
            </a:r>
            <a:r>
              <a:rPr sz="2800" spc="500" dirty="0">
                <a:latin typeface="Arial MT"/>
                <a:cs typeface="Arial MT"/>
              </a:rPr>
              <a:t> </a:t>
            </a:r>
            <a:r>
              <a:rPr sz="2800" dirty="0">
                <a:latin typeface="Arial MT"/>
                <a:cs typeface="Arial MT"/>
              </a:rPr>
              <a:t>and</a:t>
            </a:r>
            <a:r>
              <a:rPr sz="2800" spc="500" dirty="0">
                <a:latin typeface="Arial MT"/>
                <a:cs typeface="Arial MT"/>
              </a:rPr>
              <a:t> </a:t>
            </a:r>
            <a:r>
              <a:rPr sz="2800" spc="-25" dirty="0">
                <a:latin typeface="Arial MT"/>
                <a:cs typeface="Arial MT"/>
              </a:rPr>
              <a:t>one 	</a:t>
            </a:r>
            <a:r>
              <a:rPr sz="2800" dirty="0">
                <a:latin typeface="Arial MT"/>
                <a:cs typeface="Arial MT"/>
              </a:rPr>
              <a:t>date</a:t>
            </a:r>
            <a:r>
              <a:rPr sz="2800" spc="-40" dirty="0">
                <a:latin typeface="Arial MT"/>
                <a:cs typeface="Arial MT"/>
              </a:rPr>
              <a:t> </a:t>
            </a:r>
            <a:r>
              <a:rPr sz="2800" dirty="0">
                <a:latin typeface="Arial MT"/>
                <a:cs typeface="Arial MT"/>
              </a:rPr>
              <a:t>in</a:t>
            </a:r>
            <a:r>
              <a:rPr sz="2800" spc="-40" dirty="0">
                <a:latin typeface="Arial MT"/>
                <a:cs typeface="Arial MT"/>
              </a:rPr>
              <a:t> </a:t>
            </a:r>
            <a:r>
              <a:rPr sz="2800" dirty="0">
                <a:latin typeface="Arial MT"/>
                <a:cs typeface="Arial MT"/>
              </a:rPr>
              <a:t>the</a:t>
            </a:r>
            <a:r>
              <a:rPr sz="2800" spc="-35" dirty="0">
                <a:latin typeface="Arial MT"/>
                <a:cs typeface="Arial MT"/>
              </a:rPr>
              <a:t> </a:t>
            </a:r>
            <a:r>
              <a:rPr sz="2800" dirty="0">
                <a:latin typeface="Arial MT"/>
                <a:cs typeface="Arial MT"/>
              </a:rPr>
              <a:t>“over</a:t>
            </a:r>
            <a:r>
              <a:rPr sz="2800" spc="-40" dirty="0">
                <a:latin typeface="Arial MT"/>
                <a:cs typeface="Arial MT"/>
              </a:rPr>
              <a:t> </a:t>
            </a:r>
            <a:r>
              <a:rPr sz="2800" dirty="0">
                <a:latin typeface="Arial MT"/>
                <a:cs typeface="Arial MT"/>
              </a:rPr>
              <a:t>18”</a:t>
            </a:r>
            <a:r>
              <a:rPr sz="2800" spc="-40" dirty="0">
                <a:latin typeface="Arial MT"/>
                <a:cs typeface="Arial MT"/>
              </a:rPr>
              <a:t> </a:t>
            </a:r>
            <a:r>
              <a:rPr sz="2800" spc="-10" dirty="0">
                <a:latin typeface="Arial MT"/>
                <a:cs typeface="Arial MT"/>
              </a:rPr>
              <a:t>group.</a:t>
            </a:r>
            <a:endParaRPr sz="2800">
              <a:latin typeface="Arial MT"/>
              <a:cs typeface="Arial MT"/>
            </a:endParaRPr>
          </a:p>
        </p:txBody>
      </p:sp>
      <p:pic>
        <p:nvPicPr>
          <p:cNvPr id="4" name="object 4"/>
          <p:cNvPicPr/>
          <p:nvPr/>
        </p:nvPicPr>
        <p:blipFill>
          <a:blip r:embed="rId2" cstate="print"/>
          <a:stretch>
            <a:fillRect/>
          </a:stretch>
        </p:blipFill>
        <p:spPr>
          <a:xfrm>
            <a:off x="8775954" y="6495288"/>
            <a:ext cx="594359" cy="5615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3694" rIns="0" bIns="0" rtlCol="0">
            <a:spAutoFit/>
          </a:bodyPr>
          <a:lstStyle/>
          <a:p>
            <a:pPr marL="12700">
              <a:lnSpc>
                <a:spcPct val="100000"/>
              </a:lnSpc>
              <a:spcBef>
                <a:spcPts val="100"/>
              </a:spcBef>
            </a:pPr>
            <a:r>
              <a:rPr dirty="0"/>
              <a:t>Equivalence</a:t>
            </a:r>
            <a:r>
              <a:rPr spc="-250" dirty="0"/>
              <a:t> </a:t>
            </a:r>
            <a:r>
              <a:rPr spc="-114" dirty="0"/>
              <a:t>Partitioning</a:t>
            </a:r>
          </a:p>
        </p:txBody>
      </p:sp>
      <p:sp>
        <p:nvSpPr>
          <p:cNvPr id="3" name="object 3"/>
          <p:cNvSpPr txBox="1"/>
          <p:nvPr/>
        </p:nvSpPr>
        <p:spPr>
          <a:xfrm>
            <a:off x="825500" y="1618615"/>
            <a:ext cx="8559165" cy="1732280"/>
          </a:xfrm>
          <a:prstGeom prst="rect">
            <a:avLst/>
          </a:prstGeom>
        </p:spPr>
        <p:txBody>
          <a:bodyPr vert="horz" wrap="square" lIns="0" tIns="12065" rIns="0" bIns="0" rtlCol="0">
            <a:spAutoFit/>
          </a:bodyPr>
          <a:lstStyle/>
          <a:p>
            <a:pPr marL="467359" marR="5080" indent="-455295" algn="just">
              <a:lnSpc>
                <a:spcPct val="100000"/>
              </a:lnSpc>
              <a:spcBef>
                <a:spcPts val="95"/>
              </a:spcBef>
              <a:buChar char="•"/>
              <a:tabLst>
                <a:tab pos="469900" algn="l"/>
              </a:tabLst>
            </a:pPr>
            <a:r>
              <a:rPr sz="2800" dirty="0">
                <a:latin typeface="Arial MT"/>
                <a:cs typeface="Arial MT"/>
              </a:rPr>
              <a:t>Instead</a:t>
            </a:r>
            <a:r>
              <a:rPr sz="2800" spc="204" dirty="0">
                <a:latin typeface="Arial MT"/>
                <a:cs typeface="Arial MT"/>
              </a:rPr>
              <a:t>   </a:t>
            </a:r>
            <a:r>
              <a:rPr sz="2800" dirty="0">
                <a:latin typeface="Arial MT"/>
                <a:cs typeface="Arial MT"/>
              </a:rPr>
              <a:t>of</a:t>
            </a:r>
            <a:r>
              <a:rPr sz="2800" spc="215" dirty="0">
                <a:latin typeface="Arial MT"/>
                <a:cs typeface="Arial MT"/>
              </a:rPr>
              <a:t>   </a:t>
            </a:r>
            <a:r>
              <a:rPr sz="2800" dirty="0">
                <a:latin typeface="Arial MT"/>
                <a:cs typeface="Arial MT"/>
              </a:rPr>
              <a:t>testing</a:t>
            </a:r>
            <a:r>
              <a:rPr sz="2800" spc="210" dirty="0">
                <a:latin typeface="Arial MT"/>
                <a:cs typeface="Arial MT"/>
              </a:rPr>
              <a:t>   </a:t>
            </a:r>
            <a:r>
              <a:rPr sz="2800" dirty="0">
                <a:latin typeface="Arial MT"/>
                <a:cs typeface="Arial MT"/>
              </a:rPr>
              <a:t>every</a:t>
            </a:r>
            <a:r>
              <a:rPr sz="2800" spc="215" dirty="0">
                <a:latin typeface="Arial MT"/>
                <a:cs typeface="Arial MT"/>
              </a:rPr>
              <a:t>   </a:t>
            </a:r>
            <a:r>
              <a:rPr sz="2800" dirty="0">
                <a:latin typeface="Arial MT"/>
                <a:cs typeface="Arial MT"/>
              </a:rPr>
              <a:t>possible</a:t>
            </a:r>
            <a:r>
              <a:rPr sz="2800" spc="215" dirty="0">
                <a:latin typeface="Arial MT"/>
                <a:cs typeface="Arial MT"/>
              </a:rPr>
              <a:t>   </a:t>
            </a:r>
            <a:r>
              <a:rPr sz="2800" dirty="0">
                <a:latin typeface="Arial MT"/>
                <a:cs typeface="Arial MT"/>
              </a:rPr>
              <a:t>input,</a:t>
            </a:r>
            <a:r>
              <a:rPr sz="2800" spc="215" dirty="0">
                <a:latin typeface="Arial MT"/>
                <a:cs typeface="Arial MT"/>
              </a:rPr>
              <a:t>   </a:t>
            </a:r>
            <a:r>
              <a:rPr sz="2800" spc="-50" dirty="0">
                <a:latin typeface="Arial MT"/>
                <a:cs typeface="Arial MT"/>
              </a:rPr>
              <a:t>a 	</a:t>
            </a:r>
            <a:r>
              <a:rPr sz="2800" dirty="0">
                <a:latin typeface="Arial MT"/>
                <a:cs typeface="Arial MT"/>
              </a:rPr>
              <a:t>representative</a:t>
            </a:r>
            <a:r>
              <a:rPr sz="2800" spc="-5" dirty="0">
                <a:latin typeface="Arial MT"/>
                <a:cs typeface="Arial MT"/>
              </a:rPr>
              <a:t> </a:t>
            </a:r>
            <a:r>
              <a:rPr sz="2800" dirty="0">
                <a:latin typeface="Arial MT"/>
                <a:cs typeface="Arial MT"/>
              </a:rPr>
              <a:t>value</a:t>
            </a:r>
            <a:r>
              <a:rPr sz="2800" spc="-25" dirty="0">
                <a:latin typeface="Arial MT"/>
                <a:cs typeface="Arial MT"/>
              </a:rPr>
              <a:t> </a:t>
            </a:r>
            <a:r>
              <a:rPr sz="2800" dirty="0">
                <a:latin typeface="Arial MT"/>
                <a:cs typeface="Arial MT"/>
              </a:rPr>
              <a:t>from</a:t>
            </a:r>
            <a:r>
              <a:rPr sz="2800" spc="-30" dirty="0">
                <a:latin typeface="Arial MT"/>
                <a:cs typeface="Arial MT"/>
              </a:rPr>
              <a:t> </a:t>
            </a:r>
            <a:r>
              <a:rPr sz="2800" dirty="0">
                <a:latin typeface="Arial MT"/>
                <a:cs typeface="Arial MT"/>
              </a:rPr>
              <a:t>each</a:t>
            </a:r>
            <a:r>
              <a:rPr sz="2800" spc="-25" dirty="0">
                <a:latin typeface="Arial MT"/>
                <a:cs typeface="Arial MT"/>
              </a:rPr>
              <a:t> </a:t>
            </a:r>
            <a:r>
              <a:rPr sz="2800" dirty="0">
                <a:latin typeface="Arial MT"/>
                <a:cs typeface="Arial MT"/>
              </a:rPr>
              <a:t>partition</a:t>
            </a:r>
            <a:r>
              <a:rPr sz="2800" spc="-20" dirty="0">
                <a:latin typeface="Arial MT"/>
                <a:cs typeface="Arial MT"/>
              </a:rPr>
              <a:t> </a:t>
            </a:r>
            <a:r>
              <a:rPr sz="2800" dirty="0">
                <a:latin typeface="Arial MT"/>
                <a:cs typeface="Arial MT"/>
              </a:rPr>
              <a:t>is</a:t>
            </a:r>
            <a:r>
              <a:rPr sz="2800" spc="-30" dirty="0">
                <a:latin typeface="Arial MT"/>
                <a:cs typeface="Arial MT"/>
              </a:rPr>
              <a:t> </a:t>
            </a:r>
            <a:r>
              <a:rPr sz="2800" spc="-10" dirty="0">
                <a:latin typeface="Arial MT"/>
                <a:cs typeface="Arial MT"/>
              </a:rPr>
              <a:t>selected 	</a:t>
            </a:r>
            <a:r>
              <a:rPr sz="2800" dirty="0">
                <a:latin typeface="Arial MT"/>
                <a:cs typeface="Arial MT"/>
              </a:rPr>
              <a:t>for</a:t>
            </a:r>
            <a:r>
              <a:rPr sz="2800" spc="-30" dirty="0">
                <a:latin typeface="Arial MT"/>
                <a:cs typeface="Arial MT"/>
              </a:rPr>
              <a:t> </a:t>
            </a:r>
            <a:r>
              <a:rPr sz="2800" dirty="0">
                <a:latin typeface="Arial MT"/>
                <a:cs typeface="Arial MT"/>
              </a:rPr>
              <a:t>testing,</a:t>
            </a:r>
            <a:r>
              <a:rPr sz="2800" spc="-30" dirty="0">
                <a:latin typeface="Arial MT"/>
                <a:cs typeface="Arial MT"/>
              </a:rPr>
              <a:t> </a:t>
            </a:r>
            <a:r>
              <a:rPr sz="2800" dirty="0">
                <a:latin typeface="Arial MT"/>
                <a:cs typeface="Arial MT"/>
              </a:rPr>
              <a:t>significantly</a:t>
            </a:r>
            <a:r>
              <a:rPr sz="2800" spc="-15" dirty="0">
                <a:latin typeface="Arial MT"/>
                <a:cs typeface="Arial MT"/>
              </a:rPr>
              <a:t> </a:t>
            </a:r>
            <a:r>
              <a:rPr sz="2800" dirty="0">
                <a:latin typeface="Arial MT"/>
                <a:cs typeface="Arial MT"/>
              </a:rPr>
              <a:t>reducing</a:t>
            </a:r>
            <a:r>
              <a:rPr sz="2800" spc="-25" dirty="0">
                <a:latin typeface="Arial MT"/>
                <a:cs typeface="Arial MT"/>
              </a:rPr>
              <a:t> </a:t>
            </a:r>
            <a:r>
              <a:rPr sz="2800" dirty="0">
                <a:latin typeface="Arial MT"/>
                <a:cs typeface="Arial MT"/>
              </a:rPr>
              <a:t>the</a:t>
            </a:r>
            <a:r>
              <a:rPr sz="2800" spc="-25" dirty="0">
                <a:latin typeface="Arial MT"/>
                <a:cs typeface="Arial MT"/>
              </a:rPr>
              <a:t> </a:t>
            </a:r>
            <a:r>
              <a:rPr sz="2800" dirty="0">
                <a:latin typeface="Arial MT"/>
                <a:cs typeface="Arial MT"/>
              </a:rPr>
              <a:t>number</a:t>
            </a:r>
            <a:r>
              <a:rPr sz="2800" spc="-25" dirty="0">
                <a:latin typeface="Arial MT"/>
                <a:cs typeface="Arial MT"/>
              </a:rPr>
              <a:t> </a:t>
            </a:r>
            <a:r>
              <a:rPr sz="2800" dirty="0">
                <a:latin typeface="Arial MT"/>
                <a:cs typeface="Arial MT"/>
              </a:rPr>
              <a:t>of</a:t>
            </a:r>
            <a:r>
              <a:rPr sz="2800" spc="-35" dirty="0">
                <a:latin typeface="Arial MT"/>
                <a:cs typeface="Arial MT"/>
              </a:rPr>
              <a:t> </a:t>
            </a:r>
            <a:r>
              <a:rPr sz="2800" spc="-20" dirty="0">
                <a:latin typeface="Arial MT"/>
                <a:cs typeface="Arial MT"/>
              </a:rPr>
              <a:t>test 	</a:t>
            </a:r>
            <a:r>
              <a:rPr sz="2800" dirty="0">
                <a:latin typeface="Arial MT"/>
                <a:cs typeface="Arial MT"/>
              </a:rPr>
              <a:t>cases</a:t>
            </a:r>
            <a:r>
              <a:rPr sz="2800" spc="-95" dirty="0">
                <a:latin typeface="Arial MT"/>
                <a:cs typeface="Arial MT"/>
              </a:rPr>
              <a:t> </a:t>
            </a:r>
            <a:r>
              <a:rPr sz="2800" dirty="0">
                <a:latin typeface="Arial MT"/>
                <a:cs typeface="Arial MT"/>
              </a:rPr>
              <a:t>while</a:t>
            </a:r>
            <a:r>
              <a:rPr sz="2800" spc="-60" dirty="0">
                <a:latin typeface="Arial MT"/>
                <a:cs typeface="Arial MT"/>
              </a:rPr>
              <a:t> </a:t>
            </a:r>
            <a:r>
              <a:rPr sz="2800" dirty="0">
                <a:latin typeface="Arial MT"/>
                <a:cs typeface="Arial MT"/>
              </a:rPr>
              <a:t>maintaining</a:t>
            </a:r>
            <a:r>
              <a:rPr sz="2800" spc="-60" dirty="0">
                <a:latin typeface="Arial MT"/>
                <a:cs typeface="Arial MT"/>
              </a:rPr>
              <a:t> </a:t>
            </a:r>
            <a:r>
              <a:rPr sz="2800" dirty="0">
                <a:latin typeface="Arial MT"/>
                <a:cs typeface="Arial MT"/>
              </a:rPr>
              <a:t>high</a:t>
            </a:r>
            <a:r>
              <a:rPr sz="2800" spc="-65" dirty="0">
                <a:latin typeface="Arial MT"/>
                <a:cs typeface="Arial MT"/>
              </a:rPr>
              <a:t> </a:t>
            </a:r>
            <a:r>
              <a:rPr sz="2800" dirty="0">
                <a:latin typeface="Arial MT"/>
                <a:cs typeface="Arial MT"/>
              </a:rPr>
              <a:t>test</a:t>
            </a:r>
            <a:r>
              <a:rPr sz="2800" spc="-100" dirty="0">
                <a:latin typeface="Arial MT"/>
                <a:cs typeface="Arial MT"/>
              </a:rPr>
              <a:t> </a:t>
            </a:r>
            <a:r>
              <a:rPr sz="2800" spc="-10" dirty="0">
                <a:latin typeface="Arial MT"/>
                <a:cs typeface="Arial MT"/>
              </a:rPr>
              <a:t>coverage.</a:t>
            </a:r>
            <a:endParaRPr sz="2800">
              <a:latin typeface="Arial MT"/>
              <a:cs typeface="Arial MT"/>
            </a:endParaRPr>
          </a:p>
        </p:txBody>
      </p:sp>
      <p:grpSp>
        <p:nvGrpSpPr>
          <p:cNvPr id="4" name="object 4"/>
          <p:cNvGrpSpPr/>
          <p:nvPr/>
        </p:nvGrpSpPr>
        <p:grpSpPr>
          <a:xfrm>
            <a:off x="1091603" y="3430536"/>
            <a:ext cx="8279130" cy="3626485"/>
            <a:chOff x="1091603" y="3430536"/>
            <a:chExt cx="8279130" cy="3626485"/>
          </a:xfrm>
        </p:grpSpPr>
        <p:pic>
          <p:nvPicPr>
            <p:cNvPr id="5" name="object 5"/>
            <p:cNvPicPr/>
            <p:nvPr/>
          </p:nvPicPr>
          <p:blipFill>
            <a:blip r:embed="rId2" cstate="print"/>
            <a:stretch>
              <a:fillRect/>
            </a:stretch>
          </p:blipFill>
          <p:spPr>
            <a:xfrm>
              <a:off x="8775954" y="6495288"/>
              <a:ext cx="594359" cy="561594"/>
            </a:xfrm>
            <a:prstGeom prst="rect">
              <a:avLst/>
            </a:prstGeom>
          </p:spPr>
        </p:pic>
        <p:pic>
          <p:nvPicPr>
            <p:cNvPr id="6" name="object 6"/>
            <p:cNvPicPr/>
            <p:nvPr/>
          </p:nvPicPr>
          <p:blipFill>
            <a:blip r:embed="rId3" cstate="print"/>
            <a:stretch>
              <a:fillRect/>
            </a:stretch>
          </p:blipFill>
          <p:spPr>
            <a:xfrm>
              <a:off x="1091603" y="3430536"/>
              <a:ext cx="7709154" cy="3572510"/>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5500" y="604773"/>
            <a:ext cx="4779645" cy="513715"/>
          </a:xfrm>
          <a:prstGeom prst="rect">
            <a:avLst/>
          </a:prstGeom>
        </p:spPr>
        <p:txBody>
          <a:bodyPr vert="horz" wrap="square" lIns="0" tIns="12700" rIns="0" bIns="0" rtlCol="0">
            <a:spAutoFit/>
          </a:bodyPr>
          <a:lstStyle/>
          <a:p>
            <a:pPr marL="12700">
              <a:lnSpc>
                <a:spcPct val="100000"/>
              </a:lnSpc>
              <a:spcBef>
                <a:spcPts val="100"/>
              </a:spcBef>
            </a:pPr>
            <a:r>
              <a:rPr sz="3200" dirty="0"/>
              <a:t>Equivalence</a:t>
            </a:r>
            <a:r>
              <a:rPr sz="3200" spc="-285" dirty="0"/>
              <a:t> </a:t>
            </a:r>
            <a:r>
              <a:rPr sz="3200" spc="-80" dirty="0"/>
              <a:t>Partitioning</a:t>
            </a:r>
            <a:endParaRPr sz="3200"/>
          </a:p>
        </p:txBody>
      </p:sp>
      <p:sp>
        <p:nvSpPr>
          <p:cNvPr id="3" name="object 3"/>
          <p:cNvSpPr txBox="1"/>
          <p:nvPr/>
        </p:nvSpPr>
        <p:spPr>
          <a:xfrm>
            <a:off x="596900" y="1250061"/>
            <a:ext cx="9012555" cy="5980430"/>
          </a:xfrm>
          <a:prstGeom prst="rect">
            <a:avLst/>
          </a:prstGeom>
        </p:spPr>
        <p:txBody>
          <a:bodyPr vert="horz" wrap="square" lIns="0" tIns="12700" rIns="0" bIns="0" rtlCol="0">
            <a:spAutoFit/>
          </a:bodyPr>
          <a:lstStyle/>
          <a:p>
            <a:pPr marL="12700">
              <a:lnSpc>
                <a:spcPct val="100000"/>
              </a:lnSpc>
              <a:spcBef>
                <a:spcPts val="100"/>
              </a:spcBef>
            </a:pPr>
            <a:r>
              <a:rPr sz="2600" dirty="0">
                <a:latin typeface="Arial MT"/>
                <a:cs typeface="Arial MT"/>
              </a:rPr>
              <a:t>Example:</a:t>
            </a:r>
            <a:r>
              <a:rPr sz="2600" spc="-65" dirty="0">
                <a:latin typeface="Arial MT"/>
                <a:cs typeface="Arial MT"/>
              </a:rPr>
              <a:t> </a:t>
            </a:r>
            <a:r>
              <a:rPr sz="2600" dirty="0">
                <a:latin typeface="Arial MT"/>
                <a:cs typeface="Arial MT"/>
              </a:rPr>
              <a:t>Age</a:t>
            </a:r>
            <a:r>
              <a:rPr sz="2600" spc="-55" dirty="0">
                <a:latin typeface="Arial MT"/>
                <a:cs typeface="Arial MT"/>
              </a:rPr>
              <a:t> </a:t>
            </a:r>
            <a:r>
              <a:rPr sz="2600" dirty="0">
                <a:latin typeface="Arial MT"/>
                <a:cs typeface="Arial MT"/>
              </a:rPr>
              <a:t>Input</a:t>
            </a:r>
            <a:r>
              <a:rPr sz="2600" spc="-40" dirty="0">
                <a:latin typeface="Arial MT"/>
                <a:cs typeface="Arial MT"/>
              </a:rPr>
              <a:t> </a:t>
            </a:r>
            <a:r>
              <a:rPr sz="2600" spc="-10" dirty="0">
                <a:latin typeface="Arial MT"/>
                <a:cs typeface="Arial MT"/>
              </a:rPr>
              <a:t>Field</a:t>
            </a:r>
            <a:endParaRPr sz="2600">
              <a:latin typeface="Arial MT"/>
              <a:cs typeface="Arial MT"/>
            </a:endParaRPr>
          </a:p>
          <a:p>
            <a:pPr marL="12700" marR="1089025">
              <a:lnSpc>
                <a:spcPct val="100000"/>
              </a:lnSpc>
              <a:spcBef>
                <a:spcPts val="5"/>
              </a:spcBef>
            </a:pPr>
            <a:r>
              <a:rPr sz="2600" dirty="0">
                <a:latin typeface="Arial MT"/>
                <a:cs typeface="Arial MT"/>
              </a:rPr>
              <a:t>Consider</a:t>
            </a:r>
            <a:r>
              <a:rPr sz="2600" spc="-65" dirty="0">
                <a:latin typeface="Arial MT"/>
                <a:cs typeface="Arial MT"/>
              </a:rPr>
              <a:t> </a:t>
            </a:r>
            <a:r>
              <a:rPr sz="2600" dirty="0">
                <a:latin typeface="Arial MT"/>
                <a:cs typeface="Arial MT"/>
              </a:rPr>
              <a:t>a</a:t>
            </a:r>
            <a:r>
              <a:rPr sz="2600" spc="-35" dirty="0">
                <a:latin typeface="Arial MT"/>
                <a:cs typeface="Arial MT"/>
              </a:rPr>
              <a:t> </a:t>
            </a:r>
            <a:r>
              <a:rPr sz="2600" dirty="0">
                <a:latin typeface="Arial MT"/>
                <a:cs typeface="Arial MT"/>
              </a:rPr>
              <a:t>web</a:t>
            </a:r>
            <a:r>
              <a:rPr sz="2600" spc="-35" dirty="0">
                <a:latin typeface="Arial MT"/>
                <a:cs typeface="Arial MT"/>
              </a:rPr>
              <a:t> </a:t>
            </a:r>
            <a:r>
              <a:rPr sz="2600" dirty="0">
                <a:latin typeface="Arial MT"/>
                <a:cs typeface="Arial MT"/>
              </a:rPr>
              <a:t>application</a:t>
            </a:r>
            <a:r>
              <a:rPr sz="2600" spc="-50" dirty="0">
                <a:latin typeface="Arial MT"/>
                <a:cs typeface="Arial MT"/>
              </a:rPr>
              <a:t> </a:t>
            </a:r>
            <a:r>
              <a:rPr sz="2600" dirty="0">
                <a:latin typeface="Arial MT"/>
                <a:cs typeface="Arial MT"/>
              </a:rPr>
              <a:t>with</a:t>
            </a:r>
            <a:r>
              <a:rPr sz="2600" spc="-50" dirty="0">
                <a:latin typeface="Arial MT"/>
                <a:cs typeface="Arial MT"/>
              </a:rPr>
              <a:t> </a:t>
            </a:r>
            <a:r>
              <a:rPr sz="2600" dirty="0">
                <a:latin typeface="Arial MT"/>
                <a:cs typeface="Arial MT"/>
              </a:rPr>
              <a:t>an</a:t>
            </a:r>
            <a:r>
              <a:rPr sz="2600" spc="-30" dirty="0">
                <a:latin typeface="Arial MT"/>
                <a:cs typeface="Arial MT"/>
              </a:rPr>
              <a:t> </a:t>
            </a:r>
            <a:r>
              <a:rPr sz="2600" dirty="0">
                <a:latin typeface="Arial MT"/>
                <a:cs typeface="Arial MT"/>
              </a:rPr>
              <a:t>age</a:t>
            </a:r>
            <a:r>
              <a:rPr sz="2600" spc="-50" dirty="0">
                <a:latin typeface="Arial MT"/>
                <a:cs typeface="Arial MT"/>
              </a:rPr>
              <a:t> </a:t>
            </a:r>
            <a:r>
              <a:rPr sz="2600" dirty="0">
                <a:latin typeface="Arial MT"/>
                <a:cs typeface="Arial MT"/>
              </a:rPr>
              <a:t>input</a:t>
            </a:r>
            <a:r>
              <a:rPr sz="2600" spc="-35" dirty="0">
                <a:latin typeface="Arial MT"/>
                <a:cs typeface="Arial MT"/>
              </a:rPr>
              <a:t> </a:t>
            </a:r>
            <a:r>
              <a:rPr sz="2600" dirty="0">
                <a:latin typeface="Arial MT"/>
                <a:cs typeface="Arial MT"/>
              </a:rPr>
              <a:t>field</a:t>
            </a:r>
            <a:r>
              <a:rPr sz="2600" spc="-35" dirty="0">
                <a:latin typeface="Arial MT"/>
                <a:cs typeface="Arial MT"/>
              </a:rPr>
              <a:t> </a:t>
            </a:r>
            <a:r>
              <a:rPr sz="2600" spc="-20" dirty="0">
                <a:latin typeface="Arial MT"/>
                <a:cs typeface="Arial MT"/>
              </a:rPr>
              <a:t>that </a:t>
            </a:r>
            <a:r>
              <a:rPr sz="2600" dirty="0">
                <a:latin typeface="Arial MT"/>
                <a:cs typeface="Arial MT"/>
              </a:rPr>
              <a:t>requires</a:t>
            </a:r>
            <a:r>
              <a:rPr sz="2600" spc="-35" dirty="0">
                <a:latin typeface="Arial MT"/>
                <a:cs typeface="Arial MT"/>
              </a:rPr>
              <a:t> </a:t>
            </a:r>
            <a:r>
              <a:rPr sz="2600" dirty="0">
                <a:latin typeface="Arial MT"/>
                <a:cs typeface="Arial MT"/>
              </a:rPr>
              <a:t>users</a:t>
            </a:r>
            <a:r>
              <a:rPr sz="2600" spc="-50" dirty="0">
                <a:latin typeface="Arial MT"/>
                <a:cs typeface="Arial MT"/>
              </a:rPr>
              <a:t> </a:t>
            </a:r>
            <a:r>
              <a:rPr sz="2600" dirty="0">
                <a:latin typeface="Arial MT"/>
                <a:cs typeface="Arial MT"/>
              </a:rPr>
              <a:t>to</a:t>
            </a:r>
            <a:r>
              <a:rPr sz="2600" spc="-25" dirty="0">
                <a:latin typeface="Arial MT"/>
                <a:cs typeface="Arial MT"/>
              </a:rPr>
              <a:t> </a:t>
            </a:r>
            <a:r>
              <a:rPr sz="2600" dirty="0">
                <a:latin typeface="Arial MT"/>
                <a:cs typeface="Arial MT"/>
              </a:rPr>
              <a:t>be</a:t>
            </a:r>
            <a:r>
              <a:rPr sz="2600" spc="-20" dirty="0">
                <a:latin typeface="Arial MT"/>
                <a:cs typeface="Arial MT"/>
              </a:rPr>
              <a:t> </a:t>
            </a:r>
            <a:r>
              <a:rPr sz="2600" dirty="0">
                <a:latin typeface="Arial MT"/>
                <a:cs typeface="Arial MT"/>
              </a:rPr>
              <a:t>between</a:t>
            </a:r>
            <a:r>
              <a:rPr sz="2600" spc="-35" dirty="0">
                <a:latin typeface="Arial MT"/>
                <a:cs typeface="Arial MT"/>
              </a:rPr>
              <a:t> </a:t>
            </a:r>
            <a:r>
              <a:rPr sz="2600" dirty="0">
                <a:latin typeface="Arial MT"/>
                <a:cs typeface="Arial MT"/>
              </a:rPr>
              <a:t>18</a:t>
            </a:r>
            <a:r>
              <a:rPr sz="2600" spc="-20" dirty="0">
                <a:latin typeface="Arial MT"/>
                <a:cs typeface="Arial MT"/>
              </a:rPr>
              <a:t> </a:t>
            </a:r>
            <a:r>
              <a:rPr sz="2600" dirty="0">
                <a:latin typeface="Arial MT"/>
                <a:cs typeface="Arial MT"/>
              </a:rPr>
              <a:t>and</a:t>
            </a:r>
            <a:r>
              <a:rPr sz="2600" spc="-20" dirty="0">
                <a:latin typeface="Arial MT"/>
                <a:cs typeface="Arial MT"/>
              </a:rPr>
              <a:t> </a:t>
            </a:r>
            <a:r>
              <a:rPr sz="2600" dirty="0">
                <a:latin typeface="Arial MT"/>
                <a:cs typeface="Arial MT"/>
              </a:rPr>
              <a:t>60</a:t>
            </a:r>
            <a:r>
              <a:rPr sz="2600" spc="-20" dirty="0">
                <a:latin typeface="Arial MT"/>
                <a:cs typeface="Arial MT"/>
              </a:rPr>
              <a:t> </a:t>
            </a:r>
            <a:r>
              <a:rPr sz="2600" dirty="0">
                <a:latin typeface="Arial MT"/>
                <a:cs typeface="Arial MT"/>
              </a:rPr>
              <a:t>years</a:t>
            </a:r>
            <a:r>
              <a:rPr sz="2600" spc="-35" dirty="0">
                <a:latin typeface="Arial MT"/>
                <a:cs typeface="Arial MT"/>
              </a:rPr>
              <a:t> </a:t>
            </a:r>
            <a:r>
              <a:rPr sz="2600" spc="-25" dirty="0">
                <a:latin typeface="Arial MT"/>
                <a:cs typeface="Arial MT"/>
              </a:rPr>
              <a:t>old </a:t>
            </a:r>
            <a:r>
              <a:rPr sz="2600" spc="-10" dirty="0">
                <a:latin typeface="Arial MT"/>
                <a:cs typeface="Arial MT"/>
              </a:rPr>
              <a:t>(inclusive).</a:t>
            </a:r>
            <a:endParaRPr sz="2600">
              <a:latin typeface="Arial MT"/>
              <a:cs typeface="Arial MT"/>
            </a:endParaRPr>
          </a:p>
          <a:p>
            <a:pPr marL="12700">
              <a:lnSpc>
                <a:spcPct val="100000"/>
              </a:lnSpc>
              <a:spcBef>
                <a:spcPts val="70"/>
              </a:spcBef>
            </a:pPr>
            <a:r>
              <a:rPr sz="2600" b="1" dirty="0">
                <a:latin typeface="Arial"/>
                <a:cs typeface="Arial"/>
              </a:rPr>
              <a:t>Identify</a:t>
            </a:r>
            <a:r>
              <a:rPr sz="2600" b="1" spc="-80" dirty="0">
                <a:latin typeface="Arial"/>
                <a:cs typeface="Arial"/>
              </a:rPr>
              <a:t> </a:t>
            </a:r>
            <a:r>
              <a:rPr sz="2600" b="1" dirty="0">
                <a:latin typeface="Arial"/>
                <a:cs typeface="Arial"/>
              </a:rPr>
              <a:t>Equivalence</a:t>
            </a:r>
            <a:r>
              <a:rPr sz="2600" b="1" spc="-90" dirty="0">
                <a:latin typeface="Arial"/>
                <a:cs typeface="Arial"/>
              </a:rPr>
              <a:t> </a:t>
            </a:r>
            <a:r>
              <a:rPr sz="2600" b="1" spc="-10" dirty="0">
                <a:latin typeface="Arial"/>
                <a:cs typeface="Arial"/>
              </a:rPr>
              <a:t>Classes:</a:t>
            </a:r>
            <a:endParaRPr sz="2600">
              <a:latin typeface="Arial"/>
              <a:cs typeface="Arial"/>
            </a:endParaRPr>
          </a:p>
          <a:p>
            <a:pPr marL="12700" marR="127000">
              <a:lnSpc>
                <a:spcPct val="100000"/>
              </a:lnSpc>
              <a:spcBef>
                <a:spcPts val="5"/>
              </a:spcBef>
            </a:pPr>
            <a:r>
              <a:rPr sz="2600" b="1" dirty="0">
                <a:latin typeface="Arial"/>
                <a:cs typeface="Arial"/>
              </a:rPr>
              <a:t>Valid</a:t>
            </a:r>
            <a:r>
              <a:rPr sz="2600" b="1" spc="-50" dirty="0">
                <a:latin typeface="Arial"/>
                <a:cs typeface="Arial"/>
              </a:rPr>
              <a:t> </a:t>
            </a:r>
            <a:r>
              <a:rPr sz="2600" b="1" dirty="0">
                <a:latin typeface="Arial"/>
                <a:cs typeface="Arial"/>
              </a:rPr>
              <a:t>Equivalence</a:t>
            </a:r>
            <a:r>
              <a:rPr sz="2600" b="1" spc="-75" dirty="0">
                <a:latin typeface="Arial"/>
                <a:cs typeface="Arial"/>
              </a:rPr>
              <a:t> </a:t>
            </a:r>
            <a:r>
              <a:rPr sz="2600" b="1" dirty="0">
                <a:latin typeface="Arial"/>
                <a:cs typeface="Arial"/>
              </a:rPr>
              <a:t>Class:</a:t>
            </a:r>
            <a:r>
              <a:rPr sz="2600" b="1" spc="-35" dirty="0">
                <a:latin typeface="Arial"/>
                <a:cs typeface="Arial"/>
              </a:rPr>
              <a:t> </a:t>
            </a:r>
            <a:r>
              <a:rPr sz="2600" dirty="0">
                <a:latin typeface="Arial MT"/>
                <a:cs typeface="Arial MT"/>
              </a:rPr>
              <a:t>Ages</a:t>
            </a:r>
            <a:r>
              <a:rPr sz="2600" spc="-60" dirty="0">
                <a:latin typeface="Arial MT"/>
                <a:cs typeface="Arial MT"/>
              </a:rPr>
              <a:t> </a:t>
            </a:r>
            <a:r>
              <a:rPr sz="2600" dirty="0">
                <a:latin typeface="Arial MT"/>
                <a:cs typeface="Arial MT"/>
              </a:rPr>
              <a:t>between</a:t>
            </a:r>
            <a:r>
              <a:rPr sz="2600" spc="-65" dirty="0">
                <a:latin typeface="Arial MT"/>
                <a:cs typeface="Arial MT"/>
              </a:rPr>
              <a:t> </a:t>
            </a:r>
            <a:r>
              <a:rPr sz="2600" dirty="0">
                <a:latin typeface="Arial MT"/>
                <a:cs typeface="Arial MT"/>
              </a:rPr>
              <a:t>18</a:t>
            </a:r>
            <a:r>
              <a:rPr sz="2600" spc="-40" dirty="0">
                <a:latin typeface="Arial MT"/>
                <a:cs typeface="Arial MT"/>
              </a:rPr>
              <a:t> </a:t>
            </a:r>
            <a:r>
              <a:rPr sz="2600" dirty="0">
                <a:latin typeface="Arial MT"/>
                <a:cs typeface="Arial MT"/>
              </a:rPr>
              <a:t>and</a:t>
            </a:r>
            <a:r>
              <a:rPr sz="2600" spc="-45" dirty="0">
                <a:latin typeface="Arial MT"/>
                <a:cs typeface="Arial MT"/>
              </a:rPr>
              <a:t> </a:t>
            </a:r>
            <a:r>
              <a:rPr sz="2600" dirty="0">
                <a:latin typeface="Arial MT"/>
                <a:cs typeface="Arial MT"/>
              </a:rPr>
              <a:t>60</a:t>
            </a:r>
            <a:r>
              <a:rPr sz="2600" spc="-50" dirty="0">
                <a:latin typeface="Arial MT"/>
                <a:cs typeface="Arial MT"/>
              </a:rPr>
              <a:t> </a:t>
            </a:r>
            <a:r>
              <a:rPr sz="2600" spc="-10" dirty="0">
                <a:latin typeface="Arial MT"/>
                <a:cs typeface="Arial MT"/>
              </a:rPr>
              <a:t>(e.g., </a:t>
            </a:r>
            <a:r>
              <a:rPr sz="2600" dirty="0">
                <a:latin typeface="Arial MT"/>
                <a:cs typeface="Arial MT"/>
              </a:rPr>
              <a:t>25,</a:t>
            </a:r>
            <a:r>
              <a:rPr sz="2600" spc="-45" dirty="0">
                <a:latin typeface="Arial MT"/>
                <a:cs typeface="Arial MT"/>
              </a:rPr>
              <a:t> </a:t>
            </a:r>
            <a:r>
              <a:rPr sz="2600" dirty="0">
                <a:latin typeface="Arial MT"/>
                <a:cs typeface="Arial MT"/>
              </a:rPr>
              <a:t>40,</a:t>
            </a:r>
            <a:r>
              <a:rPr sz="2600" spc="-35" dirty="0">
                <a:latin typeface="Arial MT"/>
                <a:cs typeface="Arial MT"/>
              </a:rPr>
              <a:t> </a:t>
            </a:r>
            <a:r>
              <a:rPr sz="2600" dirty="0">
                <a:latin typeface="Arial MT"/>
                <a:cs typeface="Arial MT"/>
              </a:rPr>
              <a:t>55).</a:t>
            </a:r>
            <a:r>
              <a:rPr sz="2600" spc="-30" dirty="0">
                <a:latin typeface="Arial MT"/>
                <a:cs typeface="Arial MT"/>
              </a:rPr>
              <a:t> </a:t>
            </a:r>
            <a:r>
              <a:rPr sz="2600" dirty="0">
                <a:latin typeface="Arial MT"/>
                <a:cs typeface="Arial MT"/>
              </a:rPr>
              <a:t>Any</a:t>
            </a:r>
            <a:r>
              <a:rPr sz="2600" spc="-25" dirty="0">
                <a:latin typeface="Arial MT"/>
                <a:cs typeface="Arial MT"/>
              </a:rPr>
              <a:t> </a:t>
            </a:r>
            <a:r>
              <a:rPr sz="2600" dirty="0">
                <a:latin typeface="Arial MT"/>
                <a:cs typeface="Arial MT"/>
              </a:rPr>
              <a:t>age</a:t>
            </a:r>
            <a:r>
              <a:rPr sz="2600" spc="-25" dirty="0">
                <a:latin typeface="Arial MT"/>
                <a:cs typeface="Arial MT"/>
              </a:rPr>
              <a:t> </a:t>
            </a:r>
            <a:r>
              <a:rPr sz="2600" dirty="0">
                <a:latin typeface="Arial MT"/>
                <a:cs typeface="Arial MT"/>
              </a:rPr>
              <a:t>within</a:t>
            </a:r>
            <a:r>
              <a:rPr sz="2600" spc="-50" dirty="0">
                <a:latin typeface="Arial MT"/>
                <a:cs typeface="Arial MT"/>
              </a:rPr>
              <a:t> </a:t>
            </a:r>
            <a:r>
              <a:rPr sz="2600" dirty="0">
                <a:latin typeface="Arial MT"/>
                <a:cs typeface="Arial MT"/>
              </a:rPr>
              <a:t>this</a:t>
            </a:r>
            <a:r>
              <a:rPr sz="2600" spc="-35" dirty="0">
                <a:latin typeface="Arial MT"/>
                <a:cs typeface="Arial MT"/>
              </a:rPr>
              <a:t> </a:t>
            </a:r>
            <a:r>
              <a:rPr sz="2600" dirty="0">
                <a:latin typeface="Arial MT"/>
                <a:cs typeface="Arial MT"/>
              </a:rPr>
              <a:t>range</a:t>
            </a:r>
            <a:r>
              <a:rPr sz="2600" spc="-30" dirty="0">
                <a:latin typeface="Arial MT"/>
                <a:cs typeface="Arial MT"/>
              </a:rPr>
              <a:t> </a:t>
            </a:r>
            <a:r>
              <a:rPr sz="2600" dirty="0">
                <a:latin typeface="Arial MT"/>
                <a:cs typeface="Arial MT"/>
              </a:rPr>
              <a:t>should</a:t>
            </a:r>
            <a:r>
              <a:rPr sz="2600" spc="-50" dirty="0">
                <a:latin typeface="Arial MT"/>
                <a:cs typeface="Arial MT"/>
              </a:rPr>
              <a:t> </a:t>
            </a:r>
            <a:r>
              <a:rPr sz="2600" dirty="0">
                <a:latin typeface="Arial MT"/>
                <a:cs typeface="Arial MT"/>
              </a:rPr>
              <a:t>be</a:t>
            </a:r>
            <a:r>
              <a:rPr sz="2600" spc="-30" dirty="0">
                <a:latin typeface="Arial MT"/>
                <a:cs typeface="Arial MT"/>
              </a:rPr>
              <a:t> </a:t>
            </a:r>
            <a:r>
              <a:rPr sz="2600" dirty="0">
                <a:latin typeface="Arial MT"/>
                <a:cs typeface="Arial MT"/>
              </a:rPr>
              <a:t>accepted</a:t>
            </a:r>
            <a:r>
              <a:rPr sz="2600" spc="-45" dirty="0">
                <a:latin typeface="Arial MT"/>
                <a:cs typeface="Arial MT"/>
              </a:rPr>
              <a:t> </a:t>
            </a:r>
            <a:r>
              <a:rPr sz="2600" spc="-25" dirty="0">
                <a:latin typeface="Arial MT"/>
                <a:cs typeface="Arial MT"/>
              </a:rPr>
              <a:t>by </a:t>
            </a:r>
            <a:r>
              <a:rPr sz="2600" dirty="0">
                <a:latin typeface="Arial MT"/>
                <a:cs typeface="Arial MT"/>
              </a:rPr>
              <a:t>the</a:t>
            </a:r>
            <a:r>
              <a:rPr sz="2600" spc="-50" dirty="0">
                <a:latin typeface="Arial MT"/>
                <a:cs typeface="Arial MT"/>
              </a:rPr>
              <a:t> </a:t>
            </a:r>
            <a:r>
              <a:rPr sz="2600" spc="-10" dirty="0">
                <a:latin typeface="Arial MT"/>
                <a:cs typeface="Arial MT"/>
              </a:rPr>
              <a:t>system.</a:t>
            </a:r>
            <a:endParaRPr sz="2600">
              <a:latin typeface="Arial MT"/>
              <a:cs typeface="Arial MT"/>
            </a:endParaRPr>
          </a:p>
          <a:p>
            <a:pPr marL="12700" marR="647065">
              <a:lnSpc>
                <a:spcPct val="100000"/>
              </a:lnSpc>
            </a:pPr>
            <a:r>
              <a:rPr sz="2600" b="1" dirty="0">
                <a:latin typeface="Arial"/>
                <a:cs typeface="Arial"/>
              </a:rPr>
              <a:t>Invalid</a:t>
            </a:r>
            <a:r>
              <a:rPr sz="2600" b="1" spc="-40" dirty="0">
                <a:latin typeface="Arial"/>
                <a:cs typeface="Arial"/>
              </a:rPr>
              <a:t> </a:t>
            </a:r>
            <a:r>
              <a:rPr sz="2600" b="1" dirty="0">
                <a:latin typeface="Arial"/>
                <a:cs typeface="Arial"/>
              </a:rPr>
              <a:t>Equivalence</a:t>
            </a:r>
            <a:r>
              <a:rPr sz="2600" b="1" spc="-65" dirty="0">
                <a:latin typeface="Arial"/>
                <a:cs typeface="Arial"/>
              </a:rPr>
              <a:t> </a:t>
            </a:r>
            <a:r>
              <a:rPr sz="2600" b="1" dirty="0">
                <a:latin typeface="Arial"/>
                <a:cs typeface="Arial"/>
              </a:rPr>
              <a:t>Class</a:t>
            </a:r>
            <a:r>
              <a:rPr sz="2600" b="1" spc="-35" dirty="0">
                <a:latin typeface="Arial"/>
                <a:cs typeface="Arial"/>
              </a:rPr>
              <a:t> </a:t>
            </a:r>
            <a:r>
              <a:rPr sz="2600" b="1" dirty="0">
                <a:latin typeface="Arial"/>
                <a:cs typeface="Arial"/>
              </a:rPr>
              <a:t>1</a:t>
            </a:r>
            <a:r>
              <a:rPr sz="2600" b="1" spc="-40" dirty="0">
                <a:latin typeface="Arial"/>
                <a:cs typeface="Arial"/>
              </a:rPr>
              <a:t> </a:t>
            </a:r>
            <a:r>
              <a:rPr sz="2600" b="1" dirty="0">
                <a:latin typeface="Arial"/>
                <a:cs typeface="Arial"/>
              </a:rPr>
              <a:t>(Below</a:t>
            </a:r>
            <a:r>
              <a:rPr sz="2600" b="1" spc="-25" dirty="0">
                <a:latin typeface="Arial"/>
                <a:cs typeface="Arial"/>
              </a:rPr>
              <a:t> </a:t>
            </a:r>
            <a:r>
              <a:rPr sz="2600" b="1" dirty="0">
                <a:latin typeface="Arial"/>
                <a:cs typeface="Arial"/>
              </a:rPr>
              <a:t>Range):</a:t>
            </a:r>
            <a:r>
              <a:rPr sz="2600" b="1" spc="-60" dirty="0">
                <a:latin typeface="Arial"/>
                <a:cs typeface="Arial"/>
              </a:rPr>
              <a:t> </a:t>
            </a:r>
            <a:r>
              <a:rPr sz="2600" dirty="0">
                <a:latin typeface="Arial MT"/>
                <a:cs typeface="Arial MT"/>
              </a:rPr>
              <a:t>Ages</a:t>
            </a:r>
            <a:r>
              <a:rPr sz="2600" spc="-40" dirty="0">
                <a:latin typeface="Arial MT"/>
                <a:cs typeface="Arial MT"/>
              </a:rPr>
              <a:t> </a:t>
            </a:r>
            <a:r>
              <a:rPr sz="2600" spc="-20" dirty="0">
                <a:latin typeface="Arial MT"/>
                <a:cs typeface="Arial MT"/>
              </a:rPr>
              <a:t>less </a:t>
            </a:r>
            <a:r>
              <a:rPr sz="2600" dirty="0">
                <a:latin typeface="Arial MT"/>
                <a:cs typeface="Arial MT"/>
              </a:rPr>
              <a:t>than</a:t>
            </a:r>
            <a:r>
              <a:rPr sz="2600" spc="-30" dirty="0">
                <a:latin typeface="Arial MT"/>
                <a:cs typeface="Arial MT"/>
              </a:rPr>
              <a:t> </a:t>
            </a:r>
            <a:r>
              <a:rPr sz="2600" dirty="0">
                <a:latin typeface="Arial MT"/>
                <a:cs typeface="Arial MT"/>
              </a:rPr>
              <a:t>18</a:t>
            </a:r>
            <a:r>
              <a:rPr sz="2600" spc="-35" dirty="0">
                <a:latin typeface="Arial MT"/>
                <a:cs typeface="Arial MT"/>
              </a:rPr>
              <a:t> </a:t>
            </a:r>
            <a:r>
              <a:rPr sz="2600" dirty="0">
                <a:latin typeface="Arial MT"/>
                <a:cs typeface="Arial MT"/>
              </a:rPr>
              <a:t>(e.g.,</a:t>
            </a:r>
            <a:r>
              <a:rPr sz="2600" spc="-25" dirty="0">
                <a:latin typeface="Arial MT"/>
                <a:cs typeface="Arial MT"/>
              </a:rPr>
              <a:t> </a:t>
            </a:r>
            <a:r>
              <a:rPr sz="2600" dirty="0">
                <a:latin typeface="Arial MT"/>
                <a:cs typeface="Arial MT"/>
              </a:rPr>
              <a:t>17,</a:t>
            </a:r>
            <a:r>
              <a:rPr sz="2600" spc="-45" dirty="0">
                <a:latin typeface="Arial MT"/>
                <a:cs typeface="Arial MT"/>
              </a:rPr>
              <a:t> </a:t>
            </a:r>
            <a:r>
              <a:rPr sz="2600" dirty="0">
                <a:latin typeface="Arial MT"/>
                <a:cs typeface="Arial MT"/>
              </a:rPr>
              <a:t>10,</a:t>
            </a:r>
            <a:r>
              <a:rPr sz="2600" spc="-35" dirty="0">
                <a:latin typeface="Arial MT"/>
                <a:cs typeface="Arial MT"/>
              </a:rPr>
              <a:t> </a:t>
            </a:r>
            <a:r>
              <a:rPr sz="2600" dirty="0">
                <a:latin typeface="Arial MT"/>
                <a:cs typeface="Arial MT"/>
              </a:rPr>
              <a:t>0).</a:t>
            </a:r>
            <a:r>
              <a:rPr sz="2600" spc="-25" dirty="0">
                <a:latin typeface="Arial MT"/>
                <a:cs typeface="Arial MT"/>
              </a:rPr>
              <a:t> </a:t>
            </a:r>
            <a:r>
              <a:rPr sz="2600" dirty="0">
                <a:latin typeface="Arial MT"/>
                <a:cs typeface="Arial MT"/>
              </a:rPr>
              <a:t>These</a:t>
            </a:r>
            <a:r>
              <a:rPr sz="2600" spc="-50" dirty="0">
                <a:latin typeface="Arial MT"/>
                <a:cs typeface="Arial MT"/>
              </a:rPr>
              <a:t> </a:t>
            </a:r>
            <a:r>
              <a:rPr sz="2600" dirty="0">
                <a:latin typeface="Arial MT"/>
                <a:cs typeface="Arial MT"/>
              </a:rPr>
              <a:t>should</a:t>
            </a:r>
            <a:r>
              <a:rPr sz="2600" spc="-45" dirty="0">
                <a:latin typeface="Arial MT"/>
                <a:cs typeface="Arial MT"/>
              </a:rPr>
              <a:t> </a:t>
            </a:r>
            <a:r>
              <a:rPr sz="2600" dirty="0">
                <a:latin typeface="Arial MT"/>
                <a:cs typeface="Arial MT"/>
              </a:rPr>
              <a:t>be</a:t>
            </a:r>
            <a:r>
              <a:rPr sz="2600" spc="-30" dirty="0">
                <a:latin typeface="Arial MT"/>
                <a:cs typeface="Arial MT"/>
              </a:rPr>
              <a:t> </a:t>
            </a:r>
            <a:r>
              <a:rPr sz="2600" spc="-10" dirty="0">
                <a:latin typeface="Arial MT"/>
                <a:cs typeface="Arial MT"/>
              </a:rPr>
              <a:t>rejected.</a:t>
            </a:r>
            <a:endParaRPr sz="2600">
              <a:latin typeface="Arial MT"/>
              <a:cs typeface="Arial MT"/>
            </a:endParaRPr>
          </a:p>
          <a:p>
            <a:pPr marL="12700" marR="151130">
              <a:lnSpc>
                <a:spcPct val="100000"/>
              </a:lnSpc>
            </a:pPr>
            <a:r>
              <a:rPr sz="2600" b="1" dirty="0">
                <a:latin typeface="Arial"/>
                <a:cs typeface="Arial"/>
              </a:rPr>
              <a:t>Invalid</a:t>
            </a:r>
            <a:r>
              <a:rPr sz="2600" b="1" spc="-40" dirty="0">
                <a:latin typeface="Arial"/>
                <a:cs typeface="Arial"/>
              </a:rPr>
              <a:t> </a:t>
            </a:r>
            <a:r>
              <a:rPr sz="2600" b="1" dirty="0">
                <a:latin typeface="Arial"/>
                <a:cs typeface="Arial"/>
              </a:rPr>
              <a:t>Equivalence</a:t>
            </a:r>
            <a:r>
              <a:rPr sz="2600" b="1" spc="-65" dirty="0">
                <a:latin typeface="Arial"/>
                <a:cs typeface="Arial"/>
              </a:rPr>
              <a:t> </a:t>
            </a:r>
            <a:r>
              <a:rPr sz="2600" b="1" dirty="0">
                <a:latin typeface="Arial"/>
                <a:cs typeface="Arial"/>
              </a:rPr>
              <a:t>Class</a:t>
            </a:r>
            <a:r>
              <a:rPr sz="2600" b="1" spc="-35" dirty="0">
                <a:latin typeface="Arial"/>
                <a:cs typeface="Arial"/>
              </a:rPr>
              <a:t> </a:t>
            </a:r>
            <a:r>
              <a:rPr sz="2600" b="1" dirty="0">
                <a:latin typeface="Arial"/>
                <a:cs typeface="Arial"/>
              </a:rPr>
              <a:t>2</a:t>
            </a:r>
            <a:r>
              <a:rPr sz="2600" b="1" spc="-40" dirty="0">
                <a:latin typeface="Arial"/>
                <a:cs typeface="Arial"/>
              </a:rPr>
              <a:t> </a:t>
            </a:r>
            <a:r>
              <a:rPr sz="2600" b="1" dirty="0">
                <a:latin typeface="Arial"/>
                <a:cs typeface="Arial"/>
              </a:rPr>
              <a:t>(Above</a:t>
            </a:r>
            <a:r>
              <a:rPr sz="2600" b="1" spc="-60" dirty="0">
                <a:latin typeface="Arial"/>
                <a:cs typeface="Arial"/>
              </a:rPr>
              <a:t> </a:t>
            </a:r>
            <a:r>
              <a:rPr sz="2600" b="1" dirty="0">
                <a:latin typeface="Arial"/>
                <a:cs typeface="Arial"/>
              </a:rPr>
              <a:t>Range):</a:t>
            </a:r>
            <a:r>
              <a:rPr sz="2600" b="1" spc="-55" dirty="0">
                <a:latin typeface="Arial"/>
                <a:cs typeface="Arial"/>
              </a:rPr>
              <a:t> </a:t>
            </a:r>
            <a:r>
              <a:rPr sz="2600" dirty="0">
                <a:latin typeface="Arial MT"/>
                <a:cs typeface="Arial MT"/>
              </a:rPr>
              <a:t>Ages</a:t>
            </a:r>
            <a:r>
              <a:rPr sz="2600" spc="-35" dirty="0">
                <a:latin typeface="Arial MT"/>
                <a:cs typeface="Arial MT"/>
              </a:rPr>
              <a:t> </a:t>
            </a:r>
            <a:r>
              <a:rPr sz="2600" spc="-10" dirty="0">
                <a:latin typeface="Arial MT"/>
                <a:cs typeface="Arial MT"/>
              </a:rPr>
              <a:t>greater </a:t>
            </a:r>
            <a:r>
              <a:rPr sz="2600" dirty="0">
                <a:latin typeface="Arial MT"/>
                <a:cs typeface="Arial MT"/>
              </a:rPr>
              <a:t>than</a:t>
            </a:r>
            <a:r>
              <a:rPr sz="2600" spc="-35" dirty="0">
                <a:latin typeface="Arial MT"/>
                <a:cs typeface="Arial MT"/>
              </a:rPr>
              <a:t> </a:t>
            </a:r>
            <a:r>
              <a:rPr sz="2600" dirty="0">
                <a:latin typeface="Arial MT"/>
                <a:cs typeface="Arial MT"/>
              </a:rPr>
              <a:t>60</a:t>
            </a:r>
            <a:r>
              <a:rPr sz="2600" spc="-35" dirty="0">
                <a:latin typeface="Arial MT"/>
                <a:cs typeface="Arial MT"/>
              </a:rPr>
              <a:t> </a:t>
            </a:r>
            <a:r>
              <a:rPr sz="2600" dirty="0">
                <a:latin typeface="Arial MT"/>
                <a:cs typeface="Arial MT"/>
              </a:rPr>
              <a:t>(e.g.,</a:t>
            </a:r>
            <a:r>
              <a:rPr sz="2600" spc="-30" dirty="0">
                <a:latin typeface="Arial MT"/>
                <a:cs typeface="Arial MT"/>
              </a:rPr>
              <a:t> </a:t>
            </a:r>
            <a:r>
              <a:rPr sz="2600" dirty="0">
                <a:latin typeface="Arial MT"/>
                <a:cs typeface="Arial MT"/>
              </a:rPr>
              <a:t>61,</a:t>
            </a:r>
            <a:r>
              <a:rPr sz="2600" spc="-45" dirty="0">
                <a:latin typeface="Arial MT"/>
                <a:cs typeface="Arial MT"/>
              </a:rPr>
              <a:t> </a:t>
            </a:r>
            <a:r>
              <a:rPr sz="2600" dirty="0">
                <a:latin typeface="Arial MT"/>
                <a:cs typeface="Arial MT"/>
              </a:rPr>
              <a:t>70,</a:t>
            </a:r>
            <a:r>
              <a:rPr sz="2600" spc="-40" dirty="0">
                <a:latin typeface="Arial MT"/>
                <a:cs typeface="Arial MT"/>
              </a:rPr>
              <a:t> </a:t>
            </a:r>
            <a:r>
              <a:rPr sz="2600" dirty="0">
                <a:latin typeface="Arial MT"/>
                <a:cs typeface="Arial MT"/>
              </a:rPr>
              <a:t>100).</a:t>
            </a:r>
            <a:r>
              <a:rPr sz="2600" spc="-20" dirty="0">
                <a:latin typeface="Arial MT"/>
                <a:cs typeface="Arial MT"/>
              </a:rPr>
              <a:t> </a:t>
            </a:r>
            <a:r>
              <a:rPr sz="2600" dirty="0">
                <a:latin typeface="Arial MT"/>
                <a:cs typeface="Arial MT"/>
              </a:rPr>
              <a:t>These</a:t>
            </a:r>
            <a:r>
              <a:rPr sz="2600" spc="-60" dirty="0">
                <a:latin typeface="Arial MT"/>
                <a:cs typeface="Arial MT"/>
              </a:rPr>
              <a:t> </a:t>
            </a:r>
            <a:r>
              <a:rPr sz="2600" dirty="0">
                <a:latin typeface="Arial MT"/>
                <a:cs typeface="Arial MT"/>
              </a:rPr>
              <a:t>should</a:t>
            </a:r>
            <a:r>
              <a:rPr sz="2600" spc="-55" dirty="0">
                <a:latin typeface="Arial MT"/>
                <a:cs typeface="Arial MT"/>
              </a:rPr>
              <a:t> </a:t>
            </a:r>
            <a:r>
              <a:rPr sz="2600" dirty="0">
                <a:latin typeface="Arial MT"/>
                <a:cs typeface="Arial MT"/>
              </a:rPr>
              <a:t>be</a:t>
            </a:r>
            <a:r>
              <a:rPr sz="2600" spc="-30" dirty="0">
                <a:latin typeface="Arial MT"/>
                <a:cs typeface="Arial MT"/>
              </a:rPr>
              <a:t> </a:t>
            </a:r>
            <a:r>
              <a:rPr sz="2600" spc="-10" dirty="0">
                <a:latin typeface="Arial MT"/>
                <a:cs typeface="Arial MT"/>
              </a:rPr>
              <a:t>rejected.</a:t>
            </a:r>
            <a:endParaRPr sz="2600">
              <a:latin typeface="Arial MT"/>
              <a:cs typeface="Arial MT"/>
            </a:endParaRPr>
          </a:p>
          <a:p>
            <a:pPr marL="12700" marR="5080">
              <a:lnSpc>
                <a:spcPct val="100000"/>
              </a:lnSpc>
            </a:pPr>
            <a:r>
              <a:rPr sz="2600" b="1" dirty="0">
                <a:latin typeface="Arial"/>
                <a:cs typeface="Arial"/>
              </a:rPr>
              <a:t>Invalid</a:t>
            </a:r>
            <a:r>
              <a:rPr sz="2600" b="1" spc="-45" dirty="0">
                <a:latin typeface="Arial"/>
                <a:cs typeface="Arial"/>
              </a:rPr>
              <a:t> </a:t>
            </a:r>
            <a:r>
              <a:rPr sz="2600" b="1" dirty="0">
                <a:latin typeface="Arial"/>
                <a:cs typeface="Arial"/>
              </a:rPr>
              <a:t>Equivalence</a:t>
            </a:r>
            <a:r>
              <a:rPr sz="2600" b="1" spc="-65" dirty="0">
                <a:latin typeface="Arial"/>
                <a:cs typeface="Arial"/>
              </a:rPr>
              <a:t> </a:t>
            </a:r>
            <a:r>
              <a:rPr sz="2600" b="1" dirty="0">
                <a:latin typeface="Arial"/>
                <a:cs typeface="Arial"/>
              </a:rPr>
              <a:t>Class</a:t>
            </a:r>
            <a:r>
              <a:rPr sz="2600" b="1" spc="-40" dirty="0">
                <a:latin typeface="Arial"/>
                <a:cs typeface="Arial"/>
              </a:rPr>
              <a:t> </a:t>
            </a:r>
            <a:r>
              <a:rPr sz="2600" b="1" dirty="0">
                <a:latin typeface="Arial"/>
                <a:cs typeface="Arial"/>
              </a:rPr>
              <a:t>3</a:t>
            </a:r>
            <a:r>
              <a:rPr sz="2600" b="1" spc="-45" dirty="0">
                <a:latin typeface="Arial"/>
                <a:cs typeface="Arial"/>
              </a:rPr>
              <a:t> </a:t>
            </a:r>
            <a:r>
              <a:rPr sz="2600" b="1" dirty="0">
                <a:latin typeface="Arial"/>
                <a:cs typeface="Arial"/>
              </a:rPr>
              <a:t>(Non-numeric):</a:t>
            </a:r>
            <a:r>
              <a:rPr sz="2600" b="1" spc="-85" dirty="0">
                <a:latin typeface="Arial"/>
                <a:cs typeface="Arial"/>
              </a:rPr>
              <a:t> </a:t>
            </a:r>
            <a:r>
              <a:rPr sz="2600" dirty="0">
                <a:latin typeface="Arial MT"/>
                <a:cs typeface="Arial MT"/>
              </a:rPr>
              <a:t>Inputs</a:t>
            </a:r>
            <a:r>
              <a:rPr sz="2600" spc="-45" dirty="0">
                <a:latin typeface="Arial MT"/>
                <a:cs typeface="Arial MT"/>
              </a:rPr>
              <a:t> </a:t>
            </a:r>
            <a:r>
              <a:rPr sz="2600" dirty="0">
                <a:latin typeface="Arial MT"/>
                <a:cs typeface="Arial MT"/>
              </a:rPr>
              <a:t>that</a:t>
            </a:r>
            <a:r>
              <a:rPr sz="2600" spc="-40" dirty="0">
                <a:latin typeface="Arial MT"/>
                <a:cs typeface="Arial MT"/>
              </a:rPr>
              <a:t> </a:t>
            </a:r>
            <a:r>
              <a:rPr sz="2600" spc="-25" dirty="0">
                <a:latin typeface="Arial MT"/>
                <a:cs typeface="Arial MT"/>
              </a:rPr>
              <a:t>are </a:t>
            </a:r>
            <a:r>
              <a:rPr sz="2600" dirty="0">
                <a:latin typeface="Arial MT"/>
                <a:cs typeface="Arial MT"/>
              </a:rPr>
              <a:t>not</a:t>
            </a:r>
            <a:r>
              <a:rPr sz="2600" spc="-20" dirty="0">
                <a:latin typeface="Arial MT"/>
                <a:cs typeface="Arial MT"/>
              </a:rPr>
              <a:t> </a:t>
            </a:r>
            <a:r>
              <a:rPr sz="2600" dirty="0">
                <a:latin typeface="Arial MT"/>
                <a:cs typeface="Arial MT"/>
              </a:rPr>
              <a:t>numbers</a:t>
            </a:r>
            <a:r>
              <a:rPr sz="2600" spc="-30" dirty="0">
                <a:latin typeface="Arial MT"/>
                <a:cs typeface="Arial MT"/>
              </a:rPr>
              <a:t> </a:t>
            </a:r>
            <a:r>
              <a:rPr sz="2600" dirty="0">
                <a:latin typeface="Arial MT"/>
                <a:cs typeface="Arial MT"/>
              </a:rPr>
              <a:t>(e.g.,</a:t>
            </a:r>
            <a:r>
              <a:rPr sz="2600" spc="-30" dirty="0">
                <a:latin typeface="Arial MT"/>
                <a:cs typeface="Arial MT"/>
              </a:rPr>
              <a:t> </a:t>
            </a:r>
            <a:r>
              <a:rPr sz="2600" dirty="0">
                <a:latin typeface="Arial MT"/>
                <a:cs typeface="Arial MT"/>
              </a:rPr>
              <a:t>"abc",</a:t>
            </a:r>
            <a:r>
              <a:rPr sz="2600" spc="-40" dirty="0">
                <a:latin typeface="Arial MT"/>
                <a:cs typeface="Arial MT"/>
              </a:rPr>
              <a:t> </a:t>
            </a:r>
            <a:r>
              <a:rPr sz="2600" dirty="0">
                <a:latin typeface="Arial MT"/>
                <a:cs typeface="Arial MT"/>
              </a:rPr>
              <a:t>"!@#",</a:t>
            </a:r>
            <a:r>
              <a:rPr sz="2600" spc="-15" dirty="0">
                <a:latin typeface="Arial MT"/>
                <a:cs typeface="Arial MT"/>
              </a:rPr>
              <a:t> </a:t>
            </a:r>
            <a:r>
              <a:rPr sz="2600" dirty="0">
                <a:latin typeface="Arial MT"/>
                <a:cs typeface="Arial MT"/>
              </a:rPr>
              <a:t>"twenty").</a:t>
            </a:r>
            <a:r>
              <a:rPr sz="2600" spc="-20" dirty="0">
                <a:latin typeface="Arial MT"/>
                <a:cs typeface="Arial MT"/>
              </a:rPr>
              <a:t> </a:t>
            </a:r>
            <a:r>
              <a:rPr sz="2600" dirty="0">
                <a:latin typeface="Arial MT"/>
                <a:cs typeface="Arial MT"/>
              </a:rPr>
              <a:t>These</a:t>
            </a:r>
            <a:r>
              <a:rPr sz="2600" spc="-35" dirty="0">
                <a:latin typeface="Arial MT"/>
                <a:cs typeface="Arial MT"/>
              </a:rPr>
              <a:t> </a:t>
            </a:r>
            <a:r>
              <a:rPr sz="2600" dirty="0">
                <a:latin typeface="Arial MT"/>
                <a:cs typeface="Arial MT"/>
              </a:rPr>
              <a:t>should</a:t>
            </a:r>
            <a:r>
              <a:rPr sz="2600" spc="-35" dirty="0">
                <a:latin typeface="Arial MT"/>
                <a:cs typeface="Arial MT"/>
              </a:rPr>
              <a:t> </a:t>
            </a:r>
            <a:r>
              <a:rPr sz="2600" spc="-25" dirty="0">
                <a:latin typeface="Arial MT"/>
                <a:cs typeface="Arial MT"/>
              </a:rPr>
              <a:t>be </a:t>
            </a:r>
            <a:r>
              <a:rPr sz="2600" spc="-10" dirty="0">
                <a:latin typeface="Arial MT"/>
                <a:cs typeface="Arial MT"/>
              </a:rPr>
              <a:t>rejected.</a:t>
            </a:r>
            <a:endParaRPr sz="2600">
              <a:latin typeface="Arial MT"/>
              <a:cs typeface="Arial MT"/>
            </a:endParaRPr>
          </a:p>
        </p:txBody>
      </p:sp>
      <p:pic>
        <p:nvPicPr>
          <p:cNvPr id="4" name="object 4"/>
          <p:cNvPicPr/>
          <p:nvPr/>
        </p:nvPicPr>
        <p:blipFill>
          <a:blip r:embed="rId2" cstate="print"/>
          <a:stretch>
            <a:fillRect/>
          </a:stretch>
        </p:blipFill>
        <p:spPr>
          <a:xfrm>
            <a:off x="8775954" y="6495288"/>
            <a:ext cx="594359" cy="5615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0604" y="709117"/>
            <a:ext cx="6807834" cy="574675"/>
          </a:xfrm>
          <a:prstGeom prst="rect">
            <a:avLst/>
          </a:prstGeom>
        </p:spPr>
        <p:txBody>
          <a:bodyPr vert="horz" wrap="square" lIns="0" tIns="12700" rIns="0" bIns="0" rtlCol="0">
            <a:spAutoFit/>
          </a:bodyPr>
          <a:lstStyle/>
          <a:p>
            <a:pPr marL="12700">
              <a:lnSpc>
                <a:spcPct val="100000"/>
              </a:lnSpc>
              <a:spcBef>
                <a:spcPts val="100"/>
              </a:spcBef>
            </a:pPr>
            <a:r>
              <a:rPr sz="3600" spc="-85" dirty="0"/>
              <a:t>Boundary</a:t>
            </a:r>
            <a:r>
              <a:rPr sz="3600" spc="-170" dirty="0"/>
              <a:t> </a:t>
            </a:r>
            <a:r>
              <a:rPr sz="3600" dirty="0"/>
              <a:t>Value</a:t>
            </a:r>
            <a:r>
              <a:rPr sz="3600" spc="-165" dirty="0"/>
              <a:t> </a:t>
            </a:r>
            <a:r>
              <a:rPr sz="3600" spc="-180" dirty="0"/>
              <a:t>Analysis</a:t>
            </a:r>
            <a:r>
              <a:rPr sz="3600" spc="-155" dirty="0"/>
              <a:t> </a:t>
            </a:r>
            <a:r>
              <a:rPr sz="3600" spc="-95" dirty="0"/>
              <a:t>(BVA)</a:t>
            </a:r>
            <a:endParaRPr sz="3600"/>
          </a:p>
        </p:txBody>
      </p:sp>
      <p:sp>
        <p:nvSpPr>
          <p:cNvPr id="3" name="object 3"/>
          <p:cNvSpPr txBox="1">
            <a:spLocks noGrp="1"/>
          </p:cNvSpPr>
          <p:nvPr>
            <p:ph type="body" idx="1"/>
          </p:nvPr>
        </p:nvSpPr>
        <p:spPr>
          <a:prstGeom prst="rect">
            <a:avLst/>
          </a:prstGeom>
        </p:spPr>
        <p:txBody>
          <a:bodyPr vert="horz" wrap="square" lIns="0" tIns="13335" rIns="0" bIns="0" rtlCol="0">
            <a:spAutoFit/>
          </a:bodyPr>
          <a:lstStyle/>
          <a:p>
            <a:pPr marL="295910" marR="5080" indent="-283845" algn="just">
              <a:lnSpc>
                <a:spcPct val="100000"/>
              </a:lnSpc>
              <a:spcBef>
                <a:spcPts val="105"/>
              </a:spcBef>
              <a:buChar char="•"/>
              <a:tabLst>
                <a:tab pos="299085" algn="l"/>
              </a:tabLst>
            </a:pPr>
            <a:r>
              <a:rPr dirty="0"/>
              <a:t>Boundary</a:t>
            </a:r>
            <a:r>
              <a:rPr spc="225" dirty="0"/>
              <a:t>  </a:t>
            </a:r>
            <a:r>
              <a:rPr dirty="0"/>
              <a:t>Value</a:t>
            </a:r>
            <a:r>
              <a:rPr spc="229" dirty="0"/>
              <a:t>  </a:t>
            </a:r>
            <a:r>
              <a:rPr dirty="0"/>
              <a:t>Analysis</a:t>
            </a:r>
            <a:r>
              <a:rPr spc="225" dirty="0"/>
              <a:t>  </a:t>
            </a:r>
            <a:r>
              <a:rPr dirty="0"/>
              <a:t>(BVA)</a:t>
            </a:r>
            <a:r>
              <a:rPr spc="229" dirty="0"/>
              <a:t>  </a:t>
            </a:r>
            <a:r>
              <a:rPr dirty="0"/>
              <a:t>is</a:t>
            </a:r>
            <a:r>
              <a:rPr spc="225" dirty="0"/>
              <a:t>  </a:t>
            </a:r>
            <a:r>
              <a:rPr dirty="0"/>
              <a:t>a</a:t>
            </a:r>
            <a:r>
              <a:rPr spc="220" dirty="0"/>
              <a:t>  </a:t>
            </a:r>
            <a:r>
              <a:rPr dirty="0"/>
              <a:t>crucial</a:t>
            </a:r>
            <a:r>
              <a:rPr spc="229" dirty="0"/>
              <a:t>  </a:t>
            </a:r>
            <a:r>
              <a:rPr dirty="0"/>
              <a:t>software</a:t>
            </a:r>
            <a:r>
              <a:rPr spc="235" dirty="0"/>
              <a:t>  </a:t>
            </a:r>
            <a:r>
              <a:rPr spc="-10" dirty="0"/>
              <a:t>testing 	</a:t>
            </a:r>
            <a:r>
              <a:rPr dirty="0"/>
              <a:t>technique</a:t>
            </a:r>
            <a:r>
              <a:rPr spc="240" dirty="0"/>
              <a:t> </a:t>
            </a:r>
            <a:r>
              <a:rPr dirty="0"/>
              <a:t>that</a:t>
            </a:r>
            <a:r>
              <a:rPr spc="235" dirty="0"/>
              <a:t> </a:t>
            </a:r>
            <a:r>
              <a:rPr dirty="0"/>
              <a:t>focuses</a:t>
            </a:r>
            <a:r>
              <a:rPr spc="240" dirty="0"/>
              <a:t> </a:t>
            </a:r>
            <a:r>
              <a:rPr dirty="0"/>
              <a:t>on</a:t>
            </a:r>
            <a:r>
              <a:rPr spc="220" dirty="0"/>
              <a:t> </a:t>
            </a:r>
            <a:r>
              <a:rPr dirty="0"/>
              <a:t>testing</a:t>
            </a:r>
            <a:r>
              <a:rPr spc="240" dirty="0"/>
              <a:t> </a:t>
            </a:r>
            <a:r>
              <a:rPr dirty="0"/>
              <a:t>the</a:t>
            </a:r>
            <a:r>
              <a:rPr spc="240" dirty="0"/>
              <a:t> </a:t>
            </a:r>
            <a:r>
              <a:rPr dirty="0"/>
              <a:t>boundaries</a:t>
            </a:r>
            <a:r>
              <a:rPr spc="245" dirty="0"/>
              <a:t> </a:t>
            </a:r>
            <a:r>
              <a:rPr dirty="0"/>
              <a:t>or</a:t>
            </a:r>
            <a:r>
              <a:rPr spc="229" dirty="0"/>
              <a:t> </a:t>
            </a:r>
            <a:r>
              <a:rPr dirty="0"/>
              <a:t>edges</a:t>
            </a:r>
            <a:r>
              <a:rPr spc="240" dirty="0"/>
              <a:t> </a:t>
            </a:r>
            <a:r>
              <a:rPr dirty="0"/>
              <a:t>of</a:t>
            </a:r>
            <a:r>
              <a:rPr spc="229" dirty="0"/>
              <a:t> </a:t>
            </a:r>
            <a:r>
              <a:rPr spc="-10" dirty="0"/>
              <a:t>input 	ranges.</a:t>
            </a:r>
          </a:p>
          <a:p>
            <a:pPr marL="295910" marR="5080" indent="-283845" algn="just">
              <a:lnSpc>
                <a:spcPct val="100000"/>
              </a:lnSpc>
              <a:buChar char="•"/>
              <a:tabLst>
                <a:tab pos="299085" algn="l"/>
              </a:tabLst>
            </a:pPr>
            <a:r>
              <a:rPr dirty="0"/>
              <a:t>It</a:t>
            </a:r>
            <a:r>
              <a:rPr spc="65" dirty="0"/>
              <a:t> </a:t>
            </a:r>
            <a:r>
              <a:rPr dirty="0"/>
              <a:t>is</a:t>
            </a:r>
            <a:r>
              <a:rPr spc="65" dirty="0"/>
              <a:t> </a:t>
            </a:r>
            <a:r>
              <a:rPr dirty="0"/>
              <a:t>based</a:t>
            </a:r>
            <a:r>
              <a:rPr spc="60" dirty="0"/>
              <a:t> </a:t>
            </a:r>
            <a:r>
              <a:rPr dirty="0"/>
              <a:t>on</a:t>
            </a:r>
            <a:r>
              <a:rPr spc="60" dirty="0"/>
              <a:t> </a:t>
            </a:r>
            <a:r>
              <a:rPr dirty="0"/>
              <a:t>the</a:t>
            </a:r>
            <a:r>
              <a:rPr spc="55" dirty="0"/>
              <a:t> </a:t>
            </a:r>
            <a:r>
              <a:rPr dirty="0"/>
              <a:t>observation</a:t>
            </a:r>
            <a:r>
              <a:rPr spc="70" dirty="0"/>
              <a:t> </a:t>
            </a:r>
            <a:r>
              <a:rPr dirty="0"/>
              <a:t>that</a:t>
            </a:r>
            <a:r>
              <a:rPr spc="60" dirty="0"/>
              <a:t> </a:t>
            </a:r>
            <a:r>
              <a:rPr dirty="0"/>
              <a:t>errors</a:t>
            </a:r>
            <a:r>
              <a:rPr spc="65" dirty="0"/>
              <a:t> </a:t>
            </a:r>
            <a:r>
              <a:rPr dirty="0"/>
              <a:t>often</a:t>
            </a:r>
            <a:r>
              <a:rPr spc="70" dirty="0"/>
              <a:t> </a:t>
            </a:r>
            <a:r>
              <a:rPr dirty="0"/>
              <a:t>occur</a:t>
            </a:r>
            <a:r>
              <a:rPr spc="65" dirty="0"/>
              <a:t> </a:t>
            </a:r>
            <a:r>
              <a:rPr dirty="0"/>
              <a:t>at</a:t>
            </a:r>
            <a:r>
              <a:rPr spc="65" dirty="0"/>
              <a:t> </a:t>
            </a:r>
            <a:r>
              <a:rPr dirty="0"/>
              <a:t>the</a:t>
            </a:r>
            <a:r>
              <a:rPr spc="75" dirty="0"/>
              <a:t> </a:t>
            </a:r>
            <a:r>
              <a:rPr dirty="0"/>
              <a:t>edges</a:t>
            </a:r>
            <a:r>
              <a:rPr spc="65" dirty="0"/>
              <a:t> </a:t>
            </a:r>
            <a:r>
              <a:rPr spc="-25" dirty="0"/>
              <a:t>of 	</a:t>
            </a:r>
            <a:r>
              <a:rPr dirty="0"/>
              <a:t>input</a:t>
            </a:r>
            <a:r>
              <a:rPr spc="55" dirty="0"/>
              <a:t> </a:t>
            </a:r>
            <a:r>
              <a:rPr dirty="0"/>
              <a:t>ranges</a:t>
            </a:r>
            <a:r>
              <a:rPr spc="55" dirty="0"/>
              <a:t> </a:t>
            </a:r>
            <a:r>
              <a:rPr dirty="0"/>
              <a:t>rather</a:t>
            </a:r>
            <a:r>
              <a:rPr spc="65" dirty="0"/>
              <a:t> </a:t>
            </a:r>
            <a:r>
              <a:rPr dirty="0"/>
              <a:t>than</a:t>
            </a:r>
            <a:r>
              <a:rPr spc="60" dirty="0"/>
              <a:t> </a:t>
            </a:r>
            <a:r>
              <a:rPr dirty="0"/>
              <a:t>in</a:t>
            </a:r>
            <a:r>
              <a:rPr spc="45" dirty="0"/>
              <a:t> </a:t>
            </a:r>
            <a:r>
              <a:rPr dirty="0"/>
              <a:t>the</a:t>
            </a:r>
            <a:r>
              <a:rPr spc="55" dirty="0"/>
              <a:t> </a:t>
            </a:r>
            <a:r>
              <a:rPr dirty="0"/>
              <a:t>middle.</a:t>
            </a:r>
            <a:r>
              <a:rPr spc="45" dirty="0"/>
              <a:t> </a:t>
            </a:r>
            <a:r>
              <a:rPr dirty="0"/>
              <a:t>By</a:t>
            </a:r>
            <a:r>
              <a:rPr spc="50" dirty="0"/>
              <a:t> </a:t>
            </a:r>
            <a:r>
              <a:rPr dirty="0"/>
              <a:t>testing</a:t>
            </a:r>
            <a:r>
              <a:rPr spc="60" dirty="0"/>
              <a:t> </a:t>
            </a:r>
            <a:r>
              <a:rPr dirty="0"/>
              <a:t>the</a:t>
            </a:r>
            <a:r>
              <a:rPr spc="50" dirty="0"/>
              <a:t> </a:t>
            </a:r>
            <a:r>
              <a:rPr dirty="0"/>
              <a:t>extremes,</a:t>
            </a:r>
            <a:r>
              <a:rPr spc="55" dirty="0"/>
              <a:t> </a:t>
            </a:r>
            <a:r>
              <a:rPr spc="-25" dirty="0"/>
              <a:t>BVA 	</a:t>
            </a:r>
            <a:r>
              <a:rPr dirty="0"/>
              <a:t>helps</a:t>
            </a:r>
            <a:r>
              <a:rPr spc="340" dirty="0"/>
              <a:t> </a:t>
            </a:r>
            <a:r>
              <a:rPr dirty="0"/>
              <a:t>identify</a:t>
            </a:r>
            <a:r>
              <a:rPr spc="325" dirty="0"/>
              <a:t> </a:t>
            </a:r>
            <a:r>
              <a:rPr dirty="0"/>
              <a:t>potential</a:t>
            </a:r>
            <a:r>
              <a:rPr spc="330" dirty="0"/>
              <a:t> </a:t>
            </a:r>
            <a:r>
              <a:rPr dirty="0"/>
              <a:t>vulnerabilities</a:t>
            </a:r>
            <a:r>
              <a:rPr spc="340" dirty="0"/>
              <a:t> </a:t>
            </a:r>
            <a:r>
              <a:rPr dirty="0"/>
              <a:t>and</a:t>
            </a:r>
            <a:r>
              <a:rPr spc="335" dirty="0"/>
              <a:t> </a:t>
            </a:r>
            <a:r>
              <a:rPr dirty="0"/>
              <a:t>ensures</a:t>
            </a:r>
            <a:r>
              <a:rPr spc="340" dirty="0"/>
              <a:t> </a:t>
            </a:r>
            <a:r>
              <a:rPr dirty="0"/>
              <a:t>that</a:t>
            </a:r>
            <a:r>
              <a:rPr spc="335" dirty="0"/>
              <a:t> </a:t>
            </a:r>
            <a:r>
              <a:rPr dirty="0"/>
              <a:t>the</a:t>
            </a:r>
            <a:r>
              <a:rPr spc="325" dirty="0"/>
              <a:t> </a:t>
            </a:r>
            <a:r>
              <a:rPr spc="-10" dirty="0"/>
              <a:t>system 	</a:t>
            </a:r>
            <a:r>
              <a:rPr dirty="0"/>
              <a:t>behaves</a:t>
            </a:r>
            <a:r>
              <a:rPr spc="-40" dirty="0"/>
              <a:t> </a:t>
            </a:r>
            <a:r>
              <a:rPr dirty="0"/>
              <a:t>correctly</a:t>
            </a:r>
            <a:r>
              <a:rPr spc="-35" dirty="0"/>
              <a:t> </a:t>
            </a:r>
            <a:r>
              <a:rPr dirty="0"/>
              <a:t>at</a:t>
            </a:r>
            <a:r>
              <a:rPr spc="-35" dirty="0"/>
              <a:t> </a:t>
            </a:r>
            <a:r>
              <a:rPr dirty="0"/>
              <a:t>its</a:t>
            </a:r>
            <a:r>
              <a:rPr spc="-10" dirty="0"/>
              <a:t> limits.</a:t>
            </a:r>
          </a:p>
        </p:txBody>
      </p:sp>
      <p:pic>
        <p:nvPicPr>
          <p:cNvPr id="4" name="object 4"/>
          <p:cNvPicPr/>
          <p:nvPr/>
        </p:nvPicPr>
        <p:blipFill>
          <a:blip r:embed="rId2" cstate="print"/>
          <a:stretch>
            <a:fillRect/>
          </a:stretch>
        </p:blipFill>
        <p:spPr>
          <a:xfrm>
            <a:off x="725043" y="4114800"/>
            <a:ext cx="8608314" cy="3200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5500" y="604773"/>
            <a:ext cx="6050280" cy="513715"/>
          </a:xfrm>
          <a:prstGeom prst="rect">
            <a:avLst/>
          </a:prstGeom>
        </p:spPr>
        <p:txBody>
          <a:bodyPr vert="horz" wrap="square" lIns="0" tIns="12700" rIns="0" bIns="0" rtlCol="0">
            <a:spAutoFit/>
          </a:bodyPr>
          <a:lstStyle/>
          <a:p>
            <a:pPr marL="12700">
              <a:lnSpc>
                <a:spcPct val="100000"/>
              </a:lnSpc>
              <a:spcBef>
                <a:spcPts val="100"/>
              </a:spcBef>
            </a:pPr>
            <a:r>
              <a:rPr sz="3200" spc="-85" dirty="0"/>
              <a:t>Boundary</a:t>
            </a:r>
            <a:r>
              <a:rPr sz="3200" spc="-190" dirty="0"/>
              <a:t> </a:t>
            </a:r>
            <a:r>
              <a:rPr sz="3200" dirty="0"/>
              <a:t>Value</a:t>
            </a:r>
            <a:r>
              <a:rPr sz="3200" spc="-170" dirty="0"/>
              <a:t> </a:t>
            </a:r>
            <a:r>
              <a:rPr sz="3200" spc="-160" dirty="0"/>
              <a:t>Analysis</a:t>
            </a:r>
            <a:r>
              <a:rPr sz="3200" spc="-215" dirty="0"/>
              <a:t> </a:t>
            </a:r>
            <a:r>
              <a:rPr sz="3200" spc="-55" dirty="0"/>
              <a:t>(BVA)</a:t>
            </a:r>
            <a:endParaRPr sz="3200"/>
          </a:p>
        </p:txBody>
      </p:sp>
      <p:sp>
        <p:nvSpPr>
          <p:cNvPr id="3" name="object 3"/>
          <p:cNvSpPr txBox="1"/>
          <p:nvPr/>
        </p:nvSpPr>
        <p:spPr>
          <a:xfrm>
            <a:off x="6238113" y="1250061"/>
            <a:ext cx="3377565" cy="452120"/>
          </a:xfrm>
          <a:prstGeom prst="rect">
            <a:avLst/>
          </a:prstGeom>
        </p:spPr>
        <p:txBody>
          <a:bodyPr vert="horz" wrap="square" lIns="0" tIns="12065" rIns="0" bIns="0" rtlCol="0">
            <a:spAutoFit/>
          </a:bodyPr>
          <a:lstStyle/>
          <a:p>
            <a:pPr marL="12700">
              <a:lnSpc>
                <a:spcPct val="100000"/>
              </a:lnSpc>
              <a:spcBef>
                <a:spcPts val="95"/>
              </a:spcBef>
              <a:tabLst>
                <a:tab pos="499745" algn="l"/>
                <a:tab pos="2317115" algn="l"/>
              </a:tabLst>
            </a:pPr>
            <a:r>
              <a:rPr sz="2800" spc="-50" dirty="0">
                <a:latin typeface="Arial MT"/>
                <a:cs typeface="Arial MT"/>
              </a:rPr>
              <a:t>a</a:t>
            </a:r>
            <a:r>
              <a:rPr sz="2800" dirty="0">
                <a:latin typeface="Arial MT"/>
                <a:cs typeface="Arial MT"/>
              </a:rPr>
              <a:t>	</a:t>
            </a:r>
            <a:r>
              <a:rPr sz="2800" spc="-10" dirty="0">
                <a:latin typeface="Arial MT"/>
                <a:cs typeface="Arial MT"/>
              </a:rPr>
              <a:t>black-</a:t>
            </a:r>
            <a:r>
              <a:rPr sz="2800" spc="-25" dirty="0">
                <a:latin typeface="Arial MT"/>
                <a:cs typeface="Arial MT"/>
              </a:rPr>
              <a:t>box</a:t>
            </a:r>
            <a:r>
              <a:rPr sz="2800" dirty="0">
                <a:latin typeface="Arial MT"/>
                <a:cs typeface="Arial MT"/>
              </a:rPr>
              <a:t>	</a:t>
            </a:r>
            <a:r>
              <a:rPr sz="2800" spc="-10" dirty="0">
                <a:latin typeface="Arial MT"/>
                <a:cs typeface="Arial MT"/>
              </a:rPr>
              <a:t>testing</a:t>
            </a:r>
            <a:endParaRPr sz="2800">
              <a:latin typeface="Arial MT"/>
              <a:cs typeface="Arial MT"/>
            </a:endParaRPr>
          </a:p>
        </p:txBody>
      </p:sp>
      <p:sp>
        <p:nvSpPr>
          <p:cNvPr id="4" name="object 4"/>
          <p:cNvSpPr txBox="1"/>
          <p:nvPr/>
        </p:nvSpPr>
        <p:spPr>
          <a:xfrm>
            <a:off x="596900" y="1250061"/>
            <a:ext cx="5375275" cy="878840"/>
          </a:xfrm>
          <a:prstGeom prst="rect">
            <a:avLst/>
          </a:prstGeom>
        </p:spPr>
        <p:txBody>
          <a:bodyPr vert="horz" wrap="square" lIns="0" tIns="12065" rIns="0" bIns="0" rtlCol="0">
            <a:spAutoFit/>
          </a:bodyPr>
          <a:lstStyle/>
          <a:p>
            <a:pPr marL="469900" marR="5080" indent="-457200">
              <a:lnSpc>
                <a:spcPct val="100000"/>
              </a:lnSpc>
              <a:spcBef>
                <a:spcPts val="95"/>
              </a:spcBef>
              <a:buChar char="•"/>
              <a:tabLst>
                <a:tab pos="469900" algn="l"/>
                <a:tab pos="2136775" algn="l"/>
                <a:tab pos="2286635" algn="l"/>
                <a:tab pos="3208655" algn="l"/>
                <a:tab pos="3487420" algn="l"/>
                <a:tab pos="4438650" algn="l"/>
                <a:tab pos="5104765" algn="l"/>
              </a:tabLst>
            </a:pPr>
            <a:r>
              <a:rPr sz="2800" spc="-10" dirty="0">
                <a:latin typeface="Arial MT"/>
                <a:cs typeface="Arial MT"/>
              </a:rPr>
              <a:t>Boundary</a:t>
            </a:r>
            <a:r>
              <a:rPr sz="2800" dirty="0">
                <a:latin typeface="Arial MT"/>
                <a:cs typeface="Arial MT"/>
              </a:rPr>
              <a:t>		</a:t>
            </a:r>
            <a:r>
              <a:rPr sz="2800" spc="-10" dirty="0">
                <a:latin typeface="Arial MT"/>
                <a:cs typeface="Arial MT"/>
              </a:rPr>
              <a:t>Value</a:t>
            </a:r>
            <a:r>
              <a:rPr sz="2800" dirty="0">
                <a:latin typeface="Arial MT"/>
                <a:cs typeface="Arial MT"/>
              </a:rPr>
              <a:t>		</a:t>
            </a:r>
            <a:r>
              <a:rPr sz="2800" spc="-10" dirty="0">
                <a:latin typeface="Arial MT"/>
                <a:cs typeface="Arial MT"/>
              </a:rPr>
              <a:t>Analysis</a:t>
            </a:r>
            <a:r>
              <a:rPr sz="2800" dirty="0">
                <a:latin typeface="Arial MT"/>
                <a:cs typeface="Arial MT"/>
              </a:rPr>
              <a:t>	</a:t>
            </a:r>
            <a:r>
              <a:rPr sz="2800" spc="-25" dirty="0">
                <a:latin typeface="Arial MT"/>
                <a:cs typeface="Arial MT"/>
              </a:rPr>
              <a:t>is </a:t>
            </a:r>
            <a:r>
              <a:rPr sz="2800" spc="-10" dirty="0">
                <a:latin typeface="Arial MT"/>
                <a:cs typeface="Arial MT"/>
              </a:rPr>
              <a:t>method</a:t>
            </a:r>
            <a:r>
              <a:rPr sz="2800" dirty="0">
                <a:latin typeface="Arial MT"/>
                <a:cs typeface="Arial MT"/>
              </a:rPr>
              <a:t>	</a:t>
            </a:r>
            <a:r>
              <a:rPr sz="2800" spc="-20" dirty="0">
                <a:latin typeface="Arial MT"/>
                <a:cs typeface="Arial MT"/>
              </a:rPr>
              <a:t>that</a:t>
            </a:r>
            <a:r>
              <a:rPr sz="2800" dirty="0">
                <a:latin typeface="Arial MT"/>
                <a:cs typeface="Arial MT"/>
              </a:rPr>
              <a:t>	</a:t>
            </a:r>
            <a:r>
              <a:rPr sz="2800" spc="-20" dirty="0">
                <a:latin typeface="Arial MT"/>
                <a:cs typeface="Arial MT"/>
              </a:rPr>
              <a:t>aims</a:t>
            </a:r>
            <a:r>
              <a:rPr sz="2800" dirty="0">
                <a:latin typeface="Arial MT"/>
                <a:cs typeface="Arial MT"/>
              </a:rPr>
              <a:t>	</a:t>
            </a:r>
            <a:r>
              <a:rPr sz="2800" spc="-25" dirty="0">
                <a:latin typeface="Arial MT"/>
                <a:cs typeface="Arial MT"/>
              </a:rPr>
              <a:t>to</a:t>
            </a:r>
            <a:endParaRPr sz="2800">
              <a:latin typeface="Arial MT"/>
              <a:cs typeface="Arial MT"/>
            </a:endParaRPr>
          </a:p>
        </p:txBody>
      </p:sp>
      <p:sp>
        <p:nvSpPr>
          <p:cNvPr id="5" name="object 5"/>
          <p:cNvSpPr txBox="1"/>
          <p:nvPr/>
        </p:nvSpPr>
        <p:spPr>
          <a:xfrm>
            <a:off x="5799201" y="1676780"/>
            <a:ext cx="3813175" cy="452120"/>
          </a:xfrm>
          <a:prstGeom prst="rect">
            <a:avLst/>
          </a:prstGeom>
        </p:spPr>
        <p:txBody>
          <a:bodyPr vert="horz" wrap="square" lIns="0" tIns="12065" rIns="0" bIns="0" rtlCol="0">
            <a:spAutoFit/>
          </a:bodyPr>
          <a:lstStyle/>
          <a:p>
            <a:pPr marL="12700">
              <a:lnSpc>
                <a:spcPct val="100000"/>
              </a:lnSpc>
              <a:spcBef>
                <a:spcPts val="95"/>
              </a:spcBef>
              <a:tabLst>
                <a:tab pos="1062355" algn="l"/>
                <a:tab pos="2036445" algn="l"/>
              </a:tabLst>
            </a:pPr>
            <a:r>
              <a:rPr sz="2800" spc="-20" dirty="0">
                <a:latin typeface="Arial MT"/>
                <a:cs typeface="Arial MT"/>
              </a:rPr>
              <a:t>test</a:t>
            </a:r>
            <a:r>
              <a:rPr sz="2800" dirty="0">
                <a:latin typeface="Arial MT"/>
                <a:cs typeface="Arial MT"/>
              </a:rPr>
              <a:t>	</a:t>
            </a:r>
            <a:r>
              <a:rPr sz="2800" spc="-25" dirty="0">
                <a:latin typeface="Arial MT"/>
                <a:cs typeface="Arial MT"/>
              </a:rPr>
              <a:t>the</a:t>
            </a:r>
            <a:r>
              <a:rPr sz="2800" dirty="0">
                <a:latin typeface="Arial MT"/>
                <a:cs typeface="Arial MT"/>
              </a:rPr>
              <a:t>	</a:t>
            </a:r>
            <a:r>
              <a:rPr sz="2800" spc="-10" dirty="0">
                <a:latin typeface="Arial MT"/>
                <a:cs typeface="Arial MT"/>
              </a:rPr>
              <a:t>boundaries</a:t>
            </a:r>
            <a:endParaRPr sz="2800">
              <a:latin typeface="Arial MT"/>
              <a:cs typeface="Arial MT"/>
            </a:endParaRPr>
          </a:p>
        </p:txBody>
      </p:sp>
      <p:sp>
        <p:nvSpPr>
          <p:cNvPr id="6" name="object 6"/>
          <p:cNvSpPr txBox="1"/>
          <p:nvPr/>
        </p:nvSpPr>
        <p:spPr>
          <a:xfrm>
            <a:off x="596900" y="2103881"/>
            <a:ext cx="9018270" cy="2159000"/>
          </a:xfrm>
          <a:prstGeom prst="rect">
            <a:avLst/>
          </a:prstGeom>
        </p:spPr>
        <p:txBody>
          <a:bodyPr vert="horz" wrap="square" lIns="0" tIns="12065" rIns="0" bIns="0" rtlCol="0">
            <a:spAutoFit/>
          </a:bodyPr>
          <a:lstStyle/>
          <a:p>
            <a:pPr marL="469900" algn="just">
              <a:lnSpc>
                <a:spcPct val="100000"/>
              </a:lnSpc>
              <a:spcBef>
                <a:spcPts val="95"/>
              </a:spcBef>
            </a:pPr>
            <a:r>
              <a:rPr sz="2800" dirty="0">
                <a:latin typeface="Arial MT"/>
                <a:cs typeface="Arial MT"/>
              </a:rPr>
              <a:t>between</a:t>
            </a:r>
            <a:r>
              <a:rPr sz="2800" spc="-105" dirty="0">
                <a:latin typeface="Arial MT"/>
                <a:cs typeface="Arial MT"/>
              </a:rPr>
              <a:t> </a:t>
            </a:r>
            <a:r>
              <a:rPr sz="2800" dirty="0">
                <a:latin typeface="Arial MT"/>
                <a:cs typeface="Arial MT"/>
              </a:rPr>
              <a:t>equivalence</a:t>
            </a:r>
            <a:r>
              <a:rPr sz="2800" spc="-100" dirty="0">
                <a:latin typeface="Arial MT"/>
                <a:cs typeface="Arial MT"/>
              </a:rPr>
              <a:t> </a:t>
            </a:r>
            <a:r>
              <a:rPr sz="2800" spc="-10" dirty="0">
                <a:latin typeface="Arial MT"/>
                <a:cs typeface="Arial MT"/>
              </a:rPr>
              <a:t>classes.</a:t>
            </a:r>
            <a:endParaRPr sz="2800">
              <a:latin typeface="Arial MT"/>
              <a:cs typeface="Arial MT"/>
            </a:endParaRPr>
          </a:p>
          <a:p>
            <a:pPr marL="467995" marR="5080" indent="-455295" algn="just">
              <a:lnSpc>
                <a:spcPct val="100000"/>
              </a:lnSpc>
              <a:buChar char="•"/>
              <a:tabLst>
                <a:tab pos="469900" algn="l"/>
              </a:tabLst>
            </a:pPr>
            <a:r>
              <a:rPr sz="2800" dirty="0">
                <a:latin typeface="Arial MT"/>
                <a:cs typeface="Arial MT"/>
              </a:rPr>
              <a:t>While</a:t>
            </a:r>
            <a:r>
              <a:rPr sz="2800" spc="160" dirty="0">
                <a:latin typeface="Arial MT"/>
                <a:cs typeface="Arial MT"/>
              </a:rPr>
              <a:t>  </a:t>
            </a:r>
            <a:r>
              <a:rPr sz="2800" dirty="0">
                <a:latin typeface="Arial MT"/>
                <a:cs typeface="Arial MT"/>
              </a:rPr>
              <a:t>Equivalence</a:t>
            </a:r>
            <a:r>
              <a:rPr sz="2800" spc="180" dirty="0">
                <a:latin typeface="Arial MT"/>
                <a:cs typeface="Arial MT"/>
              </a:rPr>
              <a:t>  </a:t>
            </a:r>
            <a:r>
              <a:rPr sz="2800" dirty="0">
                <a:latin typeface="Arial MT"/>
                <a:cs typeface="Arial MT"/>
              </a:rPr>
              <a:t>Class</a:t>
            </a:r>
            <a:r>
              <a:rPr sz="2800" spc="175" dirty="0">
                <a:latin typeface="Arial MT"/>
                <a:cs typeface="Arial MT"/>
              </a:rPr>
              <a:t>  </a:t>
            </a:r>
            <a:r>
              <a:rPr sz="2800" dirty="0">
                <a:latin typeface="Arial MT"/>
                <a:cs typeface="Arial MT"/>
              </a:rPr>
              <a:t>Partitioning</a:t>
            </a:r>
            <a:r>
              <a:rPr sz="2800" spc="175" dirty="0">
                <a:latin typeface="Arial MT"/>
                <a:cs typeface="Arial MT"/>
              </a:rPr>
              <a:t>  </a:t>
            </a:r>
            <a:r>
              <a:rPr sz="2800" dirty="0">
                <a:latin typeface="Arial MT"/>
                <a:cs typeface="Arial MT"/>
              </a:rPr>
              <a:t>only</a:t>
            </a:r>
            <a:r>
              <a:rPr sz="2800" spc="180" dirty="0">
                <a:latin typeface="Arial MT"/>
                <a:cs typeface="Arial MT"/>
              </a:rPr>
              <a:t>  </a:t>
            </a:r>
            <a:r>
              <a:rPr sz="2800" spc="-10" dirty="0">
                <a:latin typeface="Arial MT"/>
                <a:cs typeface="Arial MT"/>
              </a:rPr>
              <a:t>divides 	</a:t>
            </a:r>
            <a:r>
              <a:rPr sz="2800" dirty="0">
                <a:latin typeface="Arial MT"/>
                <a:cs typeface="Arial MT"/>
              </a:rPr>
              <a:t>inputs</a:t>
            </a:r>
            <a:r>
              <a:rPr sz="2800" spc="185" dirty="0">
                <a:latin typeface="Arial MT"/>
                <a:cs typeface="Arial MT"/>
              </a:rPr>
              <a:t> </a:t>
            </a:r>
            <a:r>
              <a:rPr sz="2800" dirty="0">
                <a:latin typeface="Arial MT"/>
                <a:cs typeface="Arial MT"/>
              </a:rPr>
              <a:t>into</a:t>
            </a:r>
            <a:r>
              <a:rPr sz="2800" spc="195" dirty="0">
                <a:latin typeface="Arial MT"/>
                <a:cs typeface="Arial MT"/>
              </a:rPr>
              <a:t> </a:t>
            </a:r>
            <a:r>
              <a:rPr sz="2800" dirty="0">
                <a:latin typeface="Arial MT"/>
                <a:cs typeface="Arial MT"/>
              </a:rPr>
              <a:t>valid</a:t>
            </a:r>
            <a:r>
              <a:rPr sz="2800" spc="204" dirty="0">
                <a:latin typeface="Arial MT"/>
                <a:cs typeface="Arial MT"/>
              </a:rPr>
              <a:t> </a:t>
            </a:r>
            <a:r>
              <a:rPr sz="2800" dirty="0">
                <a:latin typeface="Arial MT"/>
                <a:cs typeface="Arial MT"/>
              </a:rPr>
              <a:t>and</a:t>
            </a:r>
            <a:r>
              <a:rPr sz="2800" spc="200" dirty="0">
                <a:latin typeface="Arial MT"/>
                <a:cs typeface="Arial MT"/>
              </a:rPr>
              <a:t> </a:t>
            </a:r>
            <a:r>
              <a:rPr sz="2800" dirty="0">
                <a:latin typeface="Arial MT"/>
                <a:cs typeface="Arial MT"/>
              </a:rPr>
              <a:t>invalid</a:t>
            </a:r>
            <a:r>
              <a:rPr sz="2800" spc="215" dirty="0">
                <a:latin typeface="Arial MT"/>
                <a:cs typeface="Arial MT"/>
              </a:rPr>
              <a:t> </a:t>
            </a:r>
            <a:r>
              <a:rPr sz="2800" dirty="0">
                <a:latin typeface="Arial MT"/>
                <a:cs typeface="Arial MT"/>
              </a:rPr>
              <a:t>groups,</a:t>
            </a:r>
            <a:r>
              <a:rPr sz="2800" spc="185" dirty="0">
                <a:latin typeface="Arial MT"/>
                <a:cs typeface="Arial MT"/>
              </a:rPr>
              <a:t> </a:t>
            </a:r>
            <a:r>
              <a:rPr sz="2800" dirty="0">
                <a:latin typeface="Arial MT"/>
                <a:cs typeface="Arial MT"/>
              </a:rPr>
              <a:t>BVA</a:t>
            </a:r>
            <a:r>
              <a:rPr sz="2800" spc="185" dirty="0">
                <a:latin typeface="Arial MT"/>
                <a:cs typeface="Arial MT"/>
              </a:rPr>
              <a:t> </a:t>
            </a:r>
            <a:r>
              <a:rPr sz="2800" dirty="0">
                <a:latin typeface="Arial MT"/>
                <a:cs typeface="Arial MT"/>
              </a:rPr>
              <a:t>takes</a:t>
            </a:r>
            <a:r>
              <a:rPr sz="2800" spc="195" dirty="0">
                <a:latin typeface="Arial MT"/>
                <a:cs typeface="Arial MT"/>
              </a:rPr>
              <a:t> </a:t>
            </a:r>
            <a:r>
              <a:rPr sz="2800" dirty="0">
                <a:latin typeface="Arial MT"/>
                <a:cs typeface="Arial MT"/>
              </a:rPr>
              <a:t>this</a:t>
            </a:r>
            <a:r>
              <a:rPr sz="2800" spc="195" dirty="0">
                <a:latin typeface="Arial MT"/>
                <a:cs typeface="Arial MT"/>
              </a:rPr>
              <a:t> </a:t>
            </a:r>
            <a:r>
              <a:rPr sz="2800" spc="-50" dirty="0">
                <a:latin typeface="Arial MT"/>
                <a:cs typeface="Arial MT"/>
              </a:rPr>
              <a:t>a 	</a:t>
            </a:r>
            <a:r>
              <a:rPr sz="2800" dirty="0">
                <a:latin typeface="Arial MT"/>
                <a:cs typeface="Arial MT"/>
              </a:rPr>
              <a:t>step further by</a:t>
            </a:r>
            <a:r>
              <a:rPr sz="2800" spc="-5" dirty="0">
                <a:latin typeface="Arial MT"/>
                <a:cs typeface="Arial MT"/>
              </a:rPr>
              <a:t> </a:t>
            </a:r>
            <a:r>
              <a:rPr sz="2800" dirty="0">
                <a:latin typeface="Arial MT"/>
                <a:cs typeface="Arial MT"/>
              </a:rPr>
              <a:t>testing only extreme values</a:t>
            </a:r>
            <a:r>
              <a:rPr sz="2800" spc="10" dirty="0">
                <a:latin typeface="Arial MT"/>
                <a:cs typeface="Arial MT"/>
              </a:rPr>
              <a:t> </a:t>
            </a:r>
            <a:r>
              <a:rPr sz="2800" i="1" dirty="0">
                <a:latin typeface="Arial"/>
                <a:cs typeface="Arial"/>
              </a:rPr>
              <a:t>just</a:t>
            </a:r>
            <a:r>
              <a:rPr sz="2800" i="1" spc="-5" dirty="0">
                <a:latin typeface="Arial"/>
                <a:cs typeface="Arial"/>
              </a:rPr>
              <a:t> </a:t>
            </a:r>
            <a:r>
              <a:rPr sz="2800" i="1" spc="-10" dirty="0">
                <a:latin typeface="Arial"/>
                <a:cs typeface="Arial"/>
              </a:rPr>
              <a:t>below</a:t>
            </a:r>
            <a:r>
              <a:rPr sz="2800" spc="-10" dirty="0">
                <a:latin typeface="Arial MT"/>
                <a:cs typeface="Arial MT"/>
              </a:rPr>
              <a:t>, 	</a:t>
            </a:r>
            <a:r>
              <a:rPr sz="2800" i="1" dirty="0">
                <a:latin typeface="Arial"/>
                <a:cs typeface="Arial"/>
              </a:rPr>
              <a:t>just</a:t>
            </a:r>
            <a:r>
              <a:rPr sz="2800" i="1" spc="-60" dirty="0">
                <a:latin typeface="Arial"/>
                <a:cs typeface="Arial"/>
              </a:rPr>
              <a:t> </a:t>
            </a:r>
            <a:r>
              <a:rPr sz="2800" i="1" dirty="0">
                <a:latin typeface="Arial"/>
                <a:cs typeface="Arial"/>
              </a:rPr>
              <a:t>above,</a:t>
            </a:r>
            <a:r>
              <a:rPr sz="2800" i="1" spc="-50" dirty="0">
                <a:latin typeface="Arial"/>
                <a:cs typeface="Arial"/>
              </a:rPr>
              <a:t> </a:t>
            </a:r>
            <a:r>
              <a:rPr sz="2800" dirty="0">
                <a:latin typeface="Arial MT"/>
                <a:cs typeface="Arial MT"/>
              </a:rPr>
              <a:t>and</a:t>
            </a:r>
            <a:r>
              <a:rPr sz="2800" spc="-45" dirty="0">
                <a:latin typeface="Arial MT"/>
                <a:cs typeface="Arial MT"/>
              </a:rPr>
              <a:t> </a:t>
            </a:r>
            <a:r>
              <a:rPr sz="2800" i="1" dirty="0">
                <a:latin typeface="Arial"/>
                <a:cs typeface="Arial"/>
              </a:rPr>
              <a:t>at</a:t>
            </a:r>
            <a:r>
              <a:rPr sz="2800" i="1" spc="-55" dirty="0">
                <a:latin typeface="Arial"/>
                <a:cs typeface="Arial"/>
              </a:rPr>
              <a:t> </a:t>
            </a:r>
            <a:r>
              <a:rPr sz="2800" dirty="0">
                <a:latin typeface="Arial MT"/>
                <a:cs typeface="Arial MT"/>
              </a:rPr>
              <a:t>the</a:t>
            </a:r>
            <a:r>
              <a:rPr sz="2800" spc="-40" dirty="0">
                <a:latin typeface="Arial MT"/>
                <a:cs typeface="Arial MT"/>
              </a:rPr>
              <a:t> </a:t>
            </a:r>
            <a:r>
              <a:rPr sz="2800" dirty="0">
                <a:latin typeface="Arial MT"/>
                <a:cs typeface="Arial MT"/>
              </a:rPr>
              <a:t>defined</a:t>
            </a:r>
            <a:r>
              <a:rPr sz="2800" spc="-30" dirty="0">
                <a:latin typeface="Arial MT"/>
                <a:cs typeface="Arial MT"/>
              </a:rPr>
              <a:t> </a:t>
            </a:r>
            <a:r>
              <a:rPr sz="2800" spc="-10" dirty="0">
                <a:latin typeface="Arial MT"/>
                <a:cs typeface="Arial MT"/>
              </a:rPr>
              <a:t>boundaries.</a:t>
            </a:r>
            <a:endParaRPr sz="2800">
              <a:latin typeface="Arial MT"/>
              <a:cs typeface="Arial MT"/>
            </a:endParaRPr>
          </a:p>
        </p:txBody>
      </p:sp>
      <p:sp>
        <p:nvSpPr>
          <p:cNvPr id="7" name="object 7"/>
          <p:cNvSpPr txBox="1"/>
          <p:nvPr/>
        </p:nvSpPr>
        <p:spPr>
          <a:xfrm>
            <a:off x="596900" y="4237735"/>
            <a:ext cx="149860"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Arial MT"/>
                <a:cs typeface="Arial MT"/>
              </a:rPr>
              <a:t>•</a:t>
            </a:r>
            <a:endParaRPr sz="2800">
              <a:latin typeface="Arial MT"/>
              <a:cs typeface="Arial MT"/>
            </a:endParaRPr>
          </a:p>
        </p:txBody>
      </p:sp>
      <p:sp>
        <p:nvSpPr>
          <p:cNvPr id="8" name="object 8"/>
          <p:cNvSpPr txBox="1"/>
          <p:nvPr/>
        </p:nvSpPr>
        <p:spPr>
          <a:xfrm>
            <a:off x="1153160" y="4237735"/>
            <a:ext cx="846074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rial MT"/>
                <a:cs typeface="Arial MT"/>
              </a:rPr>
              <a:t>This</a:t>
            </a:r>
            <a:r>
              <a:rPr sz="2800" spc="130" dirty="0">
                <a:latin typeface="Arial MT"/>
                <a:cs typeface="Arial MT"/>
              </a:rPr>
              <a:t> </a:t>
            </a:r>
            <a:r>
              <a:rPr sz="2800" dirty="0">
                <a:latin typeface="Arial MT"/>
                <a:cs typeface="Arial MT"/>
              </a:rPr>
              <a:t>helps</a:t>
            </a:r>
            <a:r>
              <a:rPr sz="2800" spc="140" dirty="0">
                <a:latin typeface="Arial MT"/>
                <a:cs typeface="Arial MT"/>
              </a:rPr>
              <a:t> </a:t>
            </a:r>
            <a:r>
              <a:rPr sz="2800" dirty="0">
                <a:latin typeface="Arial MT"/>
                <a:cs typeface="Arial MT"/>
              </a:rPr>
              <a:t>ensure</a:t>
            </a:r>
            <a:r>
              <a:rPr sz="2800" spc="130" dirty="0">
                <a:latin typeface="Arial MT"/>
                <a:cs typeface="Arial MT"/>
              </a:rPr>
              <a:t> </a:t>
            </a:r>
            <a:r>
              <a:rPr sz="2800" dirty="0">
                <a:latin typeface="Arial MT"/>
                <a:cs typeface="Arial MT"/>
              </a:rPr>
              <a:t>the</a:t>
            </a:r>
            <a:r>
              <a:rPr sz="2800" spc="135" dirty="0">
                <a:latin typeface="Arial MT"/>
                <a:cs typeface="Arial MT"/>
              </a:rPr>
              <a:t> </a:t>
            </a:r>
            <a:r>
              <a:rPr sz="2800" dirty="0">
                <a:latin typeface="Arial MT"/>
                <a:cs typeface="Arial MT"/>
              </a:rPr>
              <a:t>system</a:t>
            </a:r>
            <a:r>
              <a:rPr sz="2800" spc="140" dirty="0">
                <a:latin typeface="Arial MT"/>
                <a:cs typeface="Arial MT"/>
              </a:rPr>
              <a:t> </a:t>
            </a:r>
            <a:r>
              <a:rPr sz="2800" dirty="0">
                <a:latin typeface="Arial MT"/>
                <a:cs typeface="Arial MT"/>
              </a:rPr>
              <a:t>properly</a:t>
            </a:r>
            <a:r>
              <a:rPr sz="2800" spc="150" dirty="0">
                <a:latin typeface="Arial MT"/>
                <a:cs typeface="Arial MT"/>
              </a:rPr>
              <a:t> </a:t>
            </a:r>
            <a:r>
              <a:rPr sz="2800" dirty="0">
                <a:latin typeface="Arial MT"/>
                <a:cs typeface="Arial MT"/>
              </a:rPr>
              <a:t>handles</a:t>
            </a:r>
            <a:r>
              <a:rPr sz="2800" spc="150" dirty="0">
                <a:latin typeface="Arial MT"/>
                <a:cs typeface="Arial MT"/>
              </a:rPr>
              <a:t> </a:t>
            </a:r>
            <a:r>
              <a:rPr sz="2800" spc="-20" dirty="0">
                <a:latin typeface="Arial MT"/>
                <a:cs typeface="Arial MT"/>
              </a:rPr>
              <a:t>edge</a:t>
            </a:r>
            <a:endParaRPr sz="2800">
              <a:latin typeface="Arial MT"/>
              <a:cs typeface="Arial MT"/>
            </a:endParaRPr>
          </a:p>
        </p:txBody>
      </p:sp>
      <p:sp>
        <p:nvSpPr>
          <p:cNvPr id="9" name="object 9"/>
          <p:cNvSpPr txBox="1"/>
          <p:nvPr/>
        </p:nvSpPr>
        <p:spPr>
          <a:xfrm>
            <a:off x="1054100" y="4664455"/>
            <a:ext cx="840105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Arial MT"/>
                <a:cs typeface="Arial MT"/>
              </a:rPr>
              <a:t>cases,</a:t>
            </a:r>
            <a:r>
              <a:rPr sz="2800" spc="-80" dirty="0">
                <a:latin typeface="Arial MT"/>
                <a:cs typeface="Arial MT"/>
              </a:rPr>
              <a:t> </a:t>
            </a:r>
            <a:r>
              <a:rPr sz="2800" dirty="0">
                <a:latin typeface="Arial MT"/>
                <a:cs typeface="Arial MT"/>
              </a:rPr>
              <a:t>which</a:t>
            </a:r>
            <a:r>
              <a:rPr sz="2800" spc="-60" dirty="0">
                <a:latin typeface="Arial MT"/>
                <a:cs typeface="Arial MT"/>
              </a:rPr>
              <a:t> </a:t>
            </a:r>
            <a:r>
              <a:rPr sz="2800" dirty="0">
                <a:latin typeface="Arial MT"/>
                <a:cs typeface="Arial MT"/>
              </a:rPr>
              <a:t>are</a:t>
            </a:r>
            <a:r>
              <a:rPr sz="2800" spc="-60" dirty="0">
                <a:latin typeface="Arial MT"/>
                <a:cs typeface="Arial MT"/>
              </a:rPr>
              <a:t> </a:t>
            </a:r>
            <a:r>
              <a:rPr sz="2800" dirty="0">
                <a:latin typeface="Arial MT"/>
                <a:cs typeface="Arial MT"/>
              </a:rPr>
              <a:t>often</a:t>
            </a:r>
            <a:r>
              <a:rPr sz="2800" spc="-55" dirty="0">
                <a:latin typeface="Arial MT"/>
                <a:cs typeface="Arial MT"/>
              </a:rPr>
              <a:t> </a:t>
            </a:r>
            <a:r>
              <a:rPr sz="2800" dirty="0">
                <a:latin typeface="Arial MT"/>
                <a:cs typeface="Arial MT"/>
              </a:rPr>
              <a:t>where</a:t>
            </a:r>
            <a:r>
              <a:rPr sz="2800" spc="-50" dirty="0">
                <a:latin typeface="Arial MT"/>
                <a:cs typeface="Arial MT"/>
              </a:rPr>
              <a:t> </a:t>
            </a:r>
            <a:r>
              <a:rPr sz="2800" dirty="0">
                <a:latin typeface="Arial MT"/>
                <a:cs typeface="Arial MT"/>
              </a:rPr>
              <a:t>software</a:t>
            </a:r>
            <a:r>
              <a:rPr sz="2800" spc="-60" dirty="0">
                <a:latin typeface="Arial MT"/>
                <a:cs typeface="Arial MT"/>
              </a:rPr>
              <a:t> </a:t>
            </a:r>
            <a:r>
              <a:rPr sz="2800" dirty="0">
                <a:latin typeface="Arial MT"/>
                <a:cs typeface="Arial MT"/>
              </a:rPr>
              <a:t>failures</a:t>
            </a:r>
            <a:r>
              <a:rPr sz="2800" spc="-60" dirty="0">
                <a:latin typeface="Arial MT"/>
                <a:cs typeface="Arial MT"/>
              </a:rPr>
              <a:t> </a:t>
            </a:r>
            <a:r>
              <a:rPr sz="2800" spc="-10" dirty="0">
                <a:latin typeface="Arial MT"/>
                <a:cs typeface="Arial MT"/>
              </a:rPr>
              <a:t>occur.</a:t>
            </a:r>
            <a:endParaRPr sz="2800">
              <a:latin typeface="Arial MT"/>
              <a:cs typeface="Arial MT"/>
            </a:endParaRPr>
          </a:p>
        </p:txBody>
      </p:sp>
      <p:pic>
        <p:nvPicPr>
          <p:cNvPr id="10" name="object 10"/>
          <p:cNvPicPr/>
          <p:nvPr/>
        </p:nvPicPr>
        <p:blipFill>
          <a:blip r:embed="rId2" cstate="print"/>
          <a:stretch>
            <a:fillRect/>
          </a:stretch>
        </p:blipFill>
        <p:spPr>
          <a:xfrm>
            <a:off x="8775954" y="6495288"/>
            <a:ext cx="594359" cy="5615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5500" y="604773"/>
            <a:ext cx="6050280" cy="513715"/>
          </a:xfrm>
          <a:prstGeom prst="rect">
            <a:avLst/>
          </a:prstGeom>
        </p:spPr>
        <p:txBody>
          <a:bodyPr vert="horz" wrap="square" lIns="0" tIns="12700" rIns="0" bIns="0" rtlCol="0">
            <a:spAutoFit/>
          </a:bodyPr>
          <a:lstStyle/>
          <a:p>
            <a:pPr marL="12700">
              <a:lnSpc>
                <a:spcPct val="100000"/>
              </a:lnSpc>
              <a:spcBef>
                <a:spcPts val="100"/>
              </a:spcBef>
            </a:pPr>
            <a:r>
              <a:rPr sz="3200" spc="-85" dirty="0"/>
              <a:t>Boundary</a:t>
            </a:r>
            <a:r>
              <a:rPr sz="3200" spc="-190" dirty="0"/>
              <a:t> </a:t>
            </a:r>
            <a:r>
              <a:rPr sz="3200" dirty="0"/>
              <a:t>Value</a:t>
            </a:r>
            <a:r>
              <a:rPr sz="3200" spc="-170" dirty="0"/>
              <a:t> </a:t>
            </a:r>
            <a:r>
              <a:rPr sz="3200" spc="-160" dirty="0"/>
              <a:t>Analysis</a:t>
            </a:r>
            <a:r>
              <a:rPr sz="3200" spc="-215" dirty="0"/>
              <a:t> </a:t>
            </a:r>
            <a:r>
              <a:rPr sz="3200" spc="-55" dirty="0"/>
              <a:t>(BVA)</a:t>
            </a:r>
            <a:endParaRPr sz="3200"/>
          </a:p>
        </p:txBody>
      </p:sp>
      <p:sp>
        <p:nvSpPr>
          <p:cNvPr id="3" name="object 3"/>
          <p:cNvSpPr txBox="1"/>
          <p:nvPr/>
        </p:nvSpPr>
        <p:spPr>
          <a:xfrm>
            <a:off x="596900" y="1260728"/>
            <a:ext cx="8992870" cy="587883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Let's</a:t>
            </a:r>
            <a:r>
              <a:rPr sz="2400" spc="-60" dirty="0">
                <a:latin typeface="Arial MT"/>
                <a:cs typeface="Arial MT"/>
              </a:rPr>
              <a:t> </a:t>
            </a:r>
            <a:r>
              <a:rPr sz="2400" dirty="0">
                <a:latin typeface="Arial MT"/>
                <a:cs typeface="Arial MT"/>
              </a:rPr>
              <a:t>go</a:t>
            </a:r>
            <a:r>
              <a:rPr sz="2400" spc="-55" dirty="0">
                <a:latin typeface="Arial MT"/>
                <a:cs typeface="Arial MT"/>
              </a:rPr>
              <a:t> </a:t>
            </a:r>
            <a:r>
              <a:rPr sz="2400" dirty="0">
                <a:latin typeface="Arial MT"/>
                <a:cs typeface="Arial MT"/>
              </a:rPr>
              <a:t>back</a:t>
            </a:r>
            <a:r>
              <a:rPr sz="2400" spc="-60" dirty="0">
                <a:latin typeface="Arial MT"/>
                <a:cs typeface="Arial MT"/>
              </a:rPr>
              <a:t> </a:t>
            </a:r>
            <a:r>
              <a:rPr sz="2400" dirty="0">
                <a:latin typeface="Arial MT"/>
                <a:cs typeface="Arial MT"/>
              </a:rPr>
              <a:t>to</a:t>
            </a:r>
            <a:r>
              <a:rPr sz="2400" spc="-65" dirty="0">
                <a:latin typeface="Arial MT"/>
                <a:cs typeface="Arial MT"/>
              </a:rPr>
              <a:t> </a:t>
            </a:r>
            <a:r>
              <a:rPr sz="2400" dirty="0">
                <a:latin typeface="Arial MT"/>
                <a:cs typeface="Arial MT"/>
              </a:rPr>
              <a:t>the</a:t>
            </a:r>
            <a:r>
              <a:rPr sz="2400" spc="-65" dirty="0">
                <a:latin typeface="Arial MT"/>
                <a:cs typeface="Arial MT"/>
              </a:rPr>
              <a:t> </a:t>
            </a:r>
            <a:r>
              <a:rPr sz="2400" dirty="0">
                <a:latin typeface="Arial MT"/>
                <a:cs typeface="Arial MT"/>
              </a:rPr>
              <a:t>previous</a:t>
            </a:r>
            <a:r>
              <a:rPr sz="2400" spc="-35" dirty="0">
                <a:latin typeface="Arial MT"/>
                <a:cs typeface="Arial MT"/>
              </a:rPr>
              <a:t> </a:t>
            </a:r>
            <a:r>
              <a:rPr sz="2400" dirty="0">
                <a:latin typeface="Arial MT"/>
                <a:cs typeface="Arial MT"/>
              </a:rPr>
              <a:t>example.</a:t>
            </a:r>
            <a:r>
              <a:rPr sz="2400" spc="-35" dirty="0">
                <a:latin typeface="Arial MT"/>
                <a:cs typeface="Arial MT"/>
              </a:rPr>
              <a:t> </a:t>
            </a:r>
            <a:r>
              <a:rPr sz="2400" dirty="0">
                <a:latin typeface="Arial MT"/>
                <a:cs typeface="Arial MT"/>
              </a:rPr>
              <a:t>You're</a:t>
            </a:r>
            <a:r>
              <a:rPr sz="2400" spc="-50" dirty="0">
                <a:latin typeface="Arial MT"/>
                <a:cs typeface="Arial MT"/>
              </a:rPr>
              <a:t> </a:t>
            </a:r>
            <a:r>
              <a:rPr sz="2400" dirty="0">
                <a:latin typeface="Arial MT"/>
                <a:cs typeface="Arial MT"/>
              </a:rPr>
              <a:t>testing</a:t>
            </a:r>
            <a:r>
              <a:rPr sz="2400" spc="-65" dirty="0">
                <a:latin typeface="Arial MT"/>
                <a:cs typeface="Arial MT"/>
              </a:rPr>
              <a:t> </a:t>
            </a:r>
            <a:r>
              <a:rPr sz="2400" dirty="0">
                <a:latin typeface="Arial MT"/>
                <a:cs typeface="Arial MT"/>
              </a:rPr>
              <a:t>a</a:t>
            </a:r>
            <a:r>
              <a:rPr sz="2400" spc="-55" dirty="0">
                <a:latin typeface="Arial MT"/>
                <a:cs typeface="Arial MT"/>
              </a:rPr>
              <a:t> </a:t>
            </a:r>
            <a:r>
              <a:rPr sz="2400" spc="-10" dirty="0">
                <a:latin typeface="Arial MT"/>
                <a:cs typeface="Arial MT"/>
              </a:rPr>
              <a:t>function </a:t>
            </a:r>
            <a:r>
              <a:rPr sz="2400" dirty="0">
                <a:latin typeface="Arial MT"/>
                <a:cs typeface="Arial MT"/>
              </a:rPr>
              <a:t>that</a:t>
            </a:r>
            <a:r>
              <a:rPr sz="2400" spc="-45" dirty="0">
                <a:latin typeface="Arial MT"/>
                <a:cs typeface="Arial MT"/>
              </a:rPr>
              <a:t> </a:t>
            </a:r>
            <a:r>
              <a:rPr sz="2400" dirty="0">
                <a:latin typeface="Arial MT"/>
                <a:cs typeface="Arial MT"/>
              </a:rPr>
              <a:t>validates</a:t>
            </a:r>
            <a:r>
              <a:rPr sz="2400" spc="-35" dirty="0">
                <a:latin typeface="Arial MT"/>
                <a:cs typeface="Arial MT"/>
              </a:rPr>
              <a:t> </a:t>
            </a:r>
            <a:r>
              <a:rPr sz="2400" dirty="0">
                <a:latin typeface="Arial MT"/>
                <a:cs typeface="Arial MT"/>
              </a:rPr>
              <a:t>a</a:t>
            </a:r>
            <a:r>
              <a:rPr sz="2400" spc="-40" dirty="0">
                <a:latin typeface="Arial MT"/>
                <a:cs typeface="Arial MT"/>
              </a:rPr>
              <a:t> </a:t>
            </a:r>
            <a:r>
              <a:rPr sz="2400" dirty="0">
                <a:latin typeface="Arial MT"/>
                <a:cs typeface="Arial MT"/>
              </a:rPr>
              <a:t>user's</a:t>
            </a:r>
            <a:r>
              <a:rPr sz="2400" spc="-45" dirty="0">
                <a:latin typeface="Arial MT"/>
                <a:cs typeface="Arial MT"/>
              </a:rPr>
              <a:t> </a:t>
            </a:r>
            <a:r>
              <a:rPr sz="2400" dirty="0">
                <a:latin typeface="Arial MT"/>
                <a:cs typeface="Arial MT"/>
              </a:rPr>
              <a:t>age,</a:t>
            </a:r>
            <a:r>
              <a:rPr sz="2400" spc="-40" dirty="0">
                <a:latin typeface="Arial MT"/>
                <a:cs typeface="Arial MT"/>
              </a:rPr>
              <a:t> </a:t>
            </a:r>
            <a:r>
              <a:rPr sz="2400" dirty="0">
                <a:latin typeface="Arial MT"/>
                <a:cs typeface="Arial MT"/>
              </a:rPr>
              <a:t>with</a:t>
            </a:r>
            <a:r>
              <a:rPr sz="2400" spc="-25" dirty="0">
                <a:latin typeface="Arial MT"/>
                <a:cs typeface="Arial MT"/>
              </a:rPr>
              <a:t> </a:t>
            </a:r>
            <a:r>
              <a:rPr sz="2400" dirty="0">
                <a:latin typeface="Arial MT"/>
                <a:cs typeface="Arial MT"/>
              </a:rPr>
              <a:t>a</a:t>
            </a:r>
            <a:r>
              <a:rPr sz="2400" spc="-55" dirty="0">
                <a:latin typeface="Arial MT"/>
                <a:cs typeface="Arial MT"/>
              </a:rPr>
              <a:t> </a:t>
            </a:r>
            <a:r>
              <a:rPr sz="2400" dirty="0">
                <a:latin typeface="Arial MT"/>
                <a:cs typeface="Arial MT"/>
              </a:rPr>
              <a:t>valid</a:t>
            </a:r>
            <a:r>
              <a:rPr sz="2400" spc="-30" dirty="0">
                <a:latin typeface="Arial MT"/>
                <a:cs typeface="Arial MT"/>
              </a:rPr>
              <a:t> </a:t>
            </a:r>
            <a:r>
              <a:rPr sz="2400" dirty="0">
                <a:latin typeface="Arial MT"/>
                <a:cs typeface="Arial MT"/>
              </a:rPr>
              <a:t>age</a:t>
            </a:r>
            <a:r>
              <a:rPr sz="2400" spc="-35" dirty="0">
                <a:latin typeface="Arial MT"/>
                <a:cs typeface="Arial MT"/>
              </a:rPr>
              <a:t> </a:t>
            </a:r>
            <a:r>
              <a:rPr sz="2400" dirty="0">
                <a:latin typeface="Arial MT"/>
                <a:cs typeface="Arial MT"/>
              </a:rPr>
              <a:t>range</a:t>
            </a:r>
            <a:r>
              <a:rPr sz="2400" spc="-45" dirty="0">
                <a:latin typeface="Arial MT"/>
                <a:cs typeface="Arial MT"/>
              </a:rPr>
              <a:t> </a:t>
            </a:r>
            <a:r>
              <a:rPr sz="2400" dirty="0">
                <a:latin typeface="Arial MT"/>
                <a:cs typeface="Arial MT"/>
              </a:rPr>
              <a:t>of</a:t>
            </a:r>
            <a:r>
              <a:rPr sz="2400" spc="-45" dirty="0">
                <a:latin typeface="Arial MT"/>
                <a:cs typeface="Arial MT"/>
              </a:rPr>
              <a:t> </a:t>
            </a:r>
            <a:r>
              <a:rPr sz="2400" dirty="0">
                <a:latin typeface="Arial MT"/>
                <a:cs typeface="Arial MT"/>
              </a:rPr>
              <a:t>18</a:t>
            </a:r>
            <a:r>
              <a:rPr sz="2400" spc="-40" dirty="0">
                <a:latin typeface="Arial MT"/>
                <a:cs typeface="Arial MT"/>
              </a:rPr>
              <a:t> </a:t>
            </a:r>
            <a:r>
              <a:rPr sz="2400" dirty="0">
                <a:latin typeface="Arial MT"/>
                <a:cs typeface="Arial MT"/>
              </a:rPr>
              <a:t>to</a:t>
            </a:r>
            <a:r>
              <a:rPr sz="2400" spc="-55" dirty="0">
                <a:latin typeface="Arial MT"/>
                <a:cs typeface="Arial MT"/>
              </a:rPr>
              <a:t> </a:t>
            </a:r>
            <a:r>
              <a:rPr sz="2400" spc="-25" dirty="0">
                <a:latin typeface="Arial MT"/>
                <a:cs typeface="Arial MT"/>
              </a:rPr>
              <a:t>60 </a:t>
            </a:r>
            <a:r>
              <a:rPr sz="2400" dirty="0">
                <a:latin typeface="Arial MT"/>
                <a:cs typeface="Arial MT"/>
              </a:rPr>
              <a:t>years.</a:t>
            </a:r>
            <a:r>
              <a:rPr sz="2400" spc="-80" dirty="0">
                <a:latin typeface="Arial MT"/>
                <a:cs typeface="Arial MT"/>
              </a:rPr>
              <a:t> </a:t>
            </a:r>
            <a:r>
              <a:rPr sz="2400" dirty="0">
                <a:latin typeface="Arial MT"/>
                <a:cs typeface="Arial MT"/>
              </a:rPr>
              <a:t>We</a:t>
            </a:r>
            <a:r>
              <a:rPr sz="2400" spc="-95" dirty="0">
                <a:latin typeface="Arial MT"/>
                <a:cs typeface="Arial MT"/>
              </a:rPr>
              <a:t> </a:t>
            </a:r>
            <a:r>
              <a:rPr sz="2400" dirty="0">
                <a:latin typeface="Arial MT"/>
                <a:cs typeface="Arial MT"/>
              </a:rPr>
              <a:t>have</a:t>
            </a:r>
            <a:r>
              <a:rPr sz="2400" spc="-80" dirty="0">
                <a:latin typeface="Arial MT"/>
                <a:cs typeface="Arial MT"/>
              </a:rPr>
              <a:t> </a:t>
            </a:r>
            <a:r>
              <a:rPr sz="2400" dirty="0">
                <a:latin typeface="Arial MT"/>
                <a:cs typeface="Arial MT"/>
              </a:rPr>
              <a:t>the</a:t>
            </a:r>
            <a:r>
              <a:rPr sz="2400" spc="-90" dirty="0">
                <a:latin typeface="Arial MT"/>
                <a:cs typeface="Arial MT"/>
              </a:rPr>
              <a:t> </a:t>
            </a:r>
            <a:r>
              <a:rPr sz="2400" dirty="0">
                <a:latin typeface="Arial MT"/>
                <a:cs typeface="Arial MT"/>
              </a:rPr>
              <a:t>following</a:t>
            </a:r>
            <a:r>
              <a:rPr sz="2400" spc="-40" dirty="0">
                <a:latin typeface="Arial MT"/>
                <a:cs typeface="Arial MT"/>
              </a:rPr>
              <a:t> </a:t>
            </a:r>
            <a:r>
              <a:rPr sz="2400" dirty="0">
                <a:latin typeface="Arial MT"/>
                <a:cs typeface="Arial MT"/>
              </a:rPr>
              <a:t>equivalence</a:t>
            </a:r>
            <a:r>
              <a:rPr sz="2400" spc="-50" dirty="0">
                <a:latin typeface="Arial MT"/>
                <a:cs typeface="Arial MT"/>
              </a:rPr>
              <a:t> </a:t>
            </a:r>
            <a:r>
              <a:rPr sz="2400" dirty="0">
                <a:latin typeface="Arial MT"/>
                <a:cs typeface="Arial MT"/>
              </a:rPr>
              <a:t>classes</a:t>
            </a:r>
            <a:r>
              <a:rPr sz="2400" spc="-90" dirty="0">
                <a:latin typeface="Arial MT"/>
                <a:cs typeface="Arial MT"/>
              </a:rPr>
              <a:t> </a:t>
            </a:r>
            <a:r>
              <a:rPr sz="2400" dirty="0">
                <a:latin typeface="Arial MT"/>
                <a:cs typeface="Arial MT"/>
              </a:rPr>
              <a:t>already</a:t>
            </a:r>
            <a:r>
              <a:rPr sz="2400" spc="-70" dirty="0">
                <a:latin typeface="Arial MT"/>
                <a:cs typeface="Arial MT"/>
              </a:rPr>
              <a:t> </a:t>
            </a:r>
            <a:r>
              <a:rPr sz="2400" spc="-10" dirty="0">
                <a:latin typeface="Arial MT"/>
                <a:cs typeface="Arial MT"/>
              </a:rPr>
              <a:t>defined: </a:t>
            </a:r>
            <a:r>
              <a:rPr sz="2400" b="1" dirty="0">
                <a:latin typeface="Arial"/>
                <a:cs typeface="Arial"/>
              </a:rPr>
              <a:t>Valid</a:t>
            </a:r>
            <a:r>
              <a:rPr sz="2400" b="1" spc="-95" dirty="0">
                <a:latin typeface="Arial"/>
                <a:cs typeface="Arial"/>
              </a:rPr>
              <a:t> </a:t>
            </a:r>
            <a:r>
              <a:rPr sz="2400" b="1" dirty="0">
                <a:latin typeface="Arial"/>
                <a:cs typeface="Arial"/>
              </a:rPr>
              <a:t>Equivalence</a:t>
            </a:r>
            <a:r>
              <a:rPr sz="2400" b="1" spc="-70" dirty="0">
                <a:latin typeface="Arial"/>
                <a:cs typeface="Arial"/>
              </a:rPr>
              <a:t> </a:t>
            </a:r>
            <a:r>
              <a:rPr sz="2400" b="1" dirty="0">
                <a:latin typeface="Arial"/>
                <a:cs typeface="Arial"/>
              </a:rPr>
              <a:t>Class:</a:t>
            </a:r>
            <a:r>
              <a:rPr sz="2400" b="1" spc="-65" dirty="0">
                <a:latin typeface="Arial"/>
                <a:cs typeface="Arial"/>
              </a:rPr>
              <a:t> </a:t>
            </a:r>
            <a:r>
              <a:rPr sz="2400" spc="-10" dirty="0">
                <a:latin typeface="Arial MT"/>
                <a:cs typeface="Arial MT"/>
              </a:rPr>
              <a:t>[18–60]</a:t>
            </a:r>
            <a:endParaRPr sz="2400">
              <a:latin typeface="Arial MT"/>
              <a:cs typeface="Arial MT"/>
            </a:endParaRPr>
          </a:p>
          <a:p>
            <a:pPr marL="12700" algn="just">
              <a:lnSpc>
                <a:spcPct val="100000"/>
              </a:lnSpc>
            </a:pPr>
            <a:r>
              <a:rPr sz="2400" b="1" dirty="0">
                <a:latin typeface="Arial"/>
                <a:cs typeface="Arial"/>
              </a:rPr>
              <a:t>Invalid</a:t>
            </a:r>
            <a:r>
              <a:rPr sz="2400" b="1" spc="-90" dirty="0">
                <a:latin typeface="Arial"/>
                <a:cs typeface="Arial"/>
              </a:rPr>
              <a:t> </a:t>
            </a:r>
            <a:r>
              <a:rPr sz="2400" b="1" dirty="0">
                <a:latin typeface="Arial"/>
                <a:cs typeface="Arial"/>
              </a:rPr>
              <a:t>Equivalence</a:t>
            </a:r>
            <a:r>
              <a:rPr sz="2400" b="1" spc="-50" dirty="0">
                <a:latin typeface="Arial"/>
                <a:cs typeface="Arial"/>
              </a:rPr>
              <a:t> </a:t>
            </a:r>
            <a:r>
              <a:rPr sz="2400" b="1" spc="-10" dirty="0">
                <a:latin typeface="Arial"/>
                <a:cs typeface="Arial"/>
              </a:rPr>
              <a:t>Classes:</a:t>
            </a:r>
            <a:endParaRPr sz="2400">
              <a:latin typeface="Arial"/>
              <a:cs typeface="Arial"/>
            </a:endParaRPr>
          </a:p>
          <a:p>
            <a:pPr marL="12700" marR="4808220">
              <a:lnSpc>
                <a:spcPct val="100000"/>
              </a:lnSpc>
            </a:pPr>
            <a:r>
              <a:rPr sz="2400" dirty="0">
                <a:latin typeface="Arial MT"/>
                <a:cs typeface="Arial MT"/>
              </a:rPr>
              <a:t>Ages</a:t>
            </a:r>
            <a:r>
              <a:rPr sz="2400" spc="-40" dirty="0">
                <a:latin typeface="Arial MT"/>
                <a:cs typeface="Arial MT"/>
              </a:rPr>
              <a:t> </a:t>
            </a:r>
            <a:r>
              <a:rPr sz="2400" dirty="0">
                <a:latin typeface="Arial MT"/>
                <a:cs typeface="Arial MT"/>
              </a:rPr>
              <a:t>less</a:t>
            </a:r>
            <a:r>
              <a:rPr sz="2400" spc="-25" dirty="0">
                <a:latin typeface="Arial MT"/>
                <a:cs typeface="Arial MT"/>
              </a:rPr>
              <a:t> </a:t>
            </a:r>
            <a:r>
              <a:rPr sz="2400" dirty="0">
                <a:latin typeface="Arial MT"/>
                <a:cs typeface="Arial MT"/>
              </a:rPr>
              <a:t>than</a:t>
            </a:r>
            <a:r>
              <a:rPr sz="2400" spc="-35" dirty="0">
                <a:latin typeface="Arial MT"/>
                <a:cs typeface="Arial MT"/>
              </a:rPr>
              <a:t> </a:t>
            </a:r>
            <a:r>
              <a:rPr sz="2400" dirty="0">
                <a:latin typeface="Arial MT"/>
                <a:cs typeface="Arial MT"/>
              </a:rPr>
              <a:t>18:</a:t>
            </a:r>
            <a:r>
              <a:rPr sz="2400" spc="-40" dirty="0">
                <a:latin typeface="Arial MT"/>
                <a:cs typeface="Arial MT"/>
              </a:rPr>
              <a:t> </a:t>
            </a:r>
            <a:r>
              <a:rPr sz="2400" spc="-10" dirty="0">
                <a:latin typeface="Arial MT"/>
                <a:cs typeface="Arial MT"/>
              </a:rPr>
              <a:t>[-</a:t>
            </a:r>
            <a:r>
              <a:rPr sz="2400" dirty="0">
                <a:latin typeface="Arial MT"/>
                <a:cs typeface="Arial MT"/>
              </a:rPr>
              <a:t>∞</a:t>
            </a:r>
            <a:r>
              <a:rPr sz="2400" spc="-50" dirty="0">
                <a:latin typeface="Arial MT"/>
                <a:cs typeface="Arial MT"/>
              </a:rPr>
              <a:t> </a:t>
            </a:r>
            <a:r>
              <a:rPr sz="2400" dirty="0">
                <a:latin typeface="Arial MT"/>
                <a:cs typeface="Arial MT"/>
              </a:rPr>
              <a:t>to</a:t>
            </a:r>
            <a:r>
              <a:rPr sz="2400" spc="-35" dirty="0">
                <a:latin typeface="Arial MT"/>
                <a:cs typeface="Arial MT"/>
              </a:rPr>
              <a:t> </a:t>
            </a:r>
            <a:r>
              <a:rPr sz="2400" spc="-25" dirty="0">
                <a:latin typeface="Arial MT"/>
                <a:cs typeface="Arial MT"/>
              </a:rPr>
              <a:t>17] </a:t>
            </a:r>
            <a:r>
              <a:rPr sz="2400" dirty="0">
                <a:latin typeface="Arial MT"/>
                <a:cs typeface="Arial MT"/>
              </a:rPr>
              <a:t>Ages</a:t>
            </a:r>
            <a:r>
              <a:rPr sz="2400" spc="-45" dirty="0">
                <a:latin typeface="Arial MT"/>
                <a:cs typeface="Arial MT"/>
              </a:rPr>
              <a:t> </a:t>
            </a:r>
            <a:r>
              <a:rPr sz="2400" dirty="0">
                <a:latin typeface="Arial MT"/>
                <a:cs typeface="Arial MT"/>
              </a:rPr>
              <a:t>greater</a:t>
            </a:r>
            <a:r>
              <a:rPr sz="2400" spc="-25" dirty="0">
                <a:latin typeface="Arial MT"/>
                <a:cs typeface="Arial MT"/>
              </a:rPr>
              <a:t> </a:t>
            </a:r>
            <a:r>
              <a:rPr sz="2400" dirty="0">
                <a:latin typeface="Arial MT"/>
                <a:cs typeface="Arial MT"/>
              </a:rPr>
              <a:t>than</a:t>
            </a:r>
            <a:r>
              <a:rPr sz="2400" spc="-30" dirty="0">
                <a:latin typeface="Arial MT"/>
                <a:cs typeface="Arial MT"/>
              </a:rPr>
              <a:t> </a:t>
            </a:r>
            <a:r>
              <a:rPr sz="2400" dirty="0">
                <a:latin typeface="Arial MT"/>
                <a:cs typeface="Arial MT"/>
              </a:rPr>
              <a:t>60:</a:t>
            </a:r>
            <a:r>
              <a:rPr sz="2400" spc="-30" dirty="0">
                <a:latin typeface="Arial MT"/>
                <a:cs typeface="Arial MT"/>
              </a:rPr>
              <a:t> </a:t>
            </a:r>
            <a:r>
              <a:rPr sz="2400" dirty="0">
                <a:latin typeface="Arial MT"/>
                <a:cs typeface="Arial MT"/>
              </a:rPr>
              <a:t>[61</a:t>
            </a:r>
            <a:r>
              <a:rPr sz="2400" spc="-30" dirty="0">
                <a:latin typeface="Arial MT"/>
                <a:cs typeface="Arial MT"/>
              </a:rPr>
              <a:t> </a:t>
            </a:r>
            <a:r>
              <a:rPr sz="2400" dirty="0">
                <a:latin typeface="Arial MT"/>
                <a:cs typeface="Arial MT"/>
              </a:rPr>
              <a:t>to</a:t>
            </a:r>
            <a:r>
              <a:rPr sz="2400" spc="-55" dirty="0">
                <a:latin typeface="Arial MT"/>
                <a:cs typeface="Arial MT"/>
              </a:rPr>
              <a:t> </a:t>
            </a:r>
            <a:r>
              <a:rPr sz="2400" spc="-25" dirty="0">
                <a:latin typeface="Arial MT"/>
                <a:cs typeface="Arial MT"/>
              </a:rPr>
              <a:t>∞]</a:t>
            </a:r>
            <a:endParaRPr sz="2400">
              <a:latin typeface="Arial MT"/>
              <a:cs typeface="Arial MT"/>
            </a:endParaRPr>
          </a:p>
          <a:p>
            <a:pPr marL="12700">
              <a:lnSpc>
                <a:spcPct val="100000"/>
              </a:lnSpc>
              <a:spcBef>
                <a:spcPts val="5"/>
              </a:spcBef>
            </a:pPr>
            <a:r>
              <a:rPr sz="2400" spc="-25" dirty="0">
                <a:latin typeface="Arial MT"/>
                <a:cs typeface="Arial MT"/>
              </a:rPr>
              <a:t>Non-</a:t>
            </a:r>
            <a:r>
              <a:rPr sz="2400" dirty="0">
                <a:latin typeface="Arial MT"/>
                <a:cs typeface="Arial MT"/>
              </a:rPr>
              <a:t>numeric</a:t>
            </a:r>
            <a:r>
              <a:rPr sz="2400" spc="-35" dirty="0">
                <a:latin typeface="Arial MT"/>
                <a:cs typeface="Arial MT"/>
              </a:rPr>
              <a:t> </a:t>
            </a:r>
            <a:r>
              <a:rPr sz="2400" dirty="0">
                <a:latin typeface="Arial MT"/>
                <a:cs typeface="Arial MT"/>
              </a:rPr>
              <a:t>inputs:</a:t>
            </a:r>
            <a:r>
              <a:rPr sz="2400" spc="-45" dirty="0">
                <a:latin typeface="Arial MT"/>
                <a:cs typeface="Arial MT"/>
              </a:rPr>
              <a:t> </a:t>
            </a:r>
            <a:r>
              <a:rPr sz="2400" dirty="0">
                <a:latin typeface="Arial MT"/>
                <a:cs typeface="Arial MT"/>
              </a:rPr>
              <a:t>["abc",</a:t>
            </a:r>
            <a:r>
              <a:rPr sz="2400" spc="-65" dirty="0">
                <a:latin typeface="Arial MT"/>
                <a:cs typeface="Arial MT"/>
              </a:rPr>
              <a:t> </a:t>
            </a:r>
            <a:r>
              <a:rPr sz="2400" dirty="0">
                <a:latin typeface="Arial MT"/>
                <a:cs typeface="Arial MT"/>
              </a:rPr>
              <a:t>"#$%",</a:t>
            </a:r>
            <a:r>
              <a:rPr sz="2400" spc="-50" dirty="0">
                <a:latin typeface="Arial MT"/>
                <a:cs typeface="Arial MT"/>
              </a:rPr>
              <a:t> </a:t>
            </a:r>
            <a:r>
              <a:rPr sz="2400" spc="-10" dirty="0">
                <a:latin typeface="Arial MT"/>
                <a:cs typeface="Arial MT"/>
              </a:rPr>
              <a:t>etc.]</a:t>
            </a:r>
            <a:endParaRPr sz="2400">
              <a:latin typeface="Arial MT"/>
              <a:cs typeface="Arial MT"/>
            </a:endParaRPr>
          </a:p>
          <a:p>
            <a:pPr marL="12700" marR="681990">
              <a:lnSpc>
                <a:spcPct val="100000"/>
              </a:lnSpc>
            </a:pPr>
            <a:r>
              <a:rPr sz="2400" dirty="0">
                <a:latin typeface="Arial MT"/>
                <a:cs typeface="Arial MT"/>
              </a:rPr>
              <a:t>Boundary</a:t>
            </a:r>
            <a:r>
              <a:rPr sz="2400" spc="-80" dirty="0">
                <a:latin typeface="Arial MT"/>
                <a:cs typeface="Arial MT"/>
              </a:rPr>
              <a:t> </a:t>
            </a:r>
            <a:r>
              <a:rPr sz="2400" dirty="0">
                <a:latin typeface="Arial MT"/>
                <a:cs typeface="Arial MT"/>
              </a:rPr>
              <a:t>value</a:t>
            </a:r>
            <a:r>
              <a:rPr sz="2400" spc="-75" dirty="0">
                <a:latin typeface="Arial MT"/>
                <a:cs typeface="Arial MT"/>
              </a:rPr>
              <a:t> </a:t>
            </a:r>
            <a:r>
              <a:rPr sz="2400" dirty="0">
                <a:latin typeface="Arial MT"/>
                <a:cs typeface="Arial MT"/>
              </a:rPr>
              <a:t>analysis</a:t>
            </a:r>
            <a:r>
              <a:rPr sz="2400" spc="-70" dirty="0">
                <a:latin typeface="Arial MT"/>
                <a:cs typeface="Arial MT"/>
              </a:rPr>
              <a:t> </a:t>
            </a:r>
            <a:r>
              <a:rPr sz="2400" dirty="0">
                <a:latin typeface="Arial MT"/>
                <a:cs typeface="Arial MT"/>
              </a:rPr>
              <a:t>focuses</a:t>
            </a:r>
            <a:r>
              <a:rPr sz="2400" spc="-90" dirty="0">
                <a:latin typeface="Arial MT"/>
                <a:cs typeface="Arial MT"/>
              </a:rPr>
              <a:t> </a:t>
            </a:r>
            <a:r>
              <a:rPr sz="2400" dirty="0">
                <a:latin typeface="Arial MT"/>
                <a:cs typeface="Arial MT"/>
              </a:rPr>
              <a:t>on</a:t>
            </a:r>
            <a:r>
              <a:rPr sz="2400" spc="-90" dirty="0">
                <a:latin typeface="Arial MT"/>
                <a:cs typeface="Arial MT"/>
              </a:rPr>
              <a:t> </a:t>
            </a:r>
            <a:r>
              <a:rPr sz="2400" dirty="0">
                <a:latin typeface="Arial MT"/>
                <a:cs typeface="Arial MT"/>
              </a:rPr>
              <a:t>testing</a:t>
            </a:r>
            <a:r>
              <a:rPr sz="2400" spc="-95" dirty="0">
                <a:latin typeface="Arial MT"/>
                <a:cs typeface="Arial MT"/>
              </a:rPr>
              <a:t> </a:t>
            </a:r>
            <a:r>
              <a:rPr sz="2400" dirty="0">
                <a:latin typeface="Arial MT"/>
                <a:cs typeface="Arial MT"/>
              </a:rPr>
              <a:t>the</a:t>
            </a:r>
            <a:r>
              <a:rPr sz="2400" spc="-100" dirty="0">
                <a:latin typeface="Arial MT"/>
                <a:cs typeface="Arial MT"/>
              </a:rPr>
              <a:t> </a:t>
            </a:r>
            <a:r>
              <a:rPr sz="2400" dirty="0">
                <a:latin typeface="Arial MT"/>
                <a:cs typeface="Arial MT"/>
              </a:rPr>
              <a:t>boundaries</a:t>
            </a:r>
            <a:r>
              <a:rPr sz="2400" spc="-60" dirty="0">
                <a:latin typeface="Arial MT"/>
                <a:cs typeface="Arial MT"/>
              </a:rPr>
              <a:t> </a:t>
            </a:r>
            <a:r>
              <a:rPr sz="2400" spc="-25" dirty="0">
                <a:latin typeface="Arial MT"/>
                <a:cs typeface="Arial MT"/>
              </a:rPr>
              <a:t>of </a:t>
            </a:r>
            <a:r>
              <a:rPr sz="2400" dirty="0">
                <a:latin typeface="Arial MT"/>
                <a:cs typeface="Arial MT"/>
              </a:rPr>
              <a:t>these</a:t>
            </a:r>
            <a:r>
              <a:rPr sz="2400" spc="-80" dirty="0">
                <a:latin typeface="Arial MT"/>
                <a:cs typeface="Arial MT"/>
              </a:rPr>
              <a:t> </a:t>
            </a:r>
            <a:r>
              <a:rPr sz="2400" spc="-10" dirty="0">
                <a:latin typeface="Arial MT"/>
                <a:cs typeface="Arial MT"/>
              </a:rPr>
              <a:t>ranges.</a:t>
            </a:r>
            <a:endParaRPr sz="2400">
              <a:latin typeface="Arial MT"/>
              <a:cs typeface="Arial MT"/>
            </a:endParaRPr>
          </a:p>
          <a:p>
            <a:pPr marL="12700" algn="just">
              <a:lnSpc>
                <a:spcPct val="100000"/>
              </a:lnSpc>
            </a:pPr>
            <a:r>
              <a:rPr sz="2400" b="1" dirty="0">
                <a:latin typeface="Arial"/>
                <a:cs typeface="Arial"/>
              </a:rPr>
              <a:t>Just</a:t>
            </a:r>
            <a:r>
              <a:rPr sz="2400" b="1" spc="-30" dirty="0">
                <a:latin typeface="Arial"/>
                <a:cs typeface="Arial"/>
              </a:rPr>
              <a:t> </a:t>
            </a:r>
            <a:r>
              <a:rPr sz="2400" b="1" dirty="0">
                <a:latin typeface="Arial"/>
                <a:cs typeface="Arial"/>
              </a:rPr>
              <a:t>outside</a:t>
            </a:r>
            <a:r>
              <a:rPr sz="2400" b="1" spc="-55" dirty="0">
                <a:latin typeface="Arial"/>
                <a:cs typeface="Arial"/>
              </a:rPr>
              <a:t> </a:t>
            </a:r>
            <a:r>
              <a:rPr sz="2400" b="1" dirty="0">
                <a:latin typeface="Arial"/>
                <a:cs typeface="Arial"/>
              </a:rPr>
              <a:t>the</a:t>
            </a:r>
            <a:r>
              <a:rPr sz="2400" b="1" spc="-25" dirty="0">
                <a:latin typeface="Arial"/>
                <a:cs typeface="Arial"/>
              </a:rPr>
              <a:t> </a:t>
            </a:r>
            <a:r>
              <a:rPr sz="2400" b="1" dirty="0">
                <a:latin typeface="Arial"/>
                <a:cs typeface="Arial"/>
              </a:rPr>
              <a:t>lower</a:t>
            </a:r>
            <a:r>
              <a:rPr sz="2400" b="1" spc="-60" dirty="0">
                <a:latin typeface="Arial"/>
                <a:cs typeface="Arial"/>
              </a:rPr>
              <a:t> </a:t>
            </a:r>
            <a:r>
              <a:rPr sz="2400" b="1" dirty="0">
                <a:latin typeface="Arial"/>
                <a:cs typeface="Arial"/>
              </a:rPr>
              <a:t>boundary: </a:t>
            </a:r>
            <a:r>
              <a:rPr sz="2400" spc="-25" dirty="0">
                <a:latin typeface="Arial MT"/>
                <a:cs typeface="Arial MT"/>
              </a:rPr>
              <a:t>17</a:t>
            </a:r>
            <a:endParaRPr sz="2400">
              <a:latin typeface="Arial MT"/>
              <a:cs typeface="Arial MT"/>
            </a:endParaRPr>
          </a:p>
          <a:p>
            <a:pPr marL="12700" algn="just">
              <a:lnSpc>
                <a:spcPct val="100000"/>
              </a:lnSpc>
            </a:pPr>
            <a:r>
              <a:rPr sz="2400" b="1" dirty="0">
                <a:latin typeface="Arial"/>
                <a:cs typeface="Arial"/>
              </a:rPr>
              <a:t>At</a:t>
            </a:r>
            <a:r>
              <a:rPr sz="2400" b="1" spc="-35" dirty="0">
                <a:latin typeface="Arial"/>
                <a:cs typeface="Arial"/>
              </a:rPr>
              <a:t> </a:t>
            </a:r>
            <a:r>
              <a:rPr sz="2400" b="1" dirty="0">
                <a:latin typeface="Arial"/>
                <a:cs typeface="Arial"/>
              </a:rPr>
              <a:t>the</a:t>
            </a:r>
            <a:r>
              <a:rPr sz="2400" b="1" spc="-50" dirty="0">
                <a:latin typeface="Arial"/>
                <a:cs typeface="Arial"/>
              </a:rPr>
              <a:t> </a:t>
            </a:r>
            <a:r>
              <a:rPr sz="2400" b="1" dirty="0">
                <a:latin typeface="Arial"/>
                <a:cs typeface="Arial"/>
              </a:rPr>
              <a:t>lower</a:t>
            </a:r>
            <a:r>
              <a:rPr sz="2400" b="1" spc="-65" dirty="0">
                <a:latin typeface="Arial"/>
                <a:cs typeface="Arial"/>
              </a:rPr>
              <a:t> </a:t>
            </a:r>
            <a:r>
              <a:rPr sz="2400" b="1" dirty="0">
                <a:latin typeface="Arial"/>
                <a:cs typeface="Arial"/>
              </a:rPr>
              <a:t>boundary:</a:t>
            </a:r>
            <a:r>
              <a:rPr sz="2400" b="1" spc="-5" dirty="0">
                <a:latin typeface="Arial"/>
                <a:cs typeface="Arial"/>
              </a:rPr>
              <a:t> </a:t>
            </a:r>
            <a:r>
              <a:rPr sz="2400" spc="-25" dirty="0">
                <a:latin typeface="Arial MT"/>
                <a:cs typeface="Arial MT"/>
              </a:rPr>
              <a:t>18</a:t>
            </a:r>
            <a:endParaRPr sz="2400">
              <a:latin typeface="Arial MT"/>
              <a:cs typeface="Arial MT"/>
            </a:endParaRPr>
          </a:p>
          <a:p>
            <a:pPr marL="12700" marR="3931920" algn="just">
              <a:lnSpc>
                <a:spcPct val="100000"/>
              </a:lnSpc>
            </a:pPr>
            <a:r>
              <a:rPr sz="2400" b="1" dirty="0">
                <a:latin typeface="Arial"/>
                <a:cs typeface="Arial"/>
              </a:rPr>
              <a:t>Just</a:t>
            </a:r>
            <a:r>
              <a:rPr sz="2400" b="1" spc="-35" dirty="0">
                <a:latin typeface="Arial"/>
                <a:cs typeface="Arial"/>
              </a:rPr>
              <a:t> </a:t>
            </a:r>
            <a:r>
              <a:rPr sz="2400" b="1" dirty="0">
                <a:latin typeface="Arial"/>
                <a:cs typeface="Arial"/>
              </a:rPr>
              <a:t>above</a:t>
            </a:r>
            <a:r>
              <a:rPr sz="2400" b="1" spc="-40" dirty="0">
                <a:latin typeface="Arial"/>
                <a:cs typeface="Arial"/>
              </a:rPr>
              <a:t> </a:t>
            </a:r>
            <a:r>
              <a:rPr sz="2400" b="1" dirty="0">
                <a:latin typeface="Arial"/>
                <a:cs typeface="Arial"/>
              </a:rPr>
              <a:t>the</a:t>
            </a:r>
            <a:r>
              <a:rPr sz="2400" b="1" spc="-50" dirty="0">
                <a:latin typeface="Arial"/>
                <a:cs typeface="Arial"/>
              </a:rPr>
              <a:t> </a:t>
            </a:r>
            <a:r>
              <a:rPr sz="2400" b="1" dirty="0">
                <a:latin typeface="Arial"/>
                <a:cs typeface="Arial"/>
              </a:rPr>
              <a:t>lower</a:t>
            </a:r>
            <a:r>
              <a:rPr sz="2400" b="1" spc="-80" dirty="0">
                <a:latin typeface="Arial"/>
                <a:cs typeface="Arial"/>
              </a:rPr>
              <a:t> </a:t>
            </a:r>
            <a:r>
              <a:rPr sz="2400" b="1" dirty="0">
                <a:latin typeface="Arial"/>
                <a:cs typeface="Arial"/>
              </a:rPr>
              <a:t>boundary: </a:t>
            </a:r>
            <a:r>
              <a:rPr sz="2400" spc="-25" dirty="0">
                <a:latin typeface="Arial MT"/>
                <a:cs typeface="Arial MT"/>
              </a:rPr>
              <a:t>19 </a:t>
            </a:r>
            <a:r>
              <a:rPr sz="2400" b="1" dirty="0">
                <a:latin typeface="Arial"/>
                <a:cs typeface="Arial"/>
              </a:rPr>
              <a:t>Just</a:t>
            </a:r>
            <a:r>
              <a:rPr sz="2400" b="1" spc="-30" dirty="0">
                <a:latin typeface="Arial"/>
                <a:cs typeface="Arial"/>
              </a:rPr>
              <a:t> </a:t>
            </a:r>
            <a:r>
              <a:rPr sz="2400" b="1" dirty="0">
                <a:latin typeface="Arial"/>
                <a:cs typeface="Arial"/>
              </a:rPr>
              <a:t>below</a:t>
            </a:r>
            <a:r>
              <a:rPr sz="2400" b="1" spc="-55" dirty="0">
                <a:latin typeface="Arial"/>
                <a:cs typeface="Arial"/>
              </a:rPr>
              <a:t> </a:t>
            </a:r>
            <a:r>
              <a:rPr sz="2400" b="1" dirty="0">
                <a:latin typeface="Arial"/>
                <a:cs typeface="Arial"/>
              </a:rPr>
              <a:t>the</a:t>
            </a:r>
            <a:r>
              <a:rPr sz="2400" b="1" spc="-45" dirty="0">
                <a:latin typeface="Arial"/>
                <a:cs typeface="Arial"/>
              </a:rPr>
              <a:t> </a:t>
            </a:r>
            <a:r>
              <a:rPr sz="2400" b="1" dirty="0">
                <a:latin typeface="Arial"/>
                <a:cs typeface="Arial"/>
              </a:rPr>
              <a:t>upper</a:t>
            </a:r>
            <a:r>
              <a:rPr sz="2400" b="1" spc="-35" dirty="0">
                <a:latin typeface="Arial"/>
                <a:cs typeface="Arial"/>
              </a:rPr>
              <a:t> </a:t>
            </a:r>
            <a:r>
              <a:rPr sz="2400" b="1" dirty="0">
                <a:latin typeface="Arial"/>
                <a:cs typeface="Arial"/>
              </a:rPr>
              <a:t>boundary:</a:t>
            </a:r>
            <a:r>
              <a:rPr sz="2400" b="1" spc="-5" dirty="0">
                <a:latin typeface="Arial"/>
                <a:cs typeface="Arial"/>
              </a:rPr>
              <a:t> </a:t>
            </a:r>
            <a:r>
              <a:rPr sz="2400" spc="-25" dirty="0">
                <a:latin typeface="Arial MT"/>
                <a:cs typeface="Arial MT"/>
              </a:rPr>
              <a:t>59 </a:t>
            </a:r>
            <a:r>
              <a:rPr sz="2400" b="1" dirty="0">
                <a:latin typeface="Arial"/>
                <a:cs typeface="Arial"/>
              </a:rPr>
              <a:t>At</a:t>
            </a:r>
            <a:r>
              <a:rPr sz="2400" b="1" spc="-40" dirty="0">
                <a:latin typeface="Arial"/>
                <a:cs typeface="Arial"/>
              </a:rPr>
              <a:t> </a:t>
            </a:r>
            <a:r>
              <a:rPr sz="2400" b="1" dirty="0">
                <a:latin typeface="Arial"/>
                <a:cs typeface="Arial"/>
              </a:rPr>
              <a:t>the</a:t>
            </a:r>
            <a:r>
              <a:rPr sz="2400" b="1" spc="-45" dirty="0">
                <a:latin typeface="Arial"/>
                <a:cs typeface="Arial"/>
              </a:rPr>
              <a:t> </a:t>
            </a:r>
            <a:r>
              <a:rPr sz="2400" b="1" dirty="0">
                <a:latin typeface="Arial"/>
                <a:cs typeface="Arial"/>
              </a:rPr>
              <a:t>upper</a:t>
            </a:r>
            <a:r>
              <a:rPr sz="2400" b="1" spc="-35" dirty="0">
                <a:latin typeface="Arial"/>
                <a:cs typeface="Arial"/>
              </a:rPr>
              <a:t> </a:t>
            </a:r>
            <a:r>
              <a:rPr sz="2400" b="1" dirty="0">
                <a:latin typeface="Arial"/>
                <a:cs typeface="Arial"/>
              </a:rPr>
              <a:t>boundary: </a:t>
            </a:r>
            <a:r>
              <a:rPr sz="2400" spc="-25" dirty="0">
                <a:latin typeface="Arial MT"/>
                <a:cs typeface="Arial MT"/>
              </a:rPr>
              <a:t>60</a:t>
            </a:r>
            <a:endParaRPr sz="2400">
              <a:latin typeface="Arial MT"/>
              <a:cs typeface="Arial MT"/>
            </a:endParaRPr>
          </a:p>
          <a:p>
            <a:pPr marL="12700" algn="just">
              <a:lnSpc>
                <a:spcPct val="100000"/>
              </a:lnSpc>
              <a:spcBef>
                <a:spcPts val="5"/>
              </a:spcBef>
            </a:pPr>
            <a:r>
              <a:rPr sz="2400" b="1" dirty="0">
                <a:latin typeface="Arial"/>
                <a:cs typeface="Arial"/>
              </a:rPr>
              <a:t>Just</a:t>
            </a:r>
            <a:r>
              <a:rPr sz="2400" b="1" spc="-30" dirty="0">
                <a:latin typeface="Arial"/>
                <a:cs typeface="Arial"/>
              </a:rPr>
              <a:t> </a:t>
            </a:r>
            <a:r>
              <a:rPr sz="2400" b="1" dirty="0">
                <a:latin typeface="Arial"/>
                <a:cs typeface="Arial"/>
              </a:rPr>
              <a:t>outside</a:t>
            </a:r>
            <a:r>
              <a:rPr sz="2400" b="1" spc="-55" dirty="0">
                <a:latin typeface="Arial"/>
                <a:cs typeface="Arial"/>
              </a:rPr>
              <a:t> </a:t>
            </a:r>
            <a:r>
              <a:rPr sz="2400" b="1" dirty="0">
                <a:latin typeface="Arial"/>
                <a:cs typeface="Arial"/>
              </a:rPr>
              <a:t>the</a:t>
            </a:r>
            <a:r>
              <a:rPr sz="2400" b="1" spc="-30" dirty="0">
                <a:latin typeface="Arial"/>
                <a:cs typeface="Arial"/>
              </a:rPr>
              <a:t> </a:t>
            </a:r>
            <a:r>
              <a:rPr sz="2400" b="1" dirty="0">
                <a:latin typeface="Arial"/>
                <a:cs typeface="Arial"/>
              </a:rPr>
              <a:t>upper</a:t>
            </a:r>
            <a:r>
              <a:rPr sz="2400" b="1" spc="-45" dirty="0">
                <a:latin typeface="Arial"/>
                <a:cs typeface="Arial"/>
              </a:rPr>
              <a:t> </a:t>
            </a:r>
            <a:r>
              <a:rPr sz="2400" b="1" dirty="0">
                <a:latin typeface="Arial"/>
                <a:cs typeface="Arial"/>
              </a:rPr>
              <a:t>boundary: </a:t>
            </a:r>
            <a:r>
              <a:rPr sz="2400" spc="-25" dirty="0">
                <a:latin typeface="Arial MT"/>
                <a:cs typeface="Arial MT"/>
              </a:rPr>
              <a:t>61</a:t>
            </a:r>
            <a:endParaRPr sz="2400">
              <a:latin typeface="Arial MT"/>
              <a:cs typeface="Arial MT"/>
            </a:endParaRPr>
          </a:p>
        </p:txBody>
      </p:sp>
      <p:pic>
        <p:nvPicPr>
          <p:cNvPr id="4" name="object 4"/>
          <p:cNvPicPr/>
          <p:nvPr/>
        </p:nvPicPr>
        <p:blipFill>
          <a:blip r:embed="rId2" cstate="print"/>
          <a:stretch>
            <a:fillRect/>
          </a:stretch>
        </p:blipFill>
        <p:spPr>
          <a:xfrm>
            <a:off x="8775954" y="6495288"/>
            <a:ext cx="594359" cy="5615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900" y="71373"/>
            <a:ext cx="5361940" cy="513715"/>
          </a:xfrm>
          <a:prstGeom prst="rect">
            <a:avLst/>
          </a:prstGeom>
        </p:spPr>
        <p:txBody>
          <a:bodyPr vert="horz" wrap="square" lIns="0" tIns="12700" rIns="0" bIns="0" rtlCol="0">
            <a:spAutoFit/>
          </a:bodyPr>
          <a:lstStyle/>
          <a:p>
            <a:pPr marL="12700">
              <a:lnSpc>
                <a:spcPct val="100000"/>
              </a:lnSpc>
              <a:spcBef>
                <a:spcPts val="100"/>
              </a:spcBef>
            </a:pPr>
            <a:r>
              <a:rPr sz="3200" spc="-110" dirty="0"/>
              <a:t>Requirement-</a:t>
            </a:r>
            <a:r>
              <a:rPr sz="3200" spc="70" dirty="0"/>
              <a:t>based</a:t>
            </a:r>
            <a:r>
              <a:rPr sz="3200" spc="-204" dirty="0"/>
              <a:t> </a:t>
            </a:r>
            <a:r>
              <a:rPr sz="3200" spc="-75" dirty="0"/>
              <a:t>testing</a:t>
            </a:r>
            <a:endParaRPr sz="3200"/>
          </a:p>
        </p:txBody>
      </p:sp>
      <p:sp>
        <p:nvSpPr>
          <p:cNvPr id="3" name="object 3"/>
          <p:cNvSpPr txBox="1"/>
          <p:nvPr/>
        </p:nvSpPr>
        <p:spPr>
          <a:xfrm>
            <a:off x="596900" y="604266"/>
            <a:ext cx="8992870" cy="447045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Arial" pitchFamily="34" charset="0"/>
              <a:buChar char="•"/>
            </a:pPr>
            <a:r>
              <a:rPr lang="en-US" sz="2400" dirty="0"/>
              <a:t>The requirements based testing points to an important phase which includes verifying a software with respect to a particular norm. </a:t>
            </a:r>
            <a:endParaRPr lang="en-US" sz="2400" dirty="0" smtClean="0"/>
          </a:p>
          <a:p>
            <a:pPr marL="355600" marR="5080" indent="-342900" algn="just">
              <a:lnSpc>
                <a:spcPct val="100000"/>
              </a:lnSpc>
              <a:spcBef>
                <a:spcPts val="100"/>
              </a:spcBef>
              <a:buFont typeface="Arial" pitchFamily="34" charset="0"/>
              <a:buChar char="•"/>
            </a:pPr>
            <a:r>
              <a:rPr lang="en-US" sz="2400" dirty="0" smtClean="0"/>
              <a:t>It </a:t>
            </a:r>
            <a:r>
              <a:rPr lang="en-US" sz="2400" dirty="0"/>
              <a:t>ensures that the software is developed as per the given requirements, and its working is aligned as per the expected results. The test cases are designed as per the specified requirements. </a:t>
            </a:r>
            <a:endParaRPr lang="en-US" sz="2400" dirty="0" smtClean="0"/>
          </a:p>
          <a:p>
            <a:pPr marL="355600" marR="5080" indent="-342900" algn="just">
              <a:lnSpc>
                <a:spcPct val="100000"/>
              </a:lnSpc>
              <a:spcBef>
                <a:spcPts val="100"/>
              </a:spcBef>
              <a:buFont typeface="Arial" pitchFamily="34" charset="0"/>
              <a:buChar char="•"/>
            </a:pPr>
            <a:r>
              <a:rPr lang="en-US" sz="2400" dirty="0" smtClean="0"/>
              <a:t>This </a:t>
            </a:r>
            <a:r>
              <a:rPr lang="en-US" sz="2400" dirty="0"/>
              <a:t>type of testing systematically evaluates all the modules to check whether they are working fine</a:t>
            </a:r>
            <a:r>
              <a:rPr lang="en-US" sz="2400" dirty="0" smtClean="0"/>
              <a:t>.</a:t>
            </a:r>
          </a:p>
          <a:p>
            <a:pPr marL="355600" marR="5080" indent="-342900" algn="just">
              <a:lnSpc>
                <a:spcPct val="100000"/>
              </a:lnSpc>
              <a:spcBef>
                <a:spcPts val="100"/>
              </a:spcBef>
              <a:buFont typeface="Arial" pitchFamily="34" charset="0"/>
              <a:buChar char="•"/>
            </a:pPr>
            <a:r>
              <a:rPr lang="en-US" sz="2400" dirty="0" smtClean="0"/>
              <a:t> </a:t>
            </a:r>
            <a:r>
              <a:rPr lang="en-US" sz="2400" dirty="0"/>
              <a:t>It is recommended to develop the test strategy as per the requirements so that the software is developed with the preconceived guidelines, and solves end user expectations.</a:t>
            </a:r>
            <a:endParaRPr sz="2400" dirty="0">
              <a:latin typeface="Arial MT"/>
              <a:cs typeface="Arial MT"/>
            </a:endParaRPr>
          </a:p>
        </p:txBody>
      </p:sp>
      <p:pic>
        <p:nvPicPr>
          <p:cNvPr id="4" name="object 4"/>
          <p:cNvPicPr/>
          <p:nvPr/>
        </p:nvPicPr>
        <p:blipFill>
          <a:blip r:embed="rId2" cstate="print"/>
          <a:stretch>
            <a:fillRect/>
          </a:stretch>
        </p:blipFill>
        <p:spPr>
          <a:xfrm>
            <a:off x="8775954" y="6495288"/>
            <a:ext cx="594359" cy="56159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1373"/>
            <a:ext cx="9437370" cy="505267"/>
          </a:xfrm>
          <a:prstGeom prst="rect">
            <a:avLst/>
          </a:prstGeom>
        </p:spPr>
        <p:txBody>
          <a:bodyPr vert="horz" wrap="square" lIns="0" tIns="12700" rIns="0" bIns="0" rtlCol="0">
            <a:spAutoFit/>
          </a:bodyPr>
          <a:lstStyle/>
          <a:p>
            <a:pPr marL="12700">
              <a:lnSpc>
                <a:spcPct val="100000"/>
              </a:lnSpc>
              <a:spcBef>
                <a:spcPts val="100"/>
              </a:spcBef>
            </a:pPr>
            <a:r>
              <a:rPr lang="en-US" sz="3200" b="1" spc="-110" dirty="0" smtClean="0">
                <a:solidFill>
                  <a:schemeClr val="accent2">
                    <a:lumMod val="75000"/>
                  </a:schemeClr>
                </a:solidFill>
              </a:rPr>
              <a:t>Positive and Negative </a:t>
            </a:r>
            <a:r>
              <a:rPr lang="en-US" sz="3200" b="1" spc="-110" dirty="0" smtClean="0">
                <a:solidFill>
                  <a:srgbClr val="FFC000"/>
                </a:solidFill>
              </a:rPr>
              <a:t>Testing</a:t>
            </a:r>
            <a:endParaRPr sz="3200" b="1" dirty="0">
              <a:solidFill>
                <a:srgbClr val="FFC000"/>
              </a:solidFill>
            </a:endParaRPr>
          </a:p>
        </p:txBody>
      </p:sp>
      <p:sp>
        <p:nvSpPr>
          <p:cNvPr id="3" name="object 3"/>
          <p:cNvSpPr txBox="1"/>
          <p:nvPr/>
        </p:nvSpPr>
        <p:spPr>
          <a:xfrm>
            <a:off x="228600" y="604266"/>
            <a:ext cx="9677400" cy="413959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Arial" pitchFamily="34" charset="0"/>
              <a:buChar char="•"/>
            </a:pPr>
            <a:r>
              <a:rPr lang="en-US" sz="2400" b="1" dirty="0" smtClean="0">
                <a:solidFill>
                  <a:srgbClr val="00B050"/>
                </a:solidFill>
              </a:rPr>
              <a:t>Positive testing:  </a:t>
            </a:r>
            <a:r>
              <a:rPr lang="en-US" sz="2400" dirty="0"/>
              <a:t>is a type of software testing that is performed by assuming everything will be as expected</a:t>
            </a:r>
            <a:r>
              <a:rPr lang="en-US" sz="2400" dirty="0" smtClean="0"/>
              <a:t>.</a:t>
            </a:r>
          </a:p>
          <a:p>
            <a:pPr marL="355600" marR="5080" indent="-342900" algn="just">
              <a:lnSpc>
                <a:spcPct val="100000"/>
              </a:lnSpc>
              <a:spcBef>
                <a:spcPts val="100"/>
              </a:spcBef>
              <a:buFont typeface="Arial" pitchFamily="34" charset="0"/>
              <a:buChar char="•"/>
            </a:pPr>
            <a:r>
              <a:rPr lang="en-US" sz="2400" dirty="0" smtClean="0"/>
              <a:t> </a:t>
            </a:r>
            <a:r>
              <a:rPr lang="en-US" sz="2400" dirty="0"/>
              <a:t>It is performed with the assumption that only valid and relevant things will occur. </a:t>
            </a:r>
            <a:endParaRPr lang="en-US" sz="2400" dirty="0" smtClean="0"/>
          </a:p>
          <a:p>
            <a:pPr marL="355600" marR="5080" indent="-342900" algn="just">
              <a:lnSpc>
                <a:spcPct val="100000"/>
              </a:lnSpc>
              <a:spcBef>
                <a:spcPts val="100"/>
              </a:spcBef>
              <a:buFont typeface="Arial" pitchFamily="34" charset="0"/>
              <a:buChar char="•"/>
            </a:pPr>
            <a:r>
              <a:rPr lang="en-US" sz="2400" dirty="0" smtClean="0"/>
              <a:t>Data </a:t>
            </a:r>
            <a:r>
              <a:rPr lang="en-US" sz="2400" dirty="0"/>
              <a:t>set and all other functionalities will be as expected</a:t>
            </a:r>
            <a:r>
              <a:rPr lang="en-US" sz="2400" dirty="0" smtClean="0"/>
              <a:t>.</a:t>
            </a:r>
          </a:p>
          <a:p>
            <a:pPr marL="355600" marR="5080" indent="-342900" algn="just">
              <a:lnSpc>
                <a:spcPct val="100000"/>
              </a:lnSpc>
              <a:spcBef>
                <a:spcPts val="100"/>
              </a:spcBef>
              <a:buFont typeface="Arial" pitchFamily="34" charset="0"/>
              <a:buChar char="•"/>
            </a:pPr>
            <a:r>
              <a:rPr lang="en-US" sz="2400" b="1" dirty="0"/>
              <a:t>Negative Testing:</a:t>
            </a:r>
            <a:r>
              <a:rPr lang="en-US" sz="2400" dirty="0"/>
              <a:t> Negative testing is a type of software testing that is performed to check the system for unexpected conditions</a:t>
            </a:r>
            <a:r>
              <a:rPr lang="en-US" sz="2400" dirty="0" smtClean="0"/>
              <a:t>.</a:t>
            </a:r>
          </a:p>
          <a:p>
            <a:pPr marL="355600" marR="5080" indent="-342900" algn="just">
              <a:lnSpc>
                <a:spcPct val="100000"/>
              </a:lnSpc>
              <a:spcBef>
                <a:spcPts val="100"/>
              </a:spcBef>
              <a:buFont typeface="Arial" pitchFamily="34" charset="0"/>
              <a:buChar char="•"/>
            </a:pPr>
            <a:r>
              <a:rPr lang="en-US" sz="2400" dirty="0" smtClean="0"/>
              <a:t> </a:t>
            </a:r>
            <a:r>
              <a:rPr lang="en-US" sz="2400" dirty="0"/>
              <a:t>Negative testing plays a much important role in high-performance software development. </a:t>
            </a:r>
            <a:endParaRPr lang="en-US" sz="2400" dirty="0" smtClean="0"/>
          </a:p>
          <a:p>
            <a:pPr marL="355600" marR="5080" indent="-342900" algn="just">
              <a:lnSpc>
                <a:spcPct val="100000"/>
              </a:lnSpc>
              <a:spcBef>
                <a:spcPts val="100"/>
              </a:spcBef>
              <a:buFont typeface="Arial" pitchFamily="34" charset="0"/>
              <a:buChar char="•"/>
            </a:pPr>
            <a:r>
              <a:rPr lang="en-US" sz="2400" dirty="0" smtClean="0"/>
              <a:t>It </a:t>
            </a:r>
            <a:r>
              <a:rPr lang="en-US" sz="2400" dirty="0"/>
              <a:t>checks whether on such unexpected conditions what will be the behavior of the software.</a:t>
            </a:r>
            <a:endParaRPr sz="2400" dirty="0">
              <a:latin typeface="Arial MT"/>
              <a:cs typeface="Arial MT"/>
            </a:endParaRPr>
          </a:p>
        </p:txBody>
      </p:sp>
      <p:pic>
        <p:nvPicPr>
          <p:cNvPr id="4" name="object 4"/>
          <p:cNvPicPr/>
          <p:nvPr/>
        </p:nvPicPr>
        <p:blipFill>
          <a:blip r:embed="rId2" cstate="print"/>
          <a:stretch>
            <a:fillRect/>
          </a:stretch>
        </p:blipFill>
        <p:spPr>
          <a:xfrm>
            <a:off x="8775954" y="6495288"/>
            <a:ext cx="594359" cy="561594"/>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99" y="4800601"/>
            <a:ext cx="9906001"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972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900" y="71373"/>
            <a:ext cx="5361940" cy="513715"/>
          </a:xfrm>
          <a:prstGeom prst="rect">
            <a:avLst/>
          </a:prstGeom>
        </p:spPr>
        <p:txBody>
          <a:bodyPr vert="horz" wrap="square" lIns="0" tIns="12700" rIns="0" bIns="0" rtlCol="0">
            <a:spAutoFit/>
          </a:bodyPr>
          <a:lstStyle/>
          <a:p>
            <a:pPr marL="12700">
              <a:lnSpc>
                <a:spcPct val="100000"/>
              </a:lnSpc>
              <a:spcBef>
                <a:spcPts val="100"/>
              </a:spcBef>
            </a:pPr>
            <a:endParaRPr sz="3200" dirty="0"/>
          </a:p>
        </p:txBody>
      </p:sp>
      <p:pic>
        <p:nvPicPr>
          <p:cNvPr id="4" name="object 4"/>
          <p:cNvPicPr/>
          <p:nvPr/>
        </p:nvPicPr>
        <p:blipFill>
          <a:blip r:embed="rId2" cstate="print"/>
          <a:stretch>
            <a:fillRect/>
          </a:stretch>
        </p:blipFill>
        <p:spPr>
          <a:xfrm>
            <a:off x="8775954" y="6495288"/>
            <a:ext cx="594359" cy="561594"/>
          </a:xfrm>
          <a:prstGeom prst="rect">
            <a:avLst/>
          </a:prstGeom>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90600"/>
            <a:ext cx="9448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4912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900" y="71373"/>
            <a:ext cx="5361940" cy="505267"/>
          </a:xfrm>
          <a:prstGeom prst="rect">
            <a:avLst/>
          </a:prstGeom>
        </p:spPr>
        <p:txBody>
          <a:bodyPr vert="horz" wrap="square" lIns="0" tIns="12700" rIns="0" bIns="0" rtlCol="0">
            <a:spAutoFit/>
          </a:bodyPr>
          <a:lstStyle/>
          <a:p>
            <a:pPr fontAlgn="base"/>
            <a:r>
              <a:rPr lang="en-US" sz="3200" b="1" dirty="0"/>
              <a:t>Gray Box Testing</a:t>
            </a:r>
          </a:p>
        </p:txBody>
      </p:sp>
      <p:sp>
        <p:nvSpPr>
          <p:cNvPr id="3" name="object 3"/>
          <p:cNvSpPr txBox="1"/>
          <p:nvPr/>
        </p:nvSpPr>
        <p:spPr>
          <a:xfrm>
            <a:off x="596900" y="604266"/>
            <a:ext cx="8992870" cy="5578450"/>
          </a:xfrm>
          <a:prstGeom prst="rect">
            <a:avLst/>
          </a:prstGeom>
        </p:spPr>
        <p:txBody>
          <a:bodyPr vert="horz" wrap="square" lIns="0" tIns="12700" rIns="0" bIns="0" rtlCol="0">
            <a:spAutoFit/>
          </a:bodyPr>
          <a:lstStyle/>
          <a:p>
            <a:pPr marL="355600" marR="5080" indent="-342900">
              <a:lnSpc>
                <a:spcPct val="100000"/>
              </a:lnSpc>
              <a:spcBef>
                <a:spcPts val="100"/>
              </a:spcBef>
              <a:buFont typeface="Arial" pitchFamily="34" charset="0"/>
              <a:buChar char="•"/>
            </a:pPr>
            <a:r>
              <a:rPr lang="en-US" sz="2400" b="1" dirty="0"/>
              <a:t>Gray Box Testing</a:t>
            </a:r>
            <a:r>
              <a:rPr lang="en-US" sz="2400" dirty="0"/>
              <a:t> is a software testing technique that combines elements of the </a:t>
            </a:r>
            <a:r>
              <a:rPr lang="en-US" sz="2400" u="sng" dirty="0">
                <a:hlinkClick r:id="rId2"/>
              </a:rPr>
              <a:t>Black Box Testing </a:t>
            </a:r>
            <a:r>
              <a:rPr lang="en-US" sz="2400" dirty="0"/>
              <a:t>technique and the </a:t>
            </a:r>
            <a:r>
              <a:rPr lang="en-US" sz="2400" u="sng" dirty="0">
                <a:hlinkClick r:id="rId3"/>
              </a:rPr>
              <a:t>White Box Testing </a:t>
            </a:r>
            <a:r>
              <a:rPr lang="en-US" sz="2400" dirty="0"/>
              <a:t>technique. </a:t>
            </a:r>
            <a:endParaRPr lang="en-US" sz="2400" dirty="0" smtClean="0"/>
          </a:p>
          <a:p>
            <a:pPr marL="355600" marR="5080" indent="-342900">
              <a:lnSpc>
                <a:spcPct val="100000"/>
              </a:lnSpc>
              <a:spcBef>
                <a:spcPts val="100"/>
              </a:spcBef>
              <a:buFont typeface="Arial" pitchFamily="34" charset="0"/>
              <a:buChar char="•"/>
            </a:pPr>
            <a:endParaRPr lang="en-US" sz="2400" dirty="0" smtClean="0"/>
          </a:p>
          <a:p>
            <a:pPr rtl="0" fontAlgn="base"/>
            <a:r>
              <a:rPr lang="en-US" sz="2400" b="1" dirty="0">
                <a:solidFill>
                  <a:srgbClr val="7030A0"/>
                </a:solidFill>
              </a:rPr>
              <a:t>Objectives of Gray Box Testing:</a:t>
            </a:r>
          </a:p>
          <a:p>
            <a:pPr marL="342900" indent="-342900" fontAlgn="base">
              <a:buFont typeface="Arial" pitchFamily="34" charset="0"/>
              <a:buChar char="•"/>
            </a:pPr>
            <a:r>
              <a:rPr lang="en-US" sz="2400" dirty="0"/>
              <a:t>To provide the combined advantages of both black box testing and white box testing.</a:t>
            </a:r>
          </a:p>
          <a:p>
            <a:pPr marL="342900" indent="-342900" fontAlgn="base">
              <a:buFont typeface="Arial" pitchFamily="34" charset="0"/>
              <a:buChar char="•"/>
            </a:pPr>
            <a:r>
              <a:rPr lang="en-US" sz="2400" dirty="0"/>
              <a:t>To combine the input of developers as well as testers.</a:t>
            </a:r>
          </a:p>
          <a:p>
            <a:pPr marL="342900" indent="-342900" fontAlgn="base">
              <a:buFont typeface="Arial" pitchFamily="34" charset="0"/>
              <a:buChar char="•"/>
            </a:pPr>
            <a:r>
              <a:rPr lang="en-US" sz="2400" dirty="0"/>
              <a:t>To improve overall product quality.</a:t>
            </a:r>
          </a:p>
          <a:p>
            <a:pPr marL="342900" indent="-342900" fontAlgn="base">
              <a:buFont typeface="Arial" pitchFamily="34" charset="0"/>
              <a:buChar char="•"/>
            </a:pPr>
            <a:r>
              <a:rPr lang="en-US" sz="2400" dirty="0"/>
              <a:t>To reduce the overhead of the long process of functional and non-functional testing.</a:t>
            </a:r>
          </a:p>
          <a:p>
            <a:pPr marL="342900" indent="-342900" fontAlgn="base">
              <a:buFont typeface="Arial" pitchFamily="34" charset="0"/>
              <a:buChar char="•"/>
            </a:pPr>
            <a:r>
              <a:rPr lang="en-US" sz="2400" dirty="0"/>
              <a:t>To provide enough free time to developers to fix defects.</a:t>
            </a:r>
          </a:p>
          <a:p>
            <a:pPr marL="342900" indent="-342900" fontAlgn="base">
              <a:buFont typeface="Arial" pitchFamily="34" charset="0"/>
              <a:buChar char="•"/>
            </a:pPr>
            <a:r>
              <a:rPr lang="en-US" sz="2400" dirty="0"/>
              <a:t>To test from the user's point of view rather than a designer's point of view.</a:t>
            </a:r>
          </a:p>
          <a:p>
            <a:pPr marL="355600" marR="5080" indent="-342900">
              <a:lnSpc>
                <a:spcPct val="100000"/>
              </a:lnSpc>
              <a:spcBef>
                <a:spcPts val="100"/>
              </a:spcBef>
              <a:buFont typeface="Arial" pitchFamily="34" charset="0"/>
              <a:buChar char="•"/>
            </a:pPr>
            <a:endParaRPr sz="2400" dirty="0">
              <a:latin typeface="Arial MT"/>
              <a:cs typeface="Arial MT"/>
            </a:endParaRPr>
          </a:p>
        </p:txBody>
      </p:sp>
      <p:pic>
        <p:nvPicPr>
          <p:cNvPr id="4" name="object 4"/>
          <p:cNvPicPr/>
          <p:nvPr/>
        </p:nvPicPr>
        <p:blipFill>
          <a:blip r:embed="rId4" cstate="print"/>
          <a:stretch>
            <a:fillRect/>
          </a:stretch>
        </p:blipFill>
        <p:spPr>
          <a:xfrm>
            <a:off x="8775954" y="6495288"/>
            <a:ext cx="594359" cy="561594"/>
          </a:xfrm>
          <a:prstGeom prst="rect">
            <a:avLst/>
          </a:prstGeom>
        </p:spPr>
      </p:pic>
    </p:spTree>
    <p:extLst>
      <p:ext uri="{BB962C8B-B14F-4D97-AF65-F5344CB8AC3E}">
        <p14:creationId xmlns:p14="http://schemas.microsoft.com/office/powerpoint/2010/main" val="194603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900" y="71373"/>
            <a:ext cx="8992870" cy="505267"/>
          </a:xfrm>
          <a:prstGeom prst="rect">
            <a:avLst/>
          </a:prstGeom>
        </p:spPr>
        <p:txBody>
          <a:bodyPr vert="horz" wrap="square" lIns="0" tIns="12700" rIns="0" bIns="0" rtlCol="0">
            <a:spAutoFit/>
          </a:bodyPr>
          <a:lstStyle/>
          <a:p>
            <a:pPr fontAlgn="base"/>
            <a:r>
              <a:rPr lang="en-US" sz="3200" b="1" dirty="0"/>
              <a:t>Gray Box Testing Techniques</a:t>
            </a:r>
          </a:p>
        </p:txBody>
      </p:sp>
      <p:sp>
        <p:nvSpPr>
          <p:cNvPr id="3" name="object 3"/>
          <p:cNvSpPr txBox="1"/>
          <p:nvPr/>
        </p:nvSpPr>
        <p:spPr>
          <a:xfrm>
            <a:off x="596900" y="604266"/>
            <a:ext cx="8992870" cy="3349635"/>
          </a:xfrm>
          <a:prstGeom prst="rect">
            <a:avLst/>
          </a:prstGeom>
        </p:spPr>
        <p:txBody>
          <a:bodyPr vert="horz" wrap="square" lIns="0" tIns="12700" rIns="0" bIns="0" rtlCol="0">
            <a:spAutoFit/>
          </a:bodyPr>
          <a:lstStyle/>
          <a:p>
            <a:pPr marL="355600" marR="5080" indent="-342900">
              <a:lnSpc>
                <a:spcPct val="100000"/>
              </a:lnSpc>
              <a:spcBef>
                <a:spcPts val="100"/>
              </a:spcBef>
              <a:buFont typeface="Arial" pitchFamily="34" charset="0"/>
              <a:buChar char="•"/>
            </a:pPr>
            <a:endParaRPr lang="en-US" sz="2400" dirty="0" smtClean="0"/>
          </a:p>
          <a:p>
            <a:pPr rtl="0" fontAlgn="base"/>
            <a:endParaRPr lang="en-US" sz="2400" b="1" dirty="0" smtClean="0">
              <a:solidFill>
                <a:srgbClr val="7030A0"/>
              </a:solidFill>
            </a:endParaRPr>
          </a:p>
          <a:p>
            <a:pPr rtl="0" fontAlgn="base"/>
            <a:endParaRPr lang="en-US" sz="2400" b="1" dirty="0">
              <a:solidFill>
                <a:srgbClr val="7030A0"/>
              </a:solidFill>
            </a:endParaRPr>
          </a:p>
          <a:p>
            <a:pPr rtl="0" fontAlgn="base"/>
            <a:endParaRPr lang="en-US" sz="2400" b="1" dirty="0" smtClean="0">
              <a:solidFill>
                <a:srgbClr val="7030A0"/>
              </a:solidFill>
            </a:endParaRPr>
          </a:p>
          <a:p>
            <a:pPr rtl="0" fontAlgn="base"/>
            <a:endParaRPr lang="en-US" sz="2400" b="1" dirty="0">
              <a:solidFill>
                <a:srgbClr val="7030A0"/>
              </a:solidFill>
            </a:endParaRPr>
          </a:p>
          <a:p>
            <a:pPr rtl="0" fontAlgn="base"/>
            <a:endParaRPr lang="en-US" sz="2400" b="1" dirty="0" smtClean="0">
              <a:solidFill>
                <a:srgbClr val="7030A0"/>
              </a:solidFill>
            </a:endParaRPr>
          </a:p>
          <a:p>
            <a:pPr rtl="0" fontAlgn="base"/>
            <a:endParaRPr lang="en-US" sz="2400" b="1" dirty="0">
              <a:solidFill>
                <a:srgbClr val="7030A0"/>
              </a:solidFill>
            </a:endParaRPr>
          </a:p>
          <a:p>
            <a:pPr rtl="0" fontAlgn="base"/>
            <a:endParaRPr lang="en-US" sz="2400" b="1" dirty="0" smtClean="0">
              <a:solidFill>
                <a:srgbClr val="7030A0"/>
              </a:solidFill>
            </a:endParaRPr>
          </a:p>
          <a:p>
            <a:pPr marL="355600" marR="5080" indent="-342900">
              <a:lnSpc>
                <a:spcPct val="100000"/>
              </a:lnSpc>
              <a:spcBef>
                <a:spcPts val="100"/>
              </a:spcBef>
              <a:buFont typeface="Arial" pitchFamily="34" charset="0"/>
              <a:buChar char="•"/>
            </a:pPr>
            <a:endParaRPr sz="2400" dirty="0">
              <a:latin typeface="Arial MT"/>
              <a:cs typeface="Arial MT"/>
            </a:endParaRPr>
          </a:p>
        </p:txBody>
      </p:sp>
      <p:pic>
        <p:nvPicPr>
          <p:cNvPr id="4" name="object 4"/>
          <p:cNvPicPr/>
          <p:nvPr/>
        </p:nvPicPr>
        <p:blipFill>
          <a:blip r:embed="rId2" cstate="print"/>
          <a:stretch>
            <a:fillRect/>
          </a:stretch>
        </p:blipFill>
        <p:spPr>
          <a:xfrm>
            <a:off x="8775954" y="6495288"/>
            <a:ext cx="594359" cy="561594"/>
          </a:xfrm>
          <a:prstGeom prst="rect">
            <a:avLst/>
          </a:prstGeom>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435" y="1219200"/>
            <a:ext cx="8305800" cy="4805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0674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900" y="71373"/>
            <a:ext cx="5361940" cy="505267"/>
          </a:xfrm>
          <a:prstGeom prst="rect">
            <a:avLst/>
          </a:prstGeom>
        </p:spPr>
        <p:txBody>
          <a:bodyPr vert="horz" wrap="square" lIns="0" tIns="12700" rIns="0" bIns="0" rtlCol="0">
            <a:spAutoFit/>
          </a:bodyPr>
          <a:lstStyle/>
          <a:p>
            <a:pPr fontAlgn="base"/>
            <a:r>
              <a:rPr lang="en-US" sz="3200" b="1" dirty="0"/>
              <a:t>1. Matrix Testing</a:t>
            </a:r>
            <a:endParaRPr lang="en-US" sz="3200" b="1" dirty="0"/>
          </a:p>
        </p:txBody>
      </p:sp>
      <p:sp>
        <p:nvSpPr>
          <p:cNvPr id="3" name="object 3"/>
          <p:cNvSpPr txBox="1"/>
          <p:nvPr/>
        </p:nvSpPr>
        <p:spPr>
          <a:xfrm>
            <a:off x="596900" y="604266"/>
            <a:ext cx="8992870" cy="4088299"/>
          </a:xfrm>
          <a:prstGeom prst="rect">
            <a:avLst/>
          </a:prstGeom>
        </p:spPr>
        <p:txBody>
          <a:bodyPr vert="horz" wrap="square" lIns="0" tIns="12700" rIns="0" bIns="0" rtlCol="0">
            <a:spAutoFit/>
          </a:bodyPr>
          <a:lstStyle/>
          <a:p>
            <a:pPr marL="342900" indent="-342900" algn="just" rtl="0" fontAlgn="base">
              <a:buFont typeface="Arial" pitchFamily="34" charset="0"/>
              <a:buChar char="•"/>
            </a:pPr>
            <a:r>
              <a:rPr lang="en-US" sz="2400" dirty="0" smtClean="0"/>
              <a:t>Developers </a:t>
            </a:r>
            <a:r>
              <a:rPr lang="en-US" sz="2400" dirty="0"/>
              <a:t>define all the variables that exist in the </a:t>
            </a:r>
            <a:r>
              <a:rPr lang="en-US" sz="2400" dirty="0" smtClean="0"/>
              <a:t>program.</a:t>
            </a:r>
          </a:p>
          <a:p>
            <a:pPr marL="342900" indent="-342900" algn="just" rtl="0" fontAlgn="base">
              <a:buFont typeface="Arial" pitchFamily="34" charset="0"/>
              <a:buChar char="•"/>
            </a:pPr>
            <a:r>
              <a:rPr lang="en-US" sz="2400" dirty="0" smtClean="0"/>
              <a:t>Each </a:t>
            </a:r>
            <a:r>
              <a:rPr lang="en-US" sz="2400" dirty="0"/>
              <a:t>variable is then assessed according to the risks it presents. </a:t>
            </a:r>
            <a:endParaRPr lang="en-US" sz="2400" dirty="0" smtClean="0"/>
          </a:p>
          <a:p>
            <a:pPr marL="342900" indent="-342900" algn="just" rtl="0" fontAlgn="base">
              <a:buFont typeface="Arial" pitchFamily="34" charset="0"/>
              <a:buChar char="•"/>
            </a:pPr>
            <a:r>
              <a:rPr lang="en-US" sz="2400" dirty="0" smtClean="0"/>
              <a:t>You </a:t>
            </a:r>
            <a:r>
              <a:rPr lang="en-US" sz="2400" dirty="0"/>
              <a:t>can use this technique to identify unused or un-optimized variables</a:t>
            </a:r>
            <a:r>
              <a:rPr lang="en-US" sz="2400" dirty="0" smtClean="0"/>
              <a:t>.</a:t>
            </a:r>
          </a:p>
          <a:p>
            <a:pPr marL="342900" indent="-342900" algn="just" rtl="0" fontAlgn="base">
              <a:buFont typeface="Arial" pitchFamily="34" charset="0"/>
              <a:buChar char="•"/>
            </a:pPr>
            <a:r>
              <a:rPr lang="en-US" sz="2400" dirty="0"/>
              <a:t> Developers define the variables and their inherent risks, and each variable is then assessed based on these risks and its usage frequency. </a:t>
            </a:r>
            <a:endParaRPr lang="en-US" sz="2400" dirty="0" smtClean="0"/>
          </a:p>
          <a:p>
            <a:pPr marL="342900" indent="-342900" algn="just" rtl="0" fontAlgn="base">
              <a:buFont typeface="Arial" pitchFamily="34" charset="0"/>
              <a:buChar char="•"/>
            </a:pPr>
            <a:r>
              <a:rPr lang="en-US" sz="2400" dirty="0" smtClean="0"/>
              <a:t>This </a:t>
            </a:r>
            <a:r>
              <a:rPr lang="en-US" sz="2400" dirty="0"/>
              <a:t>allows for targeted testing efforts on high-risk or frequently used variables.</a:t>
            </a:r>
          </a:p>
          <a:p>
            <a:pPr marL="355600" marR="5080" indent="-342900">
              <a:lnSpc>
                <a:spcPct val="100000"/>
              </a:lnSpc>
              <a:spcBef>
                <a:spcPts val="100"/>
              </a:spcBef>
              <a:buFont typeface="Arial" pitchFamily="34" charset="0"/>
              <a:buChar char="•"/>
            </a:pPr>
            <a:endParaRPr sz="2400" dirty="0">
              <a:latin typeface="Arial MT"/>
              <a:cs typeface="Arial MT"/>
            </a:endParaRPr>
          </a:p>
        </p:txBody>
      </p:sp>
      <p:pic>
        <p:nvPicPr>
          <p:cNvPr id="4" name="object 4"/>
          <p:cNvPicPr/>
          <p:nvPr/>
        </p:nvPicPr>
        <p:blipFill>
          <a:blip r:embed="rId2" cstate="print"/>
          <a:stretch>
            <a:fillRect/>
          </a:stretch>
        </p:blipFill>
        <p:spPr>
          <a:xfrm>
            <a:off x="8775954" y="6495288"/>
            <a:ext cx="594359" cy="561594"/>
          </a:xfrm>
          <a:prstGeom prst="rect">
            <a:avLst/>
          </a:prstGeom>
        </p:spPr>
      </p:pic>
    </p:spTree>
    <p:extLst>
      <p:ext uri="{BB962C8B-B14F-4D97-AF65-F5344CB8AC3E}">
        <p14:creationId xmlns:p14="http://schemas.microsoft.com/office/powerpoint/2010/main" val="65299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900" y="71373"/>
            <a:ext cx="5361940" cy="505267"/>
          </a:xfrm>
          <a:prstGeom prst="rect">
            <a:avLst/>
          </a:prstGeom>
        </p:spPr>
        <p:txBody>
          <a:bodyPr vert="horz" wrap="square" lIns="0" tIns="12700" rIns="0" bIns="0" rtlCol="0">
            <a:spAutoFit/>
          </a:bodyPr>
          <a:lstStyle/>
          <a:p>
            <a:pPr fontAlgn="base"/>
            <a:r>
              <a:rPr lang="en-US" sz="3200" b="1" dirty="0"/>
              <a:t>2. Pattern </a:t>
            </a:r>
            <a:r>
              <a:rPr lang="en-US" sz="3200" b="1" dirty="0" smtClean="0"/>
              <a:t>Testing</a:t>
            </a:r>
            <a:endParaRPr lang="en-US" sz="3200" b="1" dirty="0"/>
          </a:p>
        </p:txBody>
      </p:sp>
      <p:sp>
        <p:nvSpPr>
          <p:cNvPr id="3" name="object 3"/>
          <p:cNvSpPr txBox="1"/>
          <p:nvPr/>
        </p:nvSpPr>
        <p:spPr>
          <a:xfrm>
            <a:off x="596900" y="604266"/>
            <a:ext cx="8992870" cy="3706143"/>
          </a:xfrm>
          <a:prstGeom prst="rect">
            <a:avLst/>
          </a:prstGeom>
        </p:spPr>
        <p:txBody>
          <a:bodyPr vert="horz" wrap="square" lIns="0" tIns="12700" rIns="0" bIns="0" rtlCol="0">
            <a:spAutoFit/>
          </a:bodyPr>
          <a:lstStyle/>
          <a:p>
            <a:pPr marL="342900" indent="-342900" algn="just" rtl="0" fontAlgn="base">
              <a:buFont typeface="Arial" pitchFamily="34" charset="0"/>
              <a:buChar char="•"/>
            </a:pPr>
            <a:r>
              <a:rPr lang="en-US" sz="2400" dirty="0" smtClean="0"/>
              <a:t>This </a:t>
            </a:r>
            <a:r>
              <a:rPr lang="en-US" sz="2400" dirty="0"/>
              <a:t>helps test cases designed as they are proactive in finding other failures before hitting production</a:t>
            </a:r>
            <a:r>
              <a:rPr lang="en-US" sz="2400" dirty="0" smtClean="0"/>
              <a:t>.</a:t>
            </a:r>
          </a:p>
          <a:p>
            <a:pPr marL="342900" indent="-342900" algn="just" rtl="0" fontAlgn="base">
              <a:buFont typeface="Arial" pitchFamily="34" charset="0"/>
              <a:buChar char="•"/>
            </a:pPr>
            <a:r>
              <a:rPr lang="en-US" sz="2400" dirty="0"/>
              <a:t>Pattern testing is a technique that evaluates past defects to identify patterns that lead to defects</a:t>
            </a:r>
            <a:r>
              <a:rPr lang="en-US" sz="2400" dirty="0" smtClean="0"/>
              <a:t>.</a:t>
            </a:r>
          </a:p>
          <a:p>
            <a:pPr marL="342900" indent="-342900" algn="just" rtl="0" fontAlgn="base">
              <a:buFont typeface="Arial" pitchFamily="34" charset="0"/>
              <a:buChar char="•"/>
            </a:pPr>
            <a:r>
              <a:rPr lang="en-US" sz="2400" dirty="0" smtClean="0"/>
              <a:t> </a:t>
            </a:r>
            <a:r>
              <a:rPr lang="en-US" sz="2400" dirty="0"/>
              <a:t>Ideally, these evaluations can highlight which details contributed to defects, how the defects were found, and how effective fixes were. </a:t>
            </a:r>
            <a:endParaRPr lang="en-US" sz="2400" dirty="0" smtClean="0"/>
          </a:p>
          <a:p>
            <a:pPr marL="342900" indent="-342900" algn="just" rtl="0" fontAlgn="base">
              <a:buFont typeface="Arial" pitchFamily="34" charset="0"/>
              <a:buChar char="•"/>
            </a:pPr>
            <a:r>
              <a:rPr lang="en-US" sz="2400" dirty="0" smtClean="0"/>
              <a:t>You </a:t>
            </a:r>
            <a:r>
              <a:rPr lang="en-US" sz="2400" dirty="0"/>
              <a:t>can then apply this information to identifying and preventing similar defects in new versions of an application or new applications with similar structures</a:t>
            </a:r>
            <a:r>
              <a:rPr lang="en-US" sz="2400" dirty="0" smtClean="0"/>
              <a:t>.</a:t>
            </a:r>
            <a:endParaRPr lang="en-US" sz="2400" dirty="0"/>
          </a:p>
        </p:txBody>
      </p:sp>
      <p:pic>
        <p:nvPicPr>
          <p:cNvPr id="4" name="object 4"/>
          <p:cNvPicPr/>
          <p:nvPr/>
        </p:nvPicPr>
        <p:blipFill>
          <a:blip r:embed="rId2" cstate="print"/>
          <a:stretch>
            <a:fillRect/>
          </a:stretch>
        </p:blipFill>
        <p:spPr>
          <a:xfrm>
            <a:off x="8775954" y="6495288"/>
            <a:ext cx="594359" cy="561594"/>
          </a:xfrm>
          <a:prstGeom prst="rect">
            <a:avLst/>
          </a:prstGeom>
        </p:spPr>
      </p:pic>
    </p:spTree>
    <p:extLst>
      <p:ext uri="{BB962C8B-B14F-4D97-AF65-F5344CB8AC3E}">
        <p14:creationId xmlns:p14="http://schemas.microsoft.com/office/powerpoint/2010/main" val="1696058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900" y="71373"/>
            <a:ext cx="5361940" cy="505267"/>
          </a:xfrm>
          <a:prstGeom prst="rect">
            <a:avLst/>
          </a:prstGeom>
        </p:spPr>
        <p:txBody>
          <a:bodyPr vert="horz" wrap="square" lIns="0" tIns="12700" rIns="0" bIns="0" rtlCol="0">
            <a:spAutoFit/>
          </a:bodyPr>
          <a:lstStyle/>
          <a:p>
            <a:pPr fontAlgn="base"/>
            <a:r>
              <a:rPr lang="en-US" sz="3200" b="1" dirty="0" smtClean="0"/>
              <a:t>3. Regression</a:t>
            </a:r>
            <a:r>
              <a:rPr lang="en-US" sz="3200" dirty="0" smtClean="0"/>
              <a:t> </a:t>
            </a:r>
            <a:r>
              <a:rPr lang="en-US" sz="3200" b="1" dirty="0" smtClean="0"/>
              <a:t>Testing</a:t>
            </a:r>
            <a:endParaRPr lang="en-US" sz="3200" b="1" dirty="0"/>
          </a:p>
        </p:txBody>
      </p:sp>
      <p:sp>
        <p:nvSpPr>
          <p:cNvPr id="3" name="object 3"/>
          <p:cNvSpPr txBox="1"/>
          <p:nvPr/>
        </p:nvSpPr>
        <p:spPr>
          <a:xfrm>
            <a:off x="596900" y="604266"/>
            <a:ext cx="8992870" cy="2967479"/>
          </a:xfrm>
          <a:prstGeom prst="rect">
            <a:avLst/>
          </a:prstGeom>
        </p:spPr>
        <p:txBody>
          <a:bodyPr vert="horz" wrap="square" lIns="0" tIns="12700" rIns="0" bIns="0" rtlCol="0">
            <a:spAutoFit/>
          </a:bodyPr>
          <a:lstStyle/>
          <a:p>
            <a:pPr marL="342900" indent="-342900" algn="just" rtl="0" fontAlgn="base">
              <a:buFont typeface="Arial" pitchFamily="34" charset="0"/>
              <a:buChar char="•"/>
            </a:pPr>
            <a:r>
              <a:rPr lang="en-US" sz="2400" dirty="0"/>
              <a:t>Regression testing is a technique that enables you to verify whether application changes or bug fixes have caused errors to appear in existing components. </a:t>
            </a:r>
            <a:endParaRPr lang="en-US" sz="2400" dirty="0" smtClean="0"/>
          </a:p>
          <a:p>
            <a:pPr marL="342900" indent="-342900" algn="just" rtl="0" fontAlgn="base">
              <a:buFont typeface="Arial" pitchFamily="34" charset="0"/>
              <a:buChar char="•"/>
            </a:pPr>
            <a:r>
              <a:rPr lang="en-US" sz="2400" dirty="0" smtClean="0"/>
              <a:t>You </a:t>
            </a:r>
            <a:r>
              <a:rPr lang="en-US" sz="2400" dirty="0"/>
              <a:t>can use it to ensure that modifications to your application are only improving the product, not relocating faults. </a:t>
            </a:r>
            <a:endParaRPr lang="en-US" sz="2400" dirty="0" smtClean="0"/>
          </a:p>
          <a:p>
            <a:pPr marL="342900" indent="-342900" algn="just" rtl="0" fontAlgn="base">
              <a:buFont typeface="Arial" pitchFamily="34" charset="0"/>
              <a:buChar char="•"/>
            </a:pPr>
            <a:r>
              <a:rPr lang="en-US" sz="2400" dirty="0" smtClean="0"/>
              <a:t>When </a:t>
            </a:r>
            <a:r>
              <a:rPr lang="en-US" sz="2400" dirty="0"/>
              <a:t>performing regression testing, you need to recreate your tests since inputs, outputs, and dependencies may have changed.</a:t>
            </a:r>
          </a:p>
        </p:txBody>
      </p:sp>
      <p:pic>
        <p:nvPicPr>
          <p:cNvPr id="4" name="object 4"/>
          <p:cNvPicPr/>
          <p:nvPr/>
        </p:nvPicPr>
        <p:blipFill>
          <a:blip r:embed="rId2" cstate="print"/>
          <a:stretch>
            <a:fillRect/>
          </a:stretch>
        </p:blipFill>
        <p:spPr>
          <a:xfrm>
            <a:off x="8775954" y="6495288"/>
            <a:ext cx="594359" cy="561594"/>
          </a:xfrm>
          <a:prstGeom prst="rect">
            <a:avLst/>
          </a:prstGeom>
        </p:spPr>
      </p:pic>
    </p:spTree>
    <p:extLst>
      <p:ext uri="{BB962C8B-B14F-4D97-AF65-F5344CB8AC3E}">
        <p14:creationId xmlns:p14="http://schemas.microsoft.com/office/powerpoint/2010/main" val="972303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899" y="71373"/>
            <a:ext cx="8476233" cy="505267"/>
          </a:xfrm>
          <a:prstGeom prst="rect">
            <a:avLst/>
          </a:prstGeom>
        </p:spPr>
        <p:txBody>
          <a:bodyPr vert="horz" wrap="square" lIns="0" tIns="12700" rIns="0" bIns="0" rtlCol="0">
            <a:spAutoFit/>
          </a:bodyPr>
          <a:lstStyle/>
          <a:p>
            <a:r>
              <a:rPr lang="en-US" sz="3200" b="1" dirty="0" smtClean="0"/>
              <a:t>Pros </a:t>
            </a:r>
            <a:r>
              <a:rPr lang="en-US" sz="3200" b="1" dirty="0"/>
              <a:t>of gray box testing </a:t>
            </a:r>
          </a:p>
        </p:txBody>
      </p:sp>
      <p:sp>
        <p:nvSpPr>
          <p:cNvPr id="3" name="object 3"/>
          <p:cNvSpPr txBox="1"/>
          <p:nvPr/>
        </p:nvSpPr>
        <p:spPr>
          <a:xfrm>
            <a:off x="596900" y="604266"/>
            <a:ext cx="8992870" cy="3336811"/>
          </a:xfrm>
          <a:prstGeom prst="rect">
            <a:avLst/>
          </a:prstGeom>
        </p:spPr>
        <p:txBody>
          <a:bodyPr vert="horz" wrap="square" lIns="0" tIns="12700" rIns="0" bIns="0" rtlCol="0">
            <a:spAutoFit/>
          </a:bodyPr>
          <a:lstStyle/>
          <a:p>
            <a:pPr marL="342900" indent="-342900">
              <a:buFont typeface="Arial" pitchFamily="34" charset="0"/>
              <a:buChar char="•"/>
            </a:pPr>
            <a:r>
              <a:rPr lang="en-US" sz="2400" dirty="0" smtClean="0"/>
              <a:t>Clear </a:t>
            </a:r>
            <a:r>
              <a:rPr lang="en-US" sz="2400" dirty="0"/>
              <a:t>testing goals are established, making it easier for testers and </a:t>
            </a:r>
            <a:r>
              <a:rPr lang="en-US" sz="2400" dirty="0" smtClean="0"/>
              <a:t>developers.</a:t>
            </a:r>
          </a:p>
          <a:p>
            <a:pPr marL="342900" indent="-342900">
              <a:buFont typeface="Arial" pitchFamily="34" charset="0"/>
              <a:buChar char="•"/>
            </a:pPr>
            <a:r>
              <a:rPr lang="en-US" sz="2400" dirty="0" smtClean="0"/>
              <a:t>Testing </a:t>
            </a:r>
            <a:r>
              <a:rPr lang="en-US" sz="2400" dirty="0"/>
              <a:t>accounts for a user perspective, improving the overall quality of </a:t>
            </a:r>
            <a:r>
              <a:rPr lang="en-US" sz="2400" dirty="0" smtClean="0"/>
              <a:t>products.</a:t>
            </a:r>
          </a:p>
          <a:p>
            <a:pPr marL="342900" indent="-342900">
              <a:buFont typeface="Arial" pitchFamily="34" charset="0"/>
              <a:buChar char="•"/>
            </a:pPr>
            <a:r>
              <a:rPr lang="en-US" sz="2400" dirty="0" smtClean="0"/>
              <a:t>Testers </a:t>
            </a:r>
            <a:r>
              <a:rPr lang="en-US" sz="2400" dirty="0"/>
              <a:t>do not need to have a programming </a:t>
            </a:r>
            <a:r>
              <a:rPr lang="en-US" sz="2400" dirty="0" smtClean="0"/>
              <a:t>expertise.</a:t>
            </a:r>
          </a:p>
          <a:p>
            <a:pPr marL="342900" indent="-342900">
              <a:buFont typeface="Arial" pitchFamily="34" charset="0"/>
              <a:buChar char="•"/>
            </a:pPr>
            <a:r>
              <a:rPr lang="en-US" sz="2400" dirty="0" smtClean="0"/>
              <a:t>Testing </a:t>
            </a:r>
            <a:r>
              <a:rPr lang="en-US" sz="2400" dirty="0"/>
              <a:t>methods create more time for developers to fix </a:t>
            </a:r>
            <a:r>
              <a:rPr lang="en-US" sz="2400" dirty="0" smtClean="0"/>
              <a:t>defects.</a:t>
            </a:r>
            <a:endParaRPr lang="en-US" sz="2400" dirty="0"/>
          </a:p>
          <a:p>
            <a:pPr marL="342900" indent="-342900">
              <a:buFont typeface="Arial" pitchFamily="34" charset="0"/>
              <a:buChar char="•"/>
            </a:pPr>
            <a:r>
              <a:rPr lang="en-US" sz="2400" dirty="0"/>
              <a:t>It can provide the benefits of both black and white box </a:t>
            </a:r>
            <a:r>
              <a:rPr lang="en-US" sz="2400" dirty="0" smtClean="0"/>
              <a:t>testing.</a:t>
            </a:r>
            <a:endParaRPr lang="en-US" sz="2400" dirty="0"/>
          </a:p>
          <a:p>
            <a:pPr marL="342900" indent="-342900">
              <a:buFont typeface="Arial" pitchFamily="34" charset="0"/>
              <a:buChar char="•"/>
            </a:pPr>
            <a:r>
              <a:rPr lang="en-US" sz="2400" dirty="0"/>
              <a:t>It can eliminate conflicts between developers and </a:t>
            </a:r>
            <a:r>
              <a:rPr lang="en-US" sz="2400" dirty="0" smtClean="0"/>
              <a:t>testers.</a:t>
            </a:r>
            <a:endParaRPr lang="en-US" sz="2400" dirty="0"/>
          </a:p>
          <a:p>
            <a:pPr marL="342900" indent="-342900">
              <a:buFont typeface="Arial" pitchFamily="34" charset="0"/>
              <a:buChar char="•"/>
            </a:pPr>
            <a:r>
              <a:rPr lang="en-US" sz="2400" dirty="0"/>
              <a:t>It is cheaper than integration </a:t>
            </a:r>
            <a:r>
              <a:rPr lang="en-US" sz="2400" dirty="0" smtClean="0"/>
              <a:t>testing.</a:t>
            </a:r>
            <a:endParaRPr lang="en-US" sz="2400" dirty="0"/>
          </a:p>
        </p:txBody>
      </p:sp>
      <p:pic>
        <p:nvPicPr>
          <p:cNvPr id="4" name="object 4"/>
          <p:cNvPicPr/>
          <p:nvPr/>
        </p:nvPicPr>
        <p:blipFill>
          <a:blip r:embed="rId2" cstate="print"/>
          <a:stretch>
            <a:fillRect/>
          </a:stretch>
        </p:blipFill>
        <p:spPr>
          <a:xfrm>
            <a:off x="8775954" y="6495288"/>
            <a:ext cx="594359" cy="561594"/>
          </a:xfrm>
          <a:prstGeom prst="rect">
            <a:avLst/>
          </a:prstGeom>
        </p:spPr>
      </p:pic>
    </p:spTree>
    <p:extLst>
      <p:ext uri="{BB962C8B-B14F-4D97-AF65-F5344CB8AC3E}">
        <p14:creationId xmlns:p14="http://schemas.microsoft.com/office/powerpoint/2010/main" val="39083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899" y="71373"/>
            <a:ext cx="8476233" cy="505267"/>
          </a:xfrm>
          <a:prstGeom prst="rect">
            <a:avLst/>
          </a:prstGeom>
        </p:spPr>
        <p:txBody>
          <a:bodyPr vert="horz" wrap="square" lIns="0" tIns="12700" rIns="0" bIns="0" rtlCol="0">
            <a:spAutoFit/>
          </a:bodyPr>
          <a:lstStyle/>
          <a:p>
            <a:r>
              <a:rPr lang="en-US" sz="3200" b="1" dirty="0" smtClean="0"/>
              <a:t>Cons </a:t>
            </a:r>
            <a:r>
              <a:rPr lang="en-US" sz="3200" b="1" dirty="0"/>
              <a:t>of gray box testing </a:t>
            </a:r>
          </a:p>
        </p:txBody>
      </p:sp>
      <p:sp>
        <p:nvSpPr>
          <p:cNvPr id="3" name="object 3"/>
          <p:cNvSpPr txBox="1"/>
          <p:nvPr/>
        </p:nvSpPr>
        <p:spPr>
          <a:xfrm>
            <a:off x="596900" y="604266"/>
            <a:ext cx="8992870" cy="2967479"/>
          </a:xfrm>
          <a:prstGeom prst="rect">
            <a:avLst/>
          </a:prstGeom>
        </p:spPr>
        <p:txBody>
          <a:bodyPr vert="horz" wrap="square" lIns="0" tIns="12700" rIns="0" bIns="0" rtlCol="0">
            <a:spAutoFit/>
          </a:bodyPr>
          <a:lstStyle/>
          <a:p>
            <a:pPr marL="342900" indent="-342900" algn="just">
              <a:buFont typeface="Arial" pitchFamily="34" charset="0"/>
              <a:buChar char="•"/>
            </a:pPr>
            <a:r>
              <a:rPr lang="en-US" sz="2400" dirty="0"/>
              <a:t>It can be difficult to associate defects with root causes in distributed </a:t>
            </a:r>
            <a:r>
              <a:rPr lang="en-US" sz="2400" dirty="0" smtClean="0"/>
              <a:t>systems</a:t>
            </a:r>
          </a:p>
          <a:p>
            <a:pPr marL="342900" indent="-342900" algn="just">
              <a:buFont typeface="Arial" pitchFamily="34" charset="0"/>
              <a:buChar char="•"/>
            </a:pPr>
            <a:r>
              <a:rPr lang="en-US" sz="2400" dirty="0" smtClean="0"/>
              <a:t>Code </a:t>
            </a:r>
            <a:r>
              <a:rPr lang="en-US" sz="2400" dirty="0"/>
              <a:t>path traversals are limited due to restricted access to internal application </a:t>
            </a:r>
            <a:r>
              <a:rPr lang="en-US" sz="2400" dirty="0" smtClean="0"/>
              <a:t>structure</a:t>
            </a:r>
          </a:p>
          <a:p>
            <a:pPr marL="342900" indent="-342900" algn="just">
              <a:buFont typeface="Arial" pitchFamily="34" charset="0"/>
              <a:buChar char="•"/>
            </a:pPr>
            <a:r>
              <a:rPr lang="en-US" sz="2400" dirty="0" smtClean="0"/>
              <a:t>It </a:t>
            </a:r>
            <a:r>
              <a:rPr lang="en-US" sz="2400" dirty="0"/>
              <a:t>does not allow for full white box testing benefits since not all internals are </a:t>
            </a:r>
            <a:r>
              <a:rPr lang="en-US" sz="2400" dirty="0" smtClean="0"/>
              <a:t>accessible</a:t>
            </a:r>
          </a:p>
          <a:p>
            <a:pPr marL="342900" indent="-342900" algn="just">
              <a:buFont typeface="Arial" pitchFamily="34" charset="0"/>
              <a:buChar char="•"/>
            </a:pPr>
            <a:r>
              <a:rPr lang="en-US" sz="2400" dirty="0" smtClean="0"/>
              <a:t>It </a:t>
            </a:r>
            <a:r>
              <a:rPr lang="en-US" sz="2400" dirty="0"/>
              <a:t>cannot be used for algorithm </a:t>
            </a:r>
            <a:r>
              <a:rPr lang="en-US" sz="2400" dirty="0" smtClean="0"/>
              <a:t>testing</a:t>
            </a:r>
          </a:p>
          <a:p>
            <a:pPr marL="342900" indent="-342900" algn="just">
              <a:buFont typeface="Arial" pitchFamily="34" charset="0"/>
              <a:buChar char="•"/>
            </a:pPr>
            <a:r>
              <a:rPr lang="en-US" sz="2400" dirty="0" smtClean="0"/>
              <a:t>Test </a:t>
            </a:r>
            <a:r>
              <a:rPr lang="en-US" sz="2400" dirty="0"/>
              <a:t>cases can be difficult to design</a:t>
            </a:r>
          </a:p>
        </p:txBody>
      </p:sp>
      <p:pic>
        <p:nvPicPr>
          <p:cNvPr id="4" name="object 4"/>
          <p:cNvPicPr/>
          <p:nvPr/>
        </p:nvPicPr>
        <p:blipFill>
          <a:blip r:embed="rId2" cstate="print"/>
          <a:stretch>
            <a:fillRect/>
          </a:stretch>
        </p:blipFill>
        <p:spPr>
          <a:xfrm>
            <a:off x="8775954" y="6495288"/>
            <a:ext cx="594359" cy="561594"/>
          </a:xfrm>
          <a:prstGeom prst="rect">
            <a:avLst/>
          </a:prstGeom>
        </p:spPr>
      </p:pic>
    </p:spTree>
    <p:extLst>
      <p:ext uri="{BB962C8B-B14F-4D97-AF65-F5344CB8AC3E}">
        <p14:creationId xmlns:p14="http://schemas.microsoft.com/office/powerpoint/2010/main" val="5755318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682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140</TotalTime>
  <Words>987</Words>
  <Application>Microsoft Office PowerPoint</Application>
  <PresentationFormat>Custom</PresentationFormat>
  <Paragraphs>131</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Black Box Testing</vt:lpstr>
      <vt:lpstr>Classification of BBT</vt:lpstr>
      <vt:lpstr>1. Functional Testing</vt:lpstr>
      <vt:lpstr>2.Regression Testing</vt:lpstr>
      <vt:lpstr>When to do Regression Testing?</vt:lpstr>
      <vt:lpstr>Process of Regression Testing</vt:lpstr>
      <vt:lpstr>Non-Functional Testing</vt:lpstr>
      <vt:lpstr>Non-functional Testing Parameters</vt:lpstr>
      <vt:lpstr>Black Box Testing Techniques</vt:lpstr>
      <vt:lpstr>Equivalence Partitioning</vt:lpstr>
      <vt:lpstr>Equivalence Partitioning</vt:lpstr>
      <vt:lpstr>Equivalence Partitioning</vt:lpstr>
      <vt:lpstr>Boundary Value Analysis (BVA)</vt:lpstr>
      <vt:lpstr>Boundary Value Analysis (BVA)</vt:lpstr>
      <vt:lpstr>Boundary Value Analysis (BVA)</vt:lpstr>
      <vt:lpstr>Requirement-based testing</vt:lpstr>
      <vt:lpstr>Positive and Negative Testing</vt:lpstr>
      <vt:lpstr>PowerPoint Presentation</vt:lpstr>
      <vt:lpstr>Gray Box Testing</vt:lpstr>
      <vt:lpstr>Gray Box Testing Techniques</vt:lpstr>
      <vt:lpstr>1. Matrix Testing</vt:lpstr>
      <vt:lpstr>2. Pattern Testing</vt:lpstr>
      <vt:lpstr>3. Regression Testing</vt:lpstr>
      <vt:lpstr>Pros of gray box testing </vt:lpstr>
      <vt:lpstr>Cons of gray box testing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CH-2 [Compatibility Mode]</dc:title>
  <dc:creator>AdminHODCO</dc:creator>
  <cp:lastModifiedBy>User11</cp:lastModifiedBy>
  <cp:revision>6</cp:revision>
  <dcterms:created xsi:type="dcterms:W3CDTF">2025-09-16T05:18:48Z</dcterms:created>
  <dcterms:modified xsi:type="dcterms:W3CDTF">2025-09-17T07:11:52Z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2025-08-21T00:00:00Z</vt:filetime>
  </property>
  <property fmtid="{D5CDD505-2E9C-101B-9397-08002B2CF9AE}" pid="3" name="Creator">
    <vt:lpwstr>Microsoft® PowerPoint® 2010</vt:lpwstr>
  </property>
  <property fmtid="{D5CDD505-2E9C-101B-9397-08002B2CF9AE}" pid="4" name="LastSaved">
    <vt:filetime>2025-09-16T00:00:00Z</vt:filetime>
  </property>
  <property fmtid="{D5CDD505-2E9C-101B-9397-08002B2CF9AE}" pid="5" name="Producer">
    <vt:lpwstr>Microsoft® PowerPoint® 2010</vt:lpwstr>
  </property>
</Properties>
</file>