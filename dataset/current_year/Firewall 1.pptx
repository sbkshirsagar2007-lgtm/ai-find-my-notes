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1"/>
  </p:sldMasterIdLst>
  <p:notesMasterIdLst>
    <p:notesMasterId r:id="rId28"/>
  </p:notesMasterIdLst>
  <p:handoutMasterIdLst>
    <p:handoutMasterId r:id="rId29"/>
  </p:handoutMasterIdLst>
  <p:sldIdLst>
    <p:sldId id="412" r:id="rId2"/>
    <p:sldId id="413" r:id="rId3"/>
    <p:sldId id="444" r:id="rId4"/>
    <p:sldId id="445" r:id="rId5"/>
    <p:sldId id="446" r:id="rId6"/>
    <p:sldId id="414" r:id="rId7"/>
    <p:sldId id="415" r:id="rId8"/>
    <p:sldId id="416" r:id="rId9"/>
    <p:sldId id="417" r:id="rId10"/>
    <p:sldId id="418" r:id="rId11"/>
    <p:sldId id="419" r:id="rId12"/>
    <p:sldId id="420" r:id="rId13"/>
    <p:sldId id="421" r:id="rId14"/>
    <p:sldId id="436" r:id="rId15"/>
    <p:sldId id="447" r:id="rId16"/>
    <p:sldId id="448" r:id="rId17"/>
    <p:sldId id="449" r:id="rId18"/>
    <p:sldId id="450" r:id="rId19"/>
    <p:sldId id="451" r:id="rId20"/>
    <p:sldId id="452" r:id="rId21"/>
    <p:sldId id="453" r:id="rId22"/>
    <p:sldId id="454" r:id="rId23"/>
    <p:sldId id="458" r:id="rId24"/>
    <p:sldId id="455" r:id="rId25"/>
    <p:sldId id="456" r:id="rId26"/>
    <p:sldId id="457" r:id="rId27"/>
  </p:sldIdLst>
  <p:sldSz cx="9144000" cy="6858000" type="screen4x3"/>
  <p:notesSz cx="7035800" cy="9194800"/>
  <p:defaultTextStyle>
    <a:defPPr>
      <a:defRPr lang="en-US"/>
    </a:defPPr>
    <a:lvl1pPr algn="ctr" rtl="0" eaLnBrk="0" fontAlgn="base" hangingPunct="0">
      <a:spcBef>
        <a:spcPct val="0"/>
      </a:spcBef>
      <a:spcAft>
        <a:spcPct val="0"/>
      </a:spcAft>
      <a:defRPr sz="2400" b="1" kern="1200">
        <a:solidFill>
          <a:srgbClr val="00279F"/>
        </a:solidFill>
        <a:latin typeface="Batang" pitchFamily="18" charset="-127"/>
        <a:ea typeface="+mn-ea"/>
        <a:cs typeface="+mn-cs"/>
      </a:defRPr>
    </a:lvl1pPr>
    <a:lvl2pPr marL="457200" algn="ctr" rtl="0" eaLnBrk="0" fontAlgn="base" hangingPunct="0">
      <a:spcBef>
        <a:spcPct val="0"/>
      </a:spcBef>
      <a:spcAft>
        <a:spcPct val="0"/>
      </a:spcAft>
      <a:defRPr sz="2400" b="1" kern="1200">
        <a:solidFill>
          <a:srgbClr val="00279F"/>
        </a:solidFill>
        <a:latin typeface="Batang" pitchFamily="18" charset="-127"/>
        <a:ea typeface="+mn-ea"/>
        <a:cs typeface="+mn-cs"/>
      </a:defRPr>
    </a:lvl2pPr>
    <a:lvl3pPr marL="914400" algn="ctr" rtl="0" eaLnBrk="0" fontAlgn="base" hangingPunct="0">
      <a:spcBef>
        <a:spcPct val="0"/>
      </a:spcBef>
      <a:spcAft>
        <a:spcPct val="0"/>
      </a:spcAft>
      <a:defRPr sz="2400" b="1" kern="1200">
        <a:solidFill>
          <a:srgbClr val="00279F"/>
        </a:solidFill>
        <a:latin typeface="Batang" pitchFamily="18" charset="-127"/>
        <a:ea typeface="+mn-ea"/>
        <a:cs typeface="+mn-cs"/>
      </a:defRPr>
    </a:lvl3pPr>
    <a:lvl4pPr marL="1371600" algn="ctr" rtl="0" eaLnBrk="0" fontAlgn="base" hangingPunct="0">
      <a:spcBef>
        <a:spcPct val="0"/>
      </a:spcBef>
      <a:spcAft>
        <a:spcPct val="0"/>
      </a:spcAft>
      <a:defRPr sz="2400" b="1" kern="1200">
        <a:solidFill>
          <a:srgbClr val="00279F"/>
        </a:solidFill>
        <a:latin typeface="Batang" pitchFamily="18" charset="-127"/>
        <a:ea typeface="+mn-ea"/>
        <a:cs typeface="+mn-cs"/>
      </a:defRPr>
    </a:lvl4pPr>
    <a:lvl5pPr marL="1828800" algn="ctr" rtl="0" eaLnBrk="0" fontAlgn="base" hangingPunct="0">
      <a:spcBef>
        <a:spcPct val="0"/>
      </a:spcBef>
      <a:spcAft>
        <a:spcPct val="0"/>
      </a:spcAft>
      <a:defRPr sz="2400" b="1" kern="1200">
        <a:solidFill>
          <a:srgbClr val="00279F"/>
        </a:solidFill>
        <a:latin typeface="Batang" pitchFamily="18" charset="-127"/>
        <a:ea typeface="+mn-ea"/>
        <a:cs typeface="+mn-cs"/>
      </a:defRPr>
    </a:lvl5pPr>
    <a:lvl6pPr marL="2286000" algn="l" defTabSz="914400" rtl="0" eaLnBrk="1" latinLnBrk="0" hangingPunct="1">
      <a:defRPr sz="2400" b="1" kern="1200">
        <a:solidFill>
          <a:srgbClr val="00279F"/>
        </a:solidFill>
        <a:latin typeface="Batang" pitchFamily="18" charset="-127"/>
        <a:ea typeface="+mn-ea"/>
        <a:cs typeface="+mn-cs"/>
      </a:defRPr>
    </a:lvl6pPr>
    <a:lvl7pPr marL="2743200" algn="l" defTabSz="914400" rtl="0" eaLnBrk="1" latinLnBrk="0" hangingPunct="1">
      <a:defRPr sz="2400" b="1" kern="1200">
        <a:solidFill>
          <a:srgbClr val="00279F"/>
        </a:solidFill>
        <a:latin typeface="Batang" pitchFamily="18" charset="-127"/>
        <a:ea typeface="+mn-ea"/>
        <a:cs typeface="+mn-cs"/>
      </a:defRPr>
    </a:lvl7pPr>
    <a:lvl8pPr marL="3200400" algn="l" defTabSz="914400" rtl="0" eaLnBrk="1" latinLnBrk="0" hangingPunct="1">
      <a:defRPr sz="2400" b="1" kern="1200">
        <a:solidFill>
          <a:srgbClr val="00279F"/>
        </a:solidFill>
        <a:latin typeface="Batang" pitchFamily="18" charset="-127"/>
        <a:ea typeface="+mn-ea"/>
        <a:cs typeface="+mn-cs"/>
      </a:defRPr>
    </a:lvl8pPr>
    <a:lvl9pPr marL="3657600" algn="l" defTabSz="914400" rtl="0" eaLnBrk="1" latinLnBrk="0" hangingPunct="1">
      <a:defRPr sz="2400" b="1" kern="1200">
        <a:solidFill>
          <a:srgbClr val="00279F"/>
        </a:solidFill>
        <a:latin typeface="Batang" pitchFamily="18" charset="-127"/>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000000"/>
    <a:srgbClr val="D5FBE3"/>
    <a:srgbClr val="C8FADB"/>
    <a:srgbClr val="EBFDF2"/>
    <a:srgbClr val="C9F9DB"/>
    <a:srgbClr val="BBF7D2"/>
    <a:srgbClr val="A50021"/>
    <a:srgbClr val="B2FCBB"/>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283" autoAdjust="0"/>
    <p:restoredTop sz="89648" autoAdjust="0"/>
  </p:normalViewPr>
  <p:slideViewPr>
    <p:cSldViewPr snapToGrid="0">
      <p:cViewPr varScale="1">
        <p:scale>
          <a:sx n="82" d="100"/>
          <a:sy n="82" d="100"/>
        </p:scale>
        <p:origin x="-148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100" d="100"/>
          <a:sy n="100" d="100"/>
        </p:scale>
        <p:origin x="-786" y="2724"/>
      </p:cViewPr>
      <p:guideLst>
        <p:guide orient="horz" pos="2896"/>
        <p:guide pos="2216"/>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3049588" cy="460376"/>
          </a:xfrm>
          <a:prstGeom prst="rect">
            <a:avLst/>
          </a:prstGeom>
          <a:noFill/>
          <a:ln w="9525">
            <a:noFill/>
            <a:miter lim="800000"/>
            <a:headEnd/>
            <a:tailEnd/>
          </a:ln>
          <a:effectLst/>
        </p:spPr>
        <p:txBody>
          <a:bodyPr vert="horz" wrap="square" lIns="20588" tIns="0" rIns="20588" bIns="0" numCol="1" anchor="t" anchorCtr="0" compatLnSpc="1">
            <a:prstTxWarp prst="textNoShape">
              <a:avLst/>
            </a:prstTxWarp>
          </a:bodyPr>
          <a:lstStyle>
            <a:lvl1pPr algn="l" defTabSz="995363">
              <a:defRPr sz="1100" b="0" i="1">
                <a:solidFill>
                  <a:schemeClr val="tx1"/>
                </a:solidFill>
                <a:latin typeface="Times New Roman" pitchFamily="18" charset="0"/>
              </a:defRPr>
            </a:lvl1pPr>
          </a:lstStyle>
          <a:p>
            <a:endParaRPr lang="zh-CN" altLang="en-US"/>
          </a:p>
        </p:txBody>
      </p:sp>
      <p:sp>
        <p:nvSpPr>
          <p:cNvPr id="2051" name="Rectangle 3"/>
          <p:cNvSpPr>
            <a:spLocks noGrp="1" noChangeArrowheads="1"/>
          </p:cNvSpPr>
          <p:nvPr>
            <p:ph type="dt" idx="1"/>
          </p:nvPr>
        </p:nvSpPr>
        <p:spPr bwMode="auto">
          <a:xfrm>
            <a:off x="3986213" y="-1588"/>
            <a:ext cx="3049587" cy="460376"/>
          </a:xfrm>
          <a:prstGeom prst="rect">
            <a:avLst/>
          </a:prstGeom>
          <a:noFill/>
          <a:ln w="9525">
            <a:noFill/>
            <a:miter lim="800000"/>
            <a:headEnd/>
            <a:tailEnd/>
          </a:ln>
          <a:effectLst/>
        </p:spPr>
        <p:txBody>
          <a:bodyPr vert="horz" wrap="square" lIns="20588" tIns="0" rIns="20588" bIns="0" numCol="1" anchor="t" anchorCtr="0" compatLnSpc="1">
            <a:prstTxWarp prst="textNoShape">
              <a:avLst/>
            </a:prstTxWarp>
          </a:bodyPr>
          <a:lstStyle>
            <a:lvl1pPr algn="r" defTabSz="995363">
              <a:defRPr sz="1100" b="0" i="1">
                <a:solidFill>
                  <a:schemeClr val="tx1"/>
                </a:solidFill>
                <a:latin typeface="Times New Roman" pitchFamily="18" charset="0"/>
              </a:defRPr>
            </a:lvl1pPr>
          </a:lstStyle>
          <a:p>
            <a:endParaRPr lang="zh-CN" altLang="en-US"/>
          </a:p>
        </p:txBody>
      </p:sp>
      <p:sp>
        <p:nvSpPr>
          <p:cNvPr id="2052" name="Rectangle 4"/>
          <p:cNvSpPr>
            <a:spLocks noGrp="1" noChangeArrowheads="1"/>
          </p:cNvSpPr>
          <p:nvPr>
            <p:ph type="ftr" sz="quarter" idx="4"/>
          </p:nvPr>
        </p:nvSpPr>
        <p:spPr bwMode="auto">
          <a:xfrm>
            <a:off x="0" y="8734425"/>
            <a:ext cx="3049588" cy="460375"/>
          </a:xfrm>
          <a:prstGeom prst="rect">
            <a:avLst/>
          </a:prstGeom>
          <a:noFill/>
          <a:ln w="9525">
            <a:noFill/>
            <a:miter lim="800000"/>
            <a:headEnd/>
            <a:tailEnd/>
          </a:ln>
          <a:effectLst/>
        </p:spPr>
        <p:txBody>
          <a:bodyPr vert="horz" wrap="square" lIns="20588" tIns="0" rIns="20588" bIns="0" numCol="1" anchor="b" anchorCtr="0" compatLnSpc="1">
            <a:prstTxWarp prst="textNoShape">
              <a:avLst/>
            </a:prstTxWarp>
          </a:bodyPr>
          <a:lstStyle>
            <a:lvl1pPr algn="l" defTabSz="995363">
              <a:defRPr sz="1100" b="0" i="1">
                <a:solidFill>
                  <a:schemeClr val="tx1"/>
                </a:solidFill>
                <a:latin typeface="Times New Roman" pitchFamily="18" charset="0"/>
              </a:defRPr>
            </a:lvl1pPr>
          </a:lstStyle>
          <a:p>
            <a:endParaRPr lang="zh-CN" altLang="en-US"/>
          </a:p>
        </p:txBody>
      </p:sp>
      <p:sp>
        <p:nvSpPr>
          <p:cNvPr id="2053" name="Rectangle 5"/>
          <p:cNvSpPr>
            <a:spLocks noGrp="1" noChangeArrowheads="1"/>
          </p:cNvSpPr>
          <p:nvPr>
            <p:ph type="sldNum" sz="quarter" idx="5"/>
          </p:nvPr>
        </p:nvSpPr>
        <p:spPr bwMode="auto">
          <a:xfrm>
            <a:off x="3986213" y="8734425"/>
            <a:ext cx="3049587" cy="460375"/>
          </a:xfrm>
          <a:prstGeom prst="rect">
            <a:avLst/>
          </a:prstGeom>
          <a:noFill/>
          <a:ln w="9525">
            <a:noFill/>
            <a:miter lim="800000"/>
            <a:headEnd/>
            <a:tailEnd/>
          </a:ln>
          <a:effectLst/>
        </p:spPr>
        <p:txBody>
          <a:bodyPr vert="horz" wrap="square" lIns="20588" tIns="0" rIns="20588" bIns="0" numCol="1" anchor="b" anchorCtr="0" compatLnSpc="1">
            <a:prstTxWarp prst="textNoShape">
              <a:avLst/>
            </a:prstTxWarp>
          </a:bodyPr>
          <a:lstStyle>
            <a:lvl1pPr algn="r" defTabSz="995363">
              <a:defRPr sz="1100" b="0" i="1">
                <a:solidFill>
                  <a:schemeClr val="tx1"/>
                </a:solidFill>
                <a:latin typeface="Times New Roman" pitchFamily="18" charset="0"/>
              </a:defRPr>
            </a:lvl1pPr>
          </a:lstStyle>
          <a:p>
            <a:fld id="{25329F43-9136-4C23-8C53-96AC9BB14B42}" type="slidenum">
              <a:rPr lang="zh-CN" altLang="en-US"/>
              <a:pPr/>
              <a:t>‹#›</a:t>
            </a:fld>
            <a:endParaRPr lang="en-US" altLang="zh-CN"/>
          </a:p>
        </p:txBody>
      </p:sp>
      <p:sp>
        <p:nvSpPr>
          <p:cNvPr id="2054" name="Rectangle 6"/>
          <p:cNvSpPr>
            <a:spLocks noGrp="1" noChangeArrowheads="1"/>
          </p:cNvSpPr>
          <p:nvPr>
            <p:ph type="body" sz="quarter" idx="3"/>
          </p:nvPr>
        </p:nvSpPr>
        <p:spPr bwMode="auto">
          <a:xfrm>
            <a:off x="939800" y="4367213"/>
            <a:ext cx="5156200" cy="4140200"/>
          </a:xfrm>
          <a:prstGeom prst="rect">
            <a:avLst/>
          </a:prstGeom>
          <a:noFill/>
          <a:ln w="9525">
            <a:noFill/>
            <a:miter lim="800000"/>
            <a:headEnd/>
            <a:tailEnd/>
          </a:ln>
          <a:effectLst/>
        </p:spPr>
        <p:txBody>
          <a:bodyPr vert="horz" wrap="square" lIns="96607" tIns="49095" rIns="96607" bIns="4909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4823" name="Rectangle 7"/>
          <p:cNvSpPr>
            <a:spLocks noChangeArrowheads="1" noTextEdit="1"/>
          </p:cNvSpPr>
          <p:nvPr>
            <p:ph type="sldImg" idx="2"/>
          </p:nvPr>
        </p:nvSpPr>
        <p:spPr bwMode="auto">
          <a:xfrm>
            <a:off x="1227138" y="692150"/>
            <a:ext cx="4583112" cy="3436938"/>
          </a:xfrm>
          <a:prstGeom prst="rect">
            <a:avLst/>
          </a:prstGeom>
          <a:noFill/>
          <a:ln w="12700">
            <a:solidFill>
              <a:schemeClr val="tx1"/>
            </a:solidFill>
            <a:miter lim="800000"/>
            <a:headEnd/>
            <a:tailEnd/>
          </a:ln>
        </p:spPr>
      </p:sp>
    </p:spTree>
  </p:cSld>
  <p:clrMap bg1="lt1" tx1="dk1" bg2="lt2" tx2="dk2" accent1="accent1" accent2="accent2" accent3="accent3" accent4="accent4" accent5="accent5" accent6="accent6" hlink="hlink" folHlink="folHlink"/>
  <p:notesStyle>
    <a:lvl1pPr algn="l" defTabSz="996950"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6250" algn="l" defTabSz="996950"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57263" algn="l" defTabSz="996950"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31925" algn="l" defTabSz="996950"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909763" algn="l" defTabSz="996950"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pPr defTabSz="927100"/>
            <a:fld id="{7185F056-86C2-4933-9431-51641EF85AD0}" type="slidenum">
              <a:rPr lang="en-US" altLang="zh-CN" sz="1200"/>
              <a:pPr defTabSz="927100"/>
              <a:t>23</a:t>
            </a:fld>
            <a:endParaRPr lang="en-US" altLang="zh-CN" sz="1200"/>
          </a:p>
        </p:txBody>
      </p:sp>
      <p:sp>
        <p:nvSpPr>
          <p:cNvPr id="36867" name="Rectangle 2"/>
          <p:cNvSpPr>
            <a:spLocks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 name="Rectangle 1027"/>
          <p:cNvSpPr>
            <a:spLocks noChangeArrowheads="1"/>
          </p:cNvSpPr>
          <p:nvPr/>
        </p:nvSpPr>
        <p:spPr bwMode="auto">
          <a:xfrm>
            <a:off x="304800" y="315913"/>
            <a:ext cx="8585200" cy="6084887"/>
          </a:xfrm>
          <a:prstGeom prst="rect">
            <a:avLst/>
          </a:prstGeom>
          <a:noFill/>
          <a:ln w="9525">
            <a:noFill/>
            <a:miter lim="800000"/>
            <a:headEnd/>
            <a:tailEnd/>
          </a:ln>
        </p:spPr>
        <p:txBody>
          <a:bodyPr wrap="none" anchor="ctr"/>
          <a:lstStyle/>
          <a:p>
            <a:endParaRPr lang="zh-CN" altLang="en-US">
              <a:ea typeface="宋体" pitchFamily="2" charset="-122"/>
            </a:endParaRPr>
          </a:p>
        </p:txBody>
      </p:sp>
      <p:sp>
        <p:nvSpPr>
          <p:cNvPr id="4" name="Rectangle 1028"/>
          <p:cNvSpPr>
            <a:spLocks noChangeArrowheads="1"/>
          </p:cNvSpPr>
          <p:nvPr/>
        </p:nvSpPr>
        <p:spPr bwMode="auto">
          <a:xfrm>
            <a:off x="1828800" y="609600"/>
            <a:ext cx="7086600" cy="261938"/>
          </a:xfrm>
          <a:prstGeom prst="rect">
            <a:avLst/>
          </a:prstGeom>
          <a:noFill/>
          <a:ln w="9525">
            <a:noFill/>
            <a:miter lim="800000"/>
            <a:headEnd/>
            <a:tailEnd/>
          </a:ln>
        </p:spPr>
        <p:txBody>
          <a:bodyPr lIns="92075" tIns="46038" rIns="92075" bIns="46038">
            <a:spAutoFit/>
          </a:bodyPr>
          <a:lstStyle/>
          <a:p>
            <a:pPr>
              <a:lnSpc>
                <a:spcPct val="80000"/>
              </a:lnSpc>
            </a:pPr>
            <a:endParaRPr lang="zh-CN" altLang="en-US" sz="1400" i="1">
              <a:solidFill>
                <a:srgbClr val="000000"/>
              </a:solidFill>
              <a:latin typeface="Book Antiqua" pitchFamily="18" charset="0"/>
              <a:ea typeface="宋体" pitchFamily="2" charset="-122"/>
            </a:endParaRPr>
          </a:p>
        </p:txBody>
      </p:sp>
      <p:grpSp>
        <p:nvGrpSpPr>
          <p:cNvPr id="5" name="Group 1029"/>
          <p:cNvGrpSpPr>
            <a:grpSpLocks/>
          </p:cNvGrpSpPr>
          <p:nvPr/>
        </p:nvGrpSpPr>
        <p:grpSpPr bwMode="auto">
          <a:xfrm>
            <a:off x="990600" y="1362075"/>
            <a:ext cx="7102475" cy="76200"/>
            <a:chOff x="1200" y="768"/>
            <a:chExt cx="4282" cy="48"/>
          </a:xfrm>
        </p:grpSpPr>
        <p:sp>
          <p:nvSpPr>
            <p:cNvPr id="6" name="Line 1030"/>
            <p:cNvSpPr>
              <a:spLocks noChangeShapeType="1"/>
            </p:cNvSpPr>
            <p:nvPr userDrawn="1"/>
          </p:nvSpPr>
          <p:spPr bwMode="auto">
            <a:xfrm>
              <a:off x="1200" y="816"/>
              <a:ext cx="4272" cy="0"/>
            </a:xfrm>
            <a:prstGeom prst="line">
              <a:avLst/>
            </a:prstGeom>
            <a:noFill/>
            <a:ln w="44450">
              <a:solidFill>
                <a:srgbClr val="C8B452"/>
              </a:solidFill>
              <a:round/>
              <a:headEnd type="none" w="sm" len="sm"/>
              <a:tailEnd type="none" w="sm" len="sm"/>
            </a:ln>
          </p:spPr>
          <p:txBody>
            <a:bodyPr/>
            <a:lstStyle/>
            <a:p>
              <a:endParaRPr lang="en-US"/>
            </a:p>
          </p:txBody>
        </p:sp>
        <p:sp>
          <p:nvSpPr>
            <p:cNvPr id="7" name="Line 1031"/>
            <p:cNvSpPr>
              <a:spLocks noChangeShapeType="1"/>
            </p:cNvSpPr>
            <p:nvPr userDrawn="1"/>
          </p:nvSpPr>
          <p:spPr bwMode="auto">
            <a:xfrm>
              <a:off x="1200" y="768"/>
              <a:ext cx="4272" cy="0"/>
            </a:xfrm>
            <a:prstGeom prst="line">
              <a:avLst/>
            </a:prstGeom>
            <a:noFill/>
            <a:ln w="50800">
              <a:solidFill>
                <a:srgbClr val="000000"/>
              </a:solidFill>
              <a:round/>
              <a:headEnd type="none" w="sm" len="sm"/>
              <a:tailEnd type="none" w="sm" len="sm"/>
            </a:ln>
          </p:spPr>
          <p:txBody>
            <a:bodyPr wrap="none" anchor="ctr"/>
            <a:lstStyle/>
            <a:p>
              <a:endParaRPr lang="en-US"/>
            </a:p>
          </p:txBody>
        </p:sp>
        <p:sp>
          <p:nvSpPr>
            <p:cNvPr id="8" name="Line 1032"/>
            <p:cNvSpPr>
              <a:spLocks noChangeShapeType="1"/>
            </p:cNvSpPr>
            <p:nvPr userDrawn="1"/>
          </p:nvSpPr>
          <p:spPr bwMode="auto">
            <a:xfrm>
              <a:off x="1200" y="816"/>
              <a:ext cx="4282" cy="0"/>
            </a:xfrm>
            <a:prstGeom prst="line">
              <a:avLst/>
            </a:prstGeom>
            <a:noFill/>
            <a:ln w="12700">
              <a:solidFill>
                <a:srgbClr val="333300"/>
              </a:solidFill>
              <a:round/>
              <a:headEnd type="none" w="sm" len="sm"/>
              <a:tailEnd type="none" w="sm" len="sm"/>
            </a:ln>
          </p:spPr>
          <p:txBody>
            <a:bodyPr wrap="none" anchor="ctr"/>
            <a:lstStyle/>
            <a:p>
              <a:endParaRPr lang="en-US"/>
            </a:p>
          </p:txBody>
        </p:sp>
      </p:grpSp>
      <p:pic>
        <p:nvPicPr>
          <p:cNvPr id="9" name="Picture 1039" descr="EECS wave Centered text (15 pt) copy"/>
          <p:cNvPicPr>
            <a:picLocks noChangeAspect="1" noChangeArrowheads="1"/>
          </p:cNvPicPr>
          <p:nvPr userDrawn="1"/>
        </p:nvPicPr>
        <p:blipFill>
          <a:blip r:embed="rId2">
            <a:clrChange>
              <a:clrFrom>
                <a:srgbClr val="FDFDFD"/>
              </a:clrFrom>
              <a:clrTo>
                <a:srgbClr val="FDFDFD">
                  <a:alpha val="0"/>
                </a:srgbClr>
              </a:clrTo>
            </a:clrChange>
          </a:blip>
          <a:srcRect/>
          <a:stretch>
            <a:fillRect/>
          </a:stretch>
        </p:blipFill>
        <p:spPr bwMode="auto">
          <a:xfrm>
            <a:off x="0" y="5883275"/>
            <a:ext cx="9317038" cy="976313"/>
          </a:xfrm>
          <a:prstGeom prst="rect">
            <a:avLst/>
          </a:prstGeom>
          <a:noFill/>
          <a:ln w="9525">
            <a:noFill/>
            <a:miter lim="800000"/>
            <a:headEnd/>
            <a:tailEnd/>
          </a:ln>
        </p:spPr>
      </p:pic>
      <p:pic>
        <p:nvPicPr>
          <p:cNvPr id="10" name="Picture 1040" descr="UCF logo- tag horizontal"/>
          <p:cNvPicPr>
            <a:picLocks noChangeAspect="1" noChangeArrowheads="1"/>
          </p:cNvPicPr>
          <p:nvPr userDrawn="1"/>
        </p:nvPicPr>
        <p:blipFill>
          <a:blip r:embed="rId3">
            <a:clrChange>
              <a:clrFrom>
                <a:srgbClr val="FDFDFD"/>
              </a:clrFrom>
              <a:clrTo>
                <a:srgbClr val="FDFDFD">
                  <a:alpha val="0"/>
                </a:srgbClr>
              </a:clrTo>
            </a:clrChange>
          </a:blip>
          <a:srcRect/>
          <a:stretch>
            <a:fillRect/>
          </a:stretch>
        </p:blipFill>
        <p:spPr bwMode="auto">
          <a:xfrm>
            <a:off x="2133600" y="177800"/>
            <a:ext cx="4724400" cy="776288"/>
          </a:xfrm>
          <a:prstGeom prst="rect">
            <a:avLst/>
          </a:prstGeom>
          <a:noFill/>
          <a:ln w="9525">
            <a:noFill/>
            <a:miter lim="800000"/>
            <a:headEnd/>
            <a:tailEnd/>
          </a:ln>
        </p:spPr>
      </p:pic>
      <p:sp>
        <p:nvSpPr>
          <p:cNvPr id="118801" name="Rectangle 1041"/>
          <p:cNvSpPr>
            <a:spLocks noGrp="1" noChangeArrowheads="1"/>
          </p:cNvSpPr>
          <p:nvPr>
            <p:ph type="ctrTitle" sz="quarter"/>
          </p:nvPr>
        </p:nvSpPr>
        <p:spPr>
          <a:xfrm>
            <a:off x="457200" y="1828800"/>
            <a:ext cx="8153400" cy="1143000"/>
          </a:xfrm>
        </p:spPr>
        <p:txBody>
          <a:bodyPr lIns="92075" tIns="46038" rIns="92075" bIns="46038"/>
          <a:lstStyle>
            <a:lvl1pPr>
              <a:lnSpc>
                <a:spcPts val="3500"/>
              </a:lnSpc>
              <a:defRPr sz="2800"/>
            </a:lvl1pPr>
          </a:lstStyle>
          <a:p>
            <a:r>
              <a:rPr lang="en-US"/>
              <a:t>Click to edit Master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6"/>
          <p:cNvSpPr>
            <a:spLocks noGrp="1" noChangeArrowheads="1"/>
          </p:cNvSpPr>
          <p:nvPr>
            <p:ph type="sldNum" sz="quarter" idx="10"/>
          </p:nvPr>
        </p:nvSpPr>
        <p:spPr>
          <a:ln/>
        </p:spPr>
        <p:txBody>
          <a:bodyPr/>
          <a:lstStyle>
            <a:lvl1pPr>
              <a:defRPr/>
            </a:lvl1pPr>
          </a:lstStyle>
          <a:p>
            <a:fld id="{6F5C4E79-0FDD-4C52-9C2D-F2453FD0FA05}" type="slidenum">
              <a:rPr lang="zh-CN" altLang="en-US"/>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6"/>
          <p:cNvSpPr>
            <a:spLocks noGrp="1" noChangeArrowheads="1"/>
          </p:cNvSpPr>
          <p:nvPr>
            <p:ph type="sldNum" sz="quarter" idx="10"/>
          </p:nvPr>
        </p:nvSpPr>
        <p:spPr>
          <a:ln/>
        </p:spPr>
        <p:txBody>
          <a:bodyPr/>
          <a:lstStyle>
            <a:lvl1pPr>
              <a:defRPr/>
            </a:lvl1pPr>
          </a:lstStyle>
          <a:p>
            <a:fld id="{B6C8DAA5-B7B1-49B9-8F20-4B3C7196628C}" type="slidenum">
              <a:rPr lang="zh-CN" altLang="en-US"/>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905000"/>
            <a:ext cx="3924300" cy="397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905000"/>
            <a:ext cx="3924300" cy="397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6"/>
          <p:cNvSpPr>
            <a:spLocks noGrp="1" noChangeArrowheads="1"/>
          </p:cNvSpPr>
          <p:nvPr>
            <p:ph type="sldNum" sz="quarter" idx="10"/>
          </p:nvPr>
        </p:nvSpPr>
        <p:spPr>
          <a:ln/>
        </p:spPr>
        <p:txBody>
          <a:bodyPr/>
          <a:lstStyle>
            <a:lvl1pPr>
              <a:defRPr/>
            </a:lvl1pPr>
          </a:lstStyle>
          <a:p>
            <a:fld id="{BEB11DCF-6E9E-4459-9275-40FDEED76809}" type="slidenum">
              <a:rPr lang="zh-CN" altLang="en-US"/>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6"/>
          <p:cNvSpPr>
            <a:spLocks noGrp="1" noChangeArrowheads="1"/>
          </p:cNvSpPr>
          <p:nvPr>
            <p:ph type="sldNum" sz="quarter" idx="10"/>
          </p:nvPr>
        </p:nvSpPr>
        <p:spPr>
          <a:ln/>
        </p:spPr>
        <p:txBody>
          <a:bodyPr/>
          <a:lstStyle>
            <a:lvl1pPr>
              <a:defRPr/>
            </a:lvl1pPr>
          </a:lstStyle>
          <a:p>
            <a:fld id="{0B1C744B-77DE-4D7C-81C3-51E36858F391}" type="slidenum">
              <a:rPr lang="zh-CN" altLang="en-US"/>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6"/>
          <p:cNvSpPr>
            <a:spLocks noGrp="1" noChangeArrowheads="1"/>
          </p:cNvSpPr>
          <p:nvPr>
            <p:ph type="sldNum" sz="quarter" idx="10"/>
          </p:nvPr>
        </p:nvSpPr>
        <p:spPr>
          <a:ln/>
        </p:spPr>
        <p:txBody>
          <a:bodyPr/>
          <a:lstStyle>
            <a:lvl1pPr>
              <a:defRPr/>
            </a:lvl1pPr>
          </a:lstStyle>
          <a:p>
            <a:fld id="{5B247C61-D000-4111-AE63-8DBD852B35B4}" type="slidenum">
              <a:rPr lang="zh-CN" altLang="en-US"/>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fld id="{67E67069-F573-4940-A974-469A77D7A69F}" type="slidenum">
              <a:rPr lang="zh-CN" altLang="en-US"/>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fld id="{EE4544C3-4A99-438A-9C5C-D70584BB3F33}" type="slidenum">
              <a:rPr lang="zh-CN" altLang="en-US"/>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fld id="{244A419C-5D12-48F0-9396-F49946BB4806}" type="slidenum">
              <a:rPr lang="zh-CN" altLang="en-US"/>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6"/>
          <p:cNvSpPr>
            <a:spLocks noGrp="1" noChangeArrowheads="1"/>
          </p:cNvSpPr>
          <p:nvPr>
            <p:ph type="sldNum" sz="quarter" idx="10"/>
          </p:nvPr>
        </p:nvSpPr>
        <p:spPr>
          <a:ln/>
        </p:spPr>
        <p:txBody>
          <a:bodyPr/>
          <a:lstStyle>
            <a:lvl1pPr>
              <a:defRPr/>
            </a:lvl1pPr>
          </a:lstStyle>
          <a:p>
            <a:fld id="{58B6EF77-3951-4C8E-BF88-DFDC31208397}" type="slidenum">
              <a:rPr lang="zh-CN" altLang="en-US"/>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4000" y="533400"/>
            <a:ext cx="2098675" cy="5349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533400"/>
            <a:ext cx="6146800" cy="5349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6"/>
          <p:cNvSpPr>
            <a:spLocks noGrp="1" noChangeArrowheads="1"/>
          </p:cNvSpPr>
          <p:nvPr>
            <p:ph type="sldNum" sz="quarter" idx="10"/>
          </p:nvPr>
        </p:nvSpPr>
        <p:spPr>
          <a:ln/>
        </p:spPr>
        <p:txBody>
          <a:bodyPr/>
          <a:lstStyle>
            <a:lvl1pPr>
              <a:defRPr/>
            </a:lvl1pPr>
          </a:lstStyle>
          <a:p>
            <a:fld id="{82D135F3-2EC4-4F38-96F0-9BE3A6571974}" type="slidenum">
              <a:rPr lang="zh-CN" altLang="en-US"/>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6"/>
          <p:cNvSpPr>
            <a:spLocks noGrp="1" noChangeArrowheads="1"/>
          </p:cNvSpPr>
          <p:nvPr>
            <p:ph type="sldNum" sz="quarter" idx="10"/>
          </p:nvPr>
        </p:nvSpPr>
        <p:spPr>
          <a:ln/>
        </p:spPr>
        <p:txBody>
          <a:bodyPr/>
          <a:lstStyle>
            <a:lvl1pPr>
              <a:defRPr/>
            </a:lvl1pPr>
          </a:lstStyle>
          <a:p>
            <a:fld id="{439E0B83-FDE3-44A7-834A-E64442615F33}"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E4E4E4"/>
            </a:gs>
            <a:gs pos="100000">
              <a:srgbClr val="C4AE4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457200" y="1524000"/>
            <a:ext cx="8153400" cy="4359275"/>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 </a:t>
            </a:r>
          </a:p>
        </p:txBody>
      </p:sp>
      <p:sp>
        <p:nvSpPr>
          <p:cNvPr id="1027" name="Rectangle 3"/>
          <p:cNvSpPr>
            <a:spLocks noGrp="1" noChangeArrowheads="1"/>
          </p:cNvSpPr>
          <p:nvPr>
            <p:ph type="title"/>
          </p:nvPr>
        </p:nvSpPr>
        <p:spPr bwMode="auto">
          <a:xfrm>
            <a:off x="304800" y="533400"/>
            <a:ext cx="8397875" cy="685800"/>
          </a:xfrm>
          <a:prstGeom prst="rect">
            <a:avLst/>
          </a:prstGeom>
          <a:noFill/>
          <a:ln w="9525">
            <a:noFill/>
            <a:miter lim="800000"/>
            <a:headEnd/>
            <a:tailEnd/>
          </a:ln>
        </p:spPr>
        <p:txBody>
          <a:bodyPr vert="horz" wrap="square" lIns="182880" tIns="0" rIns="0" bIns="137160" numCol="1" anchor="ctr" anchorCtr="0" compatLnSpc="1">
            <a:prstTxWarp prst="textNoShape">
              <a:avLst/>
            </a:prstTxWarp>
          </a:bodyPr>
          <a:lstStyle/>
          <a:p>
            <a:pPr lvl="0"/>
            <a:r>
              <a:rPr lang="en-US" altLang="zh-CN" smtClean="0"/>
              <a:t>Click to edit title styles</a:t>
            </a:r>
          </a:p>
        </p:txBody>
      </p:sp>
      <p:sp>
        <p:nvSpPr>
          <p:cNvPr id="1028" name="Rectangle 4"/>
          <p:cNvSpPr>
            <a:spLocks noChangeArrowheads="1"/>
          </p:cNvSpPr>
          <p:nvPr/>
        </p:nvSpPr>
        <p:spPr bwMode="auto">
          <a:xfrm>
            <a:off x="304800" y="315913"/>
            <a:ext cx="8585200" cy="6084887"/>
          </a:xfrm>
          <a:prstGeom prst="rect">
            <a:avLst/>
          </a:prstGeom>
          <a:noFill/>
          <a:ln w="9525">
            <a:noFill/>
            <a:miter lim="800000"/>
            <a:headEnd/>
            <a:tailEnd/>
          </a:ln>
        </p:spPr>
        <p:txBody>
          <a:bodyPr wrap="none" anchor="ctr"/>
          <a:lstStyle/>
          <a:p>
            <a:endParaRPr lang="zh-CN" altLang="en-US">
              <a:ea typeface="宋体" pitchFamily="2" charset="-122"/>
            </a:endParaRPr>
          </a:p>
        </p:txBody>
      </p:sp>
      <p:grpSp>
        <p:nvGrpSpPr>
          <p:cNvPr id="1029" name="Group 17"/>
          <p:cNvGrpSpPr>
            <a:grpSpLocks/>
          </p:cNvGrpSpPr>
          <p:nvPr userDrawn="1"/>
        </p:nvGrpSpPr>
        <p:grpSpPr bwMode="auto">
          <a:xfrm>
            <a:off x="304800" y="1219200"/>
            <a:ext cx="8397875" cy="76200"/>
            <a:chOff x="864" y="768"/>
            <a:chExt cx="4618" cy="48"/>
          </a:xfrm>
        </p:grpSpPr>
        <p:grpSp>
          <p:nvGrpSpPr>
            <p:cNvPr id="1033" name="Group 5"/>
            <p:cNvGrpSpPr>
              <a:grpSpLocks/>
            </p:cNvGrpSpPr>
            <p:nvPr/>
          </p:nvGrpSpPr>
          <p:grpSpPr bwMode="auto">
            <a:xfrm>
              <a:off x="1104" y="768"/>
              <a:ext cx="4378" cy="48"/>
              <a:chOff x="1200" y="768"/>
              <a:chExt cx="4282" cy="48"/>
            </a:xfrm>
          </p:grpSpPr>
          <p:sp>
            <p:nvSpPr>
              <p:cNvPr id="1038" name="Line 6"/>
              <p:cNvSpPr>
                <a:spLocks noChangeShapeType="1"/>
              </p:cNvSpPr>
              <p:nvPr userDrawn="1"/>
            </p:nvSpPr>
            <p:spPr bwMode="auto">
              <a:xfrm>
                <a:off x="1200" y="816"/>
                <a:ext cx="4272" cy="0"/>
              </a:xfrm>
              <a:prstGeom prst="line">
                <a:avLst/>
              </a:prstGeom>
              <a:noFill/>
              <a:ln w="44450">
                <a:solidFill>
                  <a:srgbClr val="C8B452"/>
                </a:solidFill>
                <a:round/>
                <a:headEnd type="none" w="sm" len="sm"/>
                <a:tailEnd type="none" w="sm" len="sm"/>
              </a:ln>
            </p:spPr>
            <p:txBody>
              <a:bodyPr/>
              <a:lstStyle/>
              <a:p>
                <a:endParaRPr lang="en-US"/>
              </a:p>
            </p:txBody>
          </p:sp>
          <p:sp>
            <p:nvSpPr>
              <p:cNvPr id="1039" name="Line 7"/>
              <p:cNvSpPr>
                <a:spLocks noChangeShapeType="1"/>
              </p:cNvSpPr>
              <p:nvPr userDrawn="1"/>
            </p:nvSpPr>
            <p:spPr bwMode="auto">
              <a:xfrm>
                <a:off x="1200" y="768"/>
                <a:ext cx="4272" cy="0"/>
              </a:xfrm>
              <a:prstGeom prst="line">
                <a:avLst/>
              </a:prstGeom>
              <a:noFill/>
              <a:ln w="50800">
                <a:solidFill>
                  <a:srgbClr val="000000"/>
                </a:solidFill>
                <a:round/>
                <a:headEnd type="none" w="sm" len="sm"/>
                <a:tailEnd type="none" w="sm" len="sm"/>
              </a:ln>
            </p:spPr>
            <p:txBody>
              <a:bodyPr wrap="none" anchor="ctr"/>
              <a:lstStyle/>
              <a:p>
                <a:endParaRPr lang="en-US"/>
              </a:p>
            </p:txBody>
          </p:sp>
          <p:sp>
            <p:nvSpPr>
              <p:cNvPr id="2" name="Line 8"/>
              <p:cNvSpPr>
                <a:spLocks noChangeShapeType="1"/>
              </p:cNvSpPr>
              <p:nvPr userDrawn="1"/>
            </p:nvSpPr>
            <p:spPr bwMode="auto">
              <a:xfrm>
                <a:off x="1200" y="816"/>
                <a:ext cx="4282" cy="0"/>
              </a:xfrm>
              <a:prstGeom prst="line">
                <a:avLst/>
              </a:prstGeom>
              <a:noFill/>
              <a:ln w="12700">
                <a:solidFill>
                  <a:srgbClr val="333300"/>
                </a:solidFill>
                <a:round/>
                <a:headEnd type="none" w="sm" len="sm"/>
                <a:tailEnd type="none" w="sm" len="sm"/>
              </a:ln>
            </p:spPr>
            <p:txBody>
              <a:bodyPr wrap="none" anchor="ctr"/>
              <a:lstStyle/>
              <a:p>
                <a:endParaRPr lang="en-US"/>
              </a:p>
            </p:txBody>
          </p:sp>
        </p:grpSp>
        <p:grpSp>
          <p:nvGrpSpPr>
            <p:cNvPr id="1034" name="Group 11"/>
            <p:cNvGrpSpPr>
              <a:grpSpLocks/>
            </p:cNvGrpSpPr>
            <p:nvPr userDrawn="1"/>
          </p:nvGrpSpPr>
          <p:grpSpPr bwMode="auto">
            <a:xfrm>
              <a:off x="864" y="768"/>
              <a:ext cx="4618" cy="48"/>
              <a:chOff x="1200" y="768"/>
              <a:chExt cx="4282" cy="48"/>
            </a:xfrm>
          </p:grpSpPr>
          <p:sp>
            <p:nvSpPr>
              <p:cNvPr id="1035" name="Line 12"/>
              <p:cNvSpPr>
                <a:spLocks noChangeShapeType="1"/>
              </p:cNvSpPr>
              <p:nvPr userDrawn="1"/>
            </p:nvSpPr>
            <p:spPr bwMode="auto">
              <a:xfrm>
                <a:off x="1200" y="816"/>
                <a:ext cx="4272" cy="0"/>
              </a:xfrm>
              <a:prstGeom prst="line">
                <a:avLst/>
              </a:prstGeom>
              <a:noFill/>
              <a:ln w="44450">
                <a:solidFill>
                  <a:srgbClr val="C8B452"/>
                </a:solidFill>
                <a:round/>
                <a:headEnd type="none" w="sm" len="sm"/>
                <a:tailEnd type="none" w="sm" len="sm"/>
              </a:ln>
            </p:spPr>
            <p:txBody>
              <a:bodyPr/>
              <a:lstStyle/>
              <a:p>
                <a:endParaRPr lang="en-US"/>
              </a:p>
            </p:txBody>
          </p:sp>
          <p:sp>
            <p:nvSpPr>
              <p:cNvPr id="1036" name="Line 13"/>
              <p:cNvSpPr>
                <a:spLocks noChangeShapeType="1"/>
              </p:cNvSpPr>
              <p:nvPr userDrawn="1"/>
            </p:nvSpPr>
            <p:spPr bwMode="auto">
              <a:xfrm>
                <a:off x="1200" y="768"/>
                <a:ext cx="4272" cy="0"/>
              </a:xfrm>
              <a:prstGeom prst="line">
                <a:avLst/>
              </a:prstGeom>
              <a:noFill/>
              <a:ln w="50800">
                <a:solidFill>
                  <a:srgbClr val="000000"/>
                </a:solidFill>
                <a:round/>
                <a:headEnd type="none" w="sm" len="sm"/>
                <a:tailEnd type="none" w="sm" len="sm"/>
              </a:ln>
            </p:spPr>
            <p:txBody>
              <a:bodyPr wrap="none" anchor="ctr"/>
              <a:lstStyle/>
              <a:p>
                <a:endParaRPr lang="en-US"/>
              </a:p>
            </p:txBody>
          </p:sp>
          <p:sp>
            <p:nvSpPr>
              <p:cNvPr id="1037" name="Line 14"/>
              <p:cNvSpPr>
                <a:spLocks noChangeShapeType="1"/>
              </p:cNvSpPr>
              <p:nvPr userDrawn="1"/>
            </p:nvSpPr>
            <p:spPr bwMode="auto">
              <a:xfrm>
                <a:off x="1200" y="816"/>
                <a:ext cx="4282" cy="0"/>
              </a:xfrm>
              <a:prstGeom prst="line">
                <a:avLst/>
              </a:prstGeom>
              <a:noFill/>
              <a:ln w="12700">
                <a:solidFill>
                  <a:srgbClr val="333300"/>
                </a:solidFill>
                <a:round/>
                <a:headEnd type="none" w="sm" len="sm"/>
                <a:tailEnd type="none" w="sm" len="sm"/>
              </a:ln>
            </p:spPr>
            <p:txBody>
              <a:bodyPr wrap="none" anchor="ctr"/>
              <a:lstStyle/>
              <a:p>
                <a:endParaRPr lang="en-US"/>
              </a:p>
            </p:txBody>
          </p:sp>
        </p:grpSp>
      </p:grpSp>
      <p:pic>
        <p:nvPicPr>
          <p:cNvPr id="1030" name="Picture 18" descr="EECS wave Centered text (15 pt) copy"/>
          <p:cNvPicPr>
            <a:picLocks noChangeAspect="1" noChangeArrowheads="1"/>
          </p:cNvPicPr>
          <p:nvPr userDrawn="1"/>
        </p:nvPicPr>
        <p:blipFill>
          <a:blip r:embed="rId14">
            <a:clrChange>
              <a:clrFrom>
                <a:srgbClr val="FDFDFD"/>
              </a:clrFrom>
              <a:clrTo>
                <a:srgbClr val="FDFDFD">
                  <a:alpha val="0"/>
                </a:srgbClr>
              </a:clrTo>
            </a:clrChange>
          </a:blip>
          <a:srcRect/>
          <a:stretch>
            <a:fillRect/>
          </a:stretch>
        </p:blipFill>
        <p:spPr bwMode="auto">
          <a:xfrm>
            <a:off x="6477000" y="6324600"/>
            <a:ext cx="2590800" cy="458788"/>
          </a:xfrm>
          <a:prstGeom prst="rect">
            <a:avLst/>
          </a:prstGeom>
          <a:noFill/>
          <a:ln w="9525">
            <a:noFill/>
            <a:miter lim="800000"/>
            <a:headEnd/>
            <a:tailEnd/>
          </a:ln>
        </p:spPr>
      </p:pic>
      <p:pic>
        <p:nvPicPr>
          <p:cNvPr id="1031" name="Picture 5" descr="UCF logo- tag horizontal"/>
          <p:cNvPicPr>
            <a:picLocks noChangeAspect="1" noChangeArrowheads="1"/>
          </p:cNvPicPr>
          <p:nvPr userDrawn="1"/>
        </p:nvPicPr>
        <p:blipFill>
          <a:blip r:embed="rId15">
            <a:clrChange>
              <a:clrFrom>
                <a:srgbClr val="FDFDFD"/>
              </a:clrFrom>
              <a:clrTo>
                <a:srgbClr val="FDFDFD">
                  <a:alpha val="0"/>
                </a:srgbClr>
              </a:clrTo>
            </a:clrChange>
          </a:blip>
          <a:srcRect/>
          <a:stretch>
            <a:fillRect/>
          </a:stretch>
        </p:blipFill>
        <p:spPr bwMode="auto">
          <a:xfrm>
            <a:off x="304800" y="6324600"/>
            <a:ext cx="2714625" cy="446088"/>
          </a:xfrm>
          <a:prstGeom prst="rect">
            <a:avLst/>
          </a:prstGeom>
          <a:noFill/>
          <a:ln w="9525">
            <a:noFill/>
            <a:miter lim="800000"/>
            <a:headEnd/>
            <a:tailEnd/>
          </a:ln>
        </p:spPr>
      </p:pic>
      <p:sp>
        <p:nvSpPr>
          <p:cNvPr id="1040" name="Rectangle 16"/>
          <p:cNvSpPr>
            <a:spLocks noGrp="1" noChangeArrowheads="1"/>
          </p:cNvSpPr>
          <p:nvPr>
            <p:ph type="sldNum" sz="quarter" idx="4"/>
          </p:nvPr>
        </p:nvSpPr>
        <p:spPr bwMode="auto">
          <a:xfrm>
            <a:off x="3505200" y="63817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solidFill>
                  <a:schemeClr val="tx1"/>
                </a:solidFill>
                <a:latin typeface="Arial" pitchFamily="34" charset="0"/>
                <a:ea typeface="宋体" pitchFamily="2" charset="-122"/>
                <a:cs typeface="Arial" pitchFamily="34" charset="0"/>
              </a:defRPr>
            </a:lvl1pPr>
          </a:lstStyle>
          <a:p>
            <a:fld id="{7332C977-E244-471F-822A-E2180658F84B}"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918"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Lst>
  <p:hf hdr="0" ftr="0" dt="0"/>
  <p:txStyles>
    <p:titleStyle>
      <a:lvl1pPr algn="ctr" rtl="0" eaLnBrk="0" fontAlgn="base" hangingPunct="0">
        <a:spcBef>
          <a:spcPct val="0"/>
        </a:spcBef>
        <a:spcAft>
          <a:spcPct val="0"/>
        </a:spcAft>
        <a:defRPr sz="4400" b="1" i="1">
          <a:solidFill>
            <a:srgbClr val="000000"/>
          </a:solidFill>
          <a:latin typeface="+mj-lt"/>
          <a:ea typeface="+mj-ea"/>
          <a:cs typeface="+mj-cs"/>
        </a:defRPr>
      </a:lvl1pPr>
      <a:lvl2pPr algn="ctr" rtl="0" eaLnBrk="0" fontAlgn="base" hangingPunct="0">
        <a:spcBef>
          <a:spcPct val="0"/>
        </a:spcBef>
        <a:spcAft>
          <a:spcPct val="0"/>
        </a:spcAft>
        <a:defRPr sz="4400" b="1" i="1">
          <a:solidFill>
            <a:srgbClr val="000000"/>
          </a:solidFill>
          <a:latin typeface="Arial" charset="0"/>
        </a:defRPr>
      </a:lvl2pPr>
      <a:lvl3pPr algn="ctr" rtl="0" eaLnBrk="0" fontAlgn="base" hangingPunct="0">
        <a:spcBef>
          <a:spcPct val="0"/>
        </a:spcBef>
        <a:spcAft>
          <a:spcPct val="0"/>
        </a:spcAft>
        <a:defRPr sz="4400" b="1" i="1">
          <a:solidFill>
            <a:srgbClr val="000000"/>
          </a:solidFill>
          <a:latin typeface="Arial" charset="0"/>
        </a:defRPr>
      </a:lvl3pPr>
      <a:lvl4pPr algn="ctr" rtl="0" eaLnBrk="0" fontAlgn="base" hangingPunct="0">
        <a:spcBef>
          <a:spcPct val="0"/>
        </a:spcBef>
        <a:spcAft>
          <a:spcPct val="0"/>
        </a:spcAft>
        <a:defRPr sz="4400" b="1" i="1">
          <a:solidFill>
            <a:srgbClr val="000000"/>
          </a:solidFill>
          <a:latin typeface="Arial" charset="0"/>
        </a:defRPr>
      </a:lvl4pPr>
      <a:lvl5pPr algn="ctr" rtl="0" eaLnBrk="0" fontAlgn="base" hangingPunct="0">
        <a:spcBef>
          <a:spcPct val="0"/>
        </a:spcBef>
        <a:spcAft>
          <a:spcPct val="0"/>
        </a:spcAft>
        <a:defRPr sz="4400" b="1" i="1">
          <a:solidFill>
            <a:srgbClr val="000000"/>
          </a:solidFill>
          <a:latin typeface="Arial" charset="0"/>
        </a:defRPr>
      </a:lvl5pPr>
      <a:lvl6pPr marL="457200" algn="ctr" rtl="0" eaLnBrk="0" fontAlgn="base" hangingPunct="0">
        <a:spcBef>
          <a:spcPct val="0"/>
        </a:spcBef>
        <a:spcAft>
          <a:spcPct val="0"/>
        </a:spcAft>
        <a:defRPr sz="4400" b="1" i="1">
          <a:solidFill>
            <a:srgbClr val="000000"/>
          </a:solidFill>
          <a:latin typeface="Arial" charset="0"/>
        </a:defRPr>
      </a:lvl6pPr>
      <a:lvl7pPr marL="914400" algn="ctr" rtl="0" eaLnBrk="0" fontAlgn="base" hangingPunct="0">
        <a:spcBef>
          <a:spcPct val="0"/>
        </a:spcBef>
        <a:spcAft>
          <a:spcPct val="0"/>
        </a:spcAft>
        <a:defRPr sz="4400" b="1" i="1">
          <a:solidFill>
            <a:srgbClr val="000000"/>
          </a:solidFill>
          <a:latin typeface="Arial" charset="0"/>
        </a:defRPr>
      </a:lvl7pPr>
      <a:lvl8pPr marL="1371600" algn="ctr" rtl="0" eaLnBrk="0" fontAlgn="base" hangingPunct="0">
        <a:spcBef>
          <a:spcPct val="0"/>
        </a:spcBef>
        <a:spcAft>
          <a:spcPct val="0"/>
        </a:spcAft>
        <a:defRPr sz="4400" b="1" i="1">
          <a:solidFill>
            <a:srgbClr val="000000"/>
          </a:solidFill>
          <a:latin typeface="Arial" charset="0"/>
        </a:defRPr>
      </a:lvl8pPr>
      <a:lvl9pPr marL="1828800" algn="ctr" rtl="0" eaLnBrk="0" fontAlgn="base" hangingPunct="0">
        <a:spcBef>
          <a:spcPct val="0"/>
        </a:spcBef>
        <a:spcAft>
          <a:spcPct val="0"/>
        </a:spcAft>
        <a:defRPr sz="4400" b="1" i="1">
          <a:solidFill>
            <a:srgbClr val="000000"/>
          </a:solidFill>
          <a:latin typeface="Arial" charset="0"/>
        </a:defRPr>
      </a:lvl9pPr>
    </p:titleStyle>
    <p:bodyStyle>
      <a:lvl1pPr marL="342900" indent="-342900" algn="l" rtl="0" eaLnBrk="0" fontAlgn="base" hangingPunct="0">
        <a:spcBef>
          <a:spcPct val="0"/>
        </a:spcBef>
        <a:spcAft>
          <a:spcPct val="0"/>
        </a:spcAft>
        <a:buClr>
          <a:srgbClr val="000000"/>
        </a:buClr>
        <a:buSzPct val="55000"/>
        <a:buFont typeface="Wingdings" pitchFamily="2" charset="2"/>
        <a:buChar char="q"/>
        <a:defRPr sz="2400">
          <a:solidFill>
            <a:srgbClr val="990000"/>
          </a:solidFill>
          <a:latin typeface="Tahoma" pitchFamily="34" charset="0"/>
          <a:ea typeface="+mn-ea"/>
          <a:cs typeface="+mn-cs"/>
        </a:defRPr>
      </a:lvl1pPr>
      <a:lvl2pPr marL="742950" indent="-285750" algn="l" rtl="0" eaLnBrk="0" fontAlgn="base" hangingPunct="0">
        <a:lnSpc>
          <a:spcPct val="110000"/>
        </a:lnSpc>
        <a:spcBef>
          <a:spcPct val="0"/>
        </a:spcBef>
        <a:spcAft>
          <a:spcPct val="0"/>
        </a:spcAft>
        <a:buClr>
          <a:srgbClr val="000000"/>
        </a:buClr>
        <a:buSzPct val="55000"/>
        <a:buFont typeface="Wingdings" pitchFamily="2" charset="2"/>
        <a:buChar char="q"/>
        <a:defRPr sz="2000">
          <a:solidFill>
            <a:srgbClr val="000000"/>
          </a:solidFill>
          <a:latin typeface="Tahoma" pitchFamily="34" charset="0"/>
        </a:defRPr>
      </a:lvl2pPr>
      <a:lvl3pPr marL="1143000" indent="-228600" algn="l" rtl="0" eaLnBrk="0" fontAlgn="base" hangingPunct="0">
        <a:spcBef>
          <a:spcPct val="0"/>
        </a:spcBef>
        <a:spcAft>
          <a:spcPct val="0"/>
        </a:spcAft>
        <a:buClr>
          <a:srgbClr val="000000"/>
        </a:buClr>
        <a:buSzPct val="55000"/>
        <a:buFont typeface="Wingdings" pitchFamily="2" charset="2"/>
        <a:buChar char="q"/>
        <a:defRPr>
          <a:solidFill>
            <a:srgbClr val="000000"/>
          </a:solidFill>
          <a:latin typeface="Tahoma" pitchFamily="34" charset="0"/>
        </a:defRPr>
      </a:lvl3pPr>
      <a:lvl4pPr marL="1600200" indent="-228600" algn="l" rtl="0" eaLnBrk="0" fontAlgn="base" hangingPunct="0">
        <a:spcBef>
          <a:spcPct val="0"/>
        </a:spcBef>
        <a:spcAft>
          <a:spcPct val="0"/>
        </a:spcAft>
        <a:buClr>
          <a:srgbClr val="000000"/>
        </a:buClr>
        <a:buSzPct val="55000"/>
        <a:buFont typeface="Wingdings" pitchFamily="2" charset="2"/>
        <a:buChar char="q"/>
        <a:defRPr sz="1600">
          <a:solidFill>
            <a:srgbClr val="000000"/>
          </a:solidFill>
          <a:latin typeface="Tahoma" pitchFamily="34" charset="0"/>
        </a:defRPr>
      </a:lvl4pPr>
      <a:lvl5pPr marL="2057400" indent="-228600" algn="l" rtl="0" eaLnBrk="0" fontAlgn="base" hangingPunct="0">
        <a:spcBef>
          <a:spcPct val="0"/>
        </a:spcBef>
        <a:spcAft>
          <a:spcPct val="0"/>
        </a:spcAft>
        <a:buClr>
          <a:srgbClr val="000000"/>
        </a:buClr>
        <a:buSzPct val="55000"/>
        <a:buFont typeface="Wingdings" pitchFamily="2" charset="2"/>
        <a:buChar char="q"/>
        <a:defRPr sz="1600">
          <a:solidFill>
            <a:srgbClr val="000000"/>
          </a:solidFill>
          <a:latin typeface="Tahoma" pitchFamily="34" charset="0"/>
        </a:defRPr>
      </a:lvl5pPr>
      <a:lvl6pPr marL="25146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6pPr>
      <a:lvl7pPr marL="29718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7pPr>
      <a:lvl8pPr marL="34290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8pPr>
      <a:lvl9pPr marL="3886200" indent="-228600" algn="l" rtl="0" eaLnBrk="0" fontAlgn="base" hangingPunct="0">
        <a:spcBef>
          <a:spcPct val="0"/>
        </a:spcBef>
        <a:spcAft>
          <a:spcPct val="0"/>
        </a:spcAft>
        <a:buClr>
          <a:srgbClr val="000000"/>
        </a:buClr>
        <a:buSzPct val="55000"/>
        <a:buFont typeface="Wingdings" pitchFamily="2" charset="2"/>
        <a:buChar char="q"/>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0.wmf"/><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xml"/><Relationship Id="rId7"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9"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endParaRPr lang="en-US" smtClean="0"/>
          </a:p>
        </p:txBody>
      </p:sp>
      <p:sp>
        <p:nvSpPr>
          <p:cNvPr id="19459" name="Content Placeholder 2"/>
          <p:cNvSpPr>
            <a:spLocks noGrp="1"/>
          </p:cNvSpPr>
          <p:nvPr>
            <p:ph idx="1"/>
          </p:nvPr>
        </p:nvSpPr>
        <p:spPr/>
        <p:txBody>
          <a:bodyPr/>
          <a:lstStyle/>
          <a:p>
            <a:endParaRPr lang="en-US" smtClean="0"/>
          </a:p>
          <a:p>
            <a:endParaRPr lang="en-US" smtClean="0"/>
          </a:p>
          <a:p>
            <a:endParaRPr lang="en-US" smtClean="0"/>
          </a:p>
          <a:p>
            <a:endParaRPr lang="en-US" smtClean="0"/>
          </a:p>
          <a:p>
            <a:pPr>
              <a:buFont typeface="Wingdings" pitchFamily="2" charset="2"/>
              <a:buNone/>
            </a:pPr>
            <a:r>
              <a:rPr lang="en-US" sz="6600" smtClean="0"/>
              <a:t>Firewall</a:t>
            </a:r>
          </a:p>
        </p:txBody>
      </p:sp>
      <p:sp>
        <p:nvSpPr>
          <p:cNvPr id="4100" name="Slide Number Placeholder 3"/>
          <p:cNvSpPr>
            <a:spLocks noGrp="1"/>
          </p:cNvSpPr>
          <p:nvPr>
            <p:ph type="sldNum" sz="quarter" idx="10"/>
          </p:nvPr>
        </p:nvSpPr>
        <p:spPr>
          <a:noFill/>
        </p:spPr>
        <p:txBody>
          <a:bodyPr/>
          <a:lstStyle/>
          <a:p>
            <a:fld id="{FD5B87A8-30D7-4B3B-B60E-A45E90EB561E}" type="slidenum">
              <a:rPr lang="zh-CN" altLang="en-US"/>
              <a:pPr/>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4" descr="Firewall_1"/>
          <p:cNvPicPr>
            <a:picLocks noChangeAspect="1" noChangeArrowheads="1"/>
          </p:cNvPicPr>
          <p:nvPr/>
        </p:nvPicPr>
        <p:blipFill>
          <a:blip r:embed="rId2"/>
          <a:srcRect/>
          <a:stretch>
            <a:fillRect/>
          </a:stretch>
        </p:blipFill>
        <p:spPr bwMode="auto">
          <a:xfrm>
            <a:off x="1981200" y="3860800"/>
            <a:ext cx="5270500" cy="2455863"/>
          </a:xfrm>
          <a:prstGeom prst="rect">
            <a:avLst/>
          </a:prstGeom>
          <a:noFill/>
          <a:ln w="9525">
            <a:noFill/>
            <a:miter lim="800000"/>
            <a:headEnd/>
            <a:tailEnd/>
          </a:ln>
        </p:spPr>
      </p:pic>
      <p:sp>
        <p:nvSpPr>
          <p:cNvPr id="5123" name="Rectangle 2"/>
          <p:cNvSpPr>
            <a:spLocks noGrp="1" noChangeArrowheads="1"/>
          </p:cNvSpPr>
          <p:nvPr>
            <p:ph type="title"/>
          </p:nvPr>
        </p:nvSpPr>
        <p:spPr/>
        <p:txBody>
          <a:bodyPr/>
          <a:lstStyle/>
          <a:p>
            <a:pPr eaLnBrk="1" hangingPunct="1"/>
            <a:r>
              <a:rPr lang="en-US" smtClean="0"/>
              <a:t>Firewalls</a:t>
            </a:r>
          </a:p>
        </p:txBody>
      </p:sp>
      <p:sp>
        <p:nvSpPr>
          <p:cNvPr id="5124" name="Rectangle 3"/>
          <p:cNvSpPr>
            <a:spLocks noGrp="1" noChangeArrowheads="1"/>
          </p:cNvSpPr>
          <p:nvPr>
            <p:ph idx="1"/>
          </p:nvPr>
        </p:nvSpPr>
        <p:spPr>
          <a:xfrm>
            <a:off x="393700" y="1371600"/>
            <a:ext cx="8229600" cy="4525963"/>
          </a:xfrm>
        </p:spPr>
        <p:txBody>
          <a:bodyPr/>
          <a:lstStyle/>
          <a:p>
            <a:r>
              <a:rPr lang="en-US" smtClean="0"/>
              <a:t>A </a:t>
            </a:r>
            <a:r>
              <a:rPr lang="en-US" b="1" smtClean="0"/>
              <a:t>firewall</a:t>
            </a:r>
            <a:r>
              <a:rPr lang="en-US" smtClean="0"/>
              <a:t> is an integrated collection of security measures designed to prevent unauthorized electronic access to a networked computer system. </a:t>
            </a:r>
          </a:p>
          <a:p>
            <a:pPr eaLnBrk="1" hangingPunct="1"/>
            <a:r>
              <a:rPr lang="en-US" smtClean="0"/>
              <a:t>A network firewall is similar to firewalls in building construction, because in both cases they are intended to isolate one "network" or "compartment" from another.</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33794"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Firewall Design</a:t>
            </a:r>
            <a:br>
              <a:rPr lang="sv-SE" b="1">
                <a:effectLst>
                  <a:outerShdw blurRad="38100" dist="38100" dir="2700000" algn="tl">
                    <a:srgbClr val="C0C0C0"/>
                  </a:outerShdw>
                </a:effectLst>
                <a:latin typeface="Comic Sans MS" pitchFamily="66" charset="0"/>
              </a:rPr>
            </a:br>
            <a:r>
              <a:rPr lang="sv-SE" b="1">
                <a:effectLst>
                  <a:outerShdw blurRad="38100" dist="38100" dir="2700000" algn="tl">
                    <a:srgbClr val="C0C0C0"/>
                  </a:outerShdw>
                </a:effectLst>
                <a:latin typeface="Comic Sans MS" pitchFamily="66" charset="0"/>
              </a:rPr>
              <a:t>Principles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33795" name="Rectangle 3"/>
          <p:cNvSpPr>
            <a:spLocks noGrp="1" noChangeArrowheads="1"/>
          </p:cNvSpPr>
          <p:nvPr>
            <p:ph type="body" idx="1"/>
          </p:nvPr>
        </p:nvSpPr>
        <p:spPr/>
        <p:txBody>
          <a:bodyPr/>
          <a:lstStyle/>
          <a:p>
            <a:r>
              <a:rPr lang="en-US">
                <a:latin typeface="Comic Sans MS" pitchFamily="66" charset="0"/>
              </a:rPr>
              <a:t>The firewall is inserted between the premises network and the Internet</a:t>
            </a:r>
          </a:p>
          <a:p>
            <a:r>
              <a:rPr lang="en-US">
                <a:latin typeface="Comic Sans MS" pitchFamily="66" charset="0"/>
              </a:rPr>
              <a:t>Aims:</a:t>
            </a:r>
          </a:p>
          <a:p>
            <a:pPr lvl="1"/>
            <a:r>
              <a:rPr lang="en-US">
                <a:latin typeface="Comic Sans MS" pitchFamily="66" charset="0"/>
              </a:rPr>
              <a:t>Establish a controlled link</a:t>
            </a:r>
          </a:p>
          <a:p>
            <a:pPr lvl="1"/>
            <a:r>
              <a:rPr lang="en-US">
                <a:latin typeface="Comic Sans MS" pitchFamily="66" charset="0"/>
              </a:rPr>
              <a:t>Protect the premises network from Internet-based attacks</a:t>
            </a:r>
          </a:p>
          <a:p>
            <a:pPr lvl="1"/>
            <a:r>
              <a:rPr lang="en-US">
                <a:latin typeface="Comic Sans MS" pitchFamily="66" charset="0"/>
              </a:rPr>
              <a:t>Provide a single choke point</a:t>
            </a:r>
          </a:p>
          <a:p>
            <a:endParaRPr lang="en-US">
              <a:latin typeface="Comic Sans MS" pitchFamily="66"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9A048157-C788-44A6-9E59-D5C25BD03FC7}" type="slidenum">
              <a:rPr lang="en-US"/>
              <a:pPr/>
              <a:t>4</a:t>
            </a:fld>
            <a:endParaRPr lang="en-US"/>
          </a:p>
        </p:txBody>
      </p:sp>
      <p:sp>
        <p:nvSpPr>
          <p:cNvPr id="34818"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Firewall Characteristics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34819" name="Rectangle 3"/>
          <p:cNvSpPr>
            <a:spLocks noGrp="1" noChangeArrowheads="1"/>
          </p:cNvSpPr>
          <p:nvPr>
            <p:ph type="body" idx="1"/>
          </p:nvPr>
        </p:nvSpPr>
        <p:spPr/>
        <p:txBody>
          <a:bodyPr/>
          <a:lstStyle/>
          <a:p>
            <a:r>
              <a:rPr lang="en-US" dirty="0">
                <a:latin typeface="Comic Sans MS" pitchFamily="66" charset="0"/>
              </a:rPr>
              <a:t>Design goals:</a:t>
            </a:r>
          </a:p>
          <a:p>
            <a:pPr lvl="1"/>
            <a:r>
              <a:rPr lang="en-US" dirty="0">
                <a:latin typeface="Comic Sans MS" pitchFamily="66" charset="0"/>
              </a:rPr>
              <a:t>All traffic from inside to outside must pass through the firewall (physically blocking all access to the local network except via the firewall)</a:t>
            </a:r>
          </a:p>
          <a:p>
            <a:pPr lvl="1"/>
            <a:r>
              <a:rPr lang="en-US" dirty="0">
                <a:latin typeface="Comic Sans MS" pitchFamily="66" charset="0"/>
              </a:rPr>
              <a:t>Only authorized traffic (defined by the local security police) will be allowed to pass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DC2D514F-1838-4875-A2C3-41661B189226}" type="slidenum">
              <a:rPr lang="en-US"/>
              <a:pPr/>
              <a:t>5</a:t>
            </a:fld>
            <a:endParaRPr lang="en-US"/>
          </a:p>
        </p:txBody>
      </p:sp>
      <p:sp>
        <p:nvSpPr>
          <p:cNvPr id="35842"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Firewall Characteristics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35843" name="Rectangle 3"/>
          <p:cNvSpPr>
            <a:spLocks noGrp="1" noChangeArrowheads="1"/>
          </p:cNvSpPr>
          <p:nvPr>
            <p:ph type="body" idx="1"/>
          </p:nvPr>
        </p:nvSpPr>
        <p:spPr/>
        <p:txBody>
          <a:bodyPr/>
          <a:lstStyle/>
          <a:p>
            <a:r>
              <a:rPr lang="en-US" dirty="0">
                <a:latin typeface="Comic Sans MS" pitchFamily="66" charset="0"/>
              </a:rPr>
              <a:t>Design goals:</a:t>
            </a:r>
          </a:p>
          <a:p>
            <a:pPr lvl="1"/>
            <a:r>
              <a:rPr lang="en-US" dirty="0">
                <a:latin typeface="Comic Sans MS" pitchFamily="66" charset="0"/>
              </a:rPr>
              <a:t>The firewall itself is immune to penetration (use of trusted system with a secure operating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Firewall Policies</a:t>
            </a:r>
          </a:p>
        </p:txBody>
      </p:sp>
      <p:sp>
        <p:nvSpPr>
          <p:cNvPr id="38915" name="Rectangle 3"/>
          <p:cNvSpPr>
            <a:spLocks noGrp="1" noChangeArrowheads="1"/>
          </p:cNvSpPr>
          <p:nvPr>
            <p:ph idx="1"/>
          </p:nvPr>
        </p:nvSpPr>
        <p:spPr>
          <a:xfrm>
            <a:off x="457200" y="1295400"/>
            <a:ext cx="8229600" cy="1600200"/>
          </a:xfrm>
        </p:spPr>
        <p:txBody>
          <a:bodyPr>
            <a:normAutofit fontScale="85000" lnSpcReduction="10000"/>
          </a:bodyPr>
          <a:lstStyle/>
          <a:p>
            <a:pPr>
              <a:defRPr/>
            </a:pPr>
            <a:r>
              <a:rPr lang="en-US" sz="2800" dirty="0" smtClean="0"/>
              <a:t>To protect private networks and individual machines from the dangers of the greater Internet, a firewall can be employed to filter incoming or outgoing traffic based on a predefined set of rules called </a:t>
            </a:r>
            <a:r>
              <a:rPr lang="en-US" sz="2800" b="1" dirty="0" smtClean="0"/>
              <a:t>firewall policies</a:t>
            </a:r>
            <a:r>
              <a:rPr lang="en-US" sz="2800" dirty="0" smtClean="0"/>
              <a:t>.</a:t>
            </a:r>
          </a:p>
        </p:txBody>
      </p:sp>
      <p:sp>
        <p:nvSpPr>
          <p:cNvPr id="6148" name="Slide Number Placeholder 4"/>
          <p:cNvSpPr>
            <a:spLocks noGrp="1"/>
          </p:cNvSpPr>
          <p:nvPr>
            <p:ph type="sldNum" sz="quarter" idx="10"/>
          </p:nvPr>
        </p:nvSpPr>
        <p:spPr>
          <a:xfrm>
            <a:off x="6553200" y="6356350"/>
            <a:ext cx="2133600" cy="365125"/>
          </a:xfrm>
          <a:noFill/>
        </p:spPr>
        <p:txBody>
          <a:bodyPr/>
          <a:lstStyle/>
          <a:p>
            <a:fld id="{DACA2C49-A2E4-4439-92B7-14340C9B54EE}" type="slidenum">
              <a:rPr lang="en-US"/>
              <a:pPr/>
              <a:t>6</a:t>
            </a:fld>
            <a:endParaRPr lang="en-US"/>
          </a:p>
        </p:txBody>
      </p:sp>
      <p:grpSp>
        <p:nvGrpSpPr>
          <p:cNvPr id="6149" name="Group 18"/>
          <p:cNvGrpSpPr>
            <a:grpSpLocks/>
          </p:cNvGrpSpPr>
          <p:nvPr/>
        </p:nvGrpSpPr>
        <p:grpSpPr bwMode="auto">
          <a:xfrm>
            <a:off x="1416050" y="3048000"/>
            <a:ext cx="6737350" cy="3733800"/>
            <a:chOff x="0" y="838200"/>
            <a:chExt cx="9446244" cy="6019800"/>
          </a:xfrm>
        </p:grpSpPr>
        <p:pic>
          <p:nvPicPr>
            <p:cNvPr id="6150" name="Picture 7" descr="06-17f.png"/>
            <p:cNvPicPr>
              <a:picLocks noChangeAspect="1"/>
            </p:cNvPicPr>
            <p:nvPr/>
          </p:nvPicPr>
          <p:blipFill>
            <a:blip r:embed="rId2"/>
            <a:srcRect/>
            <a:stretch>
              <a:fillRect/>
            </a:stretch>
          </p:blipFill>
          <p:spPr bwMode="auto">
            <a:xfrm flipH="1">
              <a:off x="3124200" y="2895600"/>
              <a:ext cx="1856236" cy="1578867"/>
            </a:xfrm>
            <a:prstGeom prst="rect">
              <a:avLst/>
            </a:prstGeom>
            <a:noFill/>
            <a:ln w="9525">
              <a:noFill/>
              <a:miter lim="800000"/>
              <a:headEnd/>
              <a:tailEnd/>
            </a:ln>
          </p:spPr>
        </p:pic>
        <p:pic>
          <p:nvPicPr>
            <p:cNvPr id="6151" name="Picture 8" descr="6-10a.png"/>
            <p:cNvPicPr>
              <a:picLocks noChangeAspect="1"/>
            </p:cNvPicPr>
            <p:nvPr/>
          </p:nvPicPr>
          <p:blipFill>
            <a:blip r:embed="rId3" cstate="print"/>
            <a:srcRect/>
            <a:stretch>
              <a:fillRect/>
            </a:stretch>
          </p:blipFill>
          <p:spPr bwMode="auto">
            <a:xfrm>
              <a:off x="0" y="3886200"/>
              <a:ext cx="2353050" cy="1982238"/>
            </a:xfrm>
            <a:prstGeom prst="rect">
              <a:avLst/>
            </a:prstGeom>
            <a:noFill/>
            <a:ln w="9525">
              <a:noFill/>
              <a:miter lim="800000"/>
              <a:headEnd/>
              <a:tailEnd/>
            </a:ln>
          </p:spPr>
        </p:pic>
        <p:sp>
          <p:nvSpPr>
            <p:cNvPr id="10" name="Freeform 9"/>
            <p:cNvSpPr/>
            <p:nvPr/>
          </p:nvSpPr>
          <p:spPr>
            <a:xfrm>
              <a:off x="2133600" y="2208363"/>
              <a:ext cx="4991819" cy="2668438"/>
            </a:xfrm>
            <a:custGeom>
              <a:avLst/>
              <a:gdLst>
                <a:gd name="connsiteX0" fmla="*/ 71887 w 4885427"/>
                <a:gd name="connsiteY0" fmla="*/ 2665563 h 2763329"/>
                <a:gd name="connsiteX1" fmla="*/ 132272 w 4885427"/>
                <a:gd name="connsiteY1" fmla="*/ 2656936 h 2763329"/>
                <a:gd name="connsiteX2" fmla="*/ 1296838 w 4885427"/>
                <a:gd name="connsiteY2" fmla="*/ 2613804 h 2763329"/>
                <a:gd name="connsiteX3" fmla="*/ 2556295 w 4885427"/>
                <a:gd name="connsiteY3" fmla="*/ 1759789 h 2763329"/>
                <a:gd name="connsiteX4" fmla="*/ 4885427 w 4885427"/>
                <a:gd name="connsiteY4" fmla="*/ 0 h 2763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5427" h="2763329">
                  <a:moveTo>
                    <a:pt x="71887" y="2665563"/>
                  </a:moveTo>
                  <a:cubicBezTo>
                    <a:pt x="0" y="2665562"/>
                    <a:pt x="132272" y="2656936"/>
                    <a:pt x="132272" y="2656936"/>
                  </a:cubicBezTo>
                  <a:cubicBezTo>
                    <a:pt x="336430" y="2648310"/>
                    <a:pt x="892834" y="2763329"/>
                    <a:pt x="1296838" y="2613804"/>
                  </a:cubicBezTo>
                  <a:cubicBezTo>
                    <a:pt x="1700842" y="2464280"/>
                    <a:pt x="1958197" y="2195423"/>
                    <a:pt x="2556295" y="1759789"/>
                  </a:cubicBezTo>
                  <a:cubicBezTo>
                    <a:pt x="3154393" y="1324155"/>
                    <a:pt x="4019910" y="662077"/>
                    <a:pt x="4885427" y="0"/>
                  </a:cubicBezTo>
                </a:path>
              </a:pathLst>
            </a:custGeom>
            <a:ln w="38100">
              <a:solidFill>
                <a:schemeClr val="tx1">
                  <a:lumMod val="50000"/>
                  <a:lumOff val="50000"/>
                </a:schemeClr>
              </a:solidFill>
            </a:ln>
            <a:effectLst>
              <a:glow rad="1397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txBody>
            <a:bodyPr anchor="ctr"/>
            <a:lstStyle/>
            <a:p>
              <a:endParaRPr lang="en-US" sz="1600"/>
            </a:p>
          </p:txBody>
        </p:sp>
        <p:sp>
          <p:nvSpPr>
            <p:cNvPr id="6155" name="TextBox 10"/>
            <p:cNvSpPr txBox="1">
              <a:spLocks noChangeArrowheads="1"/>
            </p:cNvSpPr>
            <p:nvPr/>
          </p:nvSpPr>
          <p:spPr bwMode="auto">
            <a:xfrm>
              <a:off x="6111890" y="838200"/>
              <a:ext cx="3334354" cy="518024"/>
            </a:xfrm>
            <a:prstGeom prst="rect">
              <a:avLst/>
            </a:prstGeom>
            <a:noFill/>
            <a:ln w="9525">
              <a:noFill/>
              <a:miter lim="800000"/>
              <a:headEnd/>
              <a:tailEnd/>
            </a:ln>
          </p:spPr>
          <p:txBody>
            <a:bodyPr wrap="none">
              <a:spAutoFit/>
            </a:bodyPr>
            <a:lstStyle/>
            <a:p>
              <a:r>
                <a:rPr lang="en-US" sz="1600"/>
                <a:t>Trusted internal network</a:t>
              </a:r>
            </a:p>
          </p:txBody>
        </p:sp>
        <p:sp>
          <p:nvSpPr>
            <p:cNvPr id="12" name="TextBox 11"/>
            <p:cNvSpPr txBox="1"/>
            <p:nvPr/>
          </p:nvSpPr>
          <p:spPr>
            <a:xfrm>
              <a:off x="3733799" y="4724400"/>
              <a:ext cx="1863807" cy="702657"/>
            </a:xfrm>
            <a:prstGeom prst="rect">
              <a:avLst/>
            </a:prstGeom>
            <a:noFill/>
            <a:scene3d>
              <a:camera prst="perspectiveHeroicExtremeLeftFacing"/>
              <a:lightRig rig="threePt" dir="t"/>
            </a:scene3d>
          </p:spPr>
          <p:txBody>
            <a:bodyPr wrap="none">
              <a:spAutoFit/>
            </a:bodyPr>
            <a:lstStyle/>
            <a:p>
              <a:pPr>
                <a:defRPr/>
              </a:pPr>
              <a:r>
                <a:rPr lang="en-US" dirty="0"/>
                <a:t>Firewall</a:t>
              </a:r>
            </a:p>
          </p:txBody>
        </p:sp>
        <p:sp>
          <p:nvSpPr>
            <p:cNvPr id="6157" name="TextBox 12"/>
            <p:cNvSpPr txBox="1">
              <a:spLocks noChangeArrowheads="1"/>
            </p:cNvSpPr>
            <p:nvPr/>
          </p:nvSpPr>
          <p:spPr bwMode="auto">
            <a:xfrm>
              <a:off x="2209799" y="1600200"/>
              <a:ext cx="2281883" cy="518024"/>
            </a:xfrm>
            <a:prstGeom prst="rect">
              <a:avLst/>
            </a:prstGeom>
            <a:noFill/>
            <a:ln w="9525">
              <a:noFill/>
              <a:miter lim="800000"/>
              <a:headEnd/>
              <a:tailEnd/>
            </a:ln>
          </p:spPr>
          <p:txBody>
            <a:bodyPr wrap="none">
              <a:spAutoFit/>
            </a:bodyPr>
            <a:lstStyle/>
            <a:p>
              <a:r>
                <a:rPr lang="en-US" sz="1600"/>
                <a:t>Firewall policies</a:t>
              </a:r>
            </a:p>
          </p:txBody>
        </p:sp>
        <p:sp>
          <p:nvSpPr>
            <p:cNvPr id="6158" name="TextBox 13"/>
            <p:cNvSpPr txBox="1">
              <a:spLocks noChangeArrowheads="1"/>
            </p:cNvSpPr>
            <p:nvPr/>
          </p:nvSpPr>
          <p:spPr bwMode="auto">
            <a:xfrm>
              <a:off x="465995" y="4572000"/>
              <a:ext cx="1587337" cy="887185"/>
            </a:xfrm>
            <a:prstGeom prst="rect">
              <a:avLst/>
            </a:prstGeom>
            <a:noFill/>
            <a:ln w="9525">
              <a:noFill/>
              <a:miter lim="800000"/>
              <a:headEnd/>
              <a:tailEnd/>
            </a:ln>
          </p:spPr>
          <p:txBody>
            <a:bodyPr wrap="none">
              <a:spAutoFit/>
            </a:bodyPr>
            <a:lstStyle/>
            <a:p>
              <a:r>
                <a:rPr lang="en-US" sz="1600"/>
                <a:t>Untrusted </a:t>
              </a:r>
            </a:p>
            <a:p>
              <a:r>
                <a:rPr lang="en-US" sz="1600"/>
                <a:t>Internet</a:t>
              </a:r>
            </a:p>
          </p:txBody>
        </p:sp>
        <p:pic>
          <p:nvPicPr>
            <p:cNvPr id="6159" name="Picture 14" descr="06-10b.png"/>
            <p:cNvPicPr>
              <a:picLocks noChangeAspect="1"/>
            </p:cNvPicPr>
            <p:nvPr/>
          </p:nvPicPr>
          <p:blipFill>
            <a:blip r:embed="rId4"/>
            <a:srcRect/>
            <a:stretch>
              <a:fillRect/>
            </a:stretch>
          </p:blipFill>
          <p:spPr bwMode="auto">
            <a:xfrm>
              <a:off x="1524000" y="5227317"/>
              <a:ext cx="1740412" cy="1630683"/>
            </a:xfrm>
            <a:prstGeom prst="rect">
              <a:avLst/>
            </a:prstGeom>
            <a:noFill/>
            <a:ln w="9525">
              <a:noFill/>
              <a:miter lim="800000"/>
              <a:headEnd/>
              <a:tailEnd/>
            </a:ln>
          </p:spPr>
        </p:pic>
        <p:pic>
          <p:nvPicPr>
            <p:cNvPr id="6160" name="Picture 15" descr="06-10e.png"/>
            <p:cNvPicPr>
              <a:picLocks noChangeAspect="1"/>
            </p:cNvPicPr>
            <p:nvPr/>
          </p:nvPicPr>
          <p:blipFill>
            <a:blip r:embed="rId5"/>
            <a:srcRect/>
            <a:stretch>
              <a:fillRect/>
            </a:stretch>
          </p:blipFill>
          <p:spPr bwMode="auto">
            <a:xfrm>
              <a:off x="5943600" y="1219200"/>
              <a:ext cx="2563373" cy="1770892"/>
            </a:xfrm>
            <a:prstGeom prst="rect">
              <a:avLst/>
            </a:prstGeom>
            <a:noFill/>
            <a:ln w="9525">
              <a:noFill/>
              <a:miter lim="800000"/>
              <a:headEnd/>
              <a:tailEnd/>
            </a:ln>
          </p:spPr>
        </p:pic>
        <p:pic>
          <p:nvPicPr>
            <p:cNvPr id="6161" name="Picture 16" descr="06-10c.png"/>
            <p:cNvPicPr>
              <a:picLocks noChangeAspect="1"/>
            </p:cNvPicPr>
            <p:nvPr/>
          </p:nvPicPr>
          <p:blipFill>
            <a:blip r:embed="rId6"/>
            <a:srcRect/>
            <a:stretch>
              <a:fillRect/>
            </a:stretch>
          </p:blipFill>
          <p:spPr bwMode="auto">
            <a:xfrm>
              <a:off x="2590800" y="1981200"/>
              <a:ext cx="2170180" cy="2749302"/>
            </a:xfrm>
            <a:prstGeom prst="rect">
              <a:avLst/>
            </a:prstGeom>
            <a:noFill/>
            <a:ln w="9525">
              <a:noFill/>
              <a:miter lim="800000"/>
              <a:headEnd/>
              <a:tailEnd/>
            </a:ln>
          </p:spPr>
        </p:pic>
        <p:pic>
          <p:nvPicPr>
            <p:cNvPr id="6162" name="Picture 17" descr="06-17f.png"/>
            <p:cNvPicPr>
              <a:picLocks noChangeAspect="1"/>
            </p:cNvPicPr>
            <p:nvPr/>
          </p:nvPicPr>
          <p:blipFill>
            <a:blip r:embed="rId2"/>
            <a:srcRect/>
            <a:stretch>
              <a:fillRect/>
            </a:stretch>
          </p:blipFill>
          <p:spPr bwMode="auto">
            <a:xfrm flipH="1">
              <a:off x="5105400" y="3352800"/>
              <a:ext cx="1856236" cy="1578867"/>
            </a:xfrm>
            <a:prstGeom prst="rect">
              <a:avLst/>
            </a:prstGeom>
            <a:noFill/>
            <a:ln w="9525">
              <a:noFill/>
              <a:miter lim="800000"/>
              <a:headEnd/>
              <a:tailEnd/>
            </a:ln>
          </p:spPr>
        </p:pic>
      </p:gr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t>Policy Actions</a:t>
            </a:r>
          </a:p>
        </p:txBody>
      </p:sp>
      <p:sp>
        <p:nvSpPr>
          <p:cNvPr id="7171" name="Content Placeholder 2"/>
          <p:cNvSpPr>
            <a:spLocks noGrp="1"/>
          </p:cNvSpPr>
          <p:nvPr>
            <p:ph idx="1"/>
          </p:nvPr>
        </p:nvSpPr>
        <p:spPr>
          <a:xfrm>
            <a:off x="457200" y="1447800"/>
            <a:ext cx="8229600" cy="4876800"/>
          </a:xfrm>
        </p:spPr>
        <p:txBody>
          <a:bodyPr/>
          <a:lstStyle/>
          <a:p>
            <a:r>
              <a:rPr lang="en-US" sz="2000" smtClean="0"/>
              <a:t>Packets flowing through a firewall can have one of three outcomes:</a:t>
            </a:r>
          </a:p>
          <a:p>
            <a:pPr lvl="1"/>
            <a:r>
              <a:rPr lang="en-US" smtClean="0"/>
              <a:t> </a:t>
            </a:r>
            <a:r>
              <a:rPr lang="en-US" b="1" smtClean="0"/>
              <a:t>Accepted: </a:t>
            </a:r>
            <a:r>
              <a:rPr lang="en-US" smtClean="0"/>
              <a:t>permitted through the firewall</a:t>
            </a:r>
          </a:p>
          <a:p>
            <a:pPr lvl="1"/>
            <a:r>
              <a:rPr lang="en-US" smtClean="0"/>
              <a:t> </a:t>
            </a:r>
            <a:r>
              <a:rPr lang="en-US" b="1" smtClean="0"/>
              <a:t>Dropped: </a:t>
            </a:r>
            <a:r>
              <a:rPr lang="en-US" smtClean="0"/>
              <a:t>not allowed through with no indication of failure</a:t>
            </a:r>
          </a:p>
          <a:p>
            <a:pPr lvl="1"/>
            <a:r>
              <a:rPr lang="en-US" smtClean="0"/>
              <a:t> </a:t>
            </a:r>
            <a:r>
              <a:rPr lang="en-US" b="1" smtClean="0"/>
              <a:t>Rejected: </a:t>
            </a:r>
            <a:r>
              <a:rPr lang="en-US" smtClean="0"/>
              <a:t>not allowed through, accompanied by an attempt to inform the source that the packet was rejected</a:t>
            </a:r>
          </a:p>
          <a:p>
            <a:r>
              <a:rPr lang="en-US" sz="2000" smtClean="0"/>
              <a:t>Policies used by the firewall to handle packets are based on several properties of the packets being inspected, including the protocol used, such as:</a:t>
            </a:r>
          </a:p>
          <a:p>
            <a:pPr lvl="1"/>
            <a:r>
              <a:rPr lang="en-US" smtClean="0"/>
              <a:t>TCP or UDP</a:t>
            </a:r>
          </a:p>
          <a:p>
            <a:pPr lvl="1"/>
            <a:r>
              <a:rPr lang="en-US" b="1" smtClean="0"/>
              <a:t>the source and destination IP addresses</a:t>
            </a:r>
          </a:p>
          <a:p>
            <a:pPr lvl="1"/>
            <a:r>
              <a:rPr lang="en-US" b="1" smtClean="0"/>
              <a:t>the source and destination ports</a:t>
            </a:r>
          </a:p>
          <a:p>
            <a:pPr lvl="1"/>
            <a:r>
              <a:rPr lang="en-US" smtClean="0"/>
              <a:t>the application-level payload of the packet (e.g., whether it contains a virus).</a:t>
            </a:r>
          </a:p>
        </p:txBody>
      </p:sp>
      <p:sp>
        <p:nvSpPr>
          <p:cNvPr id="7172" name="Slide Number Placeholder 3"/>
          <p:cNvSpPr>
            <a:spLocks noGrp="1"/>
          </p:cNvSpPr>
          <p:nvPr>
            <p:ph type="sldNum" sz="quarter" idx="10"/>
          </p:nvPr>
        </p:nvSpPr>
        <p:spPr>
          <a:xfrm>
            <a:off x="6553200" y="6356350"/>
            <a:ext cx="2133600" cy="365125"/>
          </a:xfrm>
          <a:noFill/>
        </p:spPr>
        <p:txBody>
          <a:bodyPr/>
          <a:lstStyle/>
          <a:p>
            <a:fld id="{582AEA5D-B1EF-4603-9ED8-F9E2FDAA47C9}" type="slidenum">
              <a:rPr lang="en-US"/>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t>Blacklists and White Lists</a:t>
            </a:r>
          </a:p>
        </p:txBody>
      </p:sp>
      <p:sp>
        <p:nvSpPr>
          <p:cNvPr id="8195" name="Content Placeholder 2"/>
          <p:cNvSpPr>
            <a:spLocks noGrp="1"/>
          </p:cNvSpPr>
          <p:nvPr>
            <p:ph idx="1"/>
          </p:nvPr>
        </p:nvSpPr>
        <p:spPr>
          <a:xfrm>
            <a:off x="457200" y="1447800"/>
            <a:ext cx="8229600" cy="5029200"/>
          </a:xfrm>
        </p:spPr>
        <p:txBody>
          <a:bodyPr/>
          <a:lstStyle/>
          <a:p>
            <a:r>
              <a:rPr lang="en-US" sz="2000" smtClean="0"/>
              <a:t>Two fundamental approaches to creating firewall policies (or rulesets) </a:t>
            </a:r>
          </a:p>
          <a:p>
            <a:r>
              <a:rPr lang="en-US" sz="2000" b="1" smtClean="0"/>
              <a:t>Blacklist</a:t>
            </a:r>
            <a:r>
              <a:rPr lang="en-US" sz="2000" smtClean="0"/>
              <a:t> approach (default-allow)</a:t>
            </a:r>
          </a:p>
          <a:p>
            <a:pPr lvl="1"/>
            <a:r>
              <a:rPr lang="en-US" smtClean="0"/>
              <a:t>All packets are allowed through except those that fit the rules defined specifically in a blacklist. </a:t>
            </a:r>
          </a:p>
          <a:p>
            <a:pPr lvl="1"/>
            <a:r>
              <a:rPr lang="en-US" smtClean="0"/>
              <a:t>Pros: flexible in ensuring that service to the internal network is not disrupted by the firewall</a:t>
            </a:r>
          </a:p>
          <a:p>
            <a:pPr lvl="1"/>
            <a:r>
              <a:rPr lang="en-US" smtClean="0"/>
              <a:t>Cons: unexpected forms of malicious traffic could go through</a:t>
            </a:r>
          </a:p>
          <a:p>
            <a:r>
              <a:rPr lang="en-US" sz="2000" b="1" smtClean="0"/>
              <a:t>Whitelist</a:t>
            </a:r>
            <a:r>
              <a:rPr lang="en-US" sz="2000" smtClean="0"/>
              <a:t> approach (default-deny)</a:t>
            </a:r>
            <a:endParaRPr lang="en-US" sz="2000" b="1" smtClean="0"/>
          </a:p>
          <a:p>
            <a:pPr lvl="1"/>
            <a:r>
              <a:rPr lang="en-US" smtClean="0"/>
              <a:t>Packets are dropped or rejected unless they are specifically allowed by the firewall</a:t>
            </a:r>
          </a:p>
          <a:p>
            <a:pPr lvl="1"/>
            <a:r>
              <a:rPr lang="en-US" smtClean="0"/>
              <a:t>Pros: A safer approach to defining a firewall ruleset </a:t>
            </a:r>
          </a:p>
          <a:p>
            <a:pPr lvl="1"/>
            <a:r>
              <a:rPr lang="en-US" smtClean="0"/>
              <a:t>Cons: must consider all possible legitimate traffic in rulesets</a:t>
            </a:r>
          </a:p>
        </p:txBody>
      </p:sp>
      <p:sp>
        <p:nvSpPr>
          <p:cNvPr id="8196" name="Slide Number Placeholder 3"/>
          <p:cNvSpPr>
            <a:spLocks noGrp="1"/>
          </p:cNvSpPr>
          <p:nvPr>
            <p:ph type="sldNum" sz="quarter" idx="10"/>
          </p:nvPr>
        </p:nvSpPr>
        <p:spPr>
          <a:xfrm>
            <a:off x="6553200" y="6356350"/>
            <a:ext cx="2133600" cy="365125"/>
          </a:xfrm>
          <a:noFill/>
        </p:spPr>
        <p:txBody>
          <a:bodyPr/>
          <a:lstStyle/>
          <a:p>
            <a:fld id="{C1287CF5-F1DF-40A2-8EE5-4D5CF817BB8B}" type="slidenum">
              <a:rPr lang="en-US"/>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olo 1"/>
          <p:cNvSpPr>
            <a:spLocks noGrp="1"/>
          </p:cNvSpPr>
          <p:nvPr>
            <p:ph type="title"/>
          </p:nvPr>
        </p:nvSpPr>
        <p:spPr/>
        <p:txBody>
          <a:bodyPr/>
          <a:lstStyle/>
          <a:p>
            <a:pPr eaLnBrk="1" hangingPunct="1"/>
            <a:r>
              <a:rPr lang="it-IT" smtClean="0"/>
              <a:t>Firewall Types </a:t>
            </a:r>
          </a:p>
        </p:txBody>
      </p:sp>
      <p:sp>
        <p:nvSpPr>
          <p:cNvPr id="36868" name="Segnaposto contenuto 2"/>
          <p:cNvSpPr>
            <a:spLocks noGrp="1"/>
          </p:cNvSpPr>
          <p:nvPr>
            <p:ph idx="1"/>
          </p:nvPr>
        </p:nvSpPr>
        <p:spPr/>
        <p:txBody>
          <a:bodyPr>
            <a:normAutofit/>
          </a:bodyPr>
          <a:lstStyle/>
          <a:p>
            <a:pPr eaLnBrk="1" hangingPunct="1">
              <a:lnSpc>
                <a:spcPct val="80000"/>
              </a:lnSpc>
              <a:buFont typeface="Arial" pitchFamily="34" charset="0"/>
              <a:buChar char="•"/>
            </a:pPr>
            <a:r>
              <a:rPr lang="it-IT" sz="2200" b="1" smtClean="0"/>
              <a:t>packet filters (stateless)</a:t>
            </a:r>
          </a:p>
          <a:p>
            <a:pPr lvl="1" eaLnBrk="1" hangingPunct="1">
              <a:lnSpc>
                <a:spcPct val="90000"/>
              </a:lnSpc>
              <a:buFont typeface="Arial" pitchFamily="34" charset="0"/>
              <a:buChar char="–"/>
            </a:pPr>
            <a:r>
              <a:rPr lang="en-US" sz="1900" smtClean="0"/>
              <a:t>If a packet matches the packet filter's set of rules, the packet filter will drop or accept it</a:t>
            </a:r>
            <a:endParaRPr lang="it-IT" sz="1900" b="1" smtClean="0"/>
          </a:p>
          <a:p>
            <a:pPr eaLnBrk="1" hangingPunct="1">
              <a:lnSpc>
                <a:spcPct val="80000"/>
              </a:lnSpc>
              <a:buFont typeface="Arial" pitchFamily="34" charset="0"/>
              <a:buChar char="•"/>
            </a:pPr>
            <a:r>
              <a:rPr lang="it-IT" sz="2200" b="1" smtClean="0"/>
              <a:t>"stateful" filters</a:t>
            </a:r>
          </a:p>
          <a:p>
            <a:pPr lvl="1" eaLnBrk="1" hangingPunct="1">
              <a:lnSpc>
                <a:spcPct val="90000"/>
              </a:lnSpc>
              <a:buFont typeface="Arial" pitchFamily="34" charset="0"/>
              <a:buChar char="–"/>
            </a:pPr>
            <a:r>
              <a:rPr lang="en-US" sz="2200" smtClean="0"/>
              <a:t>it maintains records of all connections passing through it and can determine if a packet is either the start of a new connection, a part of an existing connection, or is an invalid packet. </a:t>
            </a:r>
            <a:endParaRPr lang="it-IT" sz="2200" smtClean="0"/>
          </a:p>
          <a:p>
            <a:pPr eaLnBrk="1" hangingPunct="1">
              <a:lnSpc>
                <a:spcPct val="80000"/>
              </a:lnSpc>
              <a:buFont typeface="Arial" pitchFamily="34" charset="0"/>
              <a:buChar char="•"/>
            </a:pPr>
            <a:r>
              <a:rPr lang="it-IT" sz="2200" b="1" smtClean="0"/>
              <a:t>application layer</a:t>
            </a:r>
          </a:p>
          <a:p>
            <a:pPr lvl="1" eaLnBrk="1" hangingPunct="1">
              <a:lnSpc>
                <a:spcPct val="90000"/>
              </a:lnSpc>
              <a:buFont typeface="Arial" pitchFamily="34" charset="0"/>
              <a:buChar char="–"/>
            </a:pPr>
            <a:r>
              <a:rPr lang="en-US" sz="2200" smtClean="0"/>
              <a:t>It works like a </a:t>
            </a:r>
            <a:r>
              <a:rPr lang="en-US" sz="2200" b="1" smtClean="0"/>
              <a:t>proxy </a:t>
            </a:r>
            <a:r>
              <a:rPr lang="en-US" sz="2200" smtClean="0"/>
              <a:t>it can “understand” certain applications and protocols. </a:t>
            </a:r>
          </a:p>
          <a:p>
            <a:pPr lvl="1" eaLnBrk="1" hangingPunct="1">
              <a:lnSpc>
                <a:spcPct val="90000"/>
              </a:lnSpc>
              <a:buFont typeface="Arial" pitchFamily="34" charset="0"/>
              <a:buChar char="–"/>
            </a:pPr>
            <a:r>
              <a:rPr lang="en-US" sz="2200" smtClean="0"/>
              <a:t>It may inspect the contents of the traffic, blocking what it views as inappropriate content (i.e. websites, viruses, vulnerabilities, ...)</a:t>
            </a:r>
            <a:endParaRPr lang="it-IT" sz="2200" b="1" smtClean="0"/>
          </a:p>
          <a:p>
            <a:pPr eaLnBrk="1" hangingPunct="1">
              <a:lnSpc>
                <a:spcPct val="80000"/>
              </a:lnSpc>
              <a:buFont typeface="Arial" pitchFamily="34" charset="0"/>
              <a:buChar char="•"/>
            </a:pPr>
            <a:endParaRPr lang="it-IT" sz="2200" smtClean="0"/>
          </a:p>
        </p:txBody>
      </p:sp>
      <p:sp>
        <p:nvSpPr>
          <p:cNvPr id="9220" name="Slide Number Placeholder 4"/>
          <p:cNvSpPr>
            <a:spLocks noGrp="1"/>
          </p:cNvSpPr>
          <p:nvPr>
            <p:ph type="sldNum" sz="quarter" idx="10"/>
          </p:nvPr>
        </p:nvSpPr>
        <p:spPr>
          <a:xfrm>
            <a:off x="6553200" y="6356350"/>
            <a:ext cx="2133600" cy="365125"/>
          </a:xfrm>
          <a:noFill/>
        </p:spPr>
        <p:txBody>
          <a:bodyPr/>
          <a:lstStyle/>
          <a:p>
            <a:fld id="{8D03AC97-CA83-4786-A9A9-41F92739A01B}" type="slidenum">
              <a:rPr lang="en-US"/>
              <a:pPr/>
              <a:t>9</a:t>
            </a:fld>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t>Stateless Firewalls</a:t>
            </a:r>
          </a:p>
        </p:txBody>
      </p:sp>
      <p:sp>
        <p:nvSpPr>
          <p:cNvPr id="10243" name="Content Placeholder 2"/>
          <p:cNvSpPr>
            <a:spLocks noGrp="1"/>
          </p:cNvSpPr>
          <p:nvPr>
            <p:ph idx="1"/>
          </p:nvPr>
        </p:nvSpPr>
        <p:spPr>
          <a:xfrm>
            <a:off x="457200" y="1371600"/>
            <a:ext cx="8458200" cy="4754563"/>
          </a:xfrm>
        </p:spPr>
        <p:txBody>
          <a:bodyPr/>
          <a:lstStyle/>
          <a:p>
            <a:r>
              <a:rPr lang="en-US" smtClean="0"/>
              <a:t>A stateless firewall doesn’t maintain any remembered context (or “state”) with respect to the packets it is processing. Instead, it treats each packet attempting to travel through it in isolation without considering packets that it has processed previously.</a:t>
            </a:r>
          </a:p>
        </p:txBody>
      </p:sp>
      <p:sp>
        <p:nvSpPr>
          <p:cNvPr id="10244" name="Slide Number Placeholder 3"/>
          <p:cNvSpPr>
            <a:spLocks noGrp="1"/>
          </p:cNvSpPr>
          <p:nvPr>
            <p:ph type="sldNum" sz="quarter" idx="10"/>
          </p:nvPr>
        </p:nvSpPr>
        <p:spPr>
          <a:xfrm>
            <a:off x="6553200" y="6356350"/>
            <a:ext cx="2133600" cy="365125"/>
          </a:xfrm>
          <a:noFill/>
        </p:spPr>
        <p:txBody>
          <a:bodyPr/>
          <a:lstStyle/>
          <a:p>
            <a:fld id="{9FADCC82-8B27-425B-9390-F1176D69D494}" type="slidenum">
              <a:rPr lang="en-US"/>
              <a:pPr/>
              <a:t>10</a:t>
            </a:fld>
            <a:endParaRPr lang="en-US"/>
          </a:p>
        </p:txBody>
      </p:sp>
      <p:grpSp>
        <p:nvGrpSpPr>
          <p:cNvPr id="10245" name="Group 23"/>
          <p:cNvGrpSpPr>
            <a:grpSpLocks/>
          </p:cNvGrpSpPr>
          <p:nvPr/>
        </p:nvGrpSpPr>
        <p:grpSpPr bwMode="auto">
          <a:xfrm>
            <a:off x="990600" y="3325813"/>
            <a:ext cx="7254875" cy="3140075"/>
            <a:chOff x="152400" y="1800999"/>
            <a:chExt cx="8168605" cy="4129001"/>
          </a:xfrm>
        </p:grpSpPr>
        <p:pic>
          <p:nvPicPr>
            <p:cNvPr id="10246" name="Picture 4" descr="06-17f.png"/>
            <p:cNvPicPr>
              <a:picLocks noChangeAspect="1"/>
            </p:cNvPicPr>
            <p:nvPr/>
          </p:nvPicPr>
          <p:blipFill>
            <a:blip r:embed="rId2"/>
            <a:srcRect/>
            <a:stretch>
              <a:fillRect/>
            </a:stretch>
          </p:blipFill>
          <p:spPr bwMode="auto">
            <a:xfrm flipH="1">
              <a:off x="4191000" y="3657600"/>
              <a:ext cx="1856236" cy="1578867"/>
            </a:xfrm>
            <a:prstGeom prst="rect">
              <a:avLst/>
            </a:prstGeom>
            <a:noFill/>
            <a:ln w="9525">
              <a:noFill/>
              <a:miter lim="800000"/>
              <a:headEnd/>
              <a:tailEnd/>
            </a:ln>
          </p:spPr>
        </p:pic>
        <p:cxnSp>
          <p:nvCxnSpPr>
            <p:cNvPr id="6" name="Straight Connector 5"/>
            <p:cNvCxnSpPr>
              <a:stCxn id="18" idx="2"/>
            </p:cNvCxnSpPr>
            <p:nvPr/>
          </p:nvCxnSpPr>
          <p:spPr>
            <a:xfrm rot="5400000">
              <a:off x="4914810" y="3783044"/>
              <a:ext cx="152385"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48" name="Picture 6" descr="05-01c.wmf"/>
            <p:cNvPicPr>
              <a:picLocks noChangeAspect="1"/>
            </p:cNvPicPr>
            <p:nvPr/>
          </p:nvPicPr>
          <p:blipFill>
            <a:blip r:embed="rId3"/>
            <a:srcRect/>
            <a:stretch>
              <a:fillRect/>
            </a:stretch>
          </p:blipFill>
          <p:spPr bwMode="auto">
            <a:xfrm>
              <a:off x="7315200" y="1828800"/>
              <a:ext cx="914400" cy="2019718"/>
            </a:xfrm>
            <a:prstGeom prst="rect">
              <a:avLst/>
            </a:prstGeom>
            <a:noFill/>
            <a:ln w="9525">
              <a:noFill/>
              <a:miter lim="800000"/>
              <a:headEnd/>
              <a:tailEnd/>
            </a:ln>
          </p:spPr>
        </p:pic>
        <p:grpSp>
          <p:nvGrpSpPr>
            <p:cNvPr id="10249" name="Group 7"/>
            <p:cNvGrpSpPr>
              <a:grpSpLocks/>
            </p:cNvGrpSpPr>
            <p:nvPr/>
          </p:nvGrpSpPr>
          <p:grpSpPr bwMode="auto">
            <a:xfrm>
              <a:off x="152400" y="1800999"/>
              <a:ext cx="1981200" cy="2700293"/>
              <a:chOff x="152400" y="228600"/>
              <a:chExt cx="1981200" cy="2700293"/>
            </a:xfrm>
          </p:grpSpPr>
          <p:sp>
            <p:nvSpPr>
              <p:cNvPr id="9" name="Rounded Rectangle 8"/>
              <p:cNvSpPr/>
              <p:nvPr/>
            </p:nvSpPr>
            <p:spPr>
              <a:xfrm>
                <a:off x="152400" y="228600"/>
                <a:ext cx="1980485" cy="266777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1600">
                  <a:solidFill>
                    <a:srgbClr val="FFFFFF"/>
                  </a:solidFill>
                </a:endParaRPr>
              </a:p>
            </p:txBody>
          </p:sp>
          <p:sp>
            <p:nvSpPr>
              <p:cNvPr id="10264" name="TextBox 9"/>
              <p:cNvSpPr txBox="1">
                <a:spLocks noChangeArrowheads="1"/>
              </p:cNvSpPr>
              <p:nvPr/>
            </p:nvSpPr>
            <p:spPr bwMode="auto">
              <a:xfrm>
                <a:off x="172047" y="2133601"/>
                <a:ext cx="1929808" cy="795292"/>
              </a:xfrm>
              <a:prstGeom prst="rect">
                <a:avLst/>
              </a:prstGeom>
              <a:noFill/>
              <a:ln w="9525">
                <a:noFill/>
                <a:miter lim="800000"/>
                <a:headEnd/>
                <a:tailEnd/>
              </a:ln>
            </p:spPr>
            <p:txBody>
              <a:bodyPr wrap="none">
                <a:spAutoFit/>
              </a:bodyPr>
              <a:lstStyle/>
              <a:p>
                <a:r>
                  <a:rPr lang="en-US" sz="1600"/>
                  <a:t>Trusted internal</a:t>
                </a:r>
              </a:p>
              <a:p>
                <a:r>
                  <a:rPr lang="en-US" sz="1600"/>
                  <a:t>network</a:t>
                </a:r>
              </a:p>
            </p:txBody>
          </p:sp>
        </p:grpSp>
        <p:pic>
          <p:nvPicPr>
            <p:cNvPr id="10250" name="Picture 10" descr="05-01a.wmf"/>
            <p:cNvPicPr>
              <a:picLocks noChangeAspect="1"/>
            </p:cNvPicPr>
            <p:nvPr/>
          </p:nvPicPr>
          <p:blipFill>
            <a:blip r:embed="rId4"/>
            <a:srcRect/>
            <a:stretch>
              <a:fillRect/>
            </a:stretch>
          </p:blipFill>
          <p:spPr bwMode="auto">
            <a:xfrm>
              <a:off x="457200" y="2286000"/>
              <a:ext cx="1162050" cy="1155700"/>
            </a:xfrm>
            <a:prstGeom prst="rect">
              <a:avLst/>
            </a:prstGeom>
            <a:noFill/>
            <a:ln w="9525">
              <a:noFill/>
              <a:miter lim="800000"/>
              <a:headEnd/>
              <a:tailEnd/>
            </a:ln>
          </p:spPr>
        </p:pic>
        <p:cxnSp>
          <p:nvCxnSpPr>
            <p:cNvPr id="12" name="Straight Arrow Connector 11"/>
            <p:cNvCxnSpPr/>
            <p:nvPr/>
          </p:nvCxnSpPr>
          <p:spPr>
            <a:xfrm>
              <a:off x="1809358" y="2103680"/>
              <a:ext cx="5353385" cy="20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flipV="1">
              <a:off x="1809358" y="2792543"/>
              <a:ext cx="535338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343803" y="1800999"/>
              <a:ext cx="913383" cy="534390"/>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00" dirty="0">
                  <a:solidFill>
                    <a:schemeClr val="tx1"/>
                  </a:solidFill>
                  <a:cs typeface="Arial"/>
                </a:rPr>
                <a:t>SYN</a:t>
              </a:r>
            </a:p>
            <a:p>
              <a:pPr>
                <a:defRPr/>
              </a:pPr>
              <a:r>
                <a:rPr lang="en-US" sz="800" dirty="0" err="1">
                  <a:solidFill>
                    <a:schemeClr val="tx1"/>
                  </a:solidFill>
                  <a:cs typeface="Arial"/>
                </a:rPr>
                <a:t>Seq</a:t>
              </a:r>
              <a:r>
                <a:rPr lang="en-US" sz="800" dirty="0">
                  <a:solidFill>
                    <a:schemeClr val="tx1"/>
                  </a:solidFill>
                  <a:cs typeface="Arial"/>
                </a:rPr>
                <a:t> = x</a:t>
              </a:r>
            </a:p>
            <a:p>
              <a:pPr>
                <a:defRPr/>
              </a:pPr>
              <a:r>
                <a:rPr lang="en-US" sz="800" dirty="0">
                  <a:solidFill>
                    <a:schemeClr val="tx1"/>
                  </a:solidFill>
                  <a:cs typeface="Arial"/>
                </a:rPr>
                <a:t>Port=80</a:t>
              </a:r>
            </a:p>
          </p:txBody>
        </p:sp>
        <p:sp>
          <p:nvSpPr>
            <p:cNvPr id="15" name="Rectangle 14"/>
            <p:cNvSpPr/>
            <p:nvPr/>
          </p:nvSpPr>
          <p:spPr>
            <a:xfrm>
              <a:off x="2343803" y="2487774"/>
              <a:ext cx="913383" cy="609539"/>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00" dirty="0">
                  <a:solidFill>
                    <a:schemeClr val="tx1"/>
                  </a:solidFill>
                  <a:cs typeface="Arial"/>
                </a:rPr>
                <a:t>SYN-ACK</a:t>
              </a:r>
            </a:p>
            <a:p>
              <a:pPr>
                <a:defRPr/>
              </a:pPr>
              <a:r>
                <a:rPr lang="en-US" sz="800" dirty="0" err="1">
                  <a:solidFill>
                    <a:schemeClr val="tx1"/>
                  </a:solidFill>
                  <a:cs typeface="Arial"/>
                </a:rPr>
                <a:t>Seq</a:t>
              </a:r>
              <a:r>
                <a:rPr lang="en-US" sz="800" dirty="0">
                  <a:solidFill>
                    <a:schemeClr val="tx1"/>
                  </a:solidFill>
                  <a:cs typeface="Arial"/>
                </a:rPr>
                <a:t> = y</a:t>
              </a:r>
            </a:p>
            <a:p>
              <a:pPr>
                <a:defRPr/>
              </a:pPr>
              <a:r>
                <a:rPr lang="en-US" sz="800" dirty="0" err="1">
                  <a:solidFill>
                    <a:schemeClr val="tx1"/>
                  </a:solidFill>
                  <a:cs typeface="Arial"/>
                </a:rPr>
                <a:t>Ack</a:t>
              </a:r>
              <a:r>
                <a:rPr lang="en-US" sz="800" dirty="0">
                  <a:solidFill>
                    <a:schemeClr val="tx1"/>
                  </a:solidFill>
                  <a:cs typeface="Arial"/>
                </a:rPr>
                <a:t> = x + 1</a:t>
              </a:r>
            </a:p>
          </p:txBody>
        </p:sp>
        <p:cxnSp>
          <p:nvCxnSpPr>
            <p:cNvPr id="16" name="Straight Arrow Connector 15"/>
            <p:cNvCxnSpPr/>
            <p:nvPr/>
          </p:nvCxnSpPr>
          <p:spPr>
            <a:xfrm>
              <a:off x="1809358" y="3552379"/>
              <a:ext cx="5353385" cy="20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343803" y="3249698"/>
              <a:ext cx="913383" cy="609539"/>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00" dirty="0">
                  <a:solidFill>
                    <a:schemeClr val="tx1"/>
                  </a:solidFill>
                  <a:cs typeface="Arial"/>
                </a:rPr>
                <a:t>ACK</a:t>
              </a:r>
            </a:p>
            <a:p>
              <a:pPr>
                <a:defRPr/>
              </a:pPr>
              <a:r>
                <a:rPr lang="en-US" sz="800" dirty="0" err="1">
                  <a:solidFill>
                    <a:schemeClr val="tx1"/>
                  </a:solidFill>
                  <a:cs typeface="Arial"/>
                </a:rPr>
                <a:t>Seq</a:t>
              </a:r>
              <a:r>
                <a:rPr lang="en-US" sz="800" dirty="0">
                  <a:solidFill>
                    <a:schemeClr val="tx1"/>
                  </a:solidFill>
                  <a:cs typeface="Arial"/>
                </a:rPr>
                <a:t> = x + 1</a:t>
              </a:r>
            </a:p>
            <a:p>
              <a:pPr>
                <a:defRPr/>
              </a:pPr>
              <a:r>
                <a:rPr lang="en-US" sz="800" dirty="0" err="1">
                  <a:solidFill>
                    <a:schemeClr val="tx1"/>
                  </a:solidFill>
                  <a:cs typeface="Arial"/>
                </a:rPr>
                <a:t>Ack</a:t>
              </a:r>
              <a:r>
                <a:rPr lang="en-US" sz="800" dirty="0">
                  <a:solidFill>
                    <a:schemeClr val="tx1"/>
                  </a:solidFill>
                  <a:cs typeface="Arial"/>
                </a:rPr>
                <a:t> = y + 1</a:t>
              </a:r>
            </a:p>
          </p:txBody>
        </p:sp>
        <p:sp>
          <p:nvSpPr>
            <p:cNvPr id="18" name="Rectangle 17"/>
            <p:cNvSpPr/>
            <p:nvPr/>
          </p:nvSpPr>
          <p:spPr>
            <a:xfrm>
              <a:off x="4799746" y="1878234"/>
              <a:ext cx="382512" cy="1828617"/>
            </a:xfrm>
            <a:prstGeom prst="rect">
              <a:avLst/>
            </a:prstGeom>
            <a:solidFill>
              <a:srgbClr val="DDDDDD">
                <a:alpha val="65882"/>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1600">
                <a:solidFill>
                  <a:srgbClr val="FFFFFF"/>
                </a:solidFill>
              </a:endParaRPr>
            </a:p>
          </p:txBody>
        </p:sp>
        <p:sp>
          <p:nvSpPr>
            <p:cNvPr id="10258" name="TextBox 18"/>
            <p:cNvSpPr txBox="1">
              <a:spLocks noChangeArrowheads="1"/>
            </p:cNvSpPr>
            <p:nvPr/>
          </p:nvSpPr>
          <p:spPr bwMode="auto">
            <a:xfrm>
              <a:off x="457200" y="5134708"/>
              <a:ext cx="5721613" cy="795292"/>
            </a:xfrm>
            <a:prstGeom prst="rect">
              <a:avLst/>
            </a:prstGeom>
            <a:noFill/>
            <a:ln w="9525">
              <a:noFill/>
              <a:miter lim="800000"/>
              <a:headEnd/>
              <a:tailEnd/>
            </a:ln>
          </p:spPr>
          <p:txBody>
            <a:bodyPr wrap="none">
              <a:spAutoFit/>
            </a:bodyPr>
            <a:lstStyle/>
            <a:p>
              <a:r>
                <a:rPr lang="en-US" sz="1600"/>
                <a:t>Allow outbound SYN packets, destination port=80 </a:t>
              </a:r>
            </a:p>
            <a:p>
              <a:r>
                <a:rPr lang="en-US" sz="1600"/>
                <a:t>Allow inbound SYN-ACK packets, source port=80</a:t>
              </a:r>
            </a:p>
          </p:txBody>
        </p:sp>
        <p:sp>
          <p:nvSpPr>
            <p:cNvPr id="10259" name="TextBox 19"/>
            <p:cNvSpPr txBox="1">
              <a:spLocks noChangeArrowheads="1"/>
            </p:cNvSpPr>
            <p:nvPr/>
          </p:nvSpPr>
          <p:spPr bwMode="auto">
            <a:xfrm>
              <a:off x="762000" y="2486799"/>
              <a:ext cx="851909" cy="464368"/>
            </a:xfrm>
            <a:prstGeom prst="rect">
              <a:avLst/>
            </a:prstGeom>
            <a:noFill/>
            <a:ln w="9525">
              <a:noFill/>
              <a:miter lim="800000"/>
              <a:headEnd/>
              <a:tailEnd/>
            </a:ln>
          </p:spPr>
          <p:txBody>
            <a:bodyPr wrap="none">
              <a:spAutoFit/>
            </a:bodyPr>
            <a:lstStyle/>
            <a:p>
              <a:r>
                <a:rPr lang="en-US" sz="1600">
                  <a:solidFill>
                    <a:schemeClr val="bg1"/>
                  </a:solidFill>
                </a:rPr>
                <a:t>Client</a:t>
              </a:r>
            </a:p>
          </p:txBody>
        </p:sp>
        <p:sp>
          <p:nvSpPr>
            <p:cNvPr id="10260" name="TextBox 20"/>
            <p:cNvSpPr txBox="1">
              <a:spLocks noChangeArrowheads="1"/>
            </p:cNvSpPr>
            <p:nvPr/>
          </p:nvSpPr>
          <p:spPr bwMode="auto">
            <a:xfrm>
              <a:off x="7370620" y="3821669"/>
              <a:ext cx="950385" cy="464368"/>
            </a:xfrm>
            <a:prstGeom prst="rect">
              <a:avLst/>
            </a:prstGeom>
            <a:noFill/>
            <a:ln w="9525">
              <a:noFill/>
              <a:miter lim="800000"/>
              <a:headEnd/>
              <a:tailEnd/>
            </a:ln>
          </p:spPr>
          <p:txBody>
            <a:bodyPr wrap="none">
              <a:spAutoFit/>
            </a:bodyPr>
            <a:lstStyle/>
            <a:p>
              <a:r>
                <a:rPr lang="en-US" sz="1600"/>
                <a:t>Server</a:t>
              </a:r>
            </a:p>
          </p:txBody>
        </p:sp>
        <p:pic>
          <p:nvPicPr>
            <p:cNvPr id="10261" name="Picture 21" descr="06-11.png"/>
            <p:cNvPicPr>
              <a:picLocks noChangeAspect="1"/>
            </p:cNvPicPr>
            <p:nvPr/>
          </p:nvPicPr>
          <p:blipFill>
            <a:blip r:embed="rId5"/>
            <a:srcRect/>
            <a:stretch>
              <a:fillRect/>
            </a:stretch>
          </p:blipFill>
          <p:spPr bwMode="auto">
            <a:xfrm>
              <a:off x="4572000" y="2292925"/>
              <a:ext cx="1292355" cy="1161290"/>
            </a:xfrm>
            <a:prstGeom prst="rect">
              <a:avLst/>
            </a:prstGeom>
            <a:noFill/>
            <a:ln w="9525">
              <a:noFill/>
              <a:miter lim="800000"/>
              <a:headEnd/>
              <a:tailEnd/>
            </a:ln>
          </p:spPr>
        </p:pic>
        <p:sp>
          <p:nvSpPr>
            <p:cNvPr id="10262" name="TextBox 22"/>
            <p:cNvSpPr txBox="1">
              <a:spLocks noChangeArrowheads="1"/>
            </p:cNvSpPr>
            <p:nvPr/>
          </p:nvSpPr>
          <p:spPr bwMode="auto">
            <a:xfrm>
              <a:off x="3124200" y="4267200"/>
              <a:ext cx="1070100" cy="464368"/>
            </a:xfrm>
            <a:prstGeom prst="rect">
              <a:avLst/>
            </a:prstGeom>
            <a:noFill/>
            <a:ln w="9525">
              <a:noFill/>
              <a:miter lim="800000"/>
              <a:headEnd/>
              <a:tailEnd/>
            </a:ln>
          </p:spPr>
          <p:txBody>
            <a:bodyPr wrap="none">
              <a:spAutoFit/>
            </a:bodyPr>
            <a:lstStyle/>
            <a:p>
              <a:r>
                <a:rPr lang="en-US" sz="1600"/>
                <a:t>Firewall</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Stateless Restrictions</a:t>
            </a:r>
          </a:p>
        </p:txBody>
      </p:sp>
      <p:sp>
        <p:nvSpPr>
          <p:cNvPr id="11267" name="Content Placeholder 2"/>
          <p:cNvSpPr>
            <a:spLocks noGrp="1"/>
          </p:cNvSpPr>
          <p:nvPr>
            <p:ph idx="1"/>
          </p:nvPr>
        </p:nvSpPr>
        <p:spPr>
          <a:xfrm>
            <a:off x="457200" y="1447800"/>
            <a:ext cx="8229600" cy="1676400"/>
          </a:xfrm>
        </p:spPr>
        <p:txBody>
          <a:bodyPr/>
          <a:lstStyle/>
          <a:p>
            <a:r>
              <a:rPr lang="en-US" smtClean="0"/>
              <a:t>Stateless firewalls may have to be fairly restrictive in order to prevent most attacks.</a:t>
            </a:r>
          </a:p>
        </p:txBody>
      </p:sp>
      <p:sp>
        <p:nvSpPr>
          <p:cNvPr id="11268" name="Slide Number Placeholder 3"/>
          <p:cNvSpPr>
            <a:spLocks noGrp="1"/>
          </p:cNvSpPr>
          <p:nvPr>
            <p:ph type="sldNum" sz="quarter" idx="10"/>
          </p:nvPr>
        </p:nvSpPr>
        <p:spPr>
          <a:xfrm>
            <a:off x="6553200" y="6356350"/>
            <a:ext cx="2133600" cy="365125"/>
          </a:xfrm>
          <a:noFill/>
        </p:spPr>
        <p:txBody>
          <a:bodyPr/>
          <a:lstStyle/>
          <a:p>
            <a:fld id="{672E29FE-8746-4412-A5D1-C4BE5C1D9590}" type="slidenum">
              <a:rPr lang="en-US"/>
              <a:pPr/>
              <a:t>11</a:t>
            </a:fld>
            <a:endParaRPr lang="en-US"/>
          </a:p>
        </p:txBody>
      </p:sp>
      <p:grpSp>
        <p:nvGrpSpPr>
          <p:cNvPr id="11269" name="Group 22"/>
          <p:cNvGrpSpPr>
            <a:grpSpLocks/>
          </p:cNvGrpSpPr>
          <p:nvPr/>
        </p:nvGrpSpPr>
        <p:grpSpPr bwMode="auto">
          <a:xfrm>
            <a:off x="593725" y="2349500"/>
            <a:ext cx="8108950" cy="4003675"/>
            <a:chOff x="312274" y="2209800"/>
            <a:chExt cx="8459467" cy="4541516"/>
          </a:xfrm>
        </p:grpSpPr>
        <p:cxnSp>
          <p:nvCxnSpPr>
            <p:cNvPr id="5" name="Straight Connector 4"/>
            <p:cNvCxnSpPr>
              <a:stCxn id="14" idx="2"/>
            </p:cNvCxnSpPr>
            <p:nvPr/>
          </p:nvCxnSpPr>
          <p:spPr>
            <a:xfrm rot="5400000">
              <a:off x="3913597" y="4278045"/>
              <a:ext cx="327738" cy="1656"/>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271" name="Picture 5" descr="06-17f.png"/>
            <p:cNvPicPr>
              <a:picLocks noChangeAspect="1"/>
            </p:cNvPicPr>
            <p:nvPr/>
          </p:nvPicPr>
          <p:blipFill>
            <a:blip r:embed="rId2"/>
            <a:srcRect/>
            <a:stretch>
              <a:fillRect/>
            </a:stretch>
          </p:blipFill>
          <p:spPr bwMode="auto">
            <a:xfrm flipH="1">
              <a:off x="3200400" y="4191000"/>
              <a:ext cx="1856236" cy="1578867"/>
            </a:xfrm>
            <a:prstGeom prst="rect">
              <a:avLst/>
            </a:prstGeom>
            <a:noFill/>
            <a:ln w="9525">
              <a:noFill/>
              <a:miter lim="800000"/>
              <a:headEnd/>
              <a:tailEnd/>
            </a:ln>
          </p:spPr>
        </p:pic>
        <p:pic>
          <p:nvPicPr>
            <p:cNvPr id="11272" name="Picture 6" descr="05-09b.tif"/>
            <p:cNvPicPr>
              <a:picLocks noChangeAspect="1"/>
            </p:cNvPicPr>
            <p:nvPr/>
          </p:nvPicPr>
          <p:blipFill>
            <a:blip r:embed="rId3"/>
            <a:srcRect/>
            <a:stretch>
              <a:fillRect/>
            </a:stretch>
          </p:blipFill>
          <p:spPr bwMode="auto">
            <a:xfrm>
              <a:off x="7391400" y="2743200"/>
              <a:ext cx="1317942" cy="1307592"/>
            </a:xfrm>
            <a:prstGeom prst="rect">
              <a:avLst/>
            </a:prstGeom>
            <a:noFill/>
            <a:ln w="9525">
              <a:noFill/>
              <a:miter lim="800000"/>
              <a:headEnd/>
              <a:tailEnd/>
            </a:ln>
          </p:spPr>
        </p:pic>
        <p:grpSp>
          <p:nvGrpSpPr>
            <p:cNvPr id="11273" name="Group 7"/>
            <p:cNvGrpSpPr>
              <a:grpSpLocks/>
            </p:cNvGrpSpPr>
            <p:nvPr/>
          </p:nvGrpSpPr>
          <p:grpSpPr bwMode="auto">
            <a:xfrm>
              <a:off x="312274" y="2209800"/>
              <a:ext cx="1981201" cy="2667000"/>
              <a:chOff x="83674" y="228600"/>
              <a:chExt cx="1981201" cy="2667000"/>
            </a:xfrm>
          </p:grpSpPr>
          <p:sp>
            <p:nvSpPr>
              <p:cNvPr id="9" name="Rounded Rectangle 8"/>
              <p:cNvSpPr/>
              <p:nvPr/>
            </p:nvSpPr>
            <p:spPr>
              <a:xfrm>
                <a:off x="83674" y="228600"/>
                <a:ext cx="1980721" cy="266692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1800">
                  <a:solidFill>
                    <a:srgbClr val="FFFFFF"/>
                  </a:solidFill>
                </a:endParaRPr>
              </a:p>
            </p:txBody>
          </p:sp>
          <p:sp>
            <p:nvSpPr>
              <p:cNvPr id="11285" name="TextBox 9"/>
              <p:cNvSpPr txBox="1">
                <a:spLocks noChangeArrowheads="1"/>
              </p:cNvSpPr>
              <p:nvPr/>
            </p:nvSpPr>
            <p:spPr bwMode="auto">
              <a:xfrm>
                <a:off x="209029" y="2133600"/>
                <a:ext cx="1855846" cy="689211"/>
              </a:xfrm>
              <a:prstGeom prst="rect">
                <a:avLst/>
              </a:prstGeom>
              <a:noFill/>
              <a:ln w="9525">
                <a:noFill/>
                <a:miter lim="800000"/>
                <a:headEnd/>
                <a:tailEnd/>
              </a:ln>
            </p:spPr>
            <p:txBody>
              <a:bodyPr wrap="none">
                <a:spAutoFit/>
              </a:bodyPr>
              <a:lstStyle/>
              <a:p>
                <a:r>
                  <a:rPr lang="en-US" sz="1800"/>
                  <a:t>Trusted internal</a:t>
                </a:r>
              </a:p>
              <a:p>
                <a:r>
                  <a:rPr lang="en-US" sz="1800"/>
                  <a:t>network</a:t>
                </a:r>
              </a:p>
            </p:txBody>
          </p:sp>
        </p:grpSp>
        <p:pic>
          <p:nvPicPr>
            <p:cNvPr id="11274" name="Picture 10" descr="05-01a.wmf"/>
            <p:cNvPicPr>
              <a:picLocks noChangeAspect="1"/>
            </p:cNvPicPr>
            <p:nvPr/>
          </p:nvPicPr>
          <p:blipFill>
            <a:blip r:embed="rId4"/>
            <a:srcRect/>
            <a:stretch>
              <a:fillRect/>
            </a:stretch>
          </p:blipFill>
          <p:spPr bwMode="auto">
            <a:xfrm>
              <a:off x="685800" y="2743200"/>
              <a:ext cx="1066800" cy="1060970"/>
            </a:xfrm>
            <a:prstGeom prst="rect">
              <a:avLst/>
            </a:prstGeom>
            <a:noFill/>
            <a:ln w="9525">
              <a:noFill/>
              <a:miter lim="800000"/>
              <a:headEnd/>
              <a:tailEnd/>
            </a:ln>
          </p:spPr>
        </p:pic>
        <p:cxnSp>
          <p:nvCxnSpPr>
            <p:cNvPr id="12" name="Straight Arrow Connector 11"/>
            <p:cNvCxnSpPr/>
            <p:nvPr/>
          </p:nvCxnSpPr>
          <p:spPr>
            <a:xfrm rot="10800000" flipV="1">
              <a:off x="4038547" y="3200218"/>
              <a:ext cx="3353646"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714541" y="2895890"/>
              <a:ext cx="914179" cy="608657"/>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50" dirty="0">
                  <a:solidFill>
                    <a:schemeClr val="tx1"/>
                  </a:solidFill>
                  <a:cs typeface="Arial"/>
                </a:rPr>
                <a:t>SYN</a:t>
              </a:r>
            </a:p>
            <a:p>
              <a:pPr>
                <a:defRPr/>
              </a:pPr>
              <a:r>
                <a:rPr lang="en-US" sz="900" dirty="0" err="1">
                  <a:solidFill>
                    <a:schemeClr val="tx1"/>
                  </a:solidFill>
                  <a:cs typeface="Arial"/>
                </a:rPr>
                <a:t>Seq</a:t>
              </a:r>
              <a:r>
                <a:rPr lang="en-US" sz="900" dirty="0">
                  <a:solidFill>
                    <a:schemeClr val="tx1"/>
                  </a:solidFill>
                  <a:cs typeface="Arial"/>
                </a:rPr>
                <a:t> = y</a:t>
              </a:r>
            </a:p>
            <a:p>
              <a:pPr>
                <a:defRPr/>
              </a:pPr>
              <a:r>
                <a:rPr lang="en-US" sz="900" dirty="0">
                  <a:solidFill>
                    <a:schemeClr val="tx1"/>
                  </a:solidFill>
                  <a:cs typeface="Arial"/>
                </a:rPr>
                <a:t>Port=80</a:t>
              </a:r>
            </a:p>
          </p:txBody>
        </p:sp>
        <p:sp>
          <p:nvSpPr>
            <p:cNvPr id="14" name="Rectangle 13"/>
            <p:cNvSpPr/>
            <p:nvPr/>
          </p:nvSpPr>
          <p:spPr>
            <a:xfrm>
              <a:off x="3886184" y="2285432"/>
              <a:ext cx="380908" cy="1829572"/>
            </a:xfrm>
            <a:prstGeom prst="rect">
              <a:avLst/>
            </a:prstGeom>
            <a:solidFill>
              <a:srgbClr val="DDDDDD">
                <a:alpha val="65882"/>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1800">
                <a:solidFill>
                  <a:srgbClr val="FFFFFF"/>
                </a:solidFill>
              </a:endParaRPr>
            </a:p>
          </p:txBody>
        </p:sp>
        <p:sp>
          <p:nvSpPr>
            <p:cNvPr id="11278" name="TextBox 14"/>
            <p:cNvSpPr txBox="1">
              <a:spLocks noChangeArrowheads="1"/>
            </p:cNvSpPr>
            <p:nvPr/>
          </p:nvSpPr>
          <p:spPr bwMode="auto">
            <a:xfrm>
              <a:off x="935180" y="5769867"/>
              <a:ext cx="5550280" cy="981449"/>
            </a:xfrm>
            <a:prstGeom prst="rect">
              <a:avLst/>
            </a:prstGeom>
            <a:noFill/>
            <a:ln w="9525">
              <a:noFill/>
              <a:miter lim="800000"/>
              <a:headEnd/>
              <a:tailEnd/>
            </a:ln>
          </p:spPr>
          <p:txBody>
            <a:bodyPr wrap="none">
              <a:spAutoFit/>
            </a:bodyPr>
            <a:lstStyle/>
            <a:p>
              <a:r>
                <a:rPr lang="en-US" sz="1800"/>
                <a:t>Allow outbound SYN packets, destination port=80 </a:t>
              </a:r>
            </a:p>
            <a:p>
              <a:r>
                <a:rPr lang="en-US" sz="1800"/>
                <a:t>Drop inbound SYN packets,</a:t>
              </a:r>
            </a:p>
            <a:p>
              <a:r>
                <a:rPr lang="en-US" sz="1800"/>
                <a:t>Allow inbound SYN-ACK packets, source port=80</a:t>
              </a:r>
            </a:p>
          </p:txBody>
        </p:sp>
        <p:sp>
          <p:nvSpPr>
            <p:cNvPr id="11279" name="TextBox 15"/>
            <p:cNvSpPr txBox="1">
              <a:spLocks noChangeArrowheads="1"/>
            </p:cNvSpPr>
            <p:nvPr/>
          </p:nvSpPr>
          <p:spPr bwMode="auto">
            <a:xfrm>
              <a:off x="935180" y="2895600"/>
              <a:ext cx="807994" cy="396973"/>
            </a:xfrm>
            <a:prstGeom prst="rect">
              <a:avLst/>
            </a:prstGeom>
            <a:noFill/>
            <a:ln w="9525">
              <a:noFill/>
              <a:miter lim="800000"/>
              <a:headEnd/>
              <a:tailEnd/>
            </a:ln>
          </p:spPr>
          <p:txBody>
            <a:bodyPr wrap="none">
              <a:spAutoFit/>
            </a:bodyPr>
            <a:lstStyle/>
            <a:p>
              <a:r>
                <a:rPr lang="en-US" sz="1800">
                  <a:solidFill>
                    <a:schemeClr val="bg1"/>
                  </a:solidFill>
                </a:rPr>
                <a:t>Client</a:t>
              </a:r>
            </a:p>
          </p:txBody>
        </p:sp>
        <p:sp>
          <p:nvSpPr>
            <p:cNvPr id="11280" name="TextBox 16"/>
            <p:cNvSpPr txBox="1">
              <a:spLocks noChangeArrowheads="1"/>
            </p:cNvSpPr>
            <p:nvPr/>
          </p:nvSpPr>
          <p:spPr bwMode="auto">
            <a:xfrm>
              <a:off x="7696199" y="2971799"/>
              <a:ext cx="1075542" cy="396973"/>
            </a:xfrm>
            <a:prstGeom prst="rect">
              <a:avLst/>
            </a:prstGeom>
            <a:noFill/>
            <a:ln w="9525">
              <a:noFill/>
              <a:miter lim="800000"/>
              <a:headEnd/>
              <a:tailEnd/>
            </a:ln>
          </p:spPr>
          <p:txBody>
            <a:bodyPr wrap="none">
              <a:spAutoFit/>
            </a:bodyPr>
            <a:lstStyle/>
            <a:p>
              <a:r>
                <a:rPr lang="en-US" sz="1800"/>
                <a:t>Attacker</a:t>
              </a:r>
            </a:p>
          </p:txBody>
        </p:sp>
        <p:sp>
          <p:nvSpPr>
            <p:cNvPr id="11281" name="TextBox 17"/>
            <p:cNvSpPr txBox="1">
              <a:spLocks noChangeArrowheads="1"/>
            </p:cNvSpPr>
            <p:nvPr/>
          </p:nvSpPr>
          <p:spPr bwMode="auto">
            <a:xfrm>
              <a:off x="2590799" y="2971799"/>
              <a:ext cx="1182562" cy="396973"/>
            </a:xfrm>
            <a:prstGeom prst="rect">
              <a:avLst/>
            </a:prstGeom>
            <a:noFill/>
            <a:ln w="9525">
              <a:noFill/>
              <a:miter lim="800000"/>
              <a:headEnd/>
              <a:tailEnd/>
            </a:ln>
          </p:spPr>
          <p:txBody>
            <a:bodyPr wrap="none">
              <a:spAutoFit/>
            </a:bodyPr>
            <a:lstStyle/>
            <a:p>
              <a:r>
                <a:rPr lang="en-US" sz="1800"/>
                <a:t>(blocked)</a:t>
              </a:r>
            </a:p>
          </p:txBody>
        </p:sp>
        <p:pic>
          <p:nvPicPr>
            <p:cNvPr id="11282" name="Picture 18" descr="06-11.png"/>
            <p:cNvPicPr>
              <a:picLocks noChangeAspect="1"/>
            </p:cNvPicPr>
            <p:nvPr/>
          </p:nvPicPr>
          <p:blipFill>
            <a:blip r:embed="rId5"/>
            <a:srcRect/>
            <a:stretch>
              <a:fillRect/>
            </a:stretch>
          </p:blipFill>
          <p:spPr bwMode="auto">
            <a:xfrm>
              <a:off x="3733800" y="2743200"/>
              <a:ext cx="1292355" cy="1161290"/>
            </a:xfrm>
            <a:prstGeom prst="rect">
              <a:avLst/>
            </a:prstGeom>
            <a:noFill/>
            <a:ln w="9525">
              <a:noFill/>
              <a:miter lim="800000"/>
              <a:headEnd/>
              <a:tailEnd/>
            </a:ln>
          </p:spPr>
        </p:pic>
        <p:sp>
          <p:nvSpPr>
            <p:cNvPr id="11283" name="TextBox 19"/>
            <p:cNvSpPr txBox="1">
              <a:spLocks noChangeArrowheads="1"/>
            </p:cNvSpPr>
            <p:nvPr/>
          </p:nvSpPr>
          <p:spPr bwMode="auto">
            <a:xfrm>
              <a:off x="4724400" y="4114800"/>
              <a:ext cx="1022032" cy="396973"/>
            </a:xfrm>
            <a:prstGeom prst="rect">
              <a:avLst/>
            </a:prstGeom>
            <a:noFill/>
            <a:ln w="9525">
              <a:noFill/>
              <a:miter lim="800000"/>
              <a:headEnd/>
              <a:tailEnd/>
            </a:ln>
          </p:spPr>
          <p:txBody>
            <a:bodyPr wrap="none">
              <a:spAutoFit/>
            </a:bodyPr>
            <a:lstStyle/>
            <a:p>
              <a:r>
                <a:rPr lang="en-US" sz="1800"/>
                <a:t>Firewall</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t>Statefull Firewalls</a:t>
            </a:r>
          </a:p>
        </p:txBody>
      </p:sp>
      <p:sp>
        <p:nvSpPr>
          <p:cNvPr id="12291" name="Content Placeholder 2"/>
          <p:cNvSpPr>
            <a:spLocks noGrp="1"/>
          </p:cNvSpPr>
          <p:nvPr>
            <p:ph idx="1"/>
          </p:nvPr>
        </p:nvSpPr>
        <p:spPr/>
        <p:txBody>
          <a:bodyPr/>
          <a:lstStyle/>
          <a:p>
            <a:r>
              <a:rPr lang="en-US" b="1" smtClean="0"/>
              <a:t>Stateful firewalls </a:t>
            </a:r>
            <a:r>
              <a:rPr lang="en-US" smtClean="0"/>
              <a:t>can tell when packets are part of legitimate sessions originating within a trusted network. </a:t>
            </a:r>
          </a:p>
          <a:p>
            <a:endParaRPr lang="en-US" smtClean="0"/>
          </a:p>
          <a:p>
            <a:r>
              <a:rPr lang="en-US" smtClean="0"/>
              <a:t>Stateful firewalls maintain tables containing information on each active connection, including the IP addresses, ports, and sequence numbers of packets. </a:t>
            </a:r>
          </a:p>
          <a:p>
            <a:endParaRPr lang="en-US" smtClean="0"/>
          </a:p>
          <a:p>
            <a:r>
              <a:rPr lang="en-US" smtClean="0"/>
              <a:t>Using these tables, stateful firewalls can allow only inbound TCP packets that are in response to a connection initiated from within the internal network.</a:t>
            </a:r>
          </a:p>
        </p:txBody>
      </p:sp>
      <p:sp>
        <p:nvSpPr>
          <p:cNvPr id="12292" name="Slide Number Placeholder 3"/>
          <p:cNvSpPr>
            <a:spLocks noGrp="1"/>
          </p:cNvSpPr>
          <p:nvPr>
            <p:ph type="sldNum" sz="quarter" idx="10"/>
          </p:nvPr>
        </p:nvSpPr>
        <p:spPr>
          <a:xfrm>
            <a:off x="6553200" y="6356350"/>
            <a:ext cx="2133600" cy="365125"/>
          </a:xfrm>
          <a:noFill/>
        </p:spPr>
        <p:txBody>
          <a:bodyPr/>
          <a:lstStyle/>
          <a:p>
            <a:fld id="{B27EA717-9AAF-4F18-B775-287CB5E537DE}" type="slidenum">
              <a:rPr lang="en-US"/>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152400"/>
            <a:ext cx="8229600" cy="1265238"/>
          </a:xfrm>
        </p:spPr>
        <p:txBody>
          <a:bodyPr/>
          <a:lstStyle/>
          <a:p>
            <a:r>
              <a:rPr lang="en-US" smtClean="0"/>
              <a:t>Statefull Firewall Example</a:t>
            </a:r>
          </a:p>
        </p:txBody>
      </p:sp>
      <p:sp>
        <p:nvSpPr>
          <p:cNvPr id="13315" name="Content Placeholder 2"/>
          <p:cNvSpPr>
            <a:spLocks noGrp="1"/>
          </p:cNvSpPr>
          <p:nvPr>
            <p:ph idx="1"/>
          </p:nvPr>
        </p:nvSpPr>
        <p:spPr>
          <a:xfrm>
            <a:off x="457200" y="1219200"/>
            <a:ext cx="8229600" cy="4906963"/>
          </a:xfrm>
        </p:spPr>
        <p:txBody>
          <a:bodyPr/>
          <a:lstStyle/>
          <a:p>
            <a:r>
              <a:rPr lang="en-US" smtClean="0"/>
              <a:t>Allow only requested TCP connections:</a:t>
            </a:r>
          </a:p>
        </p:txBody>
      </p:sp>
      <p:sp>
        <p:nvSpPr>
          <p:cNvPr id="13316" name="Slide Number Placeholder 3"/>
          <p:cNvSpPr>
            <a:spLocks noGrp="1"/>
          </p:cNvSpPr>
          <p:nvPr>
            <p:ph type="sldNum" sz="quarter" idx="10"/>
          </p:nvPr>
        </p:nvSpPr>
        <p:spPr>
          <a:xfrm>
            <a:off x="6553200" y="6356350"/>
            <a:ext cx="2133600" cy="365125"/>
          </a:xfrm>
          <a:noFill/>
        </p:spPr>
        <p:txBody>
          <a:bodyPr/>
          <a:lstStyle/>
          <a:p>
            <a:fld id="{52CC8C2C-9ABF-40B6-8D76-A79ED2E9BF76}" type="slidenum">
              <a:rPr lang="en-US"/>
              <a:pPr/>
              <a:t>13</a:t>
            </a:fld>
            <a:endParaRPr lang="en-US"/>
          </a:p>
        </p:txBody>
      </p:sp>
      <p:grpSp>
        <p:nvGrpSpPr>
          <p:cNvPr id="13317" name="Group 33"/>
          <p:cNvGrpSpPr>
            <a:grpSpLocks/>
          </p:cNvGrpSpPr>
          <p:nvPr/>
        </p:nvGrpSpPr>
        <p:grpSpPr bwMode="auto">
          <a:xfrm>
            <a:off x="282575" y="1685925"/>
            <a:ext cx="8031163" cy="4957763"/>
            <a:chOff x="152400" y="304800"/>
            <a:chExt cx="8398773" cy="5721594"/>
          </a:xfrm>
        </p:grpSpPr>
        <p:pic>
          <p:nvPicPr>
            <p:cNvPr id="13318" name="Picture 4" descr="06-17f.png"/>
            <p:cNvPicPr>
              <a:picLocks noChangeAspect="1"/>
            </p:cNvPicPr>
            <p:nvPr/>
          </p:nvPicPr>
          <p:blipFill>
            <a:blip r:embed="rId2"/>
            <a:srcRect/>
            <a:stretch>
              <a:fillRect/>
            </a:stretch>
          </p:blipFill>
          <p:spPr bwMode="auto">
            <a:xfrm flipH="1">
              <a:off x="4343400" y="3505200"/>
              <a:ext cx="1344164" cy="1143310"/>
            </a:xfrm>
            <a:prstGeom prst="rect">
              <a:avLst/>
            </a:prstGeom>
            <a:noFill/>
            <a:ln w="9525">
              <a:noFill/>
              <a:miter lim="800000"/>
              <a:headEnd/>
              <a:tailEnd/>
            </a:ln>
          </p:spPr>
        </p:pic>
        <p:cxnSp>
          <p:nvCxnSpPr>
            <p:cNvPr id="6" name="Shape 5"/>
            <p:cNvCxnSpPr>
              <a:stCxn id="27" idx="1"/>
            </p:cNvCxnSpPr>
            <p:nvPr/>
          </p:nvCxnSpPr>
          <p:spPr>
            <a:xfrm rot="10800000">
              <a:off x="4419023" y="4342710"/>
              <a:ext cx="305470" cy="877568"/>
            </a:xfrm>
            <a:prstGeom prst="bentConnector2">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20" idx="2"/>
            </p:cNvCxnSpPr>
            <p:nvPr/>
          </p:nvCxnSpPr>
          <p:spPr>
            <a:xfrm rot="5400000">
              <a:off x="4877275" y="3557663"/>
              <a:ext cx="229010" cy="0"/>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321" name="Picture 7" descr="05-01c.wmf"/>
            <p:cNvPicPr>
              <a:picLocks noChangeAspect="1"/>
            </p:cNvPicPr>
            <p:nvPr/>
          </p:nvPicPr>
          <p:blipFill>
            <a:blip r:embed="rId3"/>
            <a:srcRect/>
            <a:stretch>
              <a:fillRect/>
            </a:stretch>
          </p:blipFill>
          <p:spPr bwMode="auto">
            <a:xfrm>
              <a:off x="7543800" y="1009650"/>
              <a:ext cx="715844" cy="1581150"/>
            </a:xfrm>
            <a:prstGeom prst="rect">
              <a:avLst/>
            </a:prstGeom>
            <a:noFill/>
            <a:ln w="9525">
              <a:noFill/>
              <a:miter lim="800000"/>
              <a:headEnd/>
              <a:tailEnd/>
            </a:ln>
          </p:spPr>
        </p:pic>
        <p:pic>
          <p:nvPicPr>
            <p:cNvPr id="13322" name="Picture 8" descr="05-09b.tif"/>
            <p:cNvPicPr>
              <a:picLocks noChangeAspect="1"/>
            </p:cNvPicPr>
            <p:nvPr/>
          </p:nvPicPr>
          <p:blipFill>
            <a:blip r:embed="rId4"/>
            <a:srcRect/>
            <a:stretch>
              <a:fillRect/>
            </a:stretch>
          </p:blipFill>
          <p:spPr bwMode="auto">
            <a:xfrm>
              <a:off x="7085997" y="2805550"/>
              <a:ext cx="1317942" cy="1307592"/>
            </a:xfrm>
            <a:prstGeom prst="rect">
              <a:avLst/>
            </a:prstGeom>
            <a:noFill/>
            <a:ln w="9525">
              <a:noFill/>
              <a:miter lim="800000"/>
              <a:headEnd/>
              <a:tailEnd/>
            </a:ln>
          </p:spPr>
        </p:pic>
        <p:grpSp>
          <p:nvGrpSpPr>
            <p:cNvPr id="13323" name="Group 9"/>
            <p:cNvGrpSpPr>
              <a:grpSpLocks/>
            </p:cNvGrpSpPr>
            <p:nvPr/>
          </p:nvGrpSpPr>
          <p:grpSpPr bwMode="auto">
            <a:xfrm>
              <a:off x="152400" y="699670"/>
              <a:ext cx="1981200" cy="2667000"/>
              <a:chOff x="152400" y="228600"/>
              <a:chExt cx="1981200" cy="2667000"/>
            </a:xfrm>
          </p:grpSpPr>
          <p:sp>
            <p:nvSpPr>
              <p:cNvPr id="11" name="Rounded Rectangle 10"/>
              <p:cNvSpPr/>
              <p:nvPr/>
            </p:nvSpPr>
            <p:spPr>
              <a:xfrm>
                <a:off x="152400" y="229460"/>
                <a:ext cx="1980577" cy="266568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1800">
                  <a:solidFill>
                    <a:srgbClr val="FFFFFF"/>
                  </a:solidFill>
                </a:endParaRPr>
              </a:p>
            </p:txBody>
          </p:sp>
          <p:sp>
            <p:nvSpPr>
              <p:cNvPr id="13346" name="TextBox 11"/>
              <p:cNvSpPr txBox="1">
                <a:spLocks noChangeArrowheads="1"/>
              </p:cNvSpPr>
              <p:nvPr/>
            </p:nvSpPr>
            <p:spPr bwMode="auto">
              <a:xfrm>
                <a:off x="160202" y="2133601"/>
                <a:ext cx="1953497" cy="701300"/>
              </a:xfrm>
              <a:prstGeom prst="rect">
                <a:avLst/>
              </a:prstGeom>
              <a:noFill/>
              <a:ln w="9525">
                <a:noFill/>
                <a:miter lim="800000"/>
                <a:headEnd/>
                <a:tailEnd/>
              </a:ln>
            </p:spPr>
            <p:txBody>
              <a:bodyPr wrap="none">
                <a:spAutoFit/>
              </a:bodyPr>
              <a:lstStyle/>
              <a:p>
                <a:r>
                  <a:rPr lang="en-US" sz="1800"/>
                  <a:t>Trusted internal</a:t>
                </a:r>
              </a:p>
              <a:p>
                <a:r>
                  <a:rPr lang="en-US" sz="1800"/>
                  <a:t>network</a:t>
                </a:r>
              </a:p>
            </p:txBody>
          </p:sp>
        </p:grpSp>
        <p:pic>
          <p:nvPicPr>
            <p:cNvPr id="13324" name="Picture 12" descr="05-01a.wmf"/>
            <p:cNvPicPr>
              <a:picLocks noChangeAspect="1"/>
            </p:cNvPicPr>
            <p:nvPr/>
          </p:nvPicPr>
          <p:blipFill>
            <a:blip r:embed="rId5"/>
            <a:srcRect/>
            <a:stretch>
              <a:fillRect/>
            </a:stretch>
          </p:blipFill>
          <p:spPr bwMode="auto">
            <a:xfrm>
              <a:off x="457200" y="1295400"/>
              <a:ext cx="1066800" cy="1060970"/>
            </a:xfrm>
            <a:prstGeom prst="rect">
              <a:avLst/>
            </a:prstGeom>
            <a:noFill/>
            <a:ln w="9525">
              <a:noFill/>
              <a:miter lim="800000"/>
              <a:headEnd/>
              <a:tailEnd/>
            </a:ln>
          </p:spPr>
        </p:pic>
        <p:cxnSp>
          <p:nvCxnSpPr>
            <p:cNvPr id="14" name="Straight Arrow Connector 13"/>
            <p:cNvCxnSpPr/>
            <p:nvPr/>
          </p:nvCxnSpPr>
          <p:spPr>
            <a:xfrm>
              <a:off x="1809244" y="1002824"/>
              <a:ext cx="5354031" cy="183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flipV="1">
              <a:off x="1809244" y="1689854"/>
              <a:ext cx="5354031"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343817" y="700530"/>
              <a:ext cx="913091" cy="533137"/>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50" dirty="0">
                  <a:solidFill>
                    <a:schemeClr val="tx1"/>
                  </a:solidFill>
                  <a:cs typeface="Arial"/>
                </a:rPr>
                <a:t>SYN</a:t>
              </a:r>
            </a:p>
            <a:p>
              <a:pPr>
                <a:defRPr/>
              </a:pPr>
              <a:r>
                <a:rPr lang="en-US" sz="900" dirty="0" err="1">
                  <a:solidFill>
                    <a:schemeClr val="tx1"/>
                  </a:solidFill>
                  <a:cs typeface="Arial"/>
                </a:rPr>
                <a:t>Seq</a:t>
              </a:r>
              <a:r>
                <a:rPr lang="en-US" sz="900" dirty="0">
                  <a:solidFill>
                    <a:schemeClr val="tx1"/>
                  </a:solidFill>
                  <a:cs typeface="Arial"/>
                </a:rPr>
                <a:t> = x</a:t>
              </a:r>
            </a:p>
            <a:p>
              <a:pPr>
                <a:defRPr/>
              </a:pPr>
              <a:r>
                <a:rPr lang="en-US" sz="900" dirty="0">
                  <a:solidFill>
                    <a:schemeClr val="tx1"/>
                  </a:solidFill>
                  <a:cs typeface="Arial"/>
                </a:rPr>
                <a:t>Port=80</a:t>
              </a:r>
            </a:p>
          </p:txBody>
        </p:sp>
        <p:sp>
          <p:nvSpPr>
            <p:cNvPr id="17" name="Rectangle 16"/>
            <p:cNvSpPr/>
            <p:nvPr/>
          </p:nvSpPr>
          <p:spPr>
            <a:xfrm>
              <a:off x="2343817" y="1385729"/>
              <a:ext cx="913091" cy="610084"/>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50" dirty="0">
                  <a:solidFill>
                    <a:schemeClr val="tx1"/>
                  </a:solidFill>
                  <a:cs typeface="Arial"/>
                </a:rPr>
                <a:t>SYN-ACK</a:t>
              </a:r>
            </a:p>
            <a:p>
              <a:pPr>
                <a:defRPr/>
              </a:pPr>
              <a:r>
                <a:rPr lang="en-US" sz="900" dirty="0" err="1">
                  <a:solidFill>
                    <a:schemeClr val="tx1"/>
                  </a:solidFill>
                  <a:cs typeface="Arial"/>
                </a:rPr>
                <a:t>Seq</a:t>
              </a:r>
              <a:r>
                <a:rPr lang="en-US" sz="900" dirty="0">
                  <a:solidFill>
                    <a:schemeClr val="tx1"/>
                  </a:solidFill>
                  <a:cs typeface="Arial"/>
                </a:rPr>
                <a:t> = y</a:t>
              </a:r>
            </a:p>
            <a:p>
              <a:pPr>
                <a:defRPr/>
              </a:pPr>
              <a:r>
                <a:rPr lang="en-US" sz="900" dirty="0" err="1">
                  <a:solidFill>
                    <a:schemeClr val="tx1"/>
                  </a:solidFill>
                  <a:cs typeface="Arial"/>
                </a:rPr>
                <a:t>Ack</a:t>
              </a:r>
              <a:r>
                <a:rPr lang="en-US" sz="900" dirty="0">
                  <a:solidFill>
                    <a:schemeClr val="tx1"/>
                  </a:solidFill>
                  <a:cs typeface="Arial"/>
                </a:rPr>
                <a:t> = x + 1</a:t>
              </a:r>
            </a:p>
          </p:txBody>
        </p:sp>
        <p:cxnSp>
          <p:nvCxnSpPr>
            <p:cNvPr id="18" name="Straight Arrow Connector 17"/>
            <p:cNvCxnSpPr/>
            <p:nvPr/>
          </p:nvCxnSpPr>
          <p:spPr>
            <a:xfrm>
              <a:off x="1809244" y="2450169"/>
              <a:ext cx="5354031" cy="183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343817" y="2147875"/>
              <a:ext cx="913091" cy="610084"/>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50" dirty="0">
                  <a:solidFill>
                    <a:schemeClr val="tx1"/>
                  </a:solidFill>
                  <a:cs typeface="Arial"/>
                </a:rPr>
                <a:t>ACK</a:t>
              </a:r>
            </a:p>
            <a:p>
              <a:pPr>
                <a:defRPr/>
              </a:pPr>
              <a:r>
                <a:rPr lang="en-US" sz="900" dirty="0" err="1">
                  <a:solidFill>
                    <a:schemeClr val="tx1"/>
                  </a:solidFill>
                  <a:cs typeface="Arial"/>
                </a:rPr>
                <a:t>Seq</a:t>
              </a:r>
              <a:r>
                <a:rPr lang="en-US" sz="900" dirty="0">
                  <a:solidFill>
                    <a:schemeClr val="tx1"/>
                  </a:solidFill>
                  <a:cs typeface="Arial"/>
                </a:rPr>
                <a:t> = x + 1</a:t>
              </a:r>
            </a:p>
            <a:p>
              <a:pPr>
                <a:defRPr/>
              </a:pPr>
              <a:r>
                <a:rPr lang="en-US" sz="900" dirty="0" err="1">
                  <a:solidFill>
                    <a:schemeClr val="tx1"/>
                  </a:solidFill>
                  <a:cs typeface="Arial"/>
                </a:rPr>
                <a:t>Ack</a:t>
              </a:r>
              <a:r>
                <a:rPr lang="en-US" sz="900" dirty="0">
                  <a:solidFill>
                    <a:schemeClr val="tx1"/>
                  </a:solidFill>
                  <a:cs typeface="Arial"/>
                </a:rPr>
                <a:t> = y + 1</a:t>
              </a:r>
            </a:p>
          </p:txBody>
        </p:sp>
        <p:sp>
          <p:nvSpPr>
            <p:cNvPr id="20" name="Rectangle 19"/>
            <p:cNvSpPr/>
            <p:nvPr/>
          </p:nvSpPr>
          <p:spPr>
            <a:xfrm>
              <a:off x="4800861" y="775646"/>
              <a:ext cx="380178" cy="2667512"/>
            </a:xfrm>
            <a:prstGeom prst="rect">
              <a:avLst/>
            </a:prstGeom>
            <a:solidFill>
              <a:srgbClr val="DDDDDD">
                <a:alpha val="65882"/>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sz="1800">
                <a:solidFill>
                  <a:srgbClr val="FFFFFF"/>
                </a:solidFill>
              </a:endParaRPr>
            </a:p>
          </p:txBody>
        </p:sp>
        <p:sp>
          <p:nvSpPr>
            <p:cNvPr id="13332" name="TextBox 20"/>
            <p:cNvSpPr txBox="1">
              <a:spLocks noChangeArrowheads="1"/>
            </p:cNvSpPr>
            <p:nvPr/>
          </p:nvSpPr>
          <p:spPr bwMode="auto">
            <a:xfrm>
              <a:off x="657008" y="3634739"/>
              <a:ext cx="3629450" cy="701300"/>
            </a:xfrm>
            <a:prstGeom prst="rect">
              <a:avLst/>
            </a:prstGeom>
            <a:noFill/>
            <a:ln w="9525">
              <a:noFill/>
              <a:miter lim="800000"/>
              <a:headEnd/>
              <a:tailEnd/>
            </a:ln>
          </p:spPr>
          <p:txBody>
            <a:bodyPr wrap="none">
              <a:spAutoFit/>
            </a:bodyPr>
            <a:lstStyle/>
            <a:p>
              <a:r>
                <a:rPr lang="en-US" sz="1800"/>
                <a:t>Allow outbound TCP sessions,</a:t>
              </a:r>
            </a:p>
            <a:p>
              <a:r>
                <a:rPr lang="en-US" sz="1800"/>
                <a:t>      destination port=80 </a:t>
              </a:r>
            </a:p>
          </p:txBody>
        </p:sp>
        <p:sp>
          <p:nvSpPr>
            <p:cNvPr id="13333" name="TextBox 21"/>
            <p:cNvSpPr txBox="1">
              <a:spLocks noChangeArrowheads="1"/>
            </p:cNvSpPr>
            <p:nvPr/>
          </p:nvSpPr>
          <p:spPr bwMode="auto">
            <a:xfrm>
              <a:off x="706580" y="1399325"/>
              <a:ext cx="850509" cy="403936"/>
            </a:xfrm>
            <a:prstGeom prst="rect">
              <a:avLst/>
            </a:prstGeom>
            <a:noFill/>
            <a:ln w="9525">
              <a:noFill/>
              <a:miter lim="800000"/>
              <a:headEnd/>
              <a:tailEnd/>
            </a:ln>
          </p:spPr>
          <p:txBody>
            <a:bodyPr wrap="none">
              <a:spAutoFit/>
            </a:bodyPr>
            <a:lstStyle/>
            <a:p>
              <a:r>
                <a:rPr lang="en-US" sz="1800">
                  <a:solidFill>
                    <a:schemeClr val="bg1"/>
                  </a:solidFill>
                </a:rPr>
                <a:t>Client</a:t>
              </a:r>
            </a:p>
          </p:txBody>
        </p:sp>
        <p:cxnSp>
          <p:nvCxnSpPr>
            <p:cNvPr id="23" name="Straight Arrow Connector 22"/>
            <p:cNvCxnSpPr/>
            <p:nvPr/>
          </p:nvCxnSpPr>
          <p:spPr>
            <a:xfrm rot="10800000">
              <a:off x="4953596" y="3137199"/>
              <a:ext cx="2209680" cy="1099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5791980" y="2842235"/>
              <a:ext cx="913091" cy="610083"/>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050" dirty="0">
                  <a:solidFill>
                    <a:schemeClr val="tx1"/>
                  </a:solidFill>
                  <a:cs typeface="Arial"/>
                </a:rPr>
                <a:t>SYN-ACK</a:t>
              </a:r>
            </a:p>
            <a:p>
              <a:pPr>
                <a:defRPr/>
              </a:pPr>
              <a:r>
                <a:rPr lang="en-US" sz="900" dirty="0" err="1">
                  <a:solidFill>
                    <a:schemeClr val="tx1"/>
                  </a:solidFill>
                  <a:cs typeface="Arial"/>
                </a:rPr>
                <a:t>Seq</a:t>
              </a:r>
              <a:r>
                <a:rPr lang="en-US" sz="900" dirty="0">
                  <a:solidFill>
                    <a:schemeClr val="tx1"/>
                  </a:solidFill>
                  <a:cs typeface="Arial"/>
                </a:rPr>
                <a:t> = y</a:t>
              </a:r>
            </a:p>
            <a:p>
              <a:pPr>
                <a:defRPr/>
              </a:pPr>
              <a:r>
                <a:rPr lang="en-US" sz="900" dirty="0">
                  <a:solidFill>
                    <a:schemeClr val="tx1"/>
                  </a:solidFill>
                  <a:cs typeface="Arial"/>
                </a:rPr>
                <a:t>Port=80</a:t>
              </a:r>
            </a:p>
          </p:txBody>
        </p:sp>
        <p:sp>
          <p:nvSpPr>
            <p:cNvPr id="13336" name="TextBox 24"/>
            <p:cNvSpPr txBox="1">
              <a:spLocks noChangeArrowheads="1"/>
            </p:cNvSpPr>
            <p:nvPr/>
          </p:nvSpPr>
          <p:spPr bwMode="auto">
            <a:xfrm>
              <a:off x="7342910" y="3029835"/>
              <a:ext cx="1132134" cy="403936"/>
            </a:xfrm>
            <a:prstGeom prst="rect">
              <a:avLst/>
            </a:prstGeom>
            <a:noFill/>
            <a:ln w="9525">
              <a:noFill/>
              <a:miter lim="800000"/>
              <a:headEnd/>
              <a:tailEnd/>
            </a:ln>
          </p:spPr>
          <p:txBody>
            <a:bodyPr wrap="none">
              <a:spAutoFit/>
            </a:bodyPr>
            <a:lstStyle/>
            <a:p>
              <a:r>
                <a:rPr lang="en-US" sz="1800">
                  <a:solidFill>
                    <a:schemeClr val="tx2"/>
                  </a:solidFill>
                </a:rPr>
                <a:t>Attacker</a:t>
              </a:r>
            </a:p>
          </p:txBody>
        </p:sp>
        <p:sp>
          <p:nvSpPr>
            <p:cNvPr id="13337" name="TextBox 25"/>
            <p:cNvSpPr txBox="1">
              <a:spLocks noChangeArrowheads="1"/>
            </p:cNvSpPr>
            <p:nvPr/>
          </p:nvSpPr>
          <p:spPr bwMode="auto">
            <a:xfrm>
              <a:off x="3733800" y="2909470"/>
              <a:ext cx="1244786" cy="403936"/>
            </a:xfrm>
            <a:prstGeom prst="rect">
              <a:avLst/>
            </a:prstGeom>
            <a:noFill/>
            <a:ln w="9525">
              <a:noFill/>
              <a:miter lim="800000"/>
              <a:headEnd/>
              <a:tailEnd/>
            </a:ln>
          </p:spPr>
          <p:txBody>
            <a:bodyPr wrap="none">
              <a:spAutoFit/>
            </a:bodyPr>
            <a:lstStyle/>
            <a:p>
              <a:r>
                <a:rPr lang="en-US" sz="1800"/>
                <a:t>(blocked)</a:t>
              </a:r>
            </a:p>
          </p:txBody>
        </p:sp>
        <p:sp>
          <p:nvSpPr>
            <p:cNvPr id="27" name="Rectangle 26"/>
            <p:cNvSpPr/>
            <p:nvPr/>
          </p:nvSpPr>
          <p:spPr>
            <a:xfrm>
              <a:off x="4724493" y="4800730"/>
              <a:ext cx="3353532" cy="837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800" dirty="0">
                  <a:solidFill>
                    <a:schemeClr val="tx1"/>
                  </a:solidFill>
                </a:rPr>
                <a:t>Established TCP session:</a:t>
              </a:r>
            </a:p>
            <a:p>
              <a:pPr>
                <a:defRPr/>
              </a:pPr>
              <a:r>
                <a:rPr lang="en-US" sz="1800" dirty="0">
                  <a:solidFill>
                    <a:schemeClr val="tx1"/>
                  </a:solidFill>
                </a:rPr>
                <a:t>(128.34.78.55, 76.120.54.101)</a:t>
              </a:r>
            </a:p>
          </p:txBody>
        </p:sp>
        <p:sp>
          <p:nvSpPr>
            <p:cNvPr id="13339" name="TextBox 27"/>
            <p:cNvSpPr txBox="1">
              <a:spLocks noChangeArrowheads="1"/>
            </p:cNvSpPr>
            <p:nvPr/>
          </p:nvSpPr>
          <p:spPr bwMode="auto">
            <a:xfrm>
              <a:off x="457200" y="1001493"/>
              <a:ext cx="1105733" cy="288261"/>
            </a:xfrm>
            <a:prstGeom prst="rect">
              <a:avLst/>
            </a:prstGeom>
            <a:noFill/>
            <a:ln w="9525">
              <a:noFill/>
              <a:miter lim="800000"/>
              <a:headEnd/>
              <a:tailEnd/>
            </a:ln>
          </p:spPr>
          <p:txBody>
            <a:bodyPr wrap="none">
              <a:spAutoFit/>
            </a:bodyPr>
            <a:lstStyle/>
            <a:p>
              <a:r>
                <a:rPr lang="en-US" sz="1100"/>
                <a:t>128.34.78.55</a:t>
              </a:r>
            </a:p>
          </p:txBody>
        </p:sp>
        <p:sp>
          <p:nvSpPr>
            <p:cNvPr id="13340" name="TextBox 28"/>
            <p:cNvSpPr txBox="1">
              <a:spLocks noChangeArrowheads="1"/>
            </p:cNvSpPr>
            <p:nvPr/>
          </p:nvSpPr>
          <p:spPr bwMode="auto">
            <a:xfrm>
              <a:off x="7359192" y="304800"/>
              <a:ext cx="1191981" cy="288261"/>
            </a:xfrm>
            <a:prstGeom prst="rect">
              <a:avLst/>
            </a:prstGeom>
            <a:noFill/>
            <a:ln w="9525">
              <a:noFill/>
              <a:miter lim="800000"/>
              <a:headEnd/>
              <a:tailEnd/>
            </a:ln>
          </p:spPr>
          <p:txBody>
            <a:bodyPr wrap="none">
              <a:spAutoFit/>
            </a:bodyPr>
            <a:lstStyle/>
            <a:p>
              <a:r>
                <a:rPr lang="en-US" sz="1100"/>
                <a:t>76.120.54.101</a:t>
              </a:r>
            </a:p>
          </p:txBody>
        </p:sp>
        <p:sp>
          <p:nvSpPr>
            <p:cNvPr id="13341" name="TextBox 29"/>
            <p:cNvSpPr txBox="1">
              <a:spLocks noChangeArrowheads="1"/>
            </p:cNvSpPr>
            <p:nvPr/>
          </p:nvSpPr>
          <p:spPr bwMode="auto">
            <a:xfrm>
              <a:off x="4266800" y="5622458"/>
              <a:ext cx="2314961" cy="403936"/>
            </a:xfrm>
            <a:prstGeom prst="rect">
              <a:avLst/>
            </a:prstGeom>
            <a:noFill/>
            <a:ln w="9525">
              <a:noFill/>
              <a:miter lim="800000"/>
              <a:headEnd/>
              <a:tailEnd/>
            </a:ln>
          </p:spPr>
          <p:txBody>
            <a:bodyPr wrap="none">
              <a:spAutoFit/>
            </a:bodyPr>
            <a:lstStyle/>
            <a:p>
              <a:r>
                <a:rPr lang="en-US" sz="1800"/>
                <a:t>Firewall state table</a:t>
              </a:r>
            </a:p>
          </p:txBody>
        </p:sp>
        <p:sp>
          <p:nvSpPr>
            <p:cNvPr id="13342" name="TextBox 30"/>
            <p:cNvSpPr txBox="1">
              <a:spLocks noChangeArrowheads="1"/>
            </p:cNvSpPr>
            <p:nvPr/>
          </p:nvSpPr>
          <p:spPr bwMode="auto">
            <a:xfrm>
              <a:off x="7467599" y="685800"/>
              <a:ext cx="949078" cy="403936"/>
            </a:xfrm>
            <a:prstGeom prst="rect">
              <a:avLst/>
            </a:prstGeom>
            <a:noFill/>
            <a:ln w="9525">
              <a:noFill/>
              <a:miter lim="800000"/>
              <a:headEnd/>
              <a:tailEnd/>
            </a:ln>
          </p:spPr>
          <p:txBody>
            <a:bodyPr wrap="none">
              <a:spAutoFit/>
            </a:bodyPr>
            <a:lstStyle/>
            <a:p>
              <a:r>
                <a:rPr lang="en-US" sz="1800"/>
                <a:t>Server</a:t>
              </a:r>
            </a:p>
          </p:txBody>
        </p:sp>
        <p:pic>
          <p:nvPicPr>
            <p:cNvPr id="13343" name="Picture 31" descr="06-11.png"/>
            <p:cNvPicPr>
              <a:picLocks noChangeAspect="1"/>
            </p:cNvPicPr>
            <p:nvPr/>
          </p:nvPicPr>
          <p:blipFill>
            <a:blip r:embed="rId6"/>
            <a:srcRect/>
            <a:stretch>
              <a:fillRect/>
            </a:stretch>
          </p:blipFill>
          <p:spPr bwMode="auto">
            <a:xfrm>
              <a:off x="4648200" y="1295400"/>
              <a:ext cx="1292355" cy="1161290"/>
            </a:xfrm>
            <a:prstGeom prst="rect">
              <a:avLst/>
            </a:prstGeom>
            <a:noFill/>
            <a:ln w="9525">
              <a:noFill/>
              <a:miter lim="800000"/>
              <a:headEnd/>
              <a:tailEnd/>
            </a:ln>
          </p:spPr>
        </p:pic>
        <p:sp>
          <p:nvSpPr>
            <p:cNvPr id="13344" name="TextBox 32"/>
            <p:cNvSpPr txBox="1">
              <a:spLocks noChangeArrowheads="1"/>
            </p:cNvSpPr>
            <p:nvPr/>
          </p:nvSpPr>
          <p:spPr bwMode="auto">
            <a:xfrm>
              <a:off x="5606142" y="4126468"/>
              <a:ext cx="1075809" cy="403936"/>
            </a:xfrm>
            <a:prstGeom prst="rect">
              <a:avLst/>
            </a:prstGeom>
            <a:noFill/>
            <a:ln w="9525">
              <a:noFill/>
              <a:miter lim="800000"/>
              <a:headEnd/>
              <a:tailEnd/>
            </a:ln>
          </p:spPr>
          <p:txBody>
            <a:bodyPr wrap="none">
              <a:spAutoFit/>
            </a:bodyPr>
            <a:lstStyle/>
            <a:p>
              <a:r>
                <a:rPr lang="en-US" sz="1800"/>
                <a:t>Firewall</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endParaRPr lang="en-US" smtClean="0"/>
          </a:p>
        </p:txBody>
      </p:sp>
      <p:sp>
        <p:nvSpPr>
          <p:cNvPr id="14339" name="Content Placeholder 2"/>
          <p:cNvSpPr>
            <a:spLocks noGrp="1"/>
          </p:cNvSpPr>
          <p:nvPr>
            <p:ph idx="1"/>
          </p:nvPr>
        </p:nvSpPr>
        <p:spPr/>
        <p:txBody>
          <a:bodyPr/>
          <a:lstStyle/>
          <a:p>
            <a:r>
              <a:rPr lang="en-US" smtClean="0"/>
              <a:t>TCP-based connections are easy to check</a:t>
            </a:r>
          </a:p>
          <a:p>
            <a:pPr lvl="1"/>
            <a:r>
              <a:rPr lang="en-US" smtClean="0"/>
              <a:t>TCP SYN packet</a:t>
            </a:r>
          </a:p>
          <a:p>
            <a:endParaRPr lang="en-US" smtClean="0"/>
          </a:p>
          <a:p>
            <a:r>
              <a:rPr lang="en-US" smtClean="0"/>
              <a:t>UDP-based traffic is not so clear</a:t>
            </a:r>
          </a:p>
          <a:p>
            <a:pPr lvl="1"/>
            <a:r>
              <a:rPr lang="en-US" smtClean="0"/>
              <a:t>There is no UDP connection set up</a:t>
            </a:r>
          </a:p>
          <a:p>
            <a:pPr lvl="1"/>
            <a:r>
              <a:rPr lang="en-US" smtClean="0"/>
              <a:t>Treat a UDP session starts when a legitimate UDP packet is allowed through the firewall (such as from inside to outside)</a:t>
            </a:r>
          </a:p>
          <a:p>
            <a:pPr lvl="2"/>
            <a:r>
              <a:rPr lang="en-US" smtClean="0"/>
              <a:t>Session is defined by (source IP, source port, dest IP, dest port)</a:t>
            </a:r>
          </a:p>
        </p:txBody>
      </p:sp>
      <p:sp>
        <p:nvSpPr>
          <p:cNvPr id="14340" name="Slide Number Placeholder 3"/>
          <p:cNvSpPr>
            <a:spLocks noGrp="1"/>
          </p:cNvSpPr>
          <p:nvPr>
            <p:ph type="sldNum" sz="quarter" idx="10"/>
          </p:nvPr>
        </p:nvSpPr>
        <p:spPr>
          <a:noFill/>
        </p:spPr>
        <p:txBody>
          <a:bodyPr/>
          <a:lstStyle/>
          <a:p>
            <a:fld id="{B3901422-85CC-4273-8C95-FE9D4B9D1FAA}" type="slidenum">
              <a:rPr lang="zh-CN" altLang="en-US"/>
              <a:pPr/>
              <a:t>14</a:t>
            </a:fld>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307B58DC-D8CC-41B7-AFBD-CC70C04146F5}" type="slidenum">
              <a:rPr lang="en-US"/>
              <a:pPr/>
              <a:t>15</a:t>
            </a:fld>
            <a:endParaRPr lang="en-US"/>
          </a:p>
        </p:txBody>
      </p:sp>
      <p:sp>
        <p:nvSpPr>
          <p:cNvPr id="38914"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38915" name="Rectangle 3"/>
          <p:cNvSpPr>
            <a:spLocks noGrp="1" noChangeArrowheads="1"/>
          </p:cNvSpPr>
          <p:nvPr>
            <p:ph type="body" idx="1"/>
          </p:nvPr>
        </p:nvSpPr>
        <p:spPr/>
        <p:txBody>
          <a:bodyPr/>
          <a:lstStyle/>
          <a:p>
            <a:r>
              <a:rPr lang="en-US">
                <a:latin typeface="Comic Sans MS" pitchFamily="66" charset="0"/>
              </a:rPr>
              <a:t>Three common types of Firewalls:</a:t>
            </a:r>
          </a:p>
          <a:p>
            <a:pPr lvl="1"/>
            <a:r>
              <a:rPr lang="en-US">
                <a:latin typeface="Comic Sans MS" pitchFamily="66" charset="0"/>
              </a:rPr>
              <a:t>Packet-filtering routers</a:t>
            </a:r>
          </a:p>
          <a:p>
            <a:pPr lvl="1"/>
            <a:r>
              <a:rPr lang="en-US">
                <a:latin typeface="Comic Sans MS" pitchFamily="66" charset="0"/>
              </a:rPr>
              <a:t>Application-level gateways</a:t>
            </a:r>
          </a:p>
          <a:p>
            <a:pPr lvl="1"/>
            <a:r>
              <a:rPr lang="en-US">
                <a:latin typeface="Comic Sans MS" pitchFamily="66" charset="0"/>
              </a:rPr>
              <a:t>Circuit-level gateways</a:t>
            </a:r>
          </a:p>
          <a:p>
            <a:pPr lvl="1"/>
            <a:r>
              <a:rPr lang="en-US">
                <a:latin typeface="Comic Sans MS" pitchFamily="66" charset="0"/>
              </a:rPr>
              <a:t>(Bastion host)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6" name="Slide Number Placeholder 5"/>
          <p:cNvSpPr>
            <a:spLocks noGrp="1"/>
          </p:cNvSpPr>
          <p:nvPr>
            <p:ph type="sldNum" sz="quarter" idx="4294967295"/>
          </p:nvPr>
        </p:nvSpPr>
        <p:spPr>
          <a:xfrm>
            <a:off x="6553200" y="6248400"/>
            <a:ext cx="1905000" cy="457200"/>
          </a:xfrm>
          <a:prstGeom prst="rect">
            <a:avLst/>
          </a:prstGeom>
        </p:spPr>
        <p:txBody>
          <a:bodyPr/>
          <a:lstStyle/>
          <a:p>
            <a:fld id="{22BF7693-583A-4F08-BC74-309CB3397976}" type="slidenum">
              <a:rPr lang="en-US"/>
              <a:pPr/>
              <a:t>16</a:t>
            </a:fld>
            <a:endParaRPr lang="en-US"/>
          </a:p>
        </p:txBody>
      </p:sp>
      <p:sp>
        <p:nvSpPr>
          <p:cNvPr id="39938"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39939" name="Rectangle 3"/>
          <p:cNvSpPr>
            <a:spLocks noGrp="1" noChangeArrowheads="1"/>
          </p:cNvSpPr>
          <p:nvPr>
            <p:ph type="body" idx="1"/>
          </p:nvPr>
        </p:nvSpPr>
        <p:spPr/>
        <p:txBody>
          <a:bodyPr/>
          <a:lstStyle/>
          <a:p>
            <a:r>
              <a:rPr lang="en-US" dirty="0">
                <a:latin typeface="Comic Sans MS" pitchFamily="66" charset="0"/>
              </a:rPr>
              <a:t>Packet-filtering Router</a:t>
            </a:r>
          </a:p>
        </p:txBody>
      </p:sp>
      <p:graphicFrame>
        <p:nvGraphicFramePr>
          <p:cNvPr id="39940" name="Object 4"/>
          <p:cNvGraphicFramePr>
            <a:graphicFrameLocks noChangeAspect="1"/>
          </p:cNvGraphicFramePr>
          <p:nvPr/>
        </p:nvGraphicFramePr>
        <p:xfrm>
          <a:off x="1447800" y="2667000"/>
          <a:ext cx="6440488" cy="2105025"/>
        </p:xfrm>
        <a:graphic>
          <a:graphicData uri="http://schemas.openxmlformats.org/presentationml/2006/ole">
            <p:oleObj spid="_x0000_s51202" name="Bitmap Image" r:id="rId3" imgW="6439799" imgH="2104762" progId="Paint.Picture">
              <p:embed/>
            </p:oleObj>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r>
              <a:rPr lang="en-US"/>
              <a:t>Henric Johnson</a:t>
            </a:r>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4F5BF4C4-256C-404C-8654-3751952A59BD}" type="slidenum">
              <a:rPr lang="en-US"/>
              <a:pPr/>
              <a:t>17</a:t>
            </a:fld>
            <a:endParaRPr lang="en-US"/>
          </a:p>
        </p:txBody>
      </p:sp>
      <p:sp>
        <p:nvSpPr>
          <p:cNvPr id="40962"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0963" name="Rectangle 3"/>
          <p:cNvSpPr>
            <a:spLocks noGrp="1" noChangeArrowheads="1"/>
          </p:cNvSpPr>
          <p:nvPr>
            <p:ph type="body" idx="1"/>
          </p:nvPr>
        </p:nvSpPr>
        <p:spPr/>
        <p:txBody>
          <a:bodyPr/>
          <a:lstStyle/>
          <a:p>
            <a:pPr>
              <a:lnSpc>
                <a:spcPct val="90000"/>
              </a:lnSpc>
            </a:pPr>
            <a:r>
              <a:rPr lang="en-US">
                <a:latin typeface="Comic Sans MS" pitchFamily="66" charset="0"/>
              </a:rPr>
              <a:t>Packet-filtering Router</a:t>
            </a:r>
          </a:p>
          <a:p>
            <a:pPr lvl="1">
              <a:lnSpc>
                <a:spcPct val="90000"/>
              </a:lnSpc>
            </a:pPr>
            <a:r>
              <a:rPr lang="en-US">
                <a:latin typeface="Comic Sans MS" pitchFamily="66" charset="0"/>
              </a:rPr>
              <a:t>Applies a set of rules to each incoming IP packet and then forwards or discards the packet</a:t>
            </a:r>
          </a:p>
          <a:p>
            <a:pPr lvl="1">
              <a:lnSpc>
                <a:spcPct val="90000"/>
              </a:lnSpc>
            </a:pPr>
            <a:r>
              <a:rPr lang="en-US">
                <a:latin typeface="Comic Sans MS" pitchFamily="66" charset="0"/>
              </a:rPr>
              <a:t>Filter packets going in both directions</a:t>
            </a:r>
          </a:p>
          <a:p>
            <a:pPr lvl="1">
              <a:lnSpc>
                <a:spcPct val="90000"/>
              </a:lnSpc>
            </a:pPr>
            <a:r>
              <a:rPr lang="en-US">
                <a:latin typeface="Comic Sans MS" pitchFamily="66" charset="0"/>
              </a:rPr>
              <a:t>The packet filter is typically set up as a list of rules based on matches to fields in the IP or TCP header</a:t>
            </a:r>
          </a:p>
          <a:p>
            <a:pPr lvl="1">
              <a:lnSpc>
                <a:spcPct val="90000"/>
              </a:lnSpc>
            </a:pPr>
            <a:r>
              <a:rPr lang="en-US">
                <a:latin typeface="Comic Sans MS" pitchFamily="66" charset="0"/>
              </a:rPr>
              <a:t>Two default policies (discard or forward)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r>
              <a:rPr lang="en-US"/>
              <a:t>Henric Johnson</a:t>
            </a:r>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B20881C1-1094-4468-A988-E84C280AA31C}" type="slidenum">
              <a:rPr lang="en-US"/>
              <a:pPr/>
              <a:t>18</a:t>
            </a:fld>
            <a:endParaRPr lang="en-US"/>
          </a:p>
        </p:txBody>
      </p:sp>
      <p:sp>
        <p:nvSpPr>
          <p:cNvPr id="41986"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1987" name="Rectangle 3"/>
          <p:cNvSpPr>
            <a:spLocks noGrp="1" noChangeArrowheads="1"/>
          </p:cNvSpPr>
          <p:nvPr>
            <p:ph type="body" idx="1"/>
          </p:nvPr>
        </p:nvSpPr>
        <p:spPr/>
        <p:txBody>
          <a:bodyPr/>
          <a:lstStyle/>
          <a:p>
            <a:pPr>
              <a:lnSpc>
                <a:spcPct val="90000"/>
              </a:lnSpc>
            </a:pPr>
            <a:r>
              <a:rPr lang="en-US">
                <a:latin typeface="Comic Sans MS" pitchFamily="66" charset="0"/>
              </a:rPr>
              <a:t>Advantages:</a:t>
            </a:r>
          </a:p>
          <a:p>
            <a:pPr lvl="1">
              <a:lnSpc>
                <a:spcPct val="90000"/>
              </a:lnSpc>
            </a:pPr>
            <a:r>
              <a:rPr lang="en-US">
                <a:latin typeface="Comic Sans MS" pitchFamily="66" charset="0"/>
              </a:rPr>
              <a:t>Simplicity</a:t>
            </a:r>
          </a:p>
          <a:p>
            <a:pPr lvl="1">
              <a:lnSpc>
                <a:spcPct val="90000"/>
              </a:lnSpc>
            </a:pPr>
            <a:r>
              <a:rPr lang="en-US">
                <a:latin typeface="Comic Sans MS" pitchFamily="66" charset="0"/>
              </a:rPr>
              <a:t>Transparency to users</a:t>
            </a:r>
          </a:p>
          <a:p>
            <a:pPr lvl="1">
              <a:lnSpc>
                <a:spcPct val="90000"/>
              </a:lnSpc>
            </a:pPr>
            <a:r>
              <a:rPr lang="en-US">
                <a:latin typeface="Comic Sans MS" pitchFamily="66" charset="0"/>
              </a:rPr>
              <a:t>High speed</a:t>
            </a:r>
          </a:p>
          <a:p>
            <a:pPr>
              <a:lnSpc>
                <a:spcPct val="90000"/>
              </a:lnSpc>
            </a:pPr>
            <a:r>
              <a:rPr lang="en-US">
                <a:latin typeface="Comic Sans MS" pitchFamily="66" charset="0"/>
              </a:rPr>
              <a:t>Disadvantages:</a:t>
            </a:r>
          </a:p>
          <a:p>
            <a:pPr lvl="1">
              <a:lnSpc>
                <a:spcPct val="90000"/>
              </a:lnSpc>
            </a:pPr>
            <a:r>
              <a:rPr lang="en-US">
                <a:latin typeface="Comic Sans MS" pitchFamily="66" charset="0"/>
              </a:rPr>
              <a:t>Difficulty of setting up packet filter rules</a:t>
            </a:r>
          </a:p>
          <a:p>
            <a:pPr lvl="1">
              <a:lnSpc>
                <a:spcPct val="90000"/>
              </a:lnSpc>
            </a:pPr>
            <a:r>
              <a:rPr lang="en-US">
                <a:latin typeface="Comic Sans MS" pitchFamily="66" charset="0"/>
              </a:rPr>
              <a:t>Lack of Authentication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8AC5D023-413C-4A31-BCFB-A0BE589356B9}" type="slidenum">
              <a:rPr lang="en-US"/>
              <a:pPr/>
              <a:t>19</a:t>
            </a:fld>
            <a:endParaRPr lang="en-US"/>
          </a:p>
        </p:txBody>
      </p:sp>
      <p:sp>
        <p:nvSpPr>
          <p:cNvPr id="43010"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3011" name="Rectangle 3"/>
          <p:cNvSpPr>
            <a:spLocks noGrp="1" noChangeArrowheads="1"/>
          </p:cNvSpPr>
          <p:nvPr>
            <p:ph type="body" idx="1"/>
          </p:nvPr>
        </p:nvSpPr>
        <p:spPr/>
        <p:txBody>
          <a:bodyPr/>
          <a:lstStyle/>
          <a:p>
            <a:r>
              <a:rPr lang="en-US" dirty="0">
                <a:latin typeface="Comic Sans MS" pitchFamily="66" charset="0"/>
              </a:rPr>
              <a:t>Possible attacks and appropriate countermeasures</a:t>
            </a:r>
          </a:p>
          <a:p>
            <a:pPr lvl="1"/>
            <a:r>
              <a:rPr lang="en-US" dirty="0">
                <a:latin typeface="Comic Sans MS" pitchFamily="66" charset="0"/>
              </a:rPr>
              <a:t>IP address spoofing</a:t>
            </a:r>
          </a:p>
          <a:p>
            <a:pPr lvl="1"/>
            <a:r>
              <a:rPr lang="en-US" dirty="0">
                <a:latin typeface="Comic Sans MS" pitchFamily="66" charset="0"/>
              </a:rPr>
              <a:t>Source routing attacks</a:t>
            </a:r>
          </a:p>
          <a:p>
            <a:pPr lvl="1"/>
            <a:r>
              <a:rPr lang="en-US" dirty="0">
                <a:latin typeface="Comic Sans MS" pitchFamily="66" charset="0"/>
              </a:rPr>
              <a:t>Tiny fragment attacks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4294967295"/>
          </p:nvPr>
        </p:nvSpPr>
        <p:spPr>
          <a:xfrm>
            <a:off x="3124200" y="6248400"/>
            <a:ext cx="2895600" cy="457200"/>
          </a:xfrm>
          <a:prstGeom prst="rect">
            <a:avLst/>
          </a:prstGeom>
        </p:spPr>
        <p:txBody>
          <a:bodyPr/>
          <a:lstStyle/>
          <a:p>
            <a:r>
              <a:rPr lang="en-US"/>
              <a:t>Henric Johnson</a:t>
            </a:r>
          </a:p>
        </p:txBody>
      </p:sp>
      <p:sp>
        <p:nvSpPr>
          <p:cNvPr id="6" name="Slide Number Placeholder 5"/>
          <p:cNvSpPr>
            <a:spLocks noGrp="1"/>
          </p:cNvSpPr>
          <p:nvPr>
            <p:ph type="sldNum" sz="quarter" idx="4294967295"/>
          </p:nvPr>
        </p:nvSpPr>
        <p:spPr>
          <a:xfrm>
            <a:off x="6553200" y="6248400"/>
            <a:ext cx="1905000" cy="457200"/>
          </a:xfrm>
          <a:prstGeom prst="rect">
            <a:avLst/>
          </a:prstGeom>
        </p:spPr>
        <p:txBody>
          <a:bodyPr/>
          <a:lstStyle/>
          <a:p>
            <a:fld id="{E2DCB769-7229-4522-8DB1-D49A93EDD11F}" type="slidenum">
              <a:rPr lang="en-US"/>
              <a:pPr/>
              <a:t>20</a:t>
            </a:fld>
            <a:endParaRPr lang="en-US"/>
          </a:p>
        </p:txBody>
      </p:sp>
      <p:sp>
        <p:nvSpPr>
          <p:cNvPr id="44034"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4035" name="Rectangle 3"/>
          <p:cNvSpPr>
            <a:spLocks noGrp="1" noChangeArrowheads="1"/>
          </p:cNvSpPr>
          <p:nvPr>
            <p:ph type="body" idx="1"/>
          </p:nvPr>
        </p:nvSpPr>
        <p:spPr/>
        <p:txBody>
          <a:bodyPr/>
          <a:lstStyle/>
          <a:p>
            <a:r>
              <a:rPr lang="en-US">
                <a:latin typeface="Comic Sans MS" pitchFamily="66" charset="0"/>
              </a:rPr>
              <a:t>Application-level Gateway</a:t>
            </a:r>
          </a:p>
        </p:txBody>
      </p:sp>
      <p:graphicFrame>
        <p:nvGraphicFramePr>
          <p:cNvPr id="44036" name="Object 4"/>
          <p:cNvGraphicFramePr>
            <a:graphicFrameLocks noChangeAspect="1"/>
          </p:cNvGraphicFramePr>
          <p:nvPr/>
        </p:nvGraphicFramePr>
        <p:xfrm>
          <a:off x="1447800" y="2743200"/>
          <a:ext cx="6276975" cy="2352675"/>
        </p:xfrm>
        <a:graphic>
          <a:graphicData uri="http://schemas.openxmlformats.org/presentationml/2006/ole">
            <p:oleObj spid="_x0000_s52226" name="Bitmap Image" r:id="rId3" imgW="6276190" imgH="2352381" progId="Paint.Picture">
              <p:embed/>
            </p:oleObj>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r>
              <a:rPr lang="en-US"/>
              <a:t>Henric Johnson</a:t>
            </a:r>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787119EE-BC13-4172-B00F-6257B1EDC15E}" type="slidenum">
              <a:rPr lang="en-US"/>
              <a:pPr/>
              <a:t>21</a:t>
            </a:fld>
            <a:endParaRPr lang="en-US"/>
          </a:p>
        </p:txBody>
      </p:sp>
      <p:sp>
        <p:nvSpPr>
          <p:cNvPr id="46082"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6083" name="Rectangle 3"/>
          <p:cNvSpPr>
            <a:spLocks noGrp="1" noChangeArrowheads="1"/>
          </p:cNvSpPr>
          <p:nvPr>
            <p:ph type="body" idx="1"/>
          </p:nvPr>
        </p:nvSpPr>
        <p:spPr/>
        <p:txBody>
          <a:bodyPr/>
          <a:lstStyle/>
          <a:p>
            <a:r>
              <a:rPr lang="en-US">
                <a:latin typeface="Comic Sans MS" pitchFamily="66" charset="0"/>
              </a:rPr>
              <a:t>Application-level Gateway</a:t>
            </a:r>
          </a:p>
          <a:p>
            <a:pPr lvl="1"/>
            <a:r>
              <a:rPr lang="en-US">
                <a:latin typeface="Comic Sans MS" pitchFamily="66" charset="0"/>
              </a:rPr>
              <a:t>Also called proxy server</a:t>
            </a:r>
          </a:p>
          <a:p>
            <a:pPr lvl="1"/>
            <a:r>
              <a:rPr lang="en-US">
                <a:latin typeface="Comic Sans MS" pitchFamily="66" charset="0"/>
              </a:rPr>
              <a:t>Acts as a relay of application-level traffic</a:t>
            </a:r>
          </a:p>
          <a:p>
            <a:endParaRPr lang="en-US">
              <a:latin typeface="Comic Sans MS" pitchFamily="66"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54325B37-6FDD-4A8B-8CD1-5E9740B8CE76}" type="slidenum">
              <a:rPr lang="en-US"/>
              <a:pPr/>
              <a:t>22</a:t>
            </a:fld>
            <a:endParaRPr lang="en-US"/>
          </a:p>
        </p:txBody>
      </p:sp>
      <p:sp>
        <p:nvSpPr>
          <p:cNvPr id="47106"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7107" name="Rectangle 3"/>
          <p:cNvSpPr>
            <a:spLocks noGrp="1" noChangeArrowheads="1"/>
          </p:cNvSpPr>
          <p:nvPr>
            <p:ph type="body" idx="1"/>
          </p:nvPr>
        </p:nvSpPr>
        <p:spPr/>
        <p:txBody>
          <a:bodyPr/>
          <a:lstStyle/>
          <a:p>
            <a:r>
              <a:rPr lang="en-US">
                <a:latin typeface="Comic Sans MS" pitchFamily="66" charset="0"/>
              </a:rPr>
              <a:t>Advantages:</a:t>
            </a:r>
          </a:p>
          <a:p>
            <a:pPr lvl="1"/>
            <a:r>
              <a:rPr lang="en-US">
                <a:latin typeface="Comic Sans MS" pitchFamily="66" charset="0"/>
              </a:rPr>
              <a:t>Higher security than packet filters</a:t>
            </a:r>
          </a:p>
          <a:p>
            <a:pPr lvl="1"/>
            <a:r>
              <a:rPr lang="en-US">
                <a:latin typeface="Comic Sans MS" pitchFamily="66" charset="0"/>
              </a:rPr>
              <a:t>Only need to scrutinize a few allowable applications</a:t>
            </a:r>
          </a:p>
          <a:p>
            <a:pPr lvl="1"/>
            <a:r>
              <a:rPr lang="en-US">
                <a:latin typeface="Comic Sans MS" pitchFamily="66" charset="0"/>
              </a:rPr>
              <a:t>Easy to log and audit all incoming traffic</a:t>
            </a:r>
          </a:p>
          <a:p>
            <a:r>
              <a:rPr lang="en-US">
                <a:latin typeface="Comic Sans MS" pitchFamily="66" charset="0"/>
              </a:rPr>
              <a:t>Disadvantages:</a:t>
            </a:r>
          </a:p>
          <a:p>
            <a:pPr lvl="1"/>
            <a:r>
              <a:rPr lang="en-US">
                <a:latin typeface="Comic Sans MS" pitchFamily="66" charset="0"/>
              </a:rPr>
              <a:t>Additional processing overhead on each connection (gateway as splice point)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5"/>
          <p:cNvSpPr>
            <a:spLocks noGrp="1"/>
          </p:cNvSpPr>
          <p:nvPr>
            <p:ph type="ftr" sz="quarter" idx="4294967295"/>
          </p:nvPr>
        </p:nvSpPr>
        <p:spPr bwMode="auto">
          <a:xfrm>
            <a:off x="5345113" y="6400800"/>
            <a:ext cx="2895600" cy="457200"/>
          </a:xfrm>
          <a:prstGeom prst="rect">
            <a:avLst/>
          </a:prstGeom>
          <a:noFill/>
          <a:ln>
            <a:miter lim="800000"/>
            <a:headEnd/>
            <a:tailEnd/>
          </a:ln>
        </p:spPr>
        <p:txBody>
          <a:bodyPr/>
          <a:lstStyle/>
          <a:p>
            <a:r>
              <a:rPr lang="en-US" altLang="zh-CN">
                <a:ea typeface="宋体" pitchFamily="2" charset="-122"/>
              </a:rPr>
              <a:t>Network Security</a:t>
            </a:r>
            <a:endParaRPr lang="en-US" altLang="zh-CN">
              <a:latin typeface="Times New Roman" pitchFamily="18" charset="0"/>
              <a:ea typeface="宋体" pitchFamily="2" charset="-122"/>
            </a:endParaRPr>
          </a:p>
        </p:txBody>
      </p:sp>
      <p:sp>
        <p:nvSpPr>
          <p:cNvPr id="15363" name="Slide Number Placeholder 6"/>
          <p:cNvSpPr>
            <a:spLocks noGrp="1"/>
          </p:cNvSpPr>
          <p:nvPr>
            <p:ph type="sldNum" sz="quarter" idx="10"/>
          </p:nvPr>
        </p:nvSpPr>
        <p:spPr>
          <a:xfrm>
            <a:off x="8048625" y="6400800"/>
            <a:ext cx="727075" cy="296863"/>
          </a:xfrm>
          <a:noFill/>
        </p:spPr>
        <p:txBody>
          <a:bodyPr/>
          <a:lstStyle/>
          <a:p>
            <a:r>
              <a:rPr lang="en-US" altLang="zh-CN"/>
              <a:t>7-</a:t>
            </a:r>
            <a:fld id="{86D7048D-86F8-48A2-AFBC-4CCB4D3FBB67}" type="slidenum">
              <a:rPr lang="en-US" altLang="zh-CN"/>
              <a:pPr/>
              <a:t>23</a:t>
            </a:fld>
            <a:endParaRPr lang="en-US" altLang="zh-CN"/>
          </a:p>
        </p:txBody>
      </p:sp>
      <p:sp>
        <p:nvSpPr>
          <p:cNvPr id="15364" name="Rectangle 2"/>
          <p:cNvSpPr>
            <a:spLocks noGrp="1" noChangeArrowheads="1"/>
          </p:cNvSpPr>
          <p:nvPr>
            <p:ph type="title"/>
          </p:nvPr>
        </p:nvSpPr>
        <p:spPr/>
        <p:txBody>
          <a:bodyPr/>
          <a:lstStyle/>
          <a:p>
            <a:r>
              <a:rPr lang="en-US" altLang="zh-CN" sz="2800" smtClean="0">
                <a:ea typeface="宋体" pitchFamily="2" charset="-122"/>
              </a:rPr>
              <a:t>Application-level Firewall</a:t>
            </a:r>
          </a:p>
        </p:txBody>
      </p:sp>
      <p:sp>
        <p:nvSpPr>
          <p:cNvPr id="15365" name="Rectangle 3"/>
          <p:cNvSpPr>
            <a:spLocks noGrp="1" noChangeArrowheads="1"/>
          </p:cNvSpPr>
          <p:nvPr>
            <p:ph type="body" sz="half" idx="1"/>
          </p:nvPr>
        </p:nvSpPr>
        <p:spPr>
          <a:xfrm>
            <a:off x="501650" y="1341438"/>
            <a:ext cx="4138613" cy="2236787"/>
          </a:xfrm>
        </p:spPr>
        <p:txBody>
          <a:bodyPr/>
          <a:lstStyle/>
          <a:p>
            <a:r>
              <a:rPr lang="en-US" altLang="zh-CN" sz="2000" smtClean="0">
                <a:ea typeface="宋体" pitchFamily="2" charset="-122"/>
              </a:rPr>
              <a:t>Filters packets on application data as well as on IP/TCP/UDP fields.</a:t>
            </a:r>
          </a:p>
          <a:p>
            <a:r>
              <a:rPr lang="en-US" altLang="zh-CN" sz="2000" u="sng" smtClean="0">
                <a:solidFill>
                  <a:srgbClr val="FF0000"/>
                </a:solidFill>
                <a:ea typeface="宋体" pitchFamily="2" charset="-122"/>
              </a:rPr>
              <a:t>Example:</a:t>
            </a:r>
            <a:r>
              <a:rPr lang="en-US" altLang="zh-CN" sz="2000" smtClean="0">
                <a:ea typeface="宋体" pitchFamily="2" charset="-122"/>
              </a:rPr>
              <a:t> allow select internal users to telnet outside.</a:t>
            </a:r>
            <a:endParaRPr lang="en-US" altLang="zh-CN" sz="1800" smtClean="0">
              <a:ea typeface="宋体" pitchFamily="2" charset="-122"/>
            </a:endParaRPr>
          </a:p>
        </p:txBody>
      </p:sp>
      <p:sp>
        <p:nvSpPr>
          <p:cNvPr id="15366" name="Freeform 5"/>
          <p:cNvSpPr>
            <a:spLocks/>
          </p:cNvSpPr>
          <p:nvPr/>
        </p:nvSpPr>
        <p:spPr bwMode="auto">
          <a:xfrm>
            <a:off x="4837113" y="1738313"/>
            <a:ext cx="2974975" cy="2219325"/>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w="9525">
            <a:noFill/>
            <a:round/>
            <a:headEnd/>
            <a:tailEnd/>
          </a:ln>
        </p:spPr>
        <p:txBody>
          <a:bodyPr wrap="none" anchor="ctr"/>
          <a:lstStyle/>
          <a:p>
            <a:endParaRPr lang="en-US"/>
          </a:p>
        </p:txBody>
      </p:sp>
      <p:graphicFrame>
        <p:nvGraphicFramePr>
          <p:cNvPr id="15367" name="Object 6"/>
          <p:cNvGraphicFramePr>
            <a:graphicFrameLocks noChangeAspect="1"/>
          </p:cNvGraphicFramePr>
          <p:nvPr/>
        </p:nvGraphicFramePr>
        <p:xfrm>
          <a:off x="4943475" y="1658938"/>
          <a:ext cx="415925" cy="330200"/>
        </p:xfrm>
        <a:graphic>
          <a:graphicData uri="http://schemas.openxmlformats.org/presentationml/2006/ole">
            <p:oleObj spid="_x0000_s54274" name="Clip" r:id="rId4" imgW="1307263" imgH="1084139" progId="MS_ClipArt_Gallery.2">
              <p:embed/>
            </p:oleObj>
          </a:graphicData>
        </a:graphic>
      </p:graphicFrame>
      <p:sp>
        <p:nvSpPr>
          <p:cNvPr id="15368" name="Line 7"/>
          <p:cNvSpPr>
            <a:spLocks noChangeShapeType="1"/>
          </p:cNvSpPr>
          <p:nvPr/>
        </p:nvSpPr>
        <p:spPr bwMode="auto">
          <a:xfrm flipV="1">
            <a:off x="5349875" y="1905000"/>
            <a:ext cx="73025" cy="7938"/>
          </a:xfrm>
          <a:prstGeom prst="line">
            <a:avLst/>
          </a:prstGeom>
          <a:noFill/>
          <a:ln w="19050">
            <a:solidFill>
              <a:schemeClr val="tx1"/>
            </a:solidFill>
            <a:round/>
            <a:headEnd/>
            <a:tailEnd/>
          </a:ln>
        </p:spPr>
        <p:txBody>
          <a:bodyPr wrap="none" anchor="ctr"/>
          <a:lstStyle/>
          <a:p>
            <a:endParaRPr lang="en-US"/>
          </a:p>
        </p:txBody>
      </p:sp>
      <p:graphicFrame>
        <p:nvGraphicFramePr>
          <p:cNvPr id="15369" name="Object 8"/>
          <p:cNvGraphicFramePr>
            <a:graphicFrameLocks noChangeAspect="1"/>
          </p:cNvGraphicFramePr>
          <p:nvPr/>
        </p:nvGraphicFramePr>
        <p:xfrm>
          <a:off x="4943475" y="2254250"/>
          <a:ext cx="415925" cy="330200"/>
        </p:xfrm>
        <a:graphic>
          <a:graphicData uri="http://schemas.openxmlformats.org/presentationml/2006/ole">
            <p:oleObj spid="_x0000_s54275" name="Clip" r:id="rId5" imgW="1307263" imgH="1084139" progId="MS_ClipArt_Gallery.2">
              <p:embed/>
            </p:oleObj>
          </a:graphicData>
        </a:graphic>
      </p:graphicFrame>
      <p:sp>
        <p:nvSpPr>
          <p:cNvPr id="15370" name="Line 9"/>
          <p:cNvSpPr>
            <a:spLocks noChangeShapeType="1"/>
          </p:cNvSpPr>
          <p:nvPr/>
        </p:nvSpPr>
        <p:spPr bwMode="auto">
          <a:xfrm flipV="1">
            <a:off x="5349875" y="2505075"/>
            <a:ext cx="73025" cy="1588"/>
          </a:xfrm>
          <a:prstGeom prst="line">
            <a:avLst/>
          </a:prstGeom>
          <a:noFill/>
          <a:ln w="19050">
            <a:solidFill>
              <a:schemeClr val="tx1"/>
            </a:solidFill>
            <a:round/>
            <a:headEnd/>
            <a:tailEnd/>
          </a:ln>
        </p:spPr>
        <p:txBody>
          <a:bodyPr wrap="none" anchor="ctr"/>
          <a:lstStyle/>
          <a:p>
            <a:endParaRPr lang="en-US"/>
          </a:p>
        </p:txBody>
      </p:sp>
      <p:sp>
        <p:nvSpPr>
          <p:cNvPr id="15371" name="Line 10"/>
          <p:cNvSpPr>
            <a:spLocks noChangeShapeType="1"/>
          </p:cNvSpPr>
          <p:nvPr/>
        </p:nvSpPr>
        <p:spPr bwMode="auto">
          <a:xfrm>
            <a:off x="5416550" y="1903413"/>
            <a:ext cx="0" cy="600075"/>
          </a:xfrm>
          <a:prstGeom prst="line">
            <a:avLst/>
          </a:prstGeom>
          <a:noFill/>
          <a:ln w="12700">
            <a:solidFill>
              <a:schemeClr val="tx1"/>
            </a:solidFill>
            <a:round/>
            <a:headEnd/>
            <a:tailEnd/>
          </a:ln>
        </p:spPr>
        <p:txBody>
          <a:bodyPr wrap="none" anchor="ctr"/>
          <a:lstStyle/>
          <a:p>
            <a:endParaRPr lang="en-US"/>
          </a:p>
        </p:txBody>
      </p:sp>
      <p:graphicFrame>
        <p:nvGraphicFramePr>
          <p:cNvPr id="15372" name="Object 11"/>
          <p:cNvGraphicFramePr>
            <a:graphicFrameLocks noChangeAspect="1"/>
          </p:cNvGraphicFramePr>
          <p:nvPr/>
        </p:nvGraphicFramePr>
        <p:xfrm>
          <a:off x="5811838" y="2668588"/>
          <a:ext cx="417512" cy="331787"/>
        </p:xfrm>
        <a:graphic>
          <a:graphicData uri="http://schemas.openxmlformats.org/presentationml/2006/ole">
            <p:oleObj spid="_x0000_s54276" name="Clip" r:id="rId6" imgW="1307263" imgH="1084139" progId="MS_ClipArt_Gallery.2">
              <p:embed/>
            </p:oleObj>
          </a:graphicData>
        </a:graphic>
      </p:graphicFrame>
      <p:graphicFrame>
        <p:nvGraphicFramePr>
          <p:cNvPr id="15373" name="Object 12"/>
          <p:cNvGraphicFramePr>
            <a:graphicFrameLocks noChangeAspect="1"/>
          </p:cNvGraphicFramePr>
          <p:nvPr/>
        </p:nvGraphicFramePr>
        <p:xfrm>
          <a:off x="5197475" y="2657475"/>
          <a:ext cx="415925" cy="330200"/>
        </p:xfrm>
        <a:graphic>
          <a:graphicData uri="http://schemas.openxmlformats.org/presentationml/2006/ole">
            <p:oleObj spid="_x0000_s54277" name="Clip" r:id="rId7" imgW="1307263" imgH="1084139" progId="MS_ClipArt_Gallery.2">
              <p:embed/>
            </p:oleObj>
          </a:graphicData>
        </a:graphic>
      </p:graphicFrame>
      <p:sp>
        <p:nvSpPr>
          <p:cNvPr id="15374" name="Line 13"/>
          <p:cNvSpPr>
            <a:spLocks noChangeShapeType="1"/>
          </p:cNvSpPr>
          <p:nvPr/>
        </p:nvSpPr>
        <p:spPr bwMode="auto">
          <a:xfrm rot="-5400000">
            <a:off x="6036469" y="2643982"/>
            <a:ext cx="60325" cy="1587"/>
          </a:xfrm>
          <a:prstGeom prst="line">
            <a:avLst/>
          </a:prstGeom>
          <a:noFill/>
          <a:ln w="19050">
            <a:solidFill>
              <a:schemeClr val="tx1"/>
            </a:solidFill>
            <a:round/>
            <a:headEnd/>
            <a:tailEnd/>
          </a:ln>
        </p:spPr>
        <p:txBody>
          <a:bodyPr wrap="none" anchor="ctr"/>
          <a:lstStyle/>
          <a:p>
            <a:endParaRPr lang="en-US"/>
          </a:p>
        </p:txBody>
      </p:sp>
      <p:sp>
        <p:nvSpPr>
          <p:cNvPr id="15375" name="Line 14"/>
          <p:cNvSpPr>
            <a:spLocks noChangeShapeType="1"/>
          </p:cNvSpPr>
          <p:nvPr/>
        </p:nvSpPr>
        <p:spPr bwMode="auto">
          <a:xfrm rot="5400000" flipH="1">
            <a:off x="5410200" y="2635250"/>
            <a:ext cx="63500" cy="0"/>
          </a:xfrm>
          <a:prstGeom prst="line">
            <a:avLst/>
          </a:prstGeom>
          <a:noFill/>
          <a:ln w="19050">
            <a:solidFill>
              <a:schemeClr val="tx1"/>
            </a:solidFill>
            <a:round/>
            <a:headEnd/>
            <a:tailEnd/>
          </a:ln>
        </p:spPr>
        <p:txBody>
          <a:bodyPr wrap="none" anchor="ctr"/>
          <a:lstStyle/>
          <a:p>
            <a:endParaRPr lang="en-US"/>
          </a:p>
        </p:txBody>
      </p:sp>
      <p:sp>
        <p:nvSpPr>
          <p:cNvPr id="15376" name="Line 15"/>
          <p:cNvSpPr>
            <a:spLocks noChangeShapeType="1"/>
          </p:cNvSpPr>
          <p:nvPr/>
        </p:nvSpPr>
        <p:spPr bwMode="auto">
          <a:xfrm rot="16200000" flipV="1">
            <a:off x="5757069" y="2296319"/>
            <a:ext cx="0" cy="627062"/>
          </a:xfrm>
          <a:prstGeom prst="line">
            <a:avLst/>
          </a:prstGeom>
          <a:noFill/>
          <a:ln w="12700">
            <a:solidFill>
              <a:schemeClr val="tx1"/>
            </a:solidFill>
            <a:round/>
            <a:headEnd/>
            <a:tailEnd/>
          </a:ln>
        </p:spPr>
        <p:txBody>
          <a:bodyPr wrap="none" anchor="ctr"/>
          <a:lstStyle/>
          <a:p>
            <a:endParaRPr lang="en-US"/>
          </a:p>
        </p:txBody>
      </p:sp>
      <p:sp>
        <p:nvSpPr>
          <p:cNvPr id="15377" name="Line 16"/>
          <p:cNvSpPr>
            <a:spLocks noChangeShapeType="1"/>
          </p:cNvSpPr>
          <p:nvPr/>
        </p:nvSpPr>
        <p:spPr bwMode="auto">
          <a:xfrm flipV="1">
            <a:off x="5422900" y="2235200"/>
            <a:ext cx="93663" cy="3175"/>
          </a:xfrm>
          <a:prstGeom prst="line">
            <a:avLst/>
          </a:prstGeom>
          <a:noFill/>
          <a:ln w="12700">
            <a:solidFill>
              <a:schemeClr val="tx1"/>
            </a:solidFill>
            <a:round/>
            <a:headEnd/>
            <a:tailEnd/>
          </a:ln>
        </p:spPr>
        <p:txBody>
          <a:bodyPr wrap="none" anchor="ctr"/>
          <a:lstStyle/>
          <a:p>
            <a:endParaRPr lang="en-US"/>
          </a:p>
        </p:txBody>
      </p:sp>
      <p:sp>
        <p:nvSpPr>
          <p:cNvPr id="15378" name="Line 17"/>
          <p:cNvSpPr>
            <a:spLocks noChangeShapeType="1"/>
          </p:cNvSpPr>
          <p:nvPr/>
        </p:nvSpPr>
        <p:spPr bwMode="auto">
          <a:xfrm>
            <a:off x="5897563" y="2363788"/>
            <a:ext cx="430212" cy="303212"/>
          </a:xfrm>
          <a:prstGeom prst="line">
            <a:avLst/>
          </a:prstGeom>
          <a:noFill/>
          <a:ln w="12700">
            <a:solidFill>
              <a:schemeClr val="tx1"/>
            </a:solidFill>
            <a:round/>
            <a:headEnd/>
            <a:tailEnd/>
          </a:ln>
        </p:spPr>
        <p:txBody>
          <a:bodyPr wrap="none" anchor="ctr"/>
          <a:lstStyle/>
          <a:p>
            <a:endParaRPr lang="en-US"/>
          </a:p>
        </p:txBody>
      </p:sp>
      <p:sp>
        <p:nvSpPr>
          <p:cNvPr id="15379" name="Line 18"/>
          <p:cNvSpPr>
            <a:spLocks noChangeShapeType="1"/>
          </p:cNvSpPr>
          <p:nvPr/>
        </p:nvSpPr>
        <p:spPr bwMode="auto">
          <a:xfrm flipH="1">
            <a:off x="6819900" y="2278063"/>
            <a:ext cx="279400" cy="392112"/>
          </a:xfrm>
          <a:prstGeom prst="line">
            <a:avLst/>
          </a:prstGeom>
          <a:noFill/>
          <a:ln w="12700">
            <a:solidFill>
              <a:schemeClr val="tx1"/>
            </a:solidFill>
            <a:round/>
            <a:headEnd/>
            <a:tailEnd/>
          </a:ln>
        </p:spPr>
        <p:txBody>
          <a:bodyPr wrap="none" anchor="ctr"/>
          <a:lstStyle/>
          <a:p>
            <a:endParaRPr lang="en-US"/>
          </a:p>
        </p:txBody>
      </p:sp>
      <p:sp>
        <p:nvSpPr>
          <p:cNvPr id="15380" name="Line 19"/>
          <p:cNvSpPr>
            <a:spLocks noChangeShapeType="1"/>
          </p:cNvSpPr>
          <p:nvPr/>
        </p:nvSpPr>
        <p:spPr bwMode="auto">
          <a:xfrm>
            <a:off x="6602413" y="2768600"/>
            <a:ext cx="0" cy="228600"/>
          </a:xfrm>
          <a:prstGeom prst="line">
            <a:avLst/>
          </a:prstGeom>
          <a:noFill/>
          <a:ln w="12700">
            <a:solidFill>
              <a:schemeClr val="tx1"/>
            </a:solidFill>
            <a:round/>
            <a:headEnd/>
            <a:tailEnd/>
          </a:ln>
        </p:spPr>
        <p:txBody>
          <a:bodyPr wrap="none" anchor="ctr"/>
          <a:lstStyle/>
          <a:p>
            <a:endParaRPr lang="en-US"/>
          </a:p>
        </p:txBody>
      </p:sp>
      <p:grpSp>
        <p:nvGrpSpPr>
          <p:cNvPr id="2" name="Group 20"/>
          <p:cNvGrpSpPr>
            <a:grpSpLocks/>
          </p:cNvGrpSpPr>
          <p:nvPr/>
        </p:nvGrpSpPr>
        <p:grpSpPr bwMode="auto">
          <a:xfrm>
            <a:off x="6456363" y="1492250"/>
            <a:ext cx="303212" cy="571500"/>
            <a:chOff x="4180" y="783"/>
            <a:chExt cx="150" cy="307"/>
          </a:xfrm>
        </p:grpSpPr>
        <p:sp>
          <p:nvSpPr>
            <p:cNvPr id="15465" name="AutoShape 21"/>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en-US"/>
            </a:p>
          </p:txBody>
        </p:sp>
        <p:sp>
          <p:nvSpPr>
            <p:cNvPr id="15466" name="Rectangle 22"/>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en-US"/>
            </a:p>
          </p:txBody>
        </p:sp>
        <p:sp>
          <p:nvSpPr>
            <p:cNvPr id="15467" name="Rectangle 2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15468" name="AutoShape 2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en-US"/>
            </a:p>
          </p:txBody>
        </p:sp>
        <p:sp>
          <p:nvSpPr>
            <p:cNvPr id="15469" name="Line 25"/>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en-US"/>
            </a:p>
          </p:txBody>
        </p:sp>
        <p:sp>
          <p:nvSpPr>
            <p:cNvPr id="15470" name="Line 26"/>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en-US"/>
            </a:p>
          </p:txBody>
        </p:sp>
        <p:sp>
          <p:nvSpPr>
            <p:cNvPr id="15471" name="Rectangle 2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5472" name="Rectangle 28"/>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en-US"/>
            </a:p>
          </p:txBody>
        </p:sp>
      </p:grpSp>
      <p:grpSp>
        <p:nvGrpSpPr>
          <p:cNvPr id="3" name="Group 29"/>
          <p:cNvGrpSpPr>
            <a:grpSpLocks/>
          </p:cNvGrpSpPr>
          <p:nvPr/>
        </p:nvGrpSpPr>
        <p:grpSpPr bwMode="auto">
          <a:xfrm>
            <a:off x="7386638" y="2627313"/>
            <a:ext cx="207962" cy="409575"/>
            <a:chOff x="4180" y="783"/>
            <a:chExt cx="150" cy="307"/>
          </a:xfrm>
        </p:grpSpPr>
        <p:sp>
          <p:nvSpPr>
            <p:cNvPr id="15457" name="AutoShape 30"/>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en-US"/>
            </a:p>
          </p:txBody>
        </p:sp>
        <p:sp>
          <p:nvSpPr>
            <p:cNvPr id="15458" name="Rectangle 31"/>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en-US"/>
            </a:p>
          </p:txBody>
        </p:sp>
        <p:sp>
          <p:nvSpPr>
            <p:cNvPr id="15459" name="Rectangle 3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15460" name="AutoShape 3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en-US"/>
            </a:p>
          </p:txBody>
        </p:sp>
        <p:sp>
          <p:nvSpPr>
            <p:cNvPr id="15461" name="Line 34"/>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en-US"/>
            </a:p>
          </p:txBody>
        </p:sp>
        <p:sp>
          <p:nvSpPr>
            <p:cNvPr id="15462" name="Line 35"/>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en-US"/>
            </a:p>
          </p:txBody>
        </p:sp>
        <p:sp>
          <p:nvSpPr>
            <p:cNvPr id="15463" name="Rectangle 3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15464" name="Rectangle 37"/>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en-US"/>
            </a:p>
          </p:txBody>
        </p:sp>
      </p:grpSp>
      <p:sp>
        <p:nvSpPr>
          <p:cNvPr id="15383" name="Line 38"/>
          <p:cNvSpPr>
            <a:spLocks noChangeShapeType="1"/>
          </p:cNvSpPr>
          <p:nvPr/>
        </p:nvSpPr>
        <p:spPr bwMode="auto">
          <a:xfrm rot="5400000" flipH="1">
            <a:off x="6719887" y="2097088"/>
            <a:ext cx="225425" cy="0"/>
          </a:xfrm>
          <a:prstGeom prst="line">
            <a:avLst/>
          </a:prstGeom>
          <a:noFill/>
          <a:ln w="12700">
            <a:solidFill>
              <a:schemeClr val="tx1"/>
            </a:solidFill>
            <a:round/>
            <a:headEnd/>
            <a:tailEnd/>
          </a:ln>
        </p:spPr>
        <p:txBody>
          <a:bodyPr wrap="none" anchor="ctr"/>
          <a:lstStyle/>
          <a:p>
            <a:endParaRPr lang="en-US"/>
          </a:p>
        </p:txBody>
      </p:sp>
      <p:sp>
        <p:nvSpPr>
          <p:cNvPr id="15384" name="Line 39"/>
          <p:cNvSpPr>
            <a:spLocks noChangeShapeType="1"/>
          </p:cNvSpPr>
          <p:nvPr/>
        </p:nvSpPr>
        <p:spPr bwMode="auto">
          <a:xfrm rot="-5400000">
            <a:off x="6754019" y="1945481"/>
            <a:ext cx="6350" cy="160338"/>
          </a:xfrm>
          <a:prstGeom prst="line">
            <a:avLst/>
          </a:prstGeom>
          <a:noFill/>
          <a:ln w="12700">
            <a:solidFill>
              <a:schemeClr val="tx1"/>
            </a:solidFill>
            <a:round/>
            <a:headEnd/>
            <a:tailEnd/>
          </a:ln>
        </p:spPr>
        <p:txBody>
          <a:bodyPr wrap="none" anchor="ctr"/>
          <a:lstStyle/>
          <a:p>
            <a:endParaRPr lang="en-US"/>
          </a:p>
        </p:txBody>
      </p:sp>
      <p:sp>
        <p:nvSpPr>
          <p:cNvPr id="15385" name="Line 40"/>
          <p:cNvSpPr>
            <a:spLocks noChangeShapeType="1"/>
          </p:cNvSpPr>
          <p:nvPr/>
        </p:nvSpPr>
        <p:spPr bwMode="auto">
          <a:xfrm rot="-5400000">
            <a:off x="6889750" y="2111375"/>
            <a:ext cx="0" cy="88900"/>
          </a:xfrm>
          <a:prstGeom prst="line">
            <a:avLst/>
          </a:prstGeom>
          <a:noFill/>
          <a:ln w="12700">
            <a:solidFill>
              <a:schemeClr val="tx1"/>
            </a:solidFill>
            <a:round/>
            <a:headEnd/>
            <a:tailEnd/>
          </a:ln>
        </p:spPr>
        <p:txBody>
          <a:bodyPr wrap="none" anchor="ctr"/>
          <a:lstStyle/>
          <a:p>
            <a:endParaRPr lang="en-US"/>
          </a:p>
        </p:txBody>
      </p:sp>
      <p:sp>
        <p:nvSpPr>
          <p:cNvPr id="15386" name="Line 41"/>
          <p:cNvSpPr>
            <a:spLocks noChangeShapeType="1"/>
          </p:cNvSpPr>
          <p:nvPr/>
        </p:nvSpPr>
        <p:spPr bwMode="auto">
          <a:xfrm flipH="1">
            <a:off x="7205663" y="1690688"/>
            <a:ext cx="266700" cy="360362"/>
          </a:xfrm>
          <a:prstGeom prst="line">
            <a:avLst/>
          </a:prstGeom>
          <a:noFill/>
          <a:ln w="12700">
            <a:solidFill>
              <a:schemeClr val="tx1"/>
            </a:solidFill>
            <a:round/>
            <a:headEnd/>
            <a:tailEnd/>
          </a:ln>
        </p:spPr>
        <p:txBody>
          <a:bodyPr wrap="none" anchor="ctr"/>
          <a:lstStyle/>
          <a:p>
            <a:endParaRPr lang="en-US"/>
          </a:p>
        </p:txBody>
      </p:sp>
      <p:grpSp>
        <p:nvGrpSpPr>
          <p:cNvPr id="4" name="Group 42"/>
          <p:cNvGrpSpPr>
            <a:grpSpLocks/>
          </p:cNvGrpSpPr>
          <p:nvPr/>
        </p:nvGrpSpPr>
        <p:grpSpPr bwMode="auto">
          <a:xfrm>
            <a:off x="7262813" y="1454150"/>
            <a:ext cx="501650" cy="233363"/>
            <a:chOff x="3600" y="219"/>
            <a:chExt cx="360" cy="175"/>
          </a:xfrm>
        </p:grpSpPr>
        <p:sp>
          <p:nvSpPr>
            <p:cNvPr id="15444" name="Oval 4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5445" name="Line 44"/>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en-US"/>
            </a:p>
          </p:txBody>
        </p:sp>
        <p:sp>
          <p:nvSpPr>
            <p:cNvPr id="15446" name="Line 45"/>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en-US"/>
            </a:p>
          </p:txBody>
        </p:sp>
        <p:sp>
          <p:nvSpPr>
            <p:cNvPr id="15447" name="Rectangle 46"/>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endParaRPr lang="en-US" altLang="zh-CN">
                <a:ea typeface="宋体" pitchFamily="2" charset="-122"/>
              </a:endParaRPr>
            </a:p>
          </p:txBody>
        </p:sp>
        <p:sp>
          <p:nvSpPr>
            <p:cNvPr id="15448" name="Oval 4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5" name="Group 48"/>
            <p:cNvGrpSpPr>
              <a:grpSpLocks/>
            </p:cNvGrpSpPr>
            <p:nvPr/>
          </p:nvGrpSpPr>
          <p:grpSpPr bwMode="auto">
            <a:xfrm>
              <a:off x="3686" y="244"/>
              <a:ext cx="177" cy="66"/>
              <a:chOff x="2848" y="848"/>
              <a:chExt cx="140" cy="98"/>
            </a:xfrm>
          </p:grpSpPr>
          <p:sp>
            <p:nvSpPr>
              <p:cNvPr id="15454" name="Line 49"/>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55" name="Line 50"/>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56" name="Line 51"/>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nvGrpSpPr>
            <p:cNvPr id="6" name="Group 52"/>
            <p:cNvGrpSpPr>
              <a:grpSpLocks/>
            </p:cNvGrpSpPr>
            <p:nvPr/>
          </p:nvGrpSpPr>
          <p:grpSpPr bwMode="auto">
            <a:xfrm flipV="1">
              <a:off x="3686" y="243"/>
              <a:ext cx="177" cy="66"/>
              <a:chOff x="2848" y="848"/>
              <a:chExt cx="140" cy="98"/>
            </a:xfrm>
          </p:grpSpPr>
          <p:sp>
            <p:nvSpPr>
              <p:cNvPr id="15451" name="Line 5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52" name="Line 5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53" name="Line 5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grpSp>
        <p:nvGrpSpPr>
          <p:cNvPr id="7" name="Group 56"/>
          <p:cNvGrpSpPr>
            <a:grpSpLocks/>
          </p:cNvGrpSpPr>
          <p:nvPr/>
        </p:nvGrpSpPr>
        <p:grpSpPr bwMode="auto">
          <a:xfrm>
            <a:off x="6929438" y="2038350"/>
            <a:ext cx="501650" cy="234950"/>
            <a:chOff x="3600" y="219"/>
            <a:chExt cx="360" cy="175"/>
          </a:xfrm>
        </p:grpSpPr>
        <p:sp>
          <p:nvSpPr>
            <p:cNvPr id="15431" name="Oval 5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5432" name="Line 58"/>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en-US"/>
            </a:p>
          </p:txBody>
        </p:sp>
        <p:sp>
          <p:nvSpPr>
            <p:cNvPr id="15433" name="Line 59"/>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en-US"/>
            </a:p>
          </p:txBody>
        </p:sp>
        <p:sp>
          <p:nvSpPr>
            <p:cNvPr id="15434" name="Rectangle 60"/>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endParaRPr lang="en-US" altLang="zh-CN">
                <a:ea typeface="宋体" pitchFamily="2" charset="-122"/>
              </a:endParaRPr>
            </a:p>
          </p:txBody>
        </p:sp>
        <p:sp>
          <p:nvSpPr>
            <p:cNvPr id="15435" name="Oval 6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8" name="Group 62"/>
            <p:cNvGrpSpPr>
              <a:grpSpLocks/>
            </p:cNvGrpSpPr>
            <p:nvPr/>
          </p:nvGrpSpPr>
          <p:grpSpPr bwMode="auto">
            <a:xfrm>
              <a:off x="3686" y="244"/>
              <a:ext cx="177" cy="66"/>
              <a:chOff x="2848" y="848"/>
              <a:chExt cx="140" cy="98"/>
            </a:xfrm>
          </p:grpSpPr>
          <p:sp>
            <p:nvSpPr>
              <p:cNvPr id="15441" name="Line 63"/>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42" name="Line 64"/>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43" name="Line 65"/>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nvGrpSpPr>
            <p:cNvPr id="9" name="Group 66"/>
            <p:cNvGrpSpPr>
              <a:grpSpLocks/>
            </p:cNvGrpSpPr>
            <p:nvPr/>
          </p:nvGrpSpPr>
          <p:grpSpPr bwMode="auto">
            <a:xfrm flipV="1">
              <a:off x="3686" y="243"/>
              <a:ext cx="177" cy="66"/>
              <a:chOff x="2848" y="848"/>
              <a:chExt cx="140" cy="98"/>
            </a:xfrm>
          </p:grpSpPr>
          <p:sp>
            <p:nvSpPr>
              <p:cNvPr id="15438" name="Line 6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39" name="Line 6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40" name="Line 6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grpSp>
        <p:nvGrpSpPr>
          <p:cNvPr id="10" name="Group 70"/>
          <p:cNvGrpSpPr>
            <a:grpSpLocks/>
          </p:cNvGrpSpPr>
          <p:nvPr/>
        </p:nvGrpSpPr>
        <p:grpSpPr bwMode="auto">
          <a:xfrm>
            <a:off x="6319838" y="2527300"/>
            <a:ext cx="500062" cy="233363"/>
            <a:chOff x="3600" y="219"/>
            <a:chExt cx="360" cy="175"/>
          </a:xfrm>
        </p:grpSpPr>
        <p:sp>
          <p:nvSpPr>
            <p:cNvPr id="15418" name="Oval 7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5419" name="Line 7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en-US"/>
            </a:p>
          </p:txBody>
        </p:sp>
        <p:sp>
          <p:nvSpPr>
            <p:cNvPr id="15420" name="Line 7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en-US"/>
            </a:p>
          </p:txBody>
        </p:sp>
        <p:sp>
          <p:nvSpPr>
            <p:cNvPr id="15421" name="Rectangle 7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endParaRPr lang="en-US" altLang="zh-CN">
                <a:ea typeface="宋体" pitchFamily="2" charset="-122"/>
              </a:endParaRPr>
            </a:p>
          </p:txBody>
        </p:sp>
        <p:sp>
          <p:nvSpPr>
            <p:cNvPr id="15422" name="Oval 7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1" name="Group 76"/>
            <p:cNvGrpSpPr>
              <a:grpSpLocks/>
            </p:cNvGrpSpPr>
            <p:nvPr/>
          </p:nvGrpSpPr>
          <p:grpSpPr bwMode="auto">
            <a:xfrm>
              <a:off x="3686" y="244"/>
              <a:ext cx="177" cy="66"/>
              <a:chOff x="2848" y="848"/>
              <a:chExt cx="140" cy="98"/>
            </a:xfrm>
          </p:grpSpPr>
          <p:sp>
            <p:nvSpPr>
              <p:cNvPr id="15428" name="Line 77"/>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29" name="Line 78"/>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30" name="Line 79"/>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nvGrpSpPr>
            <p:cNvPr id="12" name="Group 80"/>
            <p:cNvGrpSpPr>
              <a:grpSpLocks/>
            </p:cNvGrpSpPr>
            <p:nvPr/>
          </p:nvGrpSpPr>
          <p:grpSpPr bwMode="auto">
            <a:xfrm flipV="1">
              <a:off x="3686" y="243"/>
              <a:ext cx="177" cy="66"/>
              <a:chOff x="2848" y="848"/>
              <a:chExt cx="140" cy="98"/>
            </a:xfrm>
          </p:grpSpPr>
          <p:sp>
            <p:nvSpPr>
              <p:cNvPr id="15425" name="Line 8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26" name="Line 8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27" name="Line 8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grpSp>
        <p:nvGrpSpPr>
          <p:cNvPr id="13" name="Group 84"/>
          <p:cNvGrpSpPr>
            <a:grpSpLocks/>
          </p:cNvGrpSpPr>
          <p:nvPr/>
        </p:nvGrpSpPr>
        <p:grpSpPr bwMode="auto">
          <a:xfrm>
            <a:off x="5516563" y="2151063"/>
            <a:ext cx="501650" cy="233362"/>
            <a:chOff x="3600" y="219"/>
            <a:chExt cx="360" cy="175"/>
          </a:xfrm>
        </p:grpSpPr>
        <p:sp>
          <p:nvSpPr>
            <p:cNvPr id="15405" name="Oval 8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en-US"/>
            </a:p>
          </p:txBody>
        </p:sp>
        <p:sp>
          <p:nvSpPr>
            <p:cNvPr id="15406" name="Line 86"/>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en-US"/>
            </a:p>
          </p:txBody>
        </p:sp>
        <p:sp>
          <p:nvSpPr>
            <p:cNvPr id="15407" name="Line 87"/>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en-US"/>
            </a:p>
          </p:txBody>
        </p:sp>
        <p:sp>
          <p:nvSpPr>
            <p:cNvPr id="15408" name="Rectangle 88"/>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endParaRPr lang="en-US" altLang="zh-CN">
                <a:ea typeface="宋体" pitchFamily="2" charset="-122"/>
              </a:endParaRPr>
            </a:p>
          </p:txBody>
        </p:sp>
        <p:sp>
          <p:nvSpPr>
            <p:cNvPr id="15409" name="Oval 8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en-US"/>
            </a:p>
          </p:txBody>
        </p:sp>
        <p:grpSp>
          <p:nvGrpSpPr>
            <p:cNvPr id="14" name="Group 90"/>
            <p:cNvGrpSpPr>
              <a:grpSpLocks/>
            </p:cNvGrpSpPr>
            <p:nvPr/>
          </p:nvGrpSpPr>
          <p:grpSpPr bwMode="auto">
            <a:xfrm>
              <a:off x="3686" y="244"/>
              <a:ext cx="177" cy="66"/>
              <a:chOff x="2848" y="848"/>
              <a:chExt cx="140" cy="98"/>
            </a:xfrm>
          </p:grpSpPr>
          <p:sp>
            <p:nvSpPr>
              <p:cNvPr id="15415" name="Line 91"/>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16" name="Line 92"/>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17" name="Line 93"/>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nvGrpSpPr>
            <p:cNvPr id="15" name="Group 94"/>
            <p:cNvGrpSpPr>
              <a:grpSpLocks/>
            </p:cNvGrpSpPr>
            <p:nvPr/>
          </p:nvGrpSpPr>
          <p:grpSpPr bwMode="auto">
            <a:xfrm flipV="1">
              <a:off x="3686" y="243"/>
              <a:ext cx="177" cy="66"/>
              <a:chOff x="2848" y="848"/>
              <a:chExt cx="140" cy="98"/>
            </a:xfrm>
          </p:grpSpPr>
          <p:sp>
            <p:nvSpPr>
              <p:cNvPr id="15412" name="Line 95"/>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15413" name="Line 96"/>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15414" name="Line 97"/>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sp>
        <p:nvSpPr>
          <p:cNvPr id="15391" name="Line 98"/>
          <p:cNvSpPr>
            <a:spLocks noChangeShapeType="1"/>
          </p:cNvSpPr>
          <p:nvPr/>
        </p:nvSpPr>
        <p:spPr bwMode="auto">
          <a:xfrm>
            <a:off x="5745163" y="2406650"/>
            <a:ext cx="0" cy="228600"/>
          </a:xfrm>
          <a:prstGeom prst="line">
            <a:avLst/>
          </a:prstGeom>
          <a:noFill/>
          <a:ln w="12700">
            <a:solidFill>
              <a:schemeClr val="tx1"/>
            </a:solidFill>
            <a:round/>
            <a:headEnd/>
            <a:tailEnd/>
          </a:ln>
        </p:spPr>
        <p:txBody>
          <a:bodyPr wrap="none" anchor="ctr"/>
          <a:lstStyle/>
          <a:p>
            <a:endParaRPr lang="en-US"/>
          </a:p>
        </p:txBody>
      </p:sp>
      <p:graphicFrame>
        <p:nvGraphicFramePr>
          <p:cNvPr id="15392" name="Object 99"/>
          <p:cNvGraphicFramePr>
            <a:graphicFrameLocks noChangeAspect="1"/>
          </p:cNvGraphicFramePr>
          <p:nvPr/>
        </p:nvGraphicFramePr>
        <p:xfrm>
          <a:off x="6945313" y="3030538"/>
          <a:ext cx="417512" cy="331787"/>
        </p:xfrm>
        <a:graphic>
          <a:graphicData uri="http://schemas.openxmlformats.org/presentationml/2006/ole">
            <p:oleObj spid="_x0000_s54278" name="Clip" r:id="rId8" imgW="1307263" imgH="1084139" progId="MS_ClipArt_Gallery.2">
              <p:embed/>
            </p:oleObj>
          </a:graphicData>
        </a:graphic>
      </p:graphicFrame>
      <p:graphicFrame>
        <p:nvGraphicFramePr>
          <p:cNvPr id="15393" name="Object 100"/>
          <p:cNvGraphicFramePr>
            <a:graphicFrameLocks noChangeAspect="1"/>
          </p:cNvGraphicFramePr>
          <p:nvPr/>
        </p:nvGraphicFramePr>
        <p:xfrm>
          <a:off x="6330950" y="3019425"/>
          <a:ext cx="415925" cy="330200"/>
        </p:xfrm>
        <a:graphic>
          <a:graphicData uri="http://schemas.openxmlformats.org/presentationml/2006/ole">
            <p:oleObj spid="_x0000_s54279" name="Clip" r:id="rId9" imgW="1307263" imgH="1084139" progId="MS_ClipArt_Gallery.2">
              <p:embed/>
            </p:oleObj>
          </a:graphicData>
        </a:graphic>
      </p:graphicFrame>
      <p:sp>
        <p:nvSpPr>
          <p:cNvPr id="15394" name="Line 101"/>
          <p:cNvSpPr>
            <a:spLocks noChangeShapeType="1"/>
          </p:cNvSpPr>
          <p:nvPr/>
        </p:nvSpPr>
        <p:spPr bwMode="auto">
          <a:xfrm rot="-5400000">
            <a:off x="7169944" y="3005932"/>
            <a:ext cx="60325" cy="1587"/>
          </a:xfrm>
          <a:prstGeom prst="line">
            <a:avLst/>
          </a:prstGeom>
          <a:noFill/>
          <a:ln w="19050">
            <a:solidFill>
              <a:schemeClr val="tx1"/>
            </a:solidFill>
            <a:round/>
            <a:headEnd/>
            <a:tailEnd/>
          </a:ln>
        </p:spPr>
        <p:txBody>
          <a:bodyPr wrap="none" anchor="ctr"/>
          <a:lstStyle/>
          <a:p>
            <a:endParaRPr lang="en-US"/>
          </a:p>
        </p:txBody>
      </p:sp>
      <p:sp>
        <p:nvSpPr>
          <p:cNvPr id="15395" name="Line 102"/>
          <p:cNvSpPr>
            <a:spLocks noChangeShapeType="1"/>
          </p:cNvSpPr>
          <p:nvPr/>
        </p:nvSpPr>
        <p:spPr bwMode="auto">
          <a:xfrm rot="5400000" flipH="1">
            <a:off x="6543675" y="2997200"/>
            <a:ext cx="63500" cy="0"/>
          </a:xfrm>
          <a:prstGeom prst="line">
            <a:avLst/>
          </a:prstGeom>
          <a:noFill/>
          <a:ln w="19050">
            <a:solidFill>
              <a:schemeClr val="tx1"/>
            </a:solidFill>
            <a:round/>
            <a:headEnd/>
            <a:tailEnd/>
          </a:ln>
        </p:spPr>
        <p:txBody>
          <a:bodyPr wrap="none" anchor="ctr"/>
          <a:lstStyle/>
          <a:p>
            <a:endParaRPr lang="en-US"/>
          </a:p>
        </p:txBody>
      </p:sp>
      <p:sp>
        <p:nvSpPr>
          <p:cNvPr id="15396" name="Line 103"/>
          <p:cNvSpPr>
            <a:spLocks noChangeShapeType="1"/>
          </p:cNvSpPr>
          <p:nvPr/>
        </p:nvSpPr>
        <p:spPr bwMode="auto">
          <a:xfrm rot="16200000" flipV="1">
            <a:off x="6890544" y="2658269"/>
            <a:ext cx="0" cy="627062"/>
          </a:xfrm>
          <a:prstGeom prst="line">
            <a:avLst/>
          </a:prstGeom>
          <a:noFill/>
          <a:ln w="12700">
            <a:solidFill>
              <a:schemeClr val="tx1"/>
            </a:solidFill>
            <a:round/>
            <a:headEnd/>
            <a:tailEnd/>
          </a:ln>
        </p:spPr>
        <p:txBody>
          <a:bodyPr wrap="none" anchor="ctr"/>
          <a:lstStyle/>
          <a:p>
            <a:endParaRPr lang="en-US"/>
          </a:p>
        </p:txBody>
      </p:sp>
      <p:sp>
        <p:nvSpPr>
          <p:cNvPr id="15397" name="Freeform 104"/>
          <p:cNvSpPr>
            <a:spLocks/>
          </p:cNvSpPr>
          <p:nvPr/>
        </p:nvSpPr>
        <p:spPr bwMode="auto">
          <a:xfrm>
            <a:off x="5429250" y="1536700"/>
            <a:ext cx="1009650" cy="228600"/>
          </a:xfrm>
          <a:custGeom>
            <a:avLst/>
            <a:gdLst>
              <a:gd name="T0" fmla="*/ 0 w 636"/>
              <a:gd name="T1" fmla="*/ 2147483647 h 144"/>
              <a:gd name="T2" fmla="*/ 2147483647 w 636"/>
              <a:gd name="T3" fmla="*/ 2147483647 h 144"/>
              <a:gd name="T4" fmla="*/ 0 60000 65536"/>
              <a:gd name="T5" fmla="*/ 0 60000 65536"/>
              <a:gd name="T6" fmla="*/ 0 w 636"/>
              <a:gd name="T7" fmla="*/ 0 h 144"/>
              <a:gd name="T8" fmla="*/ 636 w 636"/>
              <a:gd name="T9" fmla="*/ 144 h 144"/>
            </a:gdLst>
            <a:ahLst/>
            <a:cxnLst>
              <a:cxn ang="T4">
                <a:pos x="T0" y="T1"/>
              </a:cxn>
              <a:cxn ang="T5">
                <a:pos x="T2" y="T3"/>
              </a:cxn>
            </a:cxnLst>
            <a:rect l="T6" t="T7" r="T8" b="T9"/>
            <a:pathLst>
              <a:path w="636" h="144">
                <a:moveTo>
                  <a:pt x="0" y="144"/>
                </a:moveTo>
                <a:cubicBezTo>
                  <a:pt x="180" y="6"/>
                  <a:pt x="450" y="0"/>
                  <a:pt x="636" y="114"/>
                </a:cubicBezTo>
              </a:path>
            </a:pathLst>
          </a:custGeom>
          <a:noFill/>
          <a:ln w="28575" cap="flat" cmpd="sng">
            <a:solidFill>
              <a:srgbClr val="FF0000"/>
            </a:solidFill>
            <a:prstDash val="solid"/>
            <a:round/>
            <a:headEnd type="none" w="med" len="med"/>
            <a:tailEnd type="triangle" w="med" len="med"/>
          </a:ln>
        </p:spPr>
        <p:txBody>
          <a:bodyPr wrap="none" anchor="ctr"/>
          <a:lstStyle/>
          <a:p>
            <a:endParaRPr lang="en-US"/>
          </a:p>
        </p:txBody>
      </p:sp>
      <p:sp>
        <p:nvSpPr>
          <p:cNvPr id="15398" name="Freeform 105"/>
          <p:cNvSpPr>
            <a:spLocks/>
          </p:cNvSpPr>
          <p:nvPr/>
        </p:nvSpPr>
        <p:spPr bwMode="auto">
          <a:xfrm>
            <a:off x="6781800" y="1146175"/>
            <a:ext cx="771525" cy="939800"/>
          </a:xfrm>
          <a:custGeom>
            <a:avLst/>
            <a:gdLst>
              <a:gd name="T0" fmla="*/ 0 w 486"/>
              <a:gd name="T1" fmla="*/ 2147483647 h 592"/>
              <a:gd name="T2" fmla="*/ 2147483647 w 486"/>
              <a:gd name="T3" fmla="*/ 2147483647 h 592"/>
              <a:gd name="T4" fmla="*/ 2147483647 w 486"/>
              <a:gd name="T5" fmla="*/ 0 h 592"/>
              <a:gd name="T6" fmla="*/ 0 60000 65536"/>
              <a:gd name="T7" fmla="*/ 0 60000 65536"/>
              <a:gd name="T8" fmla="*/ 0 60000 65536"/>
              <a:gd name="T9" fmla="*/ 0 w 486"/>
              <a:gd name="T10" fmla="*/ 0 h 592"/>
              <a:gd name="T11" fmla="*/ 486 w 486"/>
              <a:gd name="T12" fmla="*/ 592 h 592"/>
            </a:gdLst>
            <a:ahLst/>
            <a:cxnLst>
              <a:cxn ang="T6">
                <a:pos x="T0" y="T1"/>
              </a:cxn>
              <a:cxn ang="T7">
                <a:pos x="T2" y="T3"/>
              </a:cxn>
              <a:cxn ang="T8">
                <a:pos x="T4" y="T5"/>
              </a:cxn>
            </a:cxnLst>
            <a:rect l="T9" t="T10" r="T11" b="T12"/>
            <a:pathLst>
              <a:path w="486" h="592">
                <a:moveTo>
                  <a:pt x="0" y="492"/>
                </a:moveTo>
                <a:cubicBezTo>
                  <a:pt x="25" y="472"/>
                  <a:pt x="81" y="592"/>
                  <a:pt x="162" y="510"/>
                </a:cubicBezTo>
                <a:cubicBezTo>
                  <a:pt x="243" y="428"/>
                  <a:pt x="419" y="106"/>
                  <a:pt x="486" y="0"/>
                </a:cubicBezTo>
              </a:path>
            </a:pathLst>
          </a:custGeom>
          <a:noFill/>
          <a:ln w="28575" cap="flat" cmpd="sng">
            <a:solidFill>
              <a:srgbClr val="FF0000"/>
            </a:solidFill>
            <a:prstDash val="solid"/>
            <a:round/>
            <a:headEnd type="none" w="med" len="med"/>
            <a:tailEnd type="triangle" w="med" len="med"/>
          </a:ln>
        </p:spPr>
        <p:txBody>
          <a:bodyPr wrap="none" anchor="ctr"/>
          <a:lstStyle/>
          <a:p>
            <a:endParaRPr lang="en-US"/>
          </a:p>
        </p:txBody>
      </p:sp>
      <p:sp>
        <p:nvSpPr>
          <p:cNvPr id="15399" name="Text Box 106"/>
          <p:cNvSpPr txBox="1">
            <a:spLocks noChangeArrowheads="1"/>
          </p:cNvSpPr>
          <p:nvPr/>
        </p:nvSpPr>
        <p:spPr bwMode="auto">
          <a:xfrm>
            <a:off x="4946650" y="1173163"/>
            <a:ext cx="1655763" cy="523875"/>
          </a:xfrm>
          <a:prstGeom prst="rect">
            <a:avLst/>
          </a:prstGeom>
          <a:noFill/>
          <a:ln w="9525">
            <a:noFill/>
            <a:miter lim="800000"/>
            <a:headEnd/>
            <a:tailEnd/>
          </a:ln>
        </p:spPr>
        <p:txBody>
          <a:bodyPr wrap="none">
            <a:spAutoFit/>
          </a:bodyPr>
          <a:lstStyle/>
          <a:p>
            <a:pPr algn="l"/>
            <a:r>
              <a:rPr lang="en-US" altLang="zh-CN" sz="1400">
                <a:solidFill>
                  <a:schemeClr val="tx1"/>
                </a:solidFill>
                <a:latin typeface="Comic Sans MS" pitchFamily="66" charset="0"/>
                <a:ea typeface="宋体" pitchFamily="2" charset="-122"/>
              </a:rPr>
              <a:t>host-to-gateway</a:t>
            </a:r>
          </a:p>
          <a:p>
            <a:pPr algn="l"/>
            <a:r>
              <a:rPr lang="en-US" altLang="zh-CN" sz="1400">
                <a:solidFill>
                  <a:schemeClr val="tx1"/>
                </a:solidFill>
                <a:latin typeface="Comic Sans MS" pitchFamily="66" charset="0"/>
                <a:ea typeface="宋体" pitchFamily="2" charset="-122"/>
              </a:rPr>
              <a:t>session</a:t>
            </a:r>
            <a:endParaRPr lang="en-US" altLang="zh-CN" sz="1800">
              <a:solidFill>
                <a:schemeClr val="tx1"/>
              </a:solidFill>
              <a:latin typeface="Comic Sans MS" pitchFamily="66" charset="0"/>
              <a:ea typeface="宋体" pitchFamily="2" charset="-122"/>
            </a:endParaRPr>
          </a:p>
        </p:txBody>
      </p:sp>
      <p:sp>
        <p:nvSpPr>
          <p:cNvPr id="15400" name="Text Box 107"/>
          <p:cNvSpPr txBox="1">
            <a:spLocks noChangeArrowheads="1"/>
          </p:cNvSpPr>
          <p:nvPr/>
        </p:nvSpPr>
        <p:spPr bwMode="auto">
          <a:xfrm>
            <a:off x="7080250" y="704850"/>
            <a:ext cx="1971675" cy="523875"/>
          </a:xfrm>
          <a:prstGeom prst="rect">
            <a:avLst/>
          </a:prstGeom>
          <a:noFill/>
          <a:ln w="9525">
            <a:noFill/>
            <a:miter lim="800000"/>
            <a:headEnd/>
            <a:tailEnd/>
          </a:ln>
        </p:spPr>
        <p:txBody>
          <a:bodyPr wrap="none">
            <a:spAutoFit/>
          </a:bodyPr>
          <a:lstStyle/>
          <a:p>
            <a:pPr algn="l"/>
            <a:r>
              <a:rPr lang="en-US" altLang="zh-CN" sz="1400">
                <a:solidFill>
                  <a:schemeClr val="tx1"/>
                </a:solidFill>
                <a:latin typeface="Comic Sans MS" pitchFamily="66" charset="0"/>
                <a:ea typeface="宋体" pitchFamily="2" charset="-122"/>
              </a:rPr>
              <a:t>gateway-to-remote </a:t>
            </a:r>
          </a:p>
          <a:p>
            <a:pPr algn="l"/>
            <a:r>
              <a:rPr lang="en-US" altLang="zh-CN" sz="1400">
                <a:solidFill>
                  <a:schemeClr val="tx1"/>
                </a:solidFill>
                <a:latin typeface="Comic Sans MS" pitchFamily="66" charset="0"/>
                <a:ea typeface="宋体" pitchFamily="2" charset="-122"/>
              </a:rPr>
              <a:t>host session</a:t>
            </a:r>
            <a:endParaRPr lang="en-US" altLang="zh-CN" sz="1800">
              <a:solidFill>
                <a:schemeClr val="tx1"/>
              </a:solidFill>
              <a:latin typeface="Comic Sans MS" pitchFamily="66" charset="0"/>
              <a:ea typeface="宋体" pitchFamily="2" charset="-122"/>
            </a:endParaRPr>
          </a:p>
        </p:txBody>
      </p:sp>
      <p:sp>
        <p:nvSpPr>
          <p:cNvPr id="15401" name="Text Box 108"/>
          <p:cNvSpPr txBox="1">
            <a:spLocks noChangeArrowheads="1"/>
          </p:cNvSpPr>
          <p:nvPr/>
        </p:nvSpPr>
        <p:spPr bwMode="auto">
          <a:xfrm>
            <a:off x="5926138" y="1987550"/>
            <a:ext cx="936625" cy="457200"/>
          </a:xfrm>
          <a:prstGeom prst="rect">
            <a:avLst/>
          </a:prstGeom>
          <a:noFill/>
          <a:ln w="9525">
            <a:noFill/>
            <a:miter lim="800000"/>
            <a:headEnd/>
            <a:tailEnd/>
          </a:ln>
        </p:spPr>
        <p:txBody>
          <a:bodyPr wrap="none">
            <a:spAutoFit/>
          </a:bodyPr>
          <a:lstStyle/>
          <a:p>
            <a:r>
              <a:rPr lang="en-US" altLang="zh-CN" sz="1200">
                <a:solidFill>
                  <a:schemeClr val="tx1"/>
                </a:solidFill>
                <a:latin typeface="Comic Sans MS" pitchFamily="66" charset="0"/>
                <a:ea typeface="宋体" pitchFamily="2" charset="-122"/>
              </a:rPr>
              <a:t>application</a:t>
            </a:r>
          </a:p>
          <a:p>
            <a:r>
              <a:rPr lang="en-US" altLang="zh-CN" sz="1200">
                <a:solidFill>
                  <a:schemeClr val="tx1"/>
                </a:solidFill>
                <a:latin typeface="Comic Sans MS" pitchFamily="66" charset="0"/>
                <a:ea typeface="宋体" pitchFamily="2" charset="-122"/>
              </a:rPr>
              <a:t>gateway</a:t>
            </a:r>
            <a:endParaRPr lang="en-US" altLang="zh-CN" sz="1800">
              <a:solidFill>
                <a:schemeClr val="tx1"/>
              </a:solidFill>
              <a:latin typeface="Comic Sans MS" pitchFamily="66" charset="0"/>
              <a:ea typeface="宋体" pitchFamily="2" charset="-122"/>
            </a:endParaRPr>
          </a:p>
        </p:txBody>
      </p:sp>
      <p:sp>
        <p:nvSpPr>
          <p:cNvPr id="15402" name="Text Box 109"/>
          <p:cNvSpPr txBox="1">
            <a:spLocks noChangeArrowheads="1"/>
          </p:cNvSpPr>
          <p:nvPr/>
        </p:nvSpPr>
        <p:spPr bwMode="auto">
          <a:xfrm>
            <a:off x="7431088" y="2012950"/>
            <a:ext cx="1373187" cy="274638"/>
          </a:xfrm>
          <a:prstGeom prst="rect">
            <a:avLst/>
          </a:prstGeom>
          <a:noFill/>
          <a:ln w="9525">
            <a:noFill/>
            <a:miter lim="800000"/>
            <a:headEnd/>
            <a:tailEnd/>
          </a:ln>
        </p:spPr>
        <p:txBody>
          <a:bodyPr wrap="none">
            <a:spAutoFit/>
          </a:bodyPr>
          <a:lstStyle/>
          <a:p>
            <a:r>
              <a:rPr lang="en-US" altLang="zh-CN" sz="1200">
                <a:solidFill>
                  <a:schemeClr val="tx1"/>
                </a:solidFill>
                <a:latin typeface="Comic Sans MS" pitchFamily="66" charset="0"/>
                <a:ea typeface="宋体" pitchFamily="2" charset="-122"/>
              </a:rPr>
              <a:t>router and filter</a:t>
            </a:r>
            <a:endParaRPr lang="en-US" altLang="zh-CN" sz="1800">
              <a:solidFill>
                <a:schemeClr val="tx1"/>
              </a:solidFill>
              <a:latin typeface="Comic Sans MS" pitchFamily="66" charset="0"/>
              <a:ea typeface="宋体" pitchFamily="2" charset="-122"/>
            </a:endParaRPr>
          </a:p>
        </p:txBody>
      </p:sp>
      <p:sp>
        <p:nvSpPr>
          <p:cNvPr id="15403" name="Rectangle 110"/>
          <p:cNvSpPr>
            <a:spLocks noChangeArrowheads="1"/>
          </p:cNvSpPr>
          <p:nvPr/>
        </p:nvSpPr>
        <p:spPr bwMode="auto">
          <a:xfrm>
            <a:off x="652463" y="3835400"/>
            <a:ext cx="7642225" cy="1990725"/>
          </a:xfrm>
          <a:prstGeom prst="rect">
            <a:avLst/>
          </a:prstGeom>
          <a:noFill/>
          <a:ln w="9525">
            <a:noFill/>
            <a:miter lim="800000"/>
            <a:headEnd/>
            <a:tailEnd/>
          </a:ln>
        </p:spPr>
        <p:txBody>
          <a:bodyPr/>
          <a:lstStyle/>
          <a:p>
            <a:pPr marL="342900" indent="-342900" algn="l">
              <a:spcBef>
                <a:spcPct val="20000"/>
              </a:spcBef>
              <a:buClr>
                <a:schemeClr val="accent2"/>
              </a:buClr>
              <a:buSzPct val="85000"/>
              <a:buFont typeface="ZapfDingbats"/>
              <a:buNone/>
            </a:pPr>
            <a:r>
              <a:rPr lang="en-US" altLang="zh-CN" sz="1800">
                <a:solidFill>
                  <a:srgbClr val="FF0000"/>
                </a:solidFill>
                <a:latin typeface="Comic Sans MS" pitchFamily="66" charset="0"/>
                <a:ea typeface="宋体" pitchFamily="2" charset="-122"/>
              </a:rPr>
              <a:t>1.</a:t>
            </a:r>
            <a:r>
              <a:rPr lang="en-US" altLang="zh-CN" sz="1800">
                <a:latin typeface="Comic Sans MS" pitchFamily="66" charset="0"/>
                <a:ea typeface="宋体" pitchFamily="2" charset="-122"/>
              </a:rPr>
              <a:t> Require all telnet users to telnet through gateway.</a:t>
            </a:r>
          </a:p>
          <a:p>
            <a:pPr marL="342900" indent="-342900" algn="l">
              <a:spcBef>
                <a:spcPct val="20000"/>
              </a:spcBef>
              <a:buClr>
                <a:schemeClr val="accent2"/>
              </a:buClr>
              <a:buSzPct val="85000"/>
              <a:buFont typeface="ZapfDingbats"/>
              <a:buNone/>
            </a:pPr>
            <a:r>
              <a:rPr lang="en-US" altLang="zh-CN" sz="1800">
                <a:solidFill>
                  <a:srgbClr val="FF0000"/>
                </a:solidFill>
                <a:latin typeface="Comic Sans MS" pitchFamily="66" charset="0"/>
                <a:ea typeface="宋体" pitchFamily="2" charset="-122"/>
              </a:rPr>
              <a:t>2.</a:t>
            </a:r>
            <a:r>
              <a:rPr lang="en-US" altLang="zh-CN" sz="1800">
                <a:latin typeface="Comic Sans MS" pitchFamily="66" charset="0"/>
                <a:ea typeface="宋体" pitchFamily="2" charset="-122"/>
              </a:rPr>
              <a:t> For authorized users, gateway sets up telnet connection to dest host. Gateway relays data between 2 connections</a:t>
            </a:r>
          </a:p>
          <a:p>
            <a:pPr marL="342900" indent="-342900" algn="l">
              <a:spcBef>
                <a:spcPct val="20000"/>
              </a:spcBef>
              <a:buClr>
                <a:schemeClr val="accent2"/>
              </a:buClr>
              <a:buSzPct val="85000"/>
              <a:buFont typeface="ZapfDingbats"/>
              <a:buNone/>
            </a:pPr>
            <a:r>
              <a:rPr lang="en-US" altLang="zh-CN" sz="1800">
                <a:solidFill>
                  <a:srgbClr val="FF0000"/>
                </a:solidFill>
                <a:latin typeface="Comic Sans MS" pitchFamily="66" charset="0"/>
                <a:ea typeface="宋体" pitchFamily="2" charset="-122"/>
              </a:rPr>
              <a:t>3.</a:t>
            </a:r>
            <a:r>
              <a:rPr lang="en-US" altLang="zh-CN" sz="1800">
                <a:latin typeface="Comic Sans MS" pitchFamily="66" charset="0"/>
                <a:ea typeface="宋体" pitchFamily="2" charset="-122"/>
              </a:rPr>
              <a:t> Router filter blocks all telnet connections not originating from gateway.</a:t>
            </a:r>
          </a:p>
        </p:txBody>
      </p:sp>
      <p:sp>
        <p:nvSpPr>
          <p:cNvPr id="135279" name="Rectangle 111"/>
          <p:cNvSpPr>
            <a:spLocks noChangeArrowheads="1"/>
          </p:cNvSpPr>
          <p:nvPr/>
        </p:nvSpPr>
        <p:spPr bwMode="auto">
          <a:xfrm>
            <a:off x="560388" y="5368925"/>
            <a:ext cx="7850187" cy="1238250"/>
          </a:xfrm>
          <a:prstGeom prst="rect">
            <a:avLst/>
          </a:prstGeom>
          <a:noFill/>
          <a:ln w="9525">
            <a:noFill/>
            <a:miter lim="800000"/>
            <a:headEnd/>
            <a:tailEnd/>
          </a:ln>
        </p:spPr>
        <p:txBody>
          <a:bodyPr/>
          <a:lstStyle/>
          <a:p>
            <a:pPr marL="342900" indent="-342900" algn="l">
              <a:spcBef>
                <a:spcPct val="20000"/>
              </a:spcBef>
              <a:buClr>
                <a:schemeClr val="accent2"/>
              </a:buClr>
              <a:buSzPct val="85000"/>
              <a:buFont typeface="ZapfDingbats"/>
              <a:buChar char="r"/>
            </a:pPr>
            <a:r>
              <a:rPr lang="en-US" altLang="zh-CN" sz="2000" u="sng">
                <a:solidFill>
                  <a:srgbClr val="FF0000"/>
                </a:solidFill>
                <a:latin typeface="Comic Sans MS" pitchFamily="66" charset="0"/>
                <a:ea typeface="宋体" pitchFamily="2" charset="-122"/>
              </a:rPr>
              <a:t>Example:</a:t>
            </a:r>
            <a:r>
              <a:rPr lang="en-US" altLang="zh-CN" sz="2000">
                <a:latin typeface="Comic Sans MS" pitchFamily="66" charset="0"/>
                <a:ea typeface="宋体" pitchFamily="2" charset="-122"/>
              </a:rPr>
              <a:t> block user access to know porn websites</a:t>
            </a:r>
          </a:p>
          <a:p>
            <a:pPr marL="742950" lvl="1" indent="-285750" algn="l">
              <a:spcBef>
                <a:spcPct val="20000"/>
              </a:spcBef>
              <a:buClr>
                <a:schemeClr val="accent2"/>
              </a:buClr>
              <a:buSzPct val="75000"/>
              <a:buFont typeface="ZapfDingbats"/>
              <a:buChar char="m"/>
            </a:pPr>
            <a:r>
              <a:rPr lang="en-US" altLang="zh-CN" sz="1600">
                <a:latin typeface="Comic Sans MS" pitchFamily="66" charset="0"/>
                <a:ea typeface="宋体" pitchFamily="2" charset="-122"/>
              </a:rPr>
              <a:t>Check if the Web URL is in a “black-list”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2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2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6" name="Slide Number Placeholder 5"/>
          <p:cNvSpPr>
            <a:spLocks noGrp="1"/>
          </p:cNvSpPr>
          <p:nvPr>
            <p:ph type="sldNum" sz="quarter" idx="4294967295"/>
          </p:nvPr>
        </p:nvSpPr>
        <p:spPr>
          <a:xfrm>
            <a:off x="6553200" y="6248400"/>
            <a:ext cx="1905000" cy="457200"/>
          </a:xfrm>
          <a:prstGeom prst="rect">
            <a:avLst/>
          </a:prstGeom>
        </p:spPr>
        <p:txBody>
          <a:bodyPr/>
          <a:lstStyle/>
          <a:p>
            <a:fld id="{92FAC763-136B-4057-A048-E1E3E9711349}" type="slidenum">
              <a:rPr lang="en-US"/>
              <a:pPr/>
              <a:t>24</a:t>
            </a:fld>
            <a:endParaRPr lang="en-US"/>
          </a:p>
        </p:txBody>
      </p:sp>
      <p:sp>
        <p:nvSpPr>
          <p:cNvPr id="48130"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8131" name="Rectangle 3"/>
          <p:cNvSpPr>
            <a:spLocks noGrp="1" noChangeArrowheads="1"/>
          </p:cNvSpPr>
          <p:nvPr>
            <p:ph type="body" idx="1"/>
          </p:nvPr>
        </p:nvSpPr>
        <p:spPr/>
        <p:txBody>
          <a:bodyPr/>
          <a:lstStyle/>
          <a:p>
            <a:r>
              <a:rPr lang="en-US">
                <a:latin typeface="Comic Sans MS" pitchFamily="66" charset="0"/>
              </a:rPr>
              <a:t>Circuit-level Gateway</a:t>
            </a:r>
          </a:p>
          <a:p>
            <a:endParaRPr lang="en-US">
              <a:latin typeface="Comic Sans MS" pitchFamily="66" charset="0"/>
            </a:endParaRPr>
          </a:p>
        </p:txBody>
      </p:sp>
      <p:graphicFrame>
        <p:nvGraphicFramePr>
          <p:cNvPr id="48132" name="Object 4"/>
          <p:cNvGraphicFramePr>
            <a:graphicFrameLocks noChangeAspect="1"/>
          </p:cNvGraphicFramePr>
          <p:nvPr/>
        </p:nvGraphicFramePr>
        <p:xfrm>
          <a:off x="1447800" y="2667000"/>
          <a:ext cx="6335713" cy="2590800"/>
        </p:xfrm>
        <a:graphic>
          <a:graphicData uri="http://schemas.openxmlformats.org/presentationml/2006/ole">
            <p:oleObj spid="_x0000_s53250" name="Bitmap Image" r:id="rId3" imgW="6335009" imgH="2591162" progId="Paint.Picture">
              <p:embed/>
            </p:oleObj>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r>
              <a:rPr lang="en-US"/>
              <a:t>Henric Johnson</a:t>
            </a:r>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741F7582-C5CB-4048-B9A0-E63E6D947589}" type="slidenum">
              <a:rPr lang="en-US"/>
              <a:pPr/>
              <a:t>25</a:t>
            </a:fld>
            <a:endParaRPr lang="en-US"/>
          </a:p>
        </p:txBody>
      </p:sp>
      <p:sp>
        <p:nvSpPr>
          <p:cNvPr id="49154"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49155" name="Rectangle 3"/>
          <p:cNvSpPr>
            <a:spLocks noGrp="1" noChangeArrowheads="1"/>
          </p:cNvSpPr>
          <p:nvPr>
            <p:ph type="body" idx="1"/>
          </p:nvPr>
        </p:nvSpPr>
        <p:spPr/>
        <p:txBody>
          <a:bodyPr/>
          <a:lstStyle/>
          <a:p>
            <a:r>
              <a:rPr lang="en-US">
                <a:latin typeface="Comic Sans MS" pitchFamily="66" charset="0"/>
              </a:rPr>
              <a:t>Circuit-level Gateway</a:t>
            </a:r>
          </a:p>
          <a:p>
            <a:pPr lvl="1"/>
            <a:r>
              <a:rPr lang="en-US">
                <a:latin typeface="Comic Sans MS" pitchFamily="66" charset="0"/>
              </a:rPr>
              <a:t>Stand-alone system or</a:t>
            </a:r>
          </a:p>
          <a:p>
            <a:pPr lvl="1"/>
            <a:r>
              <a:rPr lang="en-US">
                <a:latin typeface="Comic Sans MS" pitchFamily="66" charset="0"/>
              </a:rPr>
              <a:t>Specialized function performed by an Application-level Gateway</a:t>
            </a:r>
          </a:p>
          <a:p>
            <a:pPr lvl="1"/>
            <a:r>
              <a:rPr lang="en-US">
                <a:latin typeface="Comic Sans MS" pitchFamily="66" charset="0"/>
              </a:rPr>
              <a:t>Sets up two TCP connections</a:t>
            </a:r>
          </a:p>
          <a:p>
            <a:pPr lvl="1"/>
            <a:r>
              <a:rPr lang="en-US">
                <a:latin typeface="Comic Sans MS" pitchFamily="66" charset="0"/>
              </a:rPr>
              <a:t>The gateway typically relays TCP segments from one connection to the other without examining the contents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4294967295"/>
          </p:nvPr>
        </p:nvSpPr>
        <p:spPr>
          <a:xfrm>
            <a:off x="3124200" y="6248400"/>
            <a:ext cx="2895600" cy="457200"/>
          </a:xfrm>
          <a:prstGeom prst="rect">
            <a:avLst/>
          </a:prstGeom>
        </p:spPr>
        <p:txBody>
          <a:bodyPr/>
          <a:lstStyle/>
          <a:p>
            <a:endParaRPr lang="en-US" dirty="0"/>
          </a:p>
        </p:txBody>
      </p:sp>
      <p:sp>
        <p:nvSpPr>
          <p:cNvPr id="5" name="Slide Number Placeholder 5"/>
          <p:cNvSpPr>
            <a:spLocks noGrp="1"/>
          </p:cNvSpPr>
          <p:nvPr>
            <p:ph type="sldNum" sz="quarter" idx="4294967295"/>
          </p:nvPr>
        </p:nvSpPr>
        <p:spPr>
          <a:xfrm>
            <a:off x="6553200" y="6248400"/>
            <a:ext cx="1905000" cy="457200"/>
          </a:xfrm>
          <a:prstGeom prst="rect">
            <a:avLst/>
          </a:prstGeom>
        </p:spPr>
        <p:txBody>
          <a:bodyPr/>
          <a:lstStyle/>
          <a:p>
            <a:fld id="{B068CA6B-5763-46AD-8727-18D4B8D59CB8}" type="slidenum">
              <a:rPr lang="en-US"/>
              <a:pPr/>
              <a:t>26</a:t>
            </a:fld>
            <a:endParaRPr lang="en-US"/>
          </a:p>
        </p:txBody>
      </p:sp>
      <p:sp>
        <p:nvSpPr>
          <p:cNvPr id="50178" name="Rectangle 2"/>
          <p:cNvSpPr>
            <a:spLocks noGrp="1" noChangeArrowheads="1"/>
          </p:cNvSpPr>
          <p:nvPr>
            <p:ph type="title"/>
          </p:nvPr>
        </p:nvSpPr>
        <p:spPr/>
        <p:txBody>
          <a:bodyPr/>
          <a:lstStyle/>
          <a:p>
            <a:r>
              <a:rPr lang="sv-SE" b="1">
                <a:effectLst>
                  <a:outerShdw blurRad="38100" dist="38100" dir="2700000" algn="tl">
                    <a:srgbClr val="C0C0C0"/>
                  </a:outerShdw>
                </a:effectLst>
                <a:latin typeface="Comic Sans MS" pitchFamily="66" charset="0"/>
              </a:rPr>
              <a:t>Types of Firewalls</a:t>
            </a:r>
            <a:r>
              <a:rPr lang="en-US" b="1">
                <a:effectLst>
                  <a:outerShdw blurRad="38100" dist="38100" dir="2700000" algn="tl">
                    <a:srgbClr val="C0C0C0"/>
                  </a:outerShdw>
                </a:effectLst>
                <a:latin typeface="Comic Sans MS" pitchFamily="66" charset="0"/>
              </a:rPr>
              <a:t/>
            </a:r>
            <a:br>
              <a:rPr lang="en-US" b="1">
                <a:effectLst>
                  <a:outerShdw blurRad="38100" dist="38100" dir="2700000" algn="tl">
                    <a:srgbClr val="C0C0C0"/>
                  </a:outerShdw>
                </a:effectLst>
                <a:latin typeface="Comic Sans MS" pitchFamily="66" charset="0"/>
              </a:rPr>
            </a:br>
            <a:endParaRPr lang="en-US" b="1">
              <a:effectLst>
                <a:outerShdw blurRad="38100" dist="38100" dir="2700000" algn="tl">
                  <a:srgbClr val="C0C0C0"/>
                </a:outerShdw>
              </a:effectLst>
              <a:latin typeface="Comic Sans MS" pitchFamily="66" charset="0"/>
            </a:endParaRPr>
          </a:p>
        </p:txBody>
      </p:sp>
      <p:sp>
        <p:nvSpPr>
          <p:cNvPr id="50179" name="Rectangle 3"/>
          <p:cNvSpPr>
            <a:spLocks noGrp="1" noChangeArrowheads="1"/>
          </p:cNvSpPr>
          <p:nvPr>
            <p:ph type="body" idx="1"/>
          </p:nvPr>
        </p:nvSpPr>
        <p:spPr/>
        <p:txBody>
          <a:bodyPr/>
          <a:lstStyle/>
          <a:p>
            <a:r>
              <a:rPr lang="en-US" dirty="0">
                <a:latin typeface="Comic Sans MS" pitchFamily="66" charset="0"/>
              </a:rPr>
              <a:t>Circuit-level Gateway</a:t>
            </a:r>
          </a:p>
          <a:p>
            <a:pPr lvl="1"/>
            <a:r>
              <a:rPr lang="en-US" dirty="0">
                <a:latin typeface="Comic Sans MS" pitchFamily="66" charset="0"/>
              </a:rPr>
              <a:t>The security function consists of determining which connections will be allowed</a:t>
            </a:r>
          </a:p>
          <a:p>
            <a:pPr lvl="1"/>
            <a:r>
              <a:rPr lang="en-US" dirty="0">
                <a:latin typeface="Comic Sans MS" pitchFamily="66" charset="0"/>
              </a:rPr>
              <a:t>Typically use is a situation in which the system administrator trusts the internal users</a:t>
            </a:r>
          </a:p>
          <a:p>
            <a:pPr lvl="1"/>
            <a:r>
              <a:rPr lang="en-US" dirty="0">
                <a:latin typeface="Comic Sans MS" pitchFamily="66" charset="0"/>
              </a:rPr>
              <a:t>An example is the SOCKS package</a:t>
            </a:r>
          </a:p>
        </p:txBody>
      </p:sp>
    </p:spTree>
  </p:cSld>
  <p:clrMapOvr>
    <a:masterClrMapping/>
  </p:clrMapOvr>
</p:sld>
</file>

<file path=ppt/theme/theme1.xml><?xml version="1.0" encoding="utf-8"?>
<a:theme xmlns:a="http://schemas.openxmlformats.org/drawingml/2006/main" name="UCF Gold">
  <a:themeElements>
    <a:clrScheme name="">
      <a:dk1>
        <a:srgbClr val="00279F"/>
      </a:dk1>
      <a:lt1>
        <a:srgbClr val="FFFFFF"/>
      </a:lt1>
      <a:dk2>
        <a:srgbClr val="00279F"/>
      </a:dk2>
      <a:lt2>
        <a:srgbClr val="919191"/>
      </a:lt2>
      <a:accent1>
        <a:srgbClr val="618FFD"/>
      </a:accent1>
      <a:accent2>
        <a:srgbClr val="00AE00"/>
      </a:accent2>
      <a:accent3>
        <a:srgbClr val="FFFFFF"/>
      </a:accent3>
      <a:accent4>
        <a:srgbClr val="002087"/>
      </a:accent4>
      <a:accent5>
        <a:srgbClr val="B7C6FE"/>
      </a:accent5>
      <a:accent6>
        <a:srgbClr val="009D00"/>
      </a:accent6>
      <a:hlink>
        <a:srgbClr val="0033CC"/>
      </a:hlink>
      <a:folHlink>
        <a:srgbClr val="919191"/>
      </a:folHlink>
    </a:clrScheme>
    <a:fontScheme name="UCF 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EBD30"/>
        </a:solidFill>
        <a:ln w="12700" cap="flat" cmpd="sng" algn="ctr">
          <a:solidFill>
            <a:srgbClr val="00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rgbClr val="00279F"/>
            </a:solidFill>
            <a:effectLst/>
            <a:latin typeface="Batang" pitchFamily="18" charset="-127"/>
          </a:defRPr>
        </a:defPPr>
      </a:lstStyle>
    </a:spDef>
    <a:lnDef>
      <a:spPr bwMode="auto">
        <a:xfrm>
          <a:off x="0" y="0"/>
          <a:ext cx="1" cy="1"/>
        </a:xfrm>
        <a:custGeom>
          <a:avLst/>
          <a:gdLst/>
          <a:ahLst/>
          <a:cxnLst/>
          <a:rect l="0" t="0" r="0" b="0"/>
          <a:pathLst/>
        </a:custGeom>
        <a:solidFill>
          <a:srgbClr val="DEBD30"/>
        </a:solidFill>
        <a:ln w="12700" cap="flat" cmpd="sng" algn="ctr">
          <a:solidFill>
            <a:srgbClr val="00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rgbClr val="00279F"/>
            </a:solidFill>
            <a:effectLst/>
            <a:latin typeface="Batang" pitchFamily="18" charset="-127"/>
          </a:defRPr>
        </a:defPPr>
      </a:lstStyle>
    </a:lnDef>
  </a:objectDefaults>
  <a:extraClrSchemeLst>
    <a:extraClrScheme>
      <a:clrScheme name="UCF Gol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CF Gol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CF Gol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CF Gol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CF Gol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CF Gol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CF Gol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Designs\UCF Gold.pot</Template>
  <TotalTime>13313</TotalTime>
  <Pages>1</Pages>
  <Words>1261</Words>
  <Application>Microsoft Office PowerPoint</Application>
  <PresentationFormat>On-screen Show (4:3)</PresentationFormat>
  <Paragraphs>228</Paragraphs>
  <Slides>26</Slides>
  <Notes>1</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9" baseType="lpstr">
      <vt:lpstr>Batang</vt:lpstr>
      <vt:lpstr>Arial</vt:lpstr>
      <vt:lpstr>Tahoma</vt:lpstr>
      <vt:lpstr>Wingdings</vt:lpstr>
      <vt:lpstr>Times New Roman</vt:lpstr>
      <vt:lpstr>宋体</vt:lpstr>
      <vt:lpstr>Book Antiqua</vt:lpstr>
      <vt:lpstr>Gulim</vt:lpstr>
      <vt:lpstr>Comic Sans MS</vt:lpstr>
      <vt:lpstr>ZapfDingbats</vt:lpstr>
      <vt:lpstr>UCF Gold</vt:lpstr>
      <vt:lpstr>Bitmap Image</vt:lpstr>
      <vt:lpstr>Microsoft Clip Gallery</vt:lpstr>
      <vt:lpstr>Slide 1</vt:lpstr>
      <vt:lpstr>Firewalls</vt:lpstr>
      <vt:lpstr>Firewall Design Principles </vt:lpstr>
      <vt:lpstr>Firewall Characteristics </vt:lpstr>
      <vt:lpstr>Firewall Characteristics </vt:lpstr>
      <vt:lpstr>Firewall Policies</vt:lpstr>
      <vt:lpstr>Policy Actions</vt:lpstr>
      <vt:lpstr>Blacklists and White Lists</vt:lpstr>
      <vt:lpstr>Firewall Types </vt:lpstr>
      <vt:lpstr>Stateless Firewalls</vt:lpstr>
      <vt:lpstr>Stateless Restrictions</vt:lpstr>
      <vt:lpstr>Statefull Firewalls</vt:lpstr>
      <vt:lpstr>Statefull Firewall Example</vt:lpstr>
      <vt:lpstr>Slide 14</vt:lpstr>
      <vt:lpstr>Types of Firewalls </vt:lpstr>
      <vt:lpstr>Types of Firewalls </vt:lpstr>
      <vt:lpstr>Types of Firewalls </vt:lpstr>
      <vt:lpstr>Types of Firewalls </vt:lpstr>
      <vt:lpstr>Types of Firewalls </vt:lpstr>
      <vt:lpstr>Types of Firewalls </vt:lpstr>
      <vt:lpstr>Types of Firewalls </vt:lpstr>
      <vt:lpstr>Types of Firewalls </vt:lpstr>
      <vt:lpstr>Application-level Firewall</vt:lpstr>
      <vt:lpstr>Types of Firewalls </vt:lpstr>
      <vt:lpstr>Types of Firewalls </vt:lpstr>
      <vt:lpstr>Types of Firewalls </vt:lpstr>
    </vt:vector>
  </TitlesOfParts>
  <Company>Brevard Community College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FSEC template</dc:subject>
  <dc:creator>GrossmanN</dc:creator>
  <cp:lastModifiedBy>admin</cp:lastModifiedBy>
  <cp:revision>499</cp:revision>
  <cp:lastPrinted>1996-12-20T20:37:54Z</cp:lastPrinted>
  <dcterms:created xsi:type="dcterms:W3CDTF">2001-03-12T20:28:54Z</dcterms:created>
  <dcterms:modified xsi:type="dcterms:W3CDTF">2022-09-26T07:54:21Z</dcterms:modified>
</cp:coreProperties>
</file>