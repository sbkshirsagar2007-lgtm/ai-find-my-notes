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83" r:id="rId4"/>
    <p:sldId id="258" r:id="rId5"/>
    <p:sldId id="259" r:id="rId6"/>
    <p:sldId id="284" r:id="rId7"/>
    <p:sldId id="285" r:id="rId8"/>
    <p:sldId id="286" r:id="rId9"/>
    <p:sldId id="287" r:id="rId10"/>
    <p:sldId id="260"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Lst>
  <p:sldSz cx="10058400" cy="7772400"/>
  <p:notesSz cx="10058400" cy="7772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2586" y="-75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4500" b="0" i="0">
                <a:solidFill>
                  <a:srgbClr val="93C500"/>
                </a:solidFill>
                <a:latin typeface="Verdana"/>
                <a:cs typeface="Verdana"/>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93C500"/>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93C500"/>
                </a:solidFill>
                <a:latin typeface="Verdana"/>
                <a:cs typeface="Verdana"/>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93C500"/>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0058400" cy="7772400"/>
          </a:xfrm>
          <a:prstGeom prst="rect">
            <a:avLst/>
          </a:prstGeom>
        </p:spPr>
      </p:pic>
      <p:pic>
        <p:nvPicPr>
          <p:cNvPr id="17" name="bg object 17"/>
          <p:cNvPicPr/>
          <p:nvPr/>
        </p:nvPicPr>
        <p:blipFill>
          <a:blip r:embed="rId3" cstate="print"/>
          <a:stretch>
            <a:fillRect/>
          </a:stretch>
        </p:blipFill>
        <p:spPr>
          <a:xfrm>
            <a:off x="457200" y="457200"/>
            <a:ext cx="9144000" cy="391667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0058400" cy="7772400"/>
          </a:xfrm>
          <a:prstGeom prst="rect">
            <a:avLst/>
          </a:prstGeom>
        </p:spPr>
      </p:pic>
      <p:sp>
        <p:nvSpPr>
          <p:cNvPr id="17" name="bg object 17"/>
          <p:cNvSpPr/>
          <p:nvPr/>
        </p:nvSpPr>
        <p:spPr>
          <a:xfrm>
            <a:off x="1091209" y="0"/>
            <a:ext cx="1760220" cy="7772400"/>
          </a:xfrm>
          <a:custGeom>
            <a:avLst/>
            <a:gdLst/>
            <a:ahLst/>
            <a:cxnLst/>
            <a:rect l="l" t="t" r="r" b="b"/>
            <a:pathLst>
              <a:path w="1760220" h="7772400">
                <a:moveTo>
                  <a:pt x="1760220" y="0"/>
                </a:moveTo>
                <a:lnTo>
                  <a:pt x="0" y="0"/>
                </a:lnTo>
                <a:lnTo>
                  <a:pt x="0" y="7772400"/>
                </a:lnTo>
                <a:lnTo>
                  <a:pt x="1760220" y="7772400"/>
                </a:lnTo>
                <a:lnTo>
                  <a:pt x="1760220" y="0"/>
                </a:lnTo>
                <a:close/>
              </a:path>
            </a:pathLst>
          </a:custGeom>
          <a:solidFill>
            <a:srgbClr val="FFFFFF">
              <a:alpha val="10195"/>
            </a:srgbClr>
          </a:solidFill>
        </p:spPr>
        <p:txBody>
          <a:bodyPr wrap="square" lIns="0" tIns="0" rIns="0" bIns="0" rtlCol="0"/>
          <a:lstStyle/>
          <a:p>
            <a:endParaRPr/>
          </a:p>
        </p:txBody>
      </p:sp>
      <p:sp>
        <p:nvSpPr>
          <p:cNvPr id="18" name="bg object 18"/>
          <p:cNvSpPr/>
          <p:nvPr/>
        </p:nvSpPr>
        <p:spPr>
          <a:xfrm>
            <a:off x="85356" y="0"/>
            <a:ext cx="1089660" cy="7772400"/>
          </a:xfrm>
          <a:custGeom>
            <a:avLst/>
            <a:gdLst/>
            <a:ahLst/>
            <a:cxnLst/>
            <a:rect l="l" t="t" r="r" b="b"/>
            <a:pathLst>
              <a:path w="1089660" h="7772400">
                <a:moveTo>
                  <a:pt x="1089660" y="0"/>
                </a:moveTo>
                <a:lnTo>
                  <a:pt x="502920" y="0"/>
                </a:lnTo>
                <a:lnTo>
                  <a:pt x="251472" y="0"/>
                </a:lnTo>
                <a:lnTo>
                  <a:pt x="0" y="0"/>
                </a:lnTo>
                <a:lnTo>
                  <a:pt x="0" y="7772400"/>
                </a:lnTo>
                <a:lnTo>
                  <a:pt x="251472" y="7772400"/>
                </a:lnTo>
                <a:lnTo>
                  <a:pt x="502920" y="7772400"/>
                </a:lnTo>
                <a:lnTo>
                  <a:pt x="1089660" y="7772400"/>
                </a:lnTo>
                <a:lnTo>
                  <a:pt x="1089660" y="0"/>
                </a:lnTo>
                <a:close/>
              </a:path>
            </a:pathLst>
          </a:custGeom>
          <a:solidFill>
            <a:srgbClr val="FFFFFF">
              <a:alpha val="10195"/>
            </a:srgbClr>
          </a:solidFill>
        </p:spPr>
        <p:txBody>
          <a:bodyPr wrap="square" lIns="0" tIns="0" rIns="0" bIns="0" rtlCol="0"/>
          <a:lstStyle/>
          <a:p>
            <a:endParaRPr/>
          </a:p>
        </p:txBody>
      </p:sp>
      <p:sp>
        <p:nvSpPr>
          <p:cNvPr id="19" name="bg object 19"/>
          <p:cNvSpPr/>
          <p:nvPr/>
        </p:nvSpPr>
        <p:spPr>
          <a:xfrm>
            <a:off x="1556385" y="0"/>
            <a:ext cx="1760220" cy="7772400"/>
          </a:xfrm>
          <a:custGeom>
            <a:avLst/>
            <a:gdLst/>
            <a:ahLst/>
            <a:cxnLst/>
            <a:rect l="l" t="t" r="r" b="b"/>
            <a:pathLst>
              <a:path w="1760220" h="7772400">
                <a:moveTo>
                  <a:pt x="1760219" y="0"/>
                </a:moveTo>
                <a:lnTo>
                  <a:pt x="0" y="0"/>
                </a:lnTo>
                <a:lnTo>
                  <a:pt x="0" y="7772400"/>
                </a:lnTo>
                <a:lnTo>
                  <a:pt x="1760219" y="7772400"/>
                </a:lnTo>
                <a:lnTo>
                  <a:pt x="1760219" y="0"/>
                </a:lnTo>
                <a:close/>
              </a:path>
            </a:pathLst>
          </a:custGeom>
          <a:solidFill>
            <a:srgbClr val="FFFFFF">
              <a:alpha val="10195"/>
            </a:srgbClr>
          </a:solidFill>
        </p:spPr>
        <p:txBody>
          <a:bodyPr wrap="square" lIns="0" tIns="0" rIns="0" bIns="0" rtlCol="0"/>
          <a:lstStyle/>
          <a:p>
            <a:endParaRPr/>
          </a:p>
        </p:txBody>
      </p:sp>
      <p:sp>
        <p:nvSpPr>
          <p:cNvPr id="20" name="bg object 20"/>
          <p:cNvSpPr/>
          <p:nvPr/>
        </p:nvSpPr>
        <p:spPr>
          <a:xfrm>
            <a:off x="550570" y="0"/>
            <a:ext cx="1089660" cy="7772400"/>
          </a:xfrm>
          <a:custGeom>
            <a:avLst/>
            <a:gdLst/>
            <a:ahLst/>
            <a:cxnLst/>
            <a:rect l="l" t="t" r="r" b="b"/>
            <a:pathLst>
              <a:path w="1089660" h="7772400">
                <a:moveTo>
                  <a:pt x="1089647" y="0"/>
                </a:moveTo>
                <a:lnTo>
                  <a:pt x="502920" y="0"/>
                </a:lnTo>
                <a:lnTo>
                  <a:pt x="251460" y="0"/>
                </a:lnTo>
                <a:lnTo>
                  <a:pt x="0" y="0"/>
                </a:lnTo>
                <a:lnTo>
                  <a:pt x="0" y="7772400"/>
                </a:lnTo>
                <a:lnTo>
                  <a:pt x="251460" y="7772400"/>
                </a:lnTo>
                <a:lnTo>
                  <a:pt x="502920" y="7772400"/>
                </a:lnTo>
                <a:lnTo>
                  <a:pt x="1089647" y="7772400"/>
                </a:lnTo>
                <a:lnTo>
                  <a:pt x="1089647" y="0"/>
                </a:lnTo>
                <a:close/>
              </a:path>
            </a:pathLst>
          </a:custGeom>
          <a:solidFill>
            <a:srgbClr val="FFFFFF">
              <a:alpha val="10195"/>
            </a:srgbClr>
          </a:solidFill>
        </p:spPr>
        <p:txBody>
          <a:bodyPr wrap="square" lIns="0" tIns="0" rIns="0" bIns="0" rtlCol="0"/>
          <a:lstStyle/>
          <a:p>
            <a:endParaRPr/>
          </a:p>
        </p:txBody>
      </p:sp>
      <p:sp>
        <p:nvSpPr>
          <p:cNvPr id="21" name="bg object 21"/>
          <p:cNvSpPr/>
          <p:nvPr/>
        </p:nvSpPr>
        <p:spPr>
          <a:xfrm>
            <a:off x="7377683" y="0"/>
            <a:ext cx="1760220" cy="7772400"/>
          </a:xfrm>
          <a:custGeom>
            <a:avLst/>
            <a:gdLst/>
            <a:ahLst/>
            <a:cxnLst/>
            <a:rect l="l" t="t" r="r" b="b"/>
            <a:pathLst>
              <a:path w="1760220" h="7772400">
                <a:moveTo>
                  <a:pt x="1760220" y="0"/>
                </a:moveTo>
                <a:lnTo>
                  <a:pt x="0" y="0"/>
                </a:lnTo>
                <a:lnTo>
                  <a:pt x="0" y="7772400"/>
                </a:lnTo>
                <a:lnTo>
                  <a:pt x="1760220" y="7772400"/>
                </a:lnTo>
                <a:lnTo>
                  <a:pt x="1760220" y="0"/>
                </a:lnTo>
                <a:close/>
              </a:path>
            </a:pathLst>
          </a:custGeom>
          <a:solidFill>
            <a:srgbClr val="FFFFFF">
              <a:alpha val="10195"/>
            </a:srgbClr>
          </a:solidFill>
        </p:spPr>
        <p:txBody>
          <a:bodyPr wrap="square" lIns="0" tIns="0" rIns="0" bIns="0" rtlCol="0"/>
          <a:lstStyle/>
          <a:p>
            <a:endParaRPr/>
          </a:p>
        </p:txBody>
      </p:sp>
      <p:sp>
        <p:nvSpPr>
          <p:cNvPr id="22" name="bg object 22"/>
          <p:cNvSpPr/>
          <p:nvPr/>
        </p:nvSpPr>
        <p:spPr>
          <a:xfrm>
            <a:off x="9054084" y="0"/>
            <a:ext cx="1004569" cy="7772400"/>
          </a:xfrm>
          <a:custGeom>
            <a:avLst/>
            <a:gdLst/>
            <a:ahLst/>
            <a:cxnLst/>
            <a:rect l="l" t="t" r="r" b="b"/>
            <a:pathLst>
              <a:path w="1004570" h="7772400">
                <a:moveTo>
                  <a:pt x="1004316" y="0"/>
                </a:moveTo>
                <a:lnTo>
                  <a:pt x="838200" y="0"/>
                </a:lnTo>
                <a:lnTo>
                  <a:pt x="586740" y="0"/>
                </a:lnTo>
                <a:lnTo>
                  <a:pt x="0" y="0"/>
                </a:lnTo>
                <a:lnTo>
                  <a:pt x="0" y="7772400"/>
                </a:lnTo>
                <a:lnTo>
                  <a:pt x="586740" y="7772400"/>
                </a:lnTo>
                <a:lnTo>
                  <a:pt x="838200" y="7772400"/>
                </a:lnTo>
                <a:lnTo>
                  <a:pt x="1004316" y="7772400"/>
                </a:lnTo>
                <a:lnTo>
                  <a:pt x="1004316" y="0"/>
                </a:lnTo>
                <a:close/>
              </a:path>
            </a:pathLst>
          </a:custGeom>
          <a:solidFill>
            <a:srgbClr val="FFFFFF">
              <a:alpha val="10195"/>
            </a:srgbClr>
          </a:solidFill>
        </p:spPr>
        <p:txBody>
          <a:bodyPr wrap="square" lIns="0" tIns="0" rIns="0" bIns="0" rtlCol="0"/>
          <a:lstStyle/>
          <a:p>
            <a:endParaRPr/>
          </a:p>
        </p:txBody>
      </p:sp>
      <p:sp>
        <p:nvSpPr>
          <p:cNvPr id="23" name="bg object 23"/>
          <p:cNvSpPr/>
          <p:nvPr/>
        </p:nvSpPr>
        <p:spPr>
          <a:xfrm>
            <a:off x="4276344" y="0"/>
            <a:ext cx="3101340" cy="7772400"/>
          </a:xfrm>
          <a:custGeom>
            <a:avLst/>
            <a:gdLst/>
            <a:ahLst/>
            <a:cxnLst/>
            <a:rect l="l" t="t" r="r" b="b"/>
            <a:pathLst>
              <a:path w="3101340" h="7772400">
                <a:moveTo>
                  <a:pt x="3101340" y="0"/>
                </a:moveTo>
                <a:lnTo>
                  <a:pt x="0" y="0"/>
                </a:lnTo>
                <a:lnTo>
                  <a:pt x="0" y="7772400"/>
                </a:lnTo>
                <a:lnTo>
                  <a:pt x="3101340" y="7772400"/>
                </a:lnTo>
                <a:lnTo>
                  <a:pt x="3101340" y="0"/>
                </a:lnTo>
                <a:close/>
              </a:path>
            </a:pathLst>
          </a:custGeom>
          <a:solidFill>
            <a:srgbClr val="FFFFFF">
              <a:alpha val="10195"/>
            </a:srgbClr>
          </a:solidFill>
        </p:spPr>
        <p:txBody>
          <a:bodyPr wrap="square" lIns="0" tIns="0" rIns="0" bIns="0" rtlCol="0"/>
          <a:lstStyle/>
          <a:p>
            <a:endParaRPr/>
          </a:p>
        </p:txBody>
      </p:sp>
      <p:sp>
        <p:nvSpPr>
          <p:cNvPr id="24" name="bg object 24"/>
          <p:cNvSpPr/>
          <p:nvPr/>
        </p:nvSpPr>
        <p:spPr>
          <a:xfrm>
            <a:off x="3270491" y="0"/>
            <a:ext cx="1090295" cy="7772400"/>
          </a:xfrm>
          <a:custGeom>
            <a:avLst/>
            <a:gdLst/>
            <a:ahLst/>
            <a:cxnLst/>
            <a:rect l="l" t="t" r="r" b="b"/>
            <a:pathLst>
              <a:path w="1090295" h="7772400">
                <a:moveTo>
                  <a:pt x="1089672" y="0"/>
                </a:moveTo>
                <a:lnTo>
                  <a:pt x="502932" y="0"/>
                </a:lnTo>
                <a:lnTo>
                  <a:pt x="251472" y="0"/>
                </a:lnTo>
                <a:lnTo>
                  <a:pt x="0" y="0"/>
                </a:lnTo>
                <a:lnTo>
                  <a:pt x="0" y="7772400"/>
                </a:lnTo>
                <a:lnTo>
                  <a:pt x="251472" y="7772400"/>
                </a:lnTo>
                <a:lnTo>
                  <a:pt x="502932" y="7772400"/>
                </a:lnTo>
                <a:lnTo>
                  <a:pt x="1089672" y="7772400"/>
                </a:lnTo>
                <a:lnTo>
                  <a:pt x="1089672" y="0"/>
                </a:lnTo>
                <a:close/>
              </a:path>
            </a:pathLst>
          </a:custGeom>
          <a:solidFill>
            <a:srgbClr val="FFFFFF">
              <a:alpha val="10195"/>
            </a:srgbClr>
          </a:solidFill>
        </p:spPr>
        <p:txBody>
          <a:bodyPr wrap="square" lIns="0" tIns="0" rIns="0" bIns="0" rtlCol="0"/>
          <a:lstStyle/>
          <a:p>
            <a:endParaRPr/>
          </a:p>
        </p:txBody>
      </p:sp>
      <p:pic>
        <p:nvPicPr>
          <p:cNvPr id="25" name="bg object 25"/>
          <p:cNvPicPr/>
          <p:nvPr/>
        </p:nvPicPr>
        <p:blipFill>
          <a:blip r:embed="rId8" cstate="print"/>
          <a:stretch>
            <a:fillRect/>
          </a:stretch>
        </p:blipFill>
        <p:spPr>
          <a:xfrm>
            <a:off x="56062" y="252222"/>
            <a:ext cx="10008687" cy="7526528"/>
          </a:xfrm>
          <a:prstGeom prst="rect">
            <a:avLst/>
          </a:prstGeom>
        </p:spPr>
      </p:pic>
      <p:sp>
        <p:nvSpPr>
          <p:cNvPr id="26" name="bg object 26"/>
          <p:cNvSpPr/>
          <p:nvPr/>
        </p:nvSpPr>
        <p:spPr>
          <a:xfrm>
            <a:off x="502920" y="377952"/>
            <a:ext cx="9052560" cy="7010400"/>
          </a:xfrm>
          <a:custGeom>
            <a:avLst/>
            <a:gdLst/>
            <a:ahLst/>
            <a:cxnLst/>
            <a:rect l="l" t="t" r="r" b="b"/>
            <a:pathLst>
              <a:path w="9052560" h="7010400">
                <a:moveTo>
                  <a:pt x="9052560" y="0"/>
                </a:moveTo>
                <a:lnTo>
                  <a:pt x="0" y="0"/>
                </a:lnTo>
                <a:lnTo>
                  <a:pt x="0" y="7010400"/>
                </a:lnTo>
                <a:lnTo>
                  <a:pt x="9052560" y="7010400"/>
                </a:lnTo>
                <a:lnTo>
                  <a:pt x="9052560" y="0"/>
                </a:lnTo>
                <a:close/>
              </a:path>
            </a:pathLst>
          </a:custGeom>
          <a:solidFill>
            <a:srgbClr val="FFFFFF"/>
          </a:solidFill>
        </p:spPr>
        <p:txBody>
          <a:bodyPr wrap="square" lIns="0" tIns="0" rIns="0" bIns="0" rtlCol="0"/>
          <a:lstStyle/>
          <a:p>
            <a:endParaRPr/>
          </a:p>
        </p:txBody>
      </p:sp>
      <p:sp>
        <p:nvSpPr>
          <p:cNvPr id="27" name="bg object 27"/>
          <p:cNvSpPr/>
          <p:nvPr/>
        </p:nvSpPr>
        <p:spPr>
          <a:xfrm>
            <a:off x="502920" y="377952"/>
            <a:ext cx="9052560" cy="7010400"/>
          </a:xfrm>
          <a:custGeom>
            <a:avLst/>
            <a:gdLst/>
            <a:ahLst/>
            <a:cxnLst/>
            <a:rect l="l" t="t" r="r" b="b"/>
            <a:pathLst>
              <a:path w="9052560" h="7010400">
                <a:moveTo>
                  <a:pt x="0" y="7010400"/>
                </a:moveTo>
                <a:lnTo>
                  <a:pt x="9052560" y="7010400"/>
                </a:lnTo>
                <a:lnTo>
                  <a:pt x="9052560" y="0"/>
                </a:lnTo>
                <a:lnTo>
                  <a:pt x="0" y="0"/>
                </a:lnTo>
                <a:lnTo>
                  <a:pt x="0" y="7010400"/>
                </a:lnTo>
                <a:close/>
              </a:path>
            </a:pathLst>
          </a:custGeom>
          <a:ln w="6350">
            <a:solidFill>
              <a:srgbClr val="000000"/>
            </a:solidFill>
          </a:ln>
        </p:spPr>
        <p:txBody>
          <a:bodyPr wrap="square" lIns="0" tIns="0" rIns="0" bIns="0" rtlCol="0"/>
          <a:lstStyle/>
          <a:p>
            <a:endParaRPr/>
          </a:p>
        </p:txBody>
      </p:sp>
      <p:sp>
        <p:nvSpPr>
          <p:cNvPr id="28" name="bg object 28"/>
          <p:cNvSpPr/>
          <p:nvPr/>
        </p:nvSpPr>
        <p:spPr>
          <a:xfrm>
            <a:off x="5017389" y="0"/>
            <a:ext cx="4047490" cy="768350"/>
          </a:xfrm>
          <a:custGeom>
            <a:avLst/>
            <a:gdLst/>
            <a:ahLst/>
            <a:cxnLst/>
            <a:rect l="l" t="t" r="r" b="b"/>
            <a:pathLst>
              <a:path w="4047490" h="768350">
                <a:moveTo>
                  <a:pt x="4046982" y="0"/>
                </a:moveTo>
                <a:lnTo>
                  <a:pt x="0" y="0"/>
                </a:lnTo>
                <a:lnTo>
                  <a:pt x="0" y="768096"/>
                </a:lnTo>
                <a:lnTo>
                  <a:pt x="4046982" y="768096"/>
                </a:lnTo>
                <a:lnTo>
                  <a:pt x="4046982" y="0"/>
                </a:lnTo>
                <a:close/>
              </a:path>
            </a:pathLst>
          </a:custGeom>
          <a:solidFill>
            <a:srgbClr val="F5F5F5"/>
          </a:solidFill>
        </p:spPr>
        <p:txBody>
          <a:bodyPr wrap="square" lIns="0" tIns="0" rIns="0" bIns="0" rtlCol="0"/>
          <a:lstStyle/>
          <a:p>
            <a:endParaRPr/>
          </a:p>
        </p:txBody>
      </p:sp>
      <p:sp>
        <p:nvSpPr>
          <p:cNvPr id="29" name="bg object 29"/>
          <p:cNvSpPr/>
          <p:nvPr/>
        </p:nvSpPr>
        <p:spPr>
          <a:xfrm>
            <a:off x="5017389" y="0"/>
            <a:ext cx="4047490" cy="768350"/>
          </a:xfrm>
          <a:custGeom>
            <a:avLst/>
            <a:gdLst/>
            <a:ahLst/>
            <a:cxnLst/>
            <a:rect l="l" t="t" r="r" b="b"/>
            <a:pathLst>
              <a:path w="4047490" h="768350">
                <a:moveTo>
                  <a:pt x="0" y="0"/>
                </a:moveTo>
                <a:lnTo>
                  <a:pt x="0" y="768096"/>
                </a:lnTo>
                <a:lnTo>
                  <a:pt x="4046982" y="768096"/>
                </a:lnTo>
                <a:lnTo>
                  <a:pt x="4046982" y="0"/>
                </a:lnTo>
              </a:path>
            </a:pathLst>
          </a:custGeom>
          <a:ln w="15874">
            <a:solidFill>
              <a:srgbClr val="74A40F"/>
            </a:solidFill>
          </a:ln>
        </p:spPr>
        <p:txBody>
          <a:bodyPr wrap="square" lIns="0" tIns="0" rIns="0" bIns="0" rtlCol="0"/>
          <a:lstStyle/>
          <a:p>
            <a:endParaRPr/>
          </a:p>
        </p:txBody>
      </p:sp>
      <p:sp>
        <p:nvSpPr>
          <p:cNvPr id="30" name="bg object 30"/>
          <p:cNvSpPr/>
          <p:nvPr/>
        </p:nvSpPr>
        <p:spPr>
          <a:xfrm>
            <a:off x="5114035" y="0"/>
            <a:ext cx="3855720" cy="683260"/>
          </a:xfrm>
          <a:custGeom>
            <a:avLst/>
            <a:gdLst/>
            <a:ahLst/>
            <a:cxnLst/>
            <a:rect l="l" t="t" r="r" b="b"/>
            <a:pathLst>
              <a:path w="3855720" h="683260">
                <a:moveTo>
                  <a:pt x="3855719" y="0"/>
                </a:moveTo>
                <a:lnTo>
                  <a:pt x="0" y="0"/>
                </a:lnTo>
                <a:lnTo>
                  <a:pt x="0" y="682751"/>
                </a:lnTo>
                <a:lnTo>
                  <a:pt x="3855719" y="682751"/>
                </a:lnTo>
                <a:lnTo>
                  <a:pt x="3855719" y="0"/>
                </a:lnTo>
                <a:close/>
              </a:path>
            </a:pathLst>
          </a:custGeom>
          <a:solidFill>
            <a:srgbClr val="70685A"/>
          </a:solidFill>
        </p:spPr>
        <p:txBody>
          <a:bodyPr wrap="square" lIns="0" tIns="0" rIns="0" bIns="0" rtlCol="0"/>
          <a:lstStyle/>
          <a:p>
            <a:endParaRPr/>
          </a:p>
        </p:txBody>
      </p:sp>
      <p:sp>
        <p:nvSpPr>
          <p:cNvPr id="2" name="Holder 2"/>
          <p:cNvSpPr>
            <a:spLocks noGrp="1"/>
          </p:cNvSpPr>
          <p:nvPr>
            <p:ph type="title"/>
          </p:nvPr>
        </p:nvSpPr>
        <p:spPr>
          <a:xfrm>
            <a:off x="825500" y="424434"/>
            <a:ext cx="8407400" cy="1052194"/>
          </a:xfrm>
          <a:prstGeom prst="rect">
            <a:avLst/>
          </a:prstGeom>
        </p:spPr>
        <p:txBody>
          <a:bodyPr wrap="square" lIns="0" tIns="0" rIns="0" bIns="0">
            <a:spAutoFit/>
          </a:bodyPr>
          <a:lstStyle>
            <a:lvl1pPr>
              <a:defRPr sz="4500" b="0" i="0">
                <a:solidFill>
                  <a:srgbClr val="93C500"/>
                </a:solidFill>
                <a:latin typeface="Verdana"/>
                <a:cs typeface="Verdana"/>
              </a:defRPr>
            </a:lvl1pPr>
          </a:lstStyle>
          <a:p>
            <a:endParaRPr/>
          </a:p>
        </p:txBody>
      </p:sp>
      <p:sp>
        <p:nvSpPr>
          <p:cNvPr id="3" name="Holder 3"/>
          <p:cNvSpPr>
            <a:spLocks noGrp="1"/>
          </p:cNvSpPr>
          <p:nvPr>
            <p:ph type="body" idx="1"/>
          </p:nvPr>
        </p:nvSpPr>
        <p:spPr>
          <a:xfrm>
            <a:off x="972108" y="1461973"/>
            <a:ext cx="8073390" cy="216027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10/3/2025</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hyperlink" Target="https://www.geeksforgeeks.org/software-engineering/software-testing-test-plan-estimates-and-strateg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6801" y="1315669"/>
            <a:ext cx="7772400" cy="3059812"/>
          </a:xfrm>
          <a:prstGeom prst="rect">
            <a:avLst/>
          </a:prstGeom>
        </p:spPr>
        <p:txBody>
          <a:bodyPr vert="horz" wrap="square" lIns="0" tIns="12700" rIns="0" bIns="0" rtlCol="0">
            <a:spAutoFit/>
          </a:bodyPr>
          <a:lstStyle/>
          <a:p>
            <a:pPr algn="ctr">
              <a:lnSpc>
                <a:spcPts val="5390"/>
              </a:lnSpc>
              <a:spcBef>
                <a:spcPts val="100"/>
              </a:spcBef>
            </a:pPr>
            <a:r>
              <a:rPr sz="4500" spc="-10" dirty="0">
                <a:solidFill>
                  <a:srgbClr val="93C500"/>
                </a:solidFill>
                <a:latin typeface="Verdana"/>
                <a:cs typeface="Verdana"/>
              </a:rPr>
              <a:t>CO23115</a:t>
            </a:r>
            <a:endParaRPr sz="4500" dirty="0">
              <a:latin typeface="Verdana"/>
              <a:cs typeface="Verdana"/>
            </a:endParaRPr>
          </a:p>
          <a:p>
            <a:pPr algn="ctr">
              <a:lnSpc>
                <a:spcPts val="5390"/>
              </a:lnSpc>
            </a:pPr>
            <a:r>
              <a:rPr sz="4500" spc="-145" dirty="0">
                <a:solidFill>
                  <a:srgbClr val="93C500"/>
                </a:solidFill>
                <a:latin typeface="Verdana"/>
                <a:cs typeface="Verdana"/>
              </a:rPr>
              <a:t>Software</a:t>
            </a:r>
            <a:r>
              <a:rPr sz="4500" spc="-475" dirty="0">
                <a:solidFill>
                  <a:srgbClr val="93C500"/>
                </a:solidFill>
                <a:latin typeface="Verdana"/>
                <a:cs typeface="Verdana"/>
              </a:rPr>
              <a:t> </a:t>
            </a:r>
            <a:r>
              <a:rPr sz="4500" spc="-275" dirty="0">
                <a:solidFill>
                  <a:srgbClr val="93C500"/>
                </a:solidFill>
                <a:latin typeface="Verdana"/>
                <a:cs typeface="Verdana"/>
              </a:rPr>
              <a:t>Testing</a:t>
            </a:r>
            <a:r>
              <a:rPr sz="4500" spc="-275" dirty="0">
                <a:solidFill>
                  <a:srgbClr val="93C500"/>
                </a:solidFill>
                <a:latin typeface="Cambria Math"/>
                <a:cs typeface="Cambria Math"/>
              </a:rPr>
              <a:t>‐</a:t>
            </a:r>
            <a:r>
              <a:rPr sz="4500" spc="155" dirty="0">
                <a:solidFill>
                  <a:srgbClr val="93C500"/>
                </a:solidFill>
                <a:latin typeface="Cambria Math"/>
                <a:cs typeface="Cambria Math"/>
              </a:rPr>
              <a:t> </a:t>
            </a:r>
            <a:r>
              <a:rPr sz="4500" spc="-275" dirty="0">
                <a:solidFill>
                  <a:srgbClr val="93C500"/>
                </a:solidFill>
                <a:latin typeface="Verdana"/>
                <a:cs typeface="Verdana"/>
              </a:rPr>
              <a:t>Unit</a:t>
            </a:r>
            <a:r>
              <a:rPr sz="4500" spc="-415" dirty="0">
                <a:solidFill>
                  <a:srgbClr val="93C500"/>
                </a:solidFill>
                <a:latin typeface="Verdana"/>
                <a:cs typeface="Verdana"/>
              </a:rPr>
              <a:t> </a:t>
            </a:r>
            <a:r>
              <a:rPr lang="en-US" sz="4500" spc="-425" dirty="0">
                <a:solidFill>
                  <a:srgbClr val="93C500"/>
                </a:solidFill>
                <a:latin typeface="Verdana"/>
                <a:cs typeface="Verdana"/>
              </a:rPr>
              <a:t>4</a:t>
            </a:r>
            <a:endParaRPr sz="4500" dirty="0">
              <a:latin typeface="Verdana"/>
              <a:cs typeface="Verdana"/>
            </a:endParaRPr>
          </a:p>
          <a:p>
            <a:pPr marL="487680" marR="487045" algn="ctr">
              <a:lnSpc>
                <a:spcPct val="100000"/>
              </a:lnSpc>
              <a:spcBef>
                <a:spcPts val="25"/>
              </a:spcBef>
            </a:pPr>
            <a:r>
              <a:rPr lang="en-US" sz="3600" b="1" spc="-160" dirty="0" smtClean="0">
                <a:solidFill>
                  <a:srgbClr val="93C500"/>
                </a:solidFill>
                <a:latin typeface="Verdana"/>
                <a:cs typeface="Verdana"/>
              </a:rPr>
              <a:t>Test Planning, Documentation and Bug</a:t>
            </a:r>
          </a:p>
          <a:p>
            <a:pPr marL="487680" marR="487045" algn="ctr">
              <a:lnSpc>
                <a:spcPct val="100000"/>
              </a:lnSpc>
              <a:spcBef>
                <a:spcPts val="25"/>
              </a:spcBef>
            </a:pPr>
            <a:r>
              <a:rPr lang="en-US" sz="3600" b="1" spc="-160" dirty="0" smtClean="0">
                <a:solidFill>
                  <a:srgbClr val="93C500"/>
                </a:solidFill>
                <a:latin typeface="Verdana"/>
                <a:cs typeface="Verdana"/>
              </a:rPr>
              <a:t>Reporting</a:t>
            </a:r>
            <a:r>
              <a:rPr sz="3600" b="1" spc="-380" dirty="0" smtClean="0">
                <a:solidFill>
                  <a:srgbClr val="93C500"/>
                </a:solidFill>
                <a:latin typeface="Verdana"/>
                <a:cs typeface="Verdana"/>
              </a:rPr>
              <a:t> </a:t>
            </a:r>
            <a:r>
              <a:rPr sz="3600" b="1" spc="-285" dirty="0" smtClean="0">
                <a:solidFill>
                  <a:srgbClr val="93C500"/>
                </a:solidFill>
                <a:latin typeface="Verdana"/>
                <a:cs typeface="Verdana"/>
              </a:rPr>
              <a:t>(</a:t>
            </a:r>
            <a:r>
              <a:rPr lang="en-US" sz="3600" b="1" spc="-285" dirty="0" smtClean="0">
                <a:solidFill>
                  <a:srgbClr val="93C500"/>
                </a:solidFill>
                <a:latin typeface="Verdana"/>
                <a:cs typeface="Verdana"/>
              </a:rPr>
              <a:t>8</a:t>
            </a:r>
            <a:r>
              <a:rPr sz="3600" b="1" spc="-285" dirty="0" smtClean="0">
                <a:solidFill>
                  <a:srgbClr val="93C500"/>
                </a:solidFill>
                <a:latin typeface="Verdana"/>
                <a:cs typeface="Verdana"/>
              </a:rPr>
              <a:t>M</a:t>
            </a:r>
            <a:r>
              <a:rPr sz="3600" b="1" spc="-285" dirty="0">
                <a:solidFill>
                  <a:srgbClr val="93C500"/>
                </a:solidFill>
                <a:latin typeface="Verdana"/>
                <a:cs typeface="Verdana"/>
              </a:rPr>
              <a:t>)</a:t>
            </a:r>
            <a:endParaRPr sz="3600" b="1" dirty="0">
              <a:latin typeface="Verdana"/>
              <a:cs typeface="Verdana"/>
            </a:endParaRPr>
          </a:p>
        </p:txBody>
      </p:sp>
      <p:grpSp>
        <p:nvGrpSpPr>
          <p:cNvPr id="3" name="object 3"/>
          <p:cNvGrpSpPr/>
          <p:nvPr/>
        </p:nvGrpSpPr>
        <p:grpSpPr>
          <a:xfrm>
            <a:off x="457200" y="4373879"/>
            <a:ext cx="9144000" cy="2941320"/>
            <a:chOff x="457200" y="4373879"/>
            <a:chExt cx="9144000" cy="2941320"/>
          </a:xfrm>
        </p:grpSpPr>
        <p:pic>
          <p:nvPicPr>
            <p:cNvPr id="4" name="object 4"/>
            <p:cNvPicPr/>
            <p:nvPr/>
          </p:nvPicPr>
          <p:blipFill>
            <a:blip r:embed="rId2" cstate="print"/>
            <a:stretch>
              <a:fillRect/>
            </a:stretch>
          </p:blipFill>
          <p:spPr>
            <a:xfrm>
              <a:off x="457200" y="4373879"/>
              <a:ext cx="9144000" cy="2941320"/>
            </a:xfrm>
            <a:prstGeom prst="rect">
              <a:avLst/>
            </a:prstGeom>
          </p:spPr>
        </p:pic>
        <p:pic>
          <p:nvPicPr>
            <p:cNvPr id="5" name="object 5"/>
            <p:cNvPicPr/>
            <p:nvPr/>
          </p:nvPicPr>
          <p:blipFill>
            <a:blip r:embed="rId3" cstate="print"/>
            <a:stretch>
              <a:fillRect/>
            </a:stretch>
          </p:blipFill>
          <p:spPr>
            <a:xfrm>
              <a:off x="8775954" y="6495287"/>
              <a:ext cx="594359" cy="561594"/>
            </a:xfrm>
            <a:prstGeom prst="rect">
              <a:avLst/>
            </a:prstGeom>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67797"/>
            <a:ext cx="9677400" cy="413575"/>
          </a:xfrm>
          <a:prstGeom prst="rect">
            <a:avLst/>
          </a:prstGeom>
        </p:spPr>
        <p:txBody>
          <a:bodyPr vert="horz" wrap="square" lIns="0" tIns="13335" rIns="0" bIns="0" rtlCol="0">
            <a:spAutoFit/>
          </a:bodyPr>
          <a:lstStyle/>
          <a:p>
            <a:pPr marL="12700">
              <a:lnSpc>
                <a:spcPct val="100000"/>
              </a:lnSpc>
              <a:spcBef>
                <a:spcPts val="105"/>
              </a:spcBef>
            </a:pPr>
            <a:r>
              <a:rPr lang="en-US" sz="2600" b="1" dirty="0"/>
              <a:t>Test Planning, Documentation and Bug Reporting</a:t>
            </a:r>
            <a:endParaRPr sz="2600" b="1" dirty="0">
              <a:latin typeface="Tahoma"/>
              <a:cs typeface="Tahoma"/>
            </a:endParaRPr>
          </a:p>
        </p:txBody>
      </p:sp>
      <p:sp>
        <p:nvSpPr>
          <p:cNvPr id="3" name="object 3"/>
          <p:cNvSpPr txBox="1"/>
          <p:nvPr/>
        </p:nvSpPr>
        <p:spPr>
          <a:xfrm>
            <a:off x="656843" y="609600"/>
            <a:ext cx="8387715" cy="1541256"/>
          </a:xfrm>
          <a:prstGeom prst="rect">
            <a:avLst/>
          </a:prstGeom>
        </p:spPr>
        <p:txBody>
          <a:bodyPr vert="horz" wrap="square" lIns="0" tIns="11430" rIns="0" bIns="0" rtlCol="0">
            <a:spAutoFit/>
          </a:bodyPr>
          <a:lstStyle/>
          <a:p>
            <a:pPr marL="353060" marR="5080" indent="-340360" algn="just">
              <a:lnSpc>
                <a:spcPct val="121500"/>
              </a:lnSpc>
              <a:spcBef>
                <a:spcPts val="90"/>
              </a:spcBef>
              <a:buFont typeface="Arial MT"/>
              <a:buChar char="•"/>
              <a:tabLst>
                <a:tab pos="355600" algn="l"/>
              </a:tabLst>
            </a:pPr>
            <a:r>
              <a:rPr lang="en-US" sz="2800" spc="-10" dirty="0" smtClean="0">
                <a:latin typeface="Times New Roman"/>
                <a:cs typeface="Times New Roman"/>
              </a:rPr>
              <a:t>A clear and detailed test plan is the foundation of successful testing, guiding everything from creating test cases to fixing issues.</a:t>
            </a:r>
            <a:endParaRPr sz="2800" dirty="0">
              <a:latin typeface="Times New Roman"/>
              <a:cs typeface="Times New Roman"/>
            </a:endParaRPr>
          </a:p>
        </p:txBody>
      </p:sp>
      <p:sp>
        <p:nvSpPr>
          <p:cNvPr id="7" name="Rectangle 6"/>
          <p:cNvSpPr/>
          <p:nvPr/>
        </p:nvSpPr>
        <p:spPr>
          <a:xfrm>
            <a:off x="733043" y="2743200"/>
            <a:ext cx="2085976" cy="492443"/>
          </a:xfrm>
          <a:prstGeom prst="rect">
            <a:avLst/>
          </a:prstGeom>
        </p:spPr>
        <p:txBody>
          <a:bodyPr wrap="square">
            <a:spAutoFit/>
          </a:bodyPr>
          <a:lstStyle/>
          <a:p>
            <a:pPr fontAlgn="base"/>
            <a:r>
              <a:rPr lang="en-US" sz="2600" b="1" dirty="0">
                <a:solidFill>
                  <a:srgbClr val="93C500"/>
                </a:solidFill>
                <a:latin typeface="Verdana"/>
                <a:ea typeface="+mj-ea"/>
                <a:cs typeface="Verdana"/>
              </a:rPr>
              <a:t>Test Plan</a:t>
            </a:r>
          </a:p>
        </p:txBody>
      </p:sp>
      <p:sp>
        <p:nvSpPr>
          <p:cNvPr id="8" name="object 3"/>
          <p:cNvSpPr txBox="1"/>
          <p:nvPr/>
        </p:nvSpPr>
        <p:spPr>
          <a:xfrm>
            <a:off x="694943" y="3581400"/>
            <a:ext cx="8387715" cy="3669531"/>
          </a:xfrm>
          <a:prstGeom prst="rect">
            <a:avLst/>
          </a:prstGeom>
        </p:spPr>
        <p:txBody>
          <a:bodyPr vert="horz" wrap="square" lIns="0" tIns="11430" rIns="0" bIns="0" rtlCol="0">
            <a:spAutoFit/>
          </a:bodyPr>
          <a:lstStyle/>
          <a:p>
            <a:pPr marL="353060" marR="5080" indent="-340360" algn="just">
              <a:lnSpc>
                <a:spcPct val="121500"/>
              </a:lnSpc>
              <a:spcBef>
                <a:spcPts val="90"/>
              </a:spcBef>
              <a:buFont typeface="Arial MT"/>
              <a:buChar char="•"/>
              <a:tabLst>
                <a:tab pos="355600" algn="l"/>
              </a:tabLst>
            </a:pPr>
            <a:r>
              <a:rPr lang="en-US" sz="2800" spc="-10" dirty="0">
                <a:latin typeface="Times New Roman"/>
                <a:cs typeface="Times New Roman"/>
              </a:rPr>
              <a:t>A </a:t>
            </a:r>
            <a:r>
              <a:rPr lang="en-US" sz="2800" spc="-10" dirty="0">
                <a:latin typeface="Times New Roman"/>
                <a:cs typeface="Times New Roman"/>
                <a:hlinkClick r:id="rId2"/>
              </a:rPr>
              <a:t>test plan </a:t>
            </a:r>
            <a:r>
              <a:rPr lang="en-US" sz="2800" spc="-10" dirty="0">
                <a:latin typeface="Times New Roman"/>
                <a:cs typeface="Times New Roman"/>
              </a:rPr>
              <a:t>is a document that consists of all future testing-related activities.</a:t>
            </a:r>
          </a:p>
          <a:p>
            <a:pPr marL="353060" marR="5080" indent="-340360" algn="just">
              <a:lnSpc>
                <a:spcPct val="121500"/>
              </a:lnSpc>
              <a:spcBef>
                <a:spcPts val="90"/>
              </a:spcBef>
              <a:buFont typeface="Arial MT"/>
              <a:buChar char="•"/>
              <a:tabLst>
                <a:tab pos="355600" algn="l"/>
              </a:tabLst>
            </a:pPr>
            <a:r>
              <a:rPr lang="en-US" sz="2800" spc="-10" dirty="0">
                <a:latin typeface="Times New Roman"/>
                <a:cs typeface="Times New Roman"/>
              </a:rPr>
              <a:t> It is prepared at the project level and in general, it defines work products to be tested, how they will be tested, and test type distribution among the testers. </a:t>
            </a:r>
          </a:p>
          <a:p>
            <a:pPr marL="353060" marR="5080" indent="-340360" algn="just">
              <a:lnSpc>
                <a:spcPct val="121500"/>
              </a:lnSpc>
              <a:spcBef>
                <a:spcPts val="90"/>
              </a:spcBef>
              <a:buFont typeface="Arial MT"/>
              <a:buChar char="•"/>
              <a:tabLst>
                <a:tab pos="355600" algn="l"/>
              </a:tabLst>
            </a:pPr>
            <a:r>
              <a:rPr lang="en-US" sz="2800" spc="-10" dirty="0">
                <a:latin typeface="Times New Roman"/>
                <a:cs typeface="Times New Roman"/>
              </a:rPr>
              <a:t>Before starting testing there will be a test manager who will be preparing a test plan.</a:t>
            </a:r>
            <a:endParaRPr sz="2800" spc="-10" dirty="0">
              <a:latin typeface="Times New Roman"/>
              <a:cs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67797"/>
            <a:ext cx="9677400" cy="413575"/>
          </a:xfrm>
          <a:prstGeom prst="rect">
            <a:avLst/>
          </a:prstGeom>
        </p:spPr>
        <p:txBody>
          <a:bodyPr vert="horz" wrap="square" lIns="0" tIns="13335" rIns="0" bIns="0" rtlCol="0">
            <a:spAutoFit/>
          </a:bodyPr>
          <a:lstStyle/>
          <a:p>
            <a:pPr fontAlgn="base"/>
            <a:r>
              <a:rPr lang="en-US" sz="2600" b="1" dirty="0"/>
              <a:t>Test Plan</a:t>
            </a:r>
          </a:p>
        </p:txBody>
      </p:sp>
      <p:sp>
        <p:nvSpPr>
          <p:cNvPr id="8" name="object 3"/>
          <p:cNvSpPr txBox="1"/>
          <p:nvPr/>
        </p:nvSpPr>
        <p:spPr>
          <a:xfrm>
            <a:off x="533400" y="762000"/>
            <a:ext cx="8991600" cy="6582443"/>
          </a:xfrm>
          <a:prstGeom prst="rect">
            <a:avLst/>
          </a:prstGeom>
        </p:spPr>
        <p:txBody>
          <a:bodyPr vert="horz" wrap="square" lIns="0" tIns="11430" rIns="0" bIns="0" rtlCol="0">
            <a:spAutoFit/>
          </a:bodyPr>
          <a:lstStyle/>
          <a:p>
            <a:pPr marL="342900" indent="-342900" algn="just" rtl="0" fontAlgn="base">
              <a:buFont typeface="Arial" pitchFamily="34" charset="0"/>
              <a:buChar char="•"/>
            </a:pPr>
            <a:r>
              <a:rPr lang="en-US" sz="2800" spc="-10" dirty="0">
                <a:latin typeface="Times New Roman"/>
                <a:cs typeface="Times New Roman"/>
              </a:rPr>
              <a:t>In any company whenever a new project is taken up before the tester is involved in the testing the test manager of the team would prepare a test </a:t>
            </a:r>
            <a:r>
              <a:rPr lang="en-US" sz="2800" spc="-10" dirty="0" smtClean="0">
                <a:latin typeface="Times New Roman"/>
                <a:cs typeface="Times New Roman"/>
              </a:rPr>
              <a:t>Plan.</a:t>
            </a:r>
          </a:p>
          <a:p>
            <a:pPr marL="342900" indent="-342900" algn="just" rtl="0" fontAlgn="base">
              <a:buFont typeface="Arial" pitchFamily="34" charset="0"/>
              <a:buChar char="•"/>
            </a:pPr>
            <a:r>
              <a:rPr lang="en-US" sz="2800" spc="-10" dirty="0" smtClean="0">
                <a:latin typeface="Times New Roman"/>
                <a:cs typeface="Times New Roman"/>
              </a:rPr>
              <a:t>The </a:t>
            </a:r>
            <a:r>
              <a:rPr lang="en-US" sz="2800" spc="-10" dirty="0">
                <a:latin typeface="Times New Roman"/>
                <a:cs typeface="Times New Roman"/>
              </a:rPr>
              <a:t>test plan serves as the blueprint that changes according to the progressions in the project and stays current at all </a:t>
            </a:r>
            <a:r>
              <a:rPr lang="en-US" sz="2800" spc="-10" dirty="0" smtClean="0">
                <a:latin typeface="Times New Roman"/>
                <a:cs typeface="Times New Roman"/>
              </a:rPr>
              <a:t>times.</a:t>
            </a:r>
          </a:p>
          <a:p>
            <a:pPr marL="342900" indent="-342900" algn="just" rtl="0" fontAlgn="base">
              <a:buFont typeface="Arial" pitchFamily="34" charset="0"/>
              <a:buChar char="•"/>
            </a:pPr>
            <a:r>
              <a:rPr lang="en-US" sz="2800" spc="-10" dirty="0" smtClean="0">
                <a:latin typeface="Times New Roman"/>
                <a:cs typeface="Times New Roman"/>
              </a:rPr>
              <a:t>It </a:t>
            </a:r>
            <a:r>
              <a:rPr lang="en-US" sz="2800" spc="-10" dirty="0">
                <a:latin typeface="Times New Roman"/>
                <a:cs typeface="Times New Roman"/>
              </a:rPr>
              <a:t>serves as a base for conducting testing activities and coordinating activities among a QA </a:t>
            </a:r>
            <a:r>
              <a:rPr lang="en-US" sz="2800" spc="-10" dirty="0" smtClean="0">
                <a:latin typeface="Times New Roman"/>
                <a:cs typeface="Times New Roman"/>
              </a:rPr>
              <a:t>team.</a:t>
            </a:r>
          </a:p>
          <a:p>
            <a:pPr marL="342900" indent="-342900" algn="just" rtl="0" fontAlgn="base">
              <a:buFont typeface="Arial" pitchFamily="34" charset="0"/>
              <a:buChar char="•"/>
            </a:pPr>
            <a:r>
              <a:rPr lang="en-US" sz="2800" spc="-10" dirty="0" smtClean="0">
                <a:latin typeface="Times New Roman"/>
                <a:cs typeface="Times New Roman"/>
              </a:rPr>
              <a:t>It </a:t>
            </a:r>
            <a:r>
              <a:rPr lang="en-US" sz="2800" spc="-10" dirty="0">
                <a:latin typeface="Times New Roman"/>
                <a:cs typeface="Times New Roman"/>
              </a:rPr>
              <a:t>is shared with Business Analysts, Project Managers, and anyone associated with the project</a:t>
            </a:r>
            <a:r>
              <a:rPr lang="en-US" sz="2800" spc="-10" dirty="0" smtClean="0">
                <a:latin typeface="Times New Roman"/>
                <a:cs typeface="Times New Roman"/>
              </a:rPr>
              <a:t>.</a:t>
            </a:r>
          </a:p>
          <a:p>
            <a:pPr marL="342900" indent="-342900" algn="just" rtl="0" fontAlgn="base">
              <a:buFont typeface="Arial" pitchFamily="34" charset="0"/>
              <a:buChar char="•"/>
            </a:pPr>
            <a:r>
              <a:rPr lang="en-US" sz="2800" spc="-10" dirty="0">
                <a:latin typeface="Times New Roman"/>
                <a:cs typeface="Times New Roman"/>
              </a:rPr>
              <a:t>A test plan is a comprehensive document outlining all testing-related activities for a project. </a:t>
            </a:r>
            <a:endParaRPr lang="en-US" sz="2800" spc="-10" dirty="0" smtClean="0">
              <a:latin typeface="Times New Roman"/>
              <a:cs typeface="Times New Roman"/>
            </a:endParaRPr>
          </a:p>
          <a:p>
            <a:pPr marL="342900" indent="-342900" algn="just" rtl="0" fontAlgn="base">
              <a:buFont typeface="Arial" pitchFamily="34" charset="0"/>
              <a:buChar char="•"/>
            </a:pPr>
            <a:r>
              <a:rPr lang="en-US" sz="2800" spc="-10" dirty="0" smtClean="0">
                <a:latin typeface="Times New Roman"/>
                <a:cs typeface="Times New Roman"/>
              </a:rPr>
              <a:t>It </a:t>
            </a:r>
            <a:r>
              <a:rPr lang="en-US" sz="2800" spc="-10" dirty="0">
                <a:latin typeface="Times New Roman"/>
                <a:cs typeface="Times New Roman"/>
              </a:rPr>
              <a:t>details what will be tested, how, and by whom, serving as a blueprint for testing and coordinating among the QA team.</a:t>
            </a:r>
          </a:p>
          <a:p>
            <a:pPr marL="353060" marR="5080" indent="-340360" algn="just">
              <a:lnSpc>
                <a:spcPct val="121500"/>
              </a:lnSpc>
              <a:spcBef>
                <a:spcPts val="90"/>
              </a:spcBef>
              <a:buFont typeface="Arial MT"/>
              <a:buChar char="•"/>
              <a:tabLst>
                <a:tab pos="355600" algn="l"/>
              </a:tabLst>
            </a:pPr>
            <a:endParaRPr sz="2800" spc="-10" dirty="0">
              <a:latin typeface="Times New Roman"/>
              <a:cs typeface="Times New Roman"/>
            </a:endParaRPr>
          </a:p>
        </p:txBody>
      </p:sp>
    </p:spTree>
    <p:extLst>
      <p:ext uri="{BB962C8B-B14F-4D97-AF65-F5344CB8AC3E}">
        <p14:creationId xmlns:p14="http://schemas.microsoft.com/office/powerpoint/2010/main" val="22838850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89154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5"/>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300" y="-2667"/>
            <a:ext cx="9537700"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t>Test Plan: Goal of the Test Planning</a:t>
            </a:r>
            <a:endParaRPr sz="3600" b="1" dirty="0">
              <a:latin typeface="Tahoma"/>
              <a:cs typeface="Tahoma"/>
            </a:endParaRPr>
          </a:p>
        </p:txBody>
      </p:sp>
      <p:sp>
        <p:nvSpPr>
          <p:cNvPr id="3" name="object 3"/>
          <p:cNvSpPr txBox="1"/>
          <p:nvPr/>
        </p:nvSpPr>
        <p:spPr>
          <a:xfrm>
            <a:off x="368300" y="528904"/>
            <a:ext cx="9173845" cy="5740674"/>
          </a:xfrm>
          <a:prstGeom prst="rect">
            <a:avLst/>
          </a:prstGeom>
        </p:spPr>
        <p:txBody>
          <a:bodyPr vert="horz" wrap="square" lIns="0" tIns="13335" rIns="0" bIns="0" rtlCol="0">
            <a:spAutoFit/>
          </a:bodyPr>
          <a:lstStyle/>
          <a:p>
            <a:pPr marL="352425" marR="8255" indent="-339725" algn="just">
              <a:lnSpc>
                <a:spcPct val="100000"/>
              </a:lnSpc>
              <a:spcBef>
                <a:spcPts val="105"/>
              </a:spcBef>
              <a:buClr>
                <a:srgbClr val="93C500"/>
              </a:buClr>
              <a:buSzPct val="75000"/>
              <a:buFont typeface="Arial MT"/>
              <a:buChar char="•"/>
              <a:tabLst>
                <a:tab pos="355600" algn="l"/>
              </a:tabLst>
            </a:pPr>
            <a:r>
              <a:rPr lang="en-US" sz="2400" b="1" dirty="0">
                <a:solidFill>
                  <a:srgbClr val="7030A0"/>
                </a:solidFill>
                <a:latin typeface="Verdana"/>
                <a:ea typeface="+mj-ea"/>
                <a:cs typeface="Verdana"/>
              </a:rPr>
              <a:t>Resource </a:t>
            </a:r>
            <a:r>
              <a:rPr lang="en-US" sz="2400" b="1" dirty="0" smtClean="0">
                <a:solidFill>
                  <a:srgbClr val="7030A0"/>
                </a:solidFill>
                <a:latin typeface="Verdana"/>
                <a:ea typeface="+mj-ea"/>
                <a:cs typeface="Verdana"/>
              </a:rPr>
              <a:t>requirements</a:t>
            </a:r>
          </a:p>
          <a:p>
            <a:pPr marL="352425" marR="8255" indent="-339725" algn="just">
              <a:lnSpc>
                <a:spcPct val="100000"/>
              </a:lnSpc>
              <a:spcBef>
                <a:spcPts val="105"/>
              </a:spcBef>
              <a:buClr>
                <a:srgbClr val="93C500"/>
              </a:buClr>
              <a:buSzPct val="75000"/>
              <a:buFont typeface="Arial MT"/>
              <a:buChar char="•"/>
              <a:tabLst>
                <a:tab pos="355600" algn="l"/>
              </a:tabLst>
            </a:pPr>
            <a:r>
              <a:rPr lang="en-US" sz="3200" dirty="0">
                <a:latin typeface="+mj-lt"/>
              </a:rPr>
              <a:t>Resource requirement is a detailed summary of all types of resources required to complete project task.</a:t>
            </a:r>
          </a:p>
          <a:p>
            <a:pPr marL="352425" marR="8255" indent="-339725" algn="just">
              <a:lnSpc>
                <a:spcPct val="100000"/>
              </a:lnSpc>
              <a:spcBef>
                <a:spcPts val="105"/>
              </a:spcBef>
              <a:buClr>
                <a:srgbClr val="93C500"/>
              </a:buClr>
              <a:buSzPct val="75000"/>
              <a:buFont typeface="Arial MT"/>
              <a:buChar char="•"/>
              <a:tabLst>
                <a:tab pos="355600" algn="l"/>
              </a:tabLst>
            </a:pPr>
            <a:r>
              <a:rPr lang="en-US" sz="3200" dirty="0">
                <a:latin typeface="+mj-lt"/>
              </a:rPr>
              <a:t>Resource could be human, equipment and materials needed to complete a project. </a:t>
            </a:r>
          </a:p>
          <a:p>
            <a:pPr marL="352425" marR="8255" indent="-339725" algn="just">
              <a:lnSpc>
                <a:spcPct val="100000"/>
              </a:lnSpc>
              <a:spcBef>
                <a:spcPts val="105"/>
              </a:spcBef>
              <a:buClr>
                <a:srgbClr val="93C500"/>
              </a:buClr>
              <a:buSzPct val="75000"/>
              <a:buFont typeface="Arial MT"/>
              <a:buChar char="•"/>
              <a:tabLst>
                <a:tab pos="355600" algn="l"/>
              </a:tabLst>
            </a:pPr>
            <a:r>
              <a:rPr lang="en-US" sz="3200" dirty="0">
                <a:latin typeface="+mj-lt"/>
              </a:rPr>
              <a:t>The resource requirement and planning is important factor of the test planning because helps </a:t>
            </a:r>
            <a:r>
              <a:rPr lang="en-US" sz="3200" dirty="0" smtClean="0">
                <a:latin typeface="+mj-lt"/>
              </a:rPr>
              <a:t>in determining </a:t>
            </a:r>
            <a:r>
              <a:rPr lang="en-US" sz="3200" dirty="0">
                <a:latin typeface="+mj-lt"/>
              </a:rPr>
              <a:t>the number of resources (employee, equipment…) to be used for the project. </a:t>
            </a:r>
            <a:endParaRPr lang="en-US" sz="3200" dirty="0" smtClean="0">
              <a:latin typeface="+mj-lt"/>
            </a:endParaRPr>
          </a:p>
          <a:p>
            <a:pPr marL="352425" marR="8255" indent="-339725" algn="just">
              <a:lnSpc>
                <a:spcPct val="100000"/>
              </a:lnSpc>
              <a:spcBef>
                <a:spcPts val="105"/>
              </a:spcBef>
              <a:buClr>
                <a:srgbClr val="93C500"/>
              </a:buClr>
              <a:buSzPct val="75000"/>
              <a:buFont typeface="Arial MT"/>
              <a:buChar char="•"/>
              <a:tabLst>
                <a:tab pos="355600" algn="l"/>
              </a:tabLst>
            </a:pPr>
            <a:r>
              <a:rPr lang="en-US" sz="3200" dirty="0" smtClean="0">
                <a:latin typeface="+mj-lt"/>
              </a:rPr>
              <a:t>Therefore</a:t>
            </a:r>
            <a:r>
              <a:rPr lang="en-US" sz="3200" dirty="0">
                <a:latin typeface="+mj-lt"/>
              </a:rPr>
              <a:t>, the Test Manager can make the correct schedule &amp; estimation for the </a:t>
            </a:r>
            <a:r>
              <a:rPr lang="en-US" sz="3200" dirty="0" smtClean="0">
                <a:latin typeface="+mj-lt"/>
              </a:rPr>
              <a:t>project.</a:t>
            </a:r>
          </a:p>
          <a:p>
            <a:pPr marL="352425" marR="8255" indent="-339725" algn="just">
              <a:lnSpc>
                <a:spcPct val="100000"/>
              </a:lnSpc>
              <a:spcBef>
                <a:spcPts val="105"/>
              </a:spcBef>
              <a:buClr>
                <a:srgbClr val="93C500"/>
              </a:buClr>
              <a:buSzPct val="75000"/>
              <a:buFont typeface="Arial MT"/>
              <a:buChar char="•"/>
              <a:tabLst>
                <a:tab pos="355600" algn="l"/>
              </a:tabLst>
            </a:pPr>
            <a:endParaRPr sz="2400"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300" y="-2667"/>
            <a:ext cx="9537700" cy="566822"/>
          </a:xfrm>
          <a:prstGeom prst="rect">
            <a:avLst/>
          </a:prstGeom>
        </p:spPr>
        <p:txBody>
          <a:bodyPr vert="horz" wrap="square" lIns="0" tIns="12700" rIns="0" bIns="0" rtlCol="0">
            <a:spAutoFit/>
          </a:bodyPr>
          <a:lstStyle/>
          <a:p>
            <a:pPr marL="352425" marR="8255" indent="-339725">
              <a:lnSpc>
                <a:spcPct val="100000"/>
              </a:lnSpc>
              <a:spcBef>
                <a:spcPts val="105"/>
              </a:spcBef>
              <a:tabLst>
                <a:tab pos="355600" algn="l"/>
              </a:tabLst>
            </a:pPr>
            <a:r>
              <a:rPr lang="en-US" sz="3600" b="1" dirty="0">
                <a:solidFill>
                  <a:srgbClr val="7030A0"/>
                </a:solidFill>
              </a:rPr>
              <a:t>Resource requirements</a:t>
            </a:r>
          </a:p>
        </p:txBody>
      </p:sp>
      <p:sp>
        <p:nvSpPr>
          <p:cNvPr id="3" name="object 3"/>
          <p:cNvSpPr txBox="1"/>
          <p:nvPr/>
        </p:nvSpPr>
        <p:spPr>
          <a:xfrm>
            <a:off x="368300" y="528904"/>
            <a:ext cx="9173845" cy="5866350"/>
          </a:xfrm>
          <a:prstGeom prst="rect">
            <a:avLst/>
          </a:prstGeom>
        </p:spPr>
        <p:txBody>
          <a:bodyPr vert="horz" wrap="square" lIns="0" tIns="13335" rIns="0" bIns="0" rtlCol="0">
            <a:spAutoFit/>
          </a:bodyPr>
          <a:lstStyle/>
          <a:p>
            <a:pPr marL="352425" marR="8255" indent="-339725" algn="just">
              <a:lnSpc>
                <a:spcPct val="100000"/>
              </a:lnSpc>
              <a:spcBef>
                <a:spcPts val="105"/>
              </a:spcBef>
              <a:buClr>
                <a:srgbClr val="93C500"/>
              </a:buClr>
              <a:buSzPct val="75000"/>
              <a:buFont typeface="Arial MT"/>
              <a:buChar char="•"/>
              <a:tabLst>
                <a:tab pos="355600" algn="l"/>
              </a:tabLst>
            </a:pPr>
            <a:r>
              <a:rPr lang="en-US" sz="2900" dirty="0" smtClean="0">
                <a:latin typeface="Times New Roman" pitchFamily="18" charset="0"/>
                <a:cs typeface="Times New Roman" pitchFamily="18" charset="0"/>
              </a:rPr>
              <a:t>Planning the resource requirements is the process of deciding what’s necessary to accomplish the testing strategy.</a:t>
            </a:r>
          </a:p>
          <a:p>
            <a:pPr marL="352425" marR="8255" indent="-339725" algn="just">
              <a:lnSpc>
                <a:spcPct val="100000"/>
              </a:lnSpc>
              <a:spcBef>
                <a:spcPts val="105"/>
              </a:spcBef>
              <a:buClr>
                <a:srgbClr val="93C500"/>
              </a:buClr>
              <a:buSzPct val="75000"/>
              <a:buFont typeface="Arial MT"/>
              <a:buChar char="•"/>
              <a:tabLst>
                <a:tab pos="355600" algn="l"/>
              </a:tabLst>
            </a:pPr>
            <a:r>
              <a:rPr lang="en-US" sz="2900" dirty="0" smtClean="0">
                <a:latin typeface="Times New Roman" pitchFamily="18" charset="0"/>
                <a:cs typeface="Times New Roman" pitchFamily="18" charset="0"/>
              </a:rPr>
              <a:t> Everything that could possibly be used for testing over the course of the project needs to be considered. </a:t>
            </a:r>
          </a:p>
          <a:p>
            <a:pPr marL="352425" marR="8255" indent="-339725" algn="just">
              <a:lnSpc>
                <a:spcPct val="100000"/>
              </a:lnSpc>
              <a:spcBef>
                <a:spcPts val="105"/>
              </a:spcBef>
              <a:buClr>
                <a:srgbClr val="93C500"/>
              </a:buClr>
              <a:buSzPct val="75000"/>
              <a:buFont typeface="Arial MT"/>
              <a:buChar char="•"/>
              <a:tabLst>
                <a:tab pos="355600" algn="l"/>
              </a:tabLst>
            </a:pPr>
            <a:r>
              <a:rPr lang="en-US" sz="2900" dirty="0" smtClean="0">
                <a:latin typeface="Times New Roman" pitchFamily="18" charset="0"/>
                <a:cs typeface="Times New Roman" pitchFamily="18" charset="0"/>
              </a:rPr>
              <a:t>For example:</a:t>
            </a:r>
          </a:p>
          <a:p>
            <a:pPr marL="352425" marR="8255" indent="-339725" algn="just">
              <a:lnSpc>
                <a:spcPct val="100000"/>
              </a:lnSpc>
              <a:spcBef>
                <a:spcPts val="105"/>
              </a:spcBef>
              <a:buClr>
                <a:srgbClr val="93C500"/>
              </a:buClr>
              <a:buSzPct val="75000"/>
              <a:buFont typeface="Arial MT"/>
              <a:buChar char="•"/>
              <a:tabLst>
                <a:tab pos="355600" algn="l"/>
              </a:tabLst>
            </a:pPr>
            <a:r>
              <a:rPr lang="en-US" sz="2900" dirty="0" smtClean="0">
                <a:latin typeface="Times New Roman" pitchFamily="18" charset="0"/>
                <a:cs typeface="Times New Roman" pitchFamily="18" charset="0"/>
              </a:rPr>
              <a:t> • </a:t>
            </a:r>
            <a:r>
              <a:rPr lang="en-US" sz="2900" b="1" dirty="0" smtClean="0">
                <a:solidFill>
                  <a:srgbClr val="7030A0"/>
                </a:solidFill>
                <a:latin typeface="Times New Roman" pitchFamily="18" charset="0"/>
                <a:cs typeface="Times New Roman" pitchFamily="18" charset="0"/>
              </a:rPr>
              <a:t>People</a:t>
            </a:r>
            <a:r>
              <a:rPr lang="en-US" sz="2900" dirty="0" smtClean="0">
                <a:latin typeface="Times New Roman" pitchFamily="18" charset="0"/>
                <a:cs typeface="Times New Roman" pitchFamily="18" charset="0"/>
              </a:rPr>
              <a:t>. How many, what experience, what expertise? Should they be full-time, part-time, contract, students?</a:t>
            </a:r>
          </a:p>
          <a:p>
            <a:pPr marL="352425" marR="8255" indent="-339725" algn="just">
              <a:lnSpc>
                <a:spcPct val="100000"/>
              </a:lnSpc>
              <a:spcBef>
                <a:spcPts val="105"/>
              </a:spcBef>
              <a:buClr>
                <a:srgbClr val="93C500"/>
              </a:buClr>
              <a:buSzPct val="75000"/>
              <a:buFont typeface="Arial MT"/>
              <a:buChar char="•"/>
              <a:tabLst>
                <a:tab pos="355600" algn="l"/>
              </a:tabLst>
            </a:pPr>
            <a:r>
              <a:rPr lang="en-US" sz="2900" dirty="0" smtClean="0">
                <a:latin typeface="Times New Roman" pitchFamily="18" charset="0"/>
                <a:cs typeface="Times New Roman" pitchFamily="18" charset="0"/>
              </a:rPr>
              <a:t> • </a:t>
            </a:r>
            <a:r>
              <a:rPr lang="en-US" sz="2900" b="1" dirty="0">
                <a:solidFill>
                  <a:srgbClr val="7030A0"/>
                </a:solidFill>
                <a:latin typeface="Times New Roman" pitchFamily="18" charset="0"/>
                <a:cs typeface="Times New Roman" pitchFamily="18" charset="0"/>
              </a:rPr>
              <a:t>Equipment.</a:t>
            </a:r>
            <a:r>
              <a:rPr lang="en-US" sz="2900" dirty="0" smtClean="0">
                <a:latin typeface="Times New Roman" pitchFamily="18" charset="0"/>
                <a:cs typeface="Times New Roman" pitchFamily="18" charset="0"/>
              </a:rPr>
              <a:t> Computers, test hardware, printers, tools. • Office and lab space. Where will they be located? How big will they be? How will they be arranged? </a:t>
            </a:r>
          </a:p>
          <a:p>
            <a:pPr marL="352425" marR="8255" indent="-339725" algn="just">
              <a:lnSpc>
                <a:spcPct val="100000"/>
              </a:lnSpc>
              <a:spcBef>
                <a:spcPts val="105"/>
              </a:spcBef>
              <a:buClr>
                <a:srgbClr val="93C500"/>
              </a:buClr>
              <a:buSzPct val="75000"/>
              <a:buFont typeface="Arial MT"/>
              <a:buChar char="•"/>
              <a:tabLst>
                <a:tab pos="355600" algn="l"/>
              </a:tabLst>
            </a:pPr>
            <a:r>
              <a:rPr lang="en-US" sz="2900" dirty="0" smtClean="0">
                <a:latin typeface="Times New Roman" pitchFamily="18" charset="0"/>
                <a:cs typeface="Times New Roman" pitchFamily="18" charset="0"/>
              </a:rPr>
              <a:t>• </a:t>
            </a:r>
            <a:r>
              <a:rPr lang="en-US" sz="2900" b="1" dirty="0">
                <a:solidFill>
                  <a:srgbClr val="7030A0"/>
                </a:solidFill>
                <a:latin typeface="Times New Roman" pitchFamily="18" charset="0"/>
                <a:cs typeface="Times New Roman" pitchFamily="18" charset="0"/>
              </a:rPr>
              <a:t>Software</a:t>
            </a:r>
            <a:r>
              <a:rPr lang="en-US" sz="2900" dirty="0" smtClean="0">
                <a:latin typeface="Times New Roman" pitchFamily="18" charset="0"/>
                <a:cs typeface="Times New Roman" pitchFamily="18" charset="0"/>
              </a:rPr>
              <a:t>. Word processors, databases, custom tools. What will be purchased, what needs to be written? </a:t>
            </a:r>
            <a:endParaRPr sz="2900" dirty="0">
              <a:latin typeface="Times New Roman" pitchFamily="18" charset="0"/>
              <a:cs typeface="Times New Roman" pitchFamily="18" charset="0"/>
            </a:endParaRPr>
          </a:p>
        </p:txBody>
      </p:sp>
    </p:spTree>
    <p:extLst>
      <p:ext uri="{BB962C8B-B14F-4D97-AF65-F5344CB8AC3E}">
        <p14:creationId xmlns:p14="http://schemas.microsoft.com/office/powerpoint/2010/main" val="47821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300" y="-2667"/>
            <a:ext cx="9537700" cy="566822"/>
          </a:xfrm>
          <a:prstGeom prst="rect">
            <a:avLst/>
          </a:prstGeom>
        </p:spPr>
        <p:txBody>
          <a:bodyPr vert="horz" wrap="square" lIns="0" tIns="12700" rIns="0" bIns="0" rtlCol="0">
            <a:spAutoFit/>
          </a:bodyPr>
          <a:lstStyle/>
          <a:p>
            <a:pPr marL="352425" marR="8255" indent="-339725">
              <a:lnSpc>
                <a:spcPct val="100000"/>
              </a:lnSpc>
              <a:spcBef>
                <a:spcPts val="105"/>
              </a:spcBef>
              <a:tabLst>
                <a:tab pos="355600" algn="l"/>
              </a:tabLst>
            </a:pPr>
            <a:r>
              <a:rPr lang="en-US" sz="3600" b="1" dirty="0">
                <a:solidFill>
                  <a:srgbClr val="7030A0"/>
                </a:solidFill>
              </a:rPr>
              <a:t>Resource requirements</a:t>
            </a:r>
          </a:p>
        </p:txBody>
      </p:sp>
      <p:sp>
        <p:nvSpPr>
          <p:cNvPr id="3" name="object 3"/>
          <p:cNvSpPr txBox="1"/>
          <p:nvPr/>
        </p:nvSpPr>
        <p:spPr>
          <a:xfrm>
            <a:off x="368300" y="528904"/>
            <a:ext cx="9173845" cy="6946132"/>
          </a:xfrm>
          <a:prstGeom prst="rect">
            <a:avLst/>
          </a:prstGeom>
        </p:spPr>
        <p:txBody>
          <a:bodyPr vert="horz" wrap="square" lIns="0" tIns="13335" rIns="0" bIns="0" rtlCol="0">
            <a:spAutoFit/>
          </a:bodyPr>
          <a:lstStyle/>
          <a:p>
            <a:pPr marL="352425" marR="8255" indent="-339725" algn="just">
              <a:lnSpc>
                <a:spcPct val="100000"/>
              </a:lnSpc>
              <a:spcBef>
                <a:spcPts val="105"/>
              </a:spcBef>
              <a:buClr>
                <a:srgbClr val="93C500"/>
              </a:buClr>
              <a:buSzPct val="75000"/>
              <a:buFont typeface="Arial MT"/>
              <a:buChar char="•"/>
              <a:tabLst>
                <a:tab pos="355600" algn="l"/>
              </a:tabLst>
            </a:pPr>
            <a:r>
              <a:rPr lang="en-US" sz="3200" dirty="0" smtClean="0"/>
              <a:t>• </a:t>
            </a:r>
            <a:r>
              <a:rPr lang="en-US" sz="2900" b="1" dirty="0">
                <a:solidFill>
                  <a:srgbClr val="7030A0"/>
                </a:solidFill>
                <a:latin typeface="Times New Roman" pitchFamily="18" charset="0"/>
                <a:cs typeface="Times New Roman" pitchFamily="18" charset="0"/>
              </a:rPr>
              <a:t>Outsource companies</a:t>
            </a:r>
            <a:r>
              <a:rPr lang="en-US" sz="3200" dirty="0" smtClean="0">
                <a:latin typeface="Times New Roman" pitchFamily="18" charset="0"/>
                <a:cs typeface="Times New Roman" pitchFamily="18" charset="0"/>
              </a:rPr>
              <a:t>. Will they be used? What criteria will be used for choosing them? How much will they cost? </a:t>
            </a:r>
          </a:p>
          <a:p>
            <a:pPr marL="352425" marR="8255" indent="-339725" algn="just">
              <a:lnSpc>
                <a:spcPct val="100000"/>
              </a:lnSpc>
              <a:spcBef>
                <a:spcPts val="105"/>
              </a:spcBef>
              <a:buClr>
                <a:srgbClr val="93C500"/>
              </a:buClr>
              <a:buSzPct val="75000"/>
              <a:buFont typeface="Arial MT"/>
              <a:buChar char="•"/>
              <a:tabLst>
                <a:tab pos="355600" algn="l"/>
              </a:tabLst>
            </a:pPr>
            <a:r>
              <a:rPr lang="en-US" sz="3200" dirty="0" smtClean="0">
                <a:latin typeface="Times New Roman" pitchFamily="18" charset="0"/>
                <a:cs typeface="Times New Roman" pitchFamily="18" charset="0"/>
              </a:rPr>
              <a:t>• </a:t>
            </a:r>
            <a:r>
              <a:rPr lang="en-US" sz="2900" b="1" dirty="0">
                <a:solidFill>
                  <a:srgbClr val="7030A0"/>
                </a:solidFill>
                <a:latin typeface="Times New Roman" pitchFamily="18" charset="0"/>
                <a:cs typeface="Times New Roman" pitchFamily="18" charset="0"/>
              </a:rPr>
              <a:t>Miscellaneous supplies</a:t>
            </a:r>
            <a:r>
              <a:rPr lang="en-US" sz="3200" dirty="0" smtClean="0">
                <a:latin typeface="Times New Roman" pitchFamily="18" charset="0"/>
                <a:cs typeface="Times New Roman" pitchFamily="18" charset="0"/>
              </a:rPr>
              <a:t>. Disks, phones, reference books, training material. What else might be necessary over the course of the project? </a:t>
            </a:r>
          </a:p>
          <a:p>
            <a:pPr marL="352425" marR="8255" indent="-339725" algn="just">
              <a:lnSpc>
                <a:spcPct val="100000"/>
              </a:lnSpc>
              <a:spcBef>
                <a:spcPts val="105"/>
              </a:spcBef>
              <a:buClr>
                <a:srgbClr val="93C500"/>
              </a:buClr>
              <a:buSzPct val="75000"/>
              <a:buFont typeface="Arial MT"/>
              <a:buChar char="•"/>
              <a:tabLst>
                <a:tab pos="355600" algn="l"/>
              </a:tabLst>
            </a:pPr>
            <a:r>
              <a:rPr lang="en-US" sz="3200" dirty="0" smtClean="0">
                <a:latin typeface="Times New Roman" pitchFamily="18" charset="0"/>
                <a:cs typeface="Times New Roman" pitchFamily="18" charset="0"/>
              </a:rPr>
              <a:t>The specific resource requirements are very project-, team-, and company-dependent, so the test plan effort will need to carefully evaluate what will be needed to test the software. </a:t>
            </a:r>
          </a:p>
          <a:p>
            <a:pPr marL="352425" marR="8255" indent="-339725" algn="just">
              <a:lnSpc>
                <a:spcPct val="100000"/>
              </a:lnSpc>
              <a:spcBef>
                <a:spcPts val="105"/>
              </a:spcBef>
              <a:buClr>
                <a:srgbClr val="93C500"/>
              </a:buClr>
              <a:buSzPct val="75000"/>
              <a:buFont typeface="Arial MT"/>
              <a:buChar char="•"/>
              <a:tabLst>
                <a:tab pos="355600" algn="l"/>
              </a:tabLst>
            </a:pPr>
            <a:r>
              <a:rPr lang="en-US" sz="3200" dirty="0" smtClean="0">
                <a:latin typeface="Times New Roman" pitchFamily="18" charset="0"/>
                <a:cs typeface="Times New Roman" pitchFamily="18" charset="0"/>
              </a:rPr>
              <a:t>It’s often difficult or even impossible to obtain resources late in the project that weren’t budgeted for at the beginning, so it’s imperative to be thorough when creating the list. </a:t>
            </a:r>
            <a:endParaRPr sz="2400" dirty="0">
              <a:latin typeface="Times New Roman" pitchFamily="18" charset="0"/>
              <a:cs typeface="Times New Roman" pitchFamily="18" charset="0"/>
            </a:endParaRPr>
          </a:p>
        </p:txBody>
      </p:sp>
    </p:spTree>
    <p:extLst>
      <p:ext uri="{BB962C8B-B14F-4D97-AF65-F5344CB8AC3E}">
        <p14:creationId xmlns:p14="http://schemas.microsoft.com/office/powerpoint/2010/main" val="335352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8300" y="-2667"/>
            <a:ext cx="9537700" cy="459100"/>
          </a:xfrm>
          <a:prstGeom prst="rect">
            <a:avLst/>
          </a:prstGeom>
        </p:spPr>
        <p:txBody>
          <a:bodyPr vert="horz" wrap="square" lIns="0" tIns="12700" rIns="0" bIns="0" rtlCol="0">
            <a:spAutoFit/>
          </a:bodyPr>
          <a:lstStyle/>
          <a:p>
            <a:pPr marL="352425" marR="8255" indent="-339725">
              <a:lnSpc>
                <a:spcPct val="100000"/>
              </a:lnSpc>
              <a:spcBef>
                <a:spcPts val="105"/>
              </a:spcBef>
              <a:tabLst>
                <a:tab pos="355600" algn="l"/>
              </a:tabLst>
            </a:pPr>
            <a:r>
              <a:rPr lang="en-US" sz="2900" b="1" dirty="0">
                <a:solidFill>
                  <a:srgbClr val="7030A0"/>
                </a:solidFill>
                <a:latin typeface="Times New Roman" pitchFamily="18" charset="0"/>
                <a:cs typeface="Times New Roman" pitchFamily="18" charset="0"/>
              </a:rPr>
              <a:t>Tester Assignments</a:t>
            </a:r>
          </a:p>
        </p:txBody>
      </p:sp>
      <p:sp>
        <p:nvSpPr>
          <p:cNvPr id="3" name="object 3"/>
          <p:cNvSpPr txBox="1"/>
          <p:nvPr/>
        </p:nvSpPr>
        <p:spPr>
          <a:xfrm>
            <a:off x="368300" y="528904"/>
            <a:ext cx="9173845" cy="3978653"/>
          </a:xfrm>
          <a:prstGeom prst="rect">
            <a:avLst/>
          </a:prstGeom>
        </p:spPr>
        <p:txBody>
          <a:bodyPr vert="horz" wrap="square" lIns="0" tIns="13335" rIns="0" bIns="0" rtlCol="0">
            <a:spAutoFit/>
          </a:bodyPr>
          <a:lstStyle/>
          <a:p>
            <a:pPr marL="352425" marR="8255" indent="-339725" algn="just">
              <a:lnSpc>
                <a:spcPct val="100000"/>
              </a:lnSpc>
              <a:spcBef>
                <a:spcPts val="105"/>
              </a:spcBef>
              <a:buClr>
                <a:srgbClr val="93C500"/>
              </a:buClr>
              <a:buSzPct val="75000"/>
              <a:buFont typeface="Arial MT"/>
              <a:buChar char="•"/>
              <a:tabLst>
                <a:tab pos="355600" algn="l"/>
              </a:tabLst>
            </a:pPr>
            <a:r>
              <a:rPr lang="en-US" sz="3200" dirty="0" smtClean="0"/>
              <a:t>• </a:t>
            </a:r>
            <a:r>
              <a:rPr lang="en-US" sz="3200" dirty="0" smtClean="0">
                <a:latin typeface="Times New Roman" pitchFamily="18" charset="0"/>
                <a:cs typeface="Times New Roman" pitchFamily="18" charset="0"/>
              </a:rPr>
              <a:t>Once the test phases, test strategy, and resource requirements are defined, that information can be used with the product spec to break out the individual tester assignments.</a:t>
            </a:r>
          </a:p>
          <a:p>
            <a:pPr marL="352425" marR="8255" indent="-339725" algn="just">
              <a:lnSpc>
                <a:spcPct val="100000"/>
              </a:lnSpc>
              <a:spcBef>
                <a:spcPts val="105"/>
              </a:spcBef>
              <a:buClr>
                <a:srgbClr val="93C500"/>
              </a:buClr>
              <a:buSzPct val="75000"/>
              <a:buFont typeface="Arial MT"/>
              <a:buChar char="•"/>
              <a:tabLst>
                <a:tab pos="355600" algn="l"/>
              </a:tabLst>
            </a:pPr>
            <a:r>
              <a:rPr lang="en-US" sz="3200" dirty="0">
                <a:latin typeface="Times New Roman" pitchFamily="18" charset="0"/>
                <a:cs typeface="Times New Roman" pitchFamily="18" charset="0"/>
              </a:rPr>
              <a:t>Planning the tester assignments identifies the testers (this means you) responsible for each area of the software and for each testable feature</a:t>
            </a:r>
            <a:r>
              <a:rPr lang="en-US" sz="3200" dirty="0" smtClean="0">
                <a:latin typeface="Times New Roman" pitchFamily="18" charset="0"/>
                <a:cs typeface="Times New Roman" pitchFamily="18" charset="0"/>
              </a:rPr>
              <a:t>.</a:t>
            </a:r>
          </a:p>
          <a:p>
            <a:pPr marL="352425" marR="8255" indent="-339725" algn="just">
              <a:lnSpc>
                <a:spcPct val="100000"/>
              </a:lnSpc>
              <a:spcBef>
                <a:spcPts val="105"/>
              </a:spcBef>
              <a:buClr>
                <a:srgbClr val="93C500"/>
              </a:buClr>
              <a:buSzPct val="75000"/>
              <a:buFont typeface="Arial MT"/>
              <a:buChar char="•"/>
              <a:tabLst>
                <a:tab pos="355600" algn="l"/>
              </a:tabLst>
            </a:pPr>
            <a:endParaRPr sz="3200" dirty="0">
              <a:latin typeface="Times New Roman" pitchFamily="18" charset="0"/>
              <a:cs typeface="Times New Roman" pitchFamily="18" charset="0"/>
            </a:endParaRPr>
          </a:p>
        </p:txBody>
      </p:sp>
    </p:spTree>
    <p:extLst>
      <p:ext uri="{BB962C8B-B14F-4D97-AF65-F5344CB8AC3E}">
        <p14:creationId xmlns:p14="http://schemas.microsoft.com/office/powerpoint/2010/main" val="1109250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2275" y="533400"/>
            <a:ext cx="9537700" cy="459100"/>
          </a:xfrm>
          <a:prstGeom prst="rect">
            <a:avLst/>
          </a:prstGeom>
        </p:spPr>
        <p:txBody>
          <a:bodyPr vert="horz" wrap="square" lIns="0" tIns="12700" rIns="0" bIns="0" rtlCol="0">
            <a:spAutoFit/>
          </a:bodyPr>
          <a:lstStyle/>
          <a:p>
            <a:pPr marL="352425" marR="8255" indent="-339725">
              <a:lnSpc>
                <a:spcPct val="100000"/>
              </a:lnSpc>
              <a:spcBef>
                <a:spcPts val="105"/>
              </a:spcBef>
              <a:tabLst>
                <a:tab pos="355600" algn="l"/>
              </a:tabLst>
            </a:pPr>
            <a:r>
              <a:rPr lang="en-US" sz="2900" b="1" dirty="0" smtClean="0">
                <a:solidFill>
                  <a:srgbClr val="7030A0"/>
                </a:solidFill>
                <a:latin typeface="Times New Roman" pitchFamily="18" charset="0"/>
                <a:cs typeface="Times New Roman" pitchFamily="18" charset="0"/>
              </a:rPr>
              <a:t>Tester Assignments</a:t>
            </a:r>
            <a:endParaRPr lang="en-US" sz="2900" b="1" dirty="0">
              <a:solidFill>
                <a:srgbClr val="7030A0"/>
              </a:solidFill>
              <a:latin typeface="Times New Roman" pitchFamily="18" charset="0"/>
              <a:cs typeface="Times New Roman" pitchFamily="18" charset="0"/>
            </a:endParaRPr>
          </a:p>
        </p:txBody>
      </p:sp>
      <p:sp>
        <p:nvSpPr>
          <p:cNvPr id="3" name="object 3"/>
          <p:cNvSpPr txBox="1"/>
          <p:nvPr/>
        </p:nvSpPr>
        <p:spPr>
          <a:xfrm>
            <a:off x="387350" y="1219200"/>
            <a:ext cx="9173845" cy="3978653"/>
          </a:xfrm>
          <a:prstGeom prst="rect">
            <a:avLst/>
          </a:prstGeom>
        </p:spPr>
        <p:txBody>
          <a:bodyPr vert="horz" wrap="square" lIns="0" tIns="13335" rIns="0" bIns="0" rtlCol="0">
            <a:spAutoFit/>
          </a:bodyPr>
          <a:lstStyle/>
          <a:p>
            <a:pPr marL="352425" marR="8255" indent="-339725" algn="just">
              <a:lnSpc>
                <a:spcPct val="100000"/>
              </a:lnSpc>
              <a:spcBef>
                <a:spcPts val="105"/>
              </a:spcBef>
              <a:buClr>
                <a:srgbClr val="93C500"/>
              </a:buClr>
              <a:buSzPct val="75000"/>
              <a:buFont typeface="Arial MT"/>
              <a:buChar char="•"/>
              <a:tabLst>
                <a:tab pos="355600" algn="l"/>
              </a:tabLst>
            </a:pPr>
            <a:r>
              <a:rPr lang="en-US" sz="3200" dirty="0" smtClean="0"/>
              <a:t>• </a:t>
            </a:r>
            <a:r>
              <a:rPr lang="en-US" sz="3200" dirty="0" smtClean="0">
                <a:latin typeface="Times New Roman" pitchFamily="18" charset="0"/>
                <a:cs typeface="Times New Roman" pitchFamily="18" charset="0"/>
              </a:rPr>
              <a:t>Once the test phases, test strategy, and resource requirements are defined, that information can be used with the product spec to break out the individual tester assignments.</a:t>
            </a:r>
          </a:p>
          <a:p>
            <a:pPr marL="352425" marR="8255" indent="-339725" algn="just">
              <a:lnSpc>
                <a:spcPct val="100000"/>
              </a:lnSpc>
              <a:spcBef>
                <a:spcPts val="105"/>
              </a:spcBef>
              <a:buClr>
                <a:srgbClr val="93C500"/>
              </a:buClr>
              <a:buSzPct val="75000"/>
              <a:buFont typeface="Arial MT"/>
              <a:buChar char="•"/>
              <a:tabLst>
                <a:tab pos="355600" algn="l"/>
              </a:tabLst>
            </a:pPr>
            <a:r>
              <a:rPr lang="en-US" sz="3200" dirty="0">
                <a:latin typeface="Times New Roman" pitchFamily="18" charset="0"/>
                <a:cs typeface="Times New Roman" pitchFamily="18" charset="0"/>
              </a:rPr>
              <a:t>Planning the tester assignments identifies the testers (this means you) responsible for each area of the software and for each testable feature</a:t>
            </a:r>
            <a:r>
              <a:rPr lang="en-US" sz="3200" dirty="0" smtClean="0">
                <a:latin typeface="Times New Roman" pitchFamily="18" charset="0"/>
                <a:cs typeface="Times New Roman" pitchFamily="18" charset="0"/>
              </a:rPr>
              <a:t>.</a:t>
            </a:r>
          </a:p>
          <a:p>
            <a:pPr marL="352425" marR="8255" indent="-339725" algn="just">
              <a:lnSpc>
                <a:spcPct val="100000"/>
              </a:lnSpc>
              <a:spcBef>
                <a:spcPts val="105"/>
              </a:spcBef>
              <a:buClr>
                <a:srgbClr val="93C500"/>
              </a:buClr>
              <a:buSzPct val="75000"/>
              <a:buFont typeface="Arial MT"/>
              <a:buChar char="•"/>
              <a:tabLst>
                <a:tab pos="355600" algn="l"/>
              </a:tabLst>
            </a:pPr>
            <a:endParaRPr sz="3200" dirty="0">
              <a:latin typeface="Times New Roman" pitchFamily="18" charset="0"/>
              <a:cs typeface="Times New Roman" pitchFamily="18" charset="0"/>
            </a:endParaRPr>
          </a:p>
        </p:txBody>
      </p:sp>
    </p:spTree>
    <p:extLst>
      <p:ext uri="{BB962C8B-B14F-4D97-AF65-F5344CB8AC3E}">
        <p14:creationId xmlns:p14="http://schemas.microsoft.com/office/powerpoint/2010/main" val="4075763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844" y="424434"/>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Tester Assignments</a:t>
            </a:r>
            <a:endParaRPr sz="3200" dirty="0">
              <a:latin typeface="Tahoma"/>
              <a:cs typeface="Tahoma"/>
            </a:endParaRPr>
          </a:p>
        </p:txBody>
      </p:sp>
      <p:sp>
        <p:nvSpPr>
          <p:cNvPr id="3" name="object 3"/>
          <p:cNvSpPr txBox="1"/>
          <p:nvPr/>
        </p:nvSpPr>
        <p:spPr>
          <a:xfrm>
            <a:off x="980643" y="903858"/>
            <a:ext cx="8402320" cy="1133644"/>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Table shows a greatly simplified example of a tester assignments table for Windows WordPad.</a:t>
            </a: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Table: High-Level Tester Assignments for WordPad</a:t>
            </a:r>
            <a:endParaRPr sz="24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018" y="2133600"/>
            <a:ext cx="8044292" cy="268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object 3"/>
          <p:cNvSpPr txBox="1"/>
          <p:nvPr/>
        </p:nvSpPr>
        <p:spPr>
          <a:xfrm>
            <a:off x="933018" y="5029199"/>
            <a:ext cx="8402320" cy="2241639"/>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A real-world responsibilities table would go into much more detail to assure that every part of the software has someone assigned to test it. </a:t>
            </a: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Each tester would know exactly what they were responsible for and have enough information to go off and start designing test cases.</a:t>
            </a:r>
            <a:endParaRPr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5844" y="424434"/>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Test Schedule</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980643" y="903858"/>
            <a:ext cx="8402320" cy="4113947"/>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The test schedule takes all the information presented so far and maps it into the overall project schedule. </a:t>
            </a:r>
            <a:endParaRPr lang="en-US" sz="2400" dirty="0" smtClean="0">
              <a:latin typeface="Times New Roman" pitchFamily="18" charset="0"/>
              <a:cs typeface="Times New Roman" pitchFamily="18" charset="0"/>
            </a:endParaRP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stage is often critical in the test planning effort because a few highly desired features that were thought to be easy to design and code may turn out to be very time consuming to test</a:t>
            </a:r>
            <a:r>
              <a:rPr lang="en-US" sz="2400" dirty="0" smtClean="0">
                <a:latin typeface="Times New Roman" pitchFamily="18" charset="0"/>
                <a:cs typeface="Times New Roman" pitchFamily="18" charset="0"/>
              </a:rPr>
              <a:t>.</a:t>
            </a: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Completing a test schedule as part of test planning will provide the product team and project manager with the information needed to better schedule the overall project. </a:t>
            </a:r>
            <a:endParaRPr lang="en-US" sz="2400" dirty="0" smtClean="0">
              <a:latin typeface="Times New Roman" pitchFamily="18" charset="0"/>
              <a:cs typeface="Times New Roman" pitchFamily="18" charset="0"/>
            </a:endParaRP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They </a:t>
            </a:r>
            <a:r>
              <a:rPr lang="en-US" sz="2400" dirty="0">
                <a:latin typeface="Times New Roman" pitchFamily="18" charset="0"/>
                <a:cs typeface="Times New Roman" pitchFamily="18" charset="0"/>
              </a:rPr>
              <a:t>may even decide, based on the testing schedule, to cut certain features from the product or postpone them to a later release.</a:t>
            </a:r>
            <a:endParaRPr sz="2400" dirty="0">
              <a:latin typeface="Times New Roman" pitchFamily="18" charset="0"/>
              <a:cs typeface="Times New Roman" pitchFamily="18" charset="0"/>
            </a:endParaRPr>
          </a:p>
        </p:txBody>
      </p:sp>
    </p:spTree>
    <p:extLst>
      <p:ext uri="{BB962C8B-B14F-4D97-AF65-F5344CB8AC3E}">
        <p14:creationId xmlns:p14="http://schemas.microsoft.com/office/powerpoint/2010/main" val="792383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Test Schedule</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533400" y="685800"/>
            <a:ext cx="8991600" cy="3929281"/>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800" dirty="0" smtClean="0">
                <a:latin typeface="Times New Roman" pitchFamily="18" charset="0"/>
                <a:cs typeface="Times New Roman" pitchFamily="18" charset="0"/>
              </a:rPr>
              <a:t>The effect of this gradual increase is that the test schedule is increasingly influenced by what happens earlier in the project. </a:t>
            </a:r>
          </a:p>
          <a:p>
            <a:pPr marL="352425" marR="5080" indent="-340360" algn="just">
              <a:lnSpc>
                <a:spcPct val="100000"/>
              </a:lnSpc>
              <a:spcBef>
                <a:spcPts val="100"/>
              </a:spcBef>
              <a:buFont typeface="Arial MT"/>
              <a:buChar char="•"/>
              <a:tabLst>
                <a:tab pos="355600" algn="l"/>
              </a:tabLst>
            </a:pPr>
            <a:r>
              <a:rPr lang="en-US" sz="2800" dirty="0" smtClean="0">
                <a:latin typeface="Times New Roman" pitchFamily="18" charset="0"/>
                <a:cs typeface="Times New Roman" pitchFamily="18" charset="0"/>
              </a:rPr>
              <a:t>If some part of the project is delivered to the test group two weeks late and only three weeks were scheduled for testing, what happens?</a:t>
            </a:r>
          </a:p>
          <a:p>
            <a:pPr marL="352425" marR="5080" indent="-340360" algn="just">
              <a:lnSpc>
                <a:spcPct val="100000"/>
              </a:lnSpc>
              <a:spcBef>
                <a:spcPts val="100"/>
              </a:spcBef>
              <a:buFont typeface="Arial MT"/>
              <a:buChar char="•"/>
              <a:tabLst>
                <a:tab pos="355600" algn="l"/>
              </a:tabLst>
            </a:pPr>
            <a:r>
              <a:rPr lang="en-US" sz="2800" dirty="0" smtClean="0">
                <a:latin typeface="Times New Roman" pitchFamily="18" charset="0"/>
                <a:cs typeface="Times New Roman" pitchFamily="18" charset="0"/>
              </a:rPr>
              <a:t> Does the three weeks of testing now have to occur in only one week or does the project get delayed two weeks?</a:t>
            </a:r>
          </a:p>
          <a:p>
            <a:pPr marL="352425" marR="5080" indent="-340360" algn="just">
              <a:lnSpc>
                <a:spcPct val="100000"/>
              </a:lnSpc>
              <a:spcBef>
                <a:spcPts val="100"/>
              </a:spcBef>
              <a:buFont typeface="Arial MT"/>
              <a:buChar char="•"/>
              <a:tabLst>
                <a:tab pos="355600" algn="l"/>
              </a:tabLst>
            </a:pPr>
            <a:r>
              <a:rPr lang="en-US" sz="2800" dirty="0" smtClean="0">
                <a:latin typeface="Times New Roman" pitchFamily="18" charset="0"/>
                <a:cs typeface="Times New Roman" pitchFamily="18" charset="0"/>
              </a:rPr>
              <a:t> This problem is known as schedule crunch.</a:t>
            </a:r>
            <a:endParaRPr sz="2800" dirty="0">
              <a:latin typeface="Times New Roman" pitchFamily="18" charset="0"/>
              <a:cs typeface="Times New Roman" pitchFamily="18" charset="0"/>
            </a:endParaRPr>
          </a:p>
        </p:txBody>
      </p:sp>
    </p:spTree>
    <p:extLst>
      <p:ext uri="{BB962C8B-B14F-4D97-AF65-F5344CB8AC3E}">
        <p14:creationId xmlns:p14="http://schemas.microsoft.com/office/powerpoint/2010/main" val="1441558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575"/>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Test Schedule</a:t>
            </a:r>
            <a:endParaRPr sz="3200" b="1" dirty="0">
              <a:solidFill>
                <a:srgbClr val="7030A0"/>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609600"/>
            <a:ext cx="8610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 y="2764631"/>
            <a:ext cx="8515350" cy="224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838200" y="5410200"/>
            <a:ext cx="8420100" cy="646331"/>
          </a:xfrm>
          <a:prstGeom prst="rect">
            <a:avLst/>
          </a:prstGeom>
        </p:spPr>
        <p:txBody>
          <a:bodyPr wrap="square">
            <a:spAutoFit/>
          </a:bodyPr>
          <a:lstStyle/>
          <a:p>
            <a:r>
              <a:rPr lang="en-US" b="1" dirty="0" smtClean="0">
                <a:solidFill>
                  <a:srgbClr val="7030A0"/>
                </a:solidFill>
              </a:rPr>
              <a:t>Your project manager or test manager is ultimately responsible for the schedule.</a:t>
            </a:r>
            <a:endParaRPr lang="en-US" b="1" dirty="0">
              <a:solidFill>
                <a:srgbClr val="7030A0"/>
              </a:solidFill>
            </a:endParaRPr>
          </a:p>
        </p:txBody>
      </p:sp>
    </p:spTree>
    <p:extLst>
      <p:ext uri="{BB962C8B-B14F-4D97-AF65-F5344CB8AC3E}">
        <p14:creationId xmlns:p14="http://schemas.microsoft.com/office/powerpoint/2010/main" val="1558461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Test </a:t>
            </a:r>
            <a:r>
              <a:rPr lang="en-US" sz="3200" b="1" dirty="0" smtClean="0">
                <a:solidFill>
                  <a:srgbClr val="7030A0"/>
                </a:solidFill>
                <a:latin typeface="Times New Roman" pitchFamily="18" charset="0"/>
                <a:cs typeface="Times New Roman" pitchFamily="18" charset="0"/>
              </a:rPr>
              <a:t>Case</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533400" y="685800"/>
            <a:ext cx="8991600" cy="6445354"/>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A Test Case is a step-by-step guide used to check if a specific part of a software application works correctly as expected. It defines the actions to be taken, the required data, and the expected result to validate that a feature functions as per the requirements.</a:t>
            </a:r>
          </a:p>
          <a:p>
            <a:pPr marL="352425" marR="5080" indent="-340360" algn="just">
              <a:lnSpc>
                <a:spcPct val="100000"/>
              </a:lnSpc>
              <a:spcBef>
                <a:spcPts val="100"/>
              </a:spcBef>
              <a:buFont typeface="Arial MT"/>
              <a:buChar char="•"/>
              <a:tabLst>
                <a:tab pos="355600" algn="l"/>
              </a:tabLst>
            </a:pPr>
            <a:endParaRPr lang="en-US" sz="2400" dirty="0" smtClean="0">
              <a:latin typeface="Times New Roman" pitchFamily="18" charset="0"/>
              <a:cs typeface="Times New Roman" pitchFamily="18" charset="0"/>
            </a:endParaRPr>
          </a:p>
          <a:p>
            <a:pPr marL="352425" marR="5080" indent="-340360" algn="just">
              <a:lnSpc>
                <a:spcPct val="100000"/>
              </a:lnSpc>
              <a:spcBef>
                <a:spcPts val="100"/>
              </a:spcBef>
              <a:buFont typeface="Arial MT"/>
              <a:buChar char="•"/>
              <a:tabLst>
                <a:tab pos="355600" algn="l"/>
              </a:tabLst>
            </a:pPr>
            <a:r>
              <a:rPr lang="en-US" sz="2400" b="1" dirty="0" smtClean="0">
                <a:solidFill>
                  <a:schemeClr val="accent6">
                    <a:lumMod val="75000"/>
                  </a:schemeClr>
                </a:solidFill>
                <a:latin typeface="Times New Roman" pitchFamily="18" charset="0"/>
                <a:cs typeface="Times New Roman" pitchFamily="18" charset="0"/>
              </a:rPr>
              <a:t>Components:</a:t>
            </a:r>
          </a:p>
          <a:p>
            <a:pPr marL="352425" marR="5080" indent="-340360" algn="just">
              <a:lnSpc>
                <a:spcPct val="100000"/>
              </a:lnSpc>
              <a:spcBef>
                <a:spcPts val="100"/>
              </a:spcBef>
              <a:buFont typeface="Arial MT"/>
              <a:buChar char="•"/>
              <a:tabLst>
                <a:tab pos="355600" algn="l"/>
              </a:tabLst>
            </a:pPr>
            <a:endParaRPr lang="en-US" sz="2400" dirty="0" smtClean="0">
              <a:latin typeface="Times New Roman" pitchFamily="18" charset="0"/>
              <a:cs typeface="Times New Roman" pitchFamily="18" charset="0"/>
            </a:endParaRP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Test Case ID</a:t>
            </a:r>
            <a:r>
              <a:rPr lang="en-US" sz="2400" dirty="0" smtClean="0">
                <a:latin typeface="Times New Roman" pitchFamily="18" charset="0"/>
                <a:cs typeface="Times New Roman" pitchFamily="18" charset="0"/>
              </a:rPr>
              <a:t>: A unique name or number to identify the test case.</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Title/Description:</a:t>
            </a:r>
            <a:r>
              <a:rPr lang="en-US" sz="2400" dirty="0" smtClean="0">
                <a:latin typeface="Times New Roman" pitchFamily="18" charset="0"/>
                <a:cs typeface="Times New Roman" pitchFamily="18" charset="0"/>
              </a:rPr>
              <a:t> What the test case is meant to check.</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Preconditions:</a:t>
            </a:r>
            <a:r>
              <a:rPr lang="en-US" sz="2400" dirty="0" smtClean="0">
                <a:latin typeface="Times New Roman" pitchFamily="18" charset="0"/>
                <a:cs typeface="Times New Roman" pitchFamily="18" charset="0"/>
              </a:rPr>
              <a:t> What needs to be set up before running the test?</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Test Steps: </a:t>
            </a:r>
            <a:r>
              <a:rPr lang="en-US" sz="2400" dirty="0" smtClean="0">
                <a:latin typeface="Times New Roman" pitchFamily="18" charset="0"/>
                <a:cs typeface="Times New Roman" pitchFamily="18" charset="0"/>
              </a:rPr>
              <a:t>The actions to perform during the test.</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Test Data: </a:t>
            </a:r>
            <a:r>
              <a:rPr lang="en-US" sz="2400" dirty="0" smtClean="0">
                <a:latin typeface="Times New Roman" pitchFamily="18" charset="0"/>
                <a:cs typeface="Times New Roman" pitchFamily="18" charset="0"/>
              </a:rPr>
              <a:t>The specific information needed for the test.</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Expected Result:</a:t>
            </a:r>
            <a:r>
              <a:rPr lang="en-US" sz="2400" dirty="0" smtClean="0">
                <a:latin typeface="Times New Roman" pitchFamily="18" charset="0"/>
                <a:cs typeface="Times New Roman" pitchFamily="18" charset="0"/>
              </a:rPr>
              <a:t> What should happen if the software is working right?</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Actual Result:</a:t>
            </a:r>
            <a:r>
              <a:rPr lang="en-US" sz="2400" dirty="0" smtClean="0">
                <a:latin typeface="Times New Roman" pitchFamily="18" charset="0"/>
                <a:cs typeface="Times New Roman" pitchFamily="18" charset="0"/>
              </a:rPr>
              <a:t> What happens when the test is run.</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Status: </a:t>
            </a:r>
            <a:r>
              <a:rPr lang="en-US" sz="2400" dirty="0" smtClean="0">
                <a:latin typeface="Times New Roman" pitchFamily="18" charset="0"/>
                <a:cs typeface="Times New Roman" pitchFamily="18" charset="0"/>
              </a:rPr>
              <a:t>Whether the test passed or failed.</a:t>
            </a: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Post-conditions</a:t>
            </a:r>
            <a:r>
              <a:rPr lang="en-US" sz="2400" b="1" dirty="0">
                <a:solidFill>
                  <a:srgbClr val="7030A0"/>
                </a:solidFill>
                <a:latin typeface="Times New Roman" pitchFamily="18" charset="0"/>
                <a:cs typeface="Times New Roman" pitchFamily="18" charset="0"/>
              </a:rPr>
              <a:t>:</a:t>
            </a:r>
            <a:r>
              <a:rPr lang="en-US" sz="2400" dirty="0" smtClean="0">
                <a:latin typeface="Times New Roman" pitchFamily="18" charset="0"/>
                <a:cs typeface="Times New Roman" pitchFamily="18" charset="0"/>
              </a:rPr>
              <a:t> What should be true after the test.</a:t>
            </a:r>
            <a:endParaRPr sz="2400" dirty="0">
              <a:latin typeface="Times New Roman" pitchFamily="18" charset="0"/>
              <a:cs typeface="Times New Roman" pitchFamily="18" charset="0"/>
            </a:endParaRPr>
          </a:p>
        </p:txBody>
      </p:sp>
    </p:spTree>
    <p:extLst>
      <p:ext uri="{BB962C8B-B14F-4D97-AF65-F5344CB8AC3E}">
        <p14:creationId xmlns:p14="http://schemas.microsoft.com/office/powerpoint/2010/main" val="3565993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Test Case Format</a:t>
            </a:r>
            <a:endParaRPr sz="3200" b="1" dirty="0">
              <a:solidFill>
                <a:srgbClr val="7030A0"/>
              </a:solidFill>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685800"/>
            <a:ext cx="65532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2798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RTM</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533400" y="1143000"/>
            <a:ext cx="8991600" cy="4470455"/>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RTM stands for Requirement Traceability matrix. RTM maps all the requirements with the test cases.</a:t>
            </a: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 By using this document one can verify test cases cover all functionality of the application as per the requirements of the customer.</a:t>
            </a:r>
          </a:p>
          <a:p>
            <a:pPr marL="12065" marR="5080" algn="just">
              <a:lnSpc>
                <a:spcPct val="100000"/>
              </a:lnSpc>
              <a:spcBef>
                <a:spcPts val="100"/>
              </a:spcBef>
              <a:tabLst>
                <a:tab pos="355600" algn="l"/>
              </a:tabLst>
            </a:pPr>
            <a:endParaRPr lang="en-US" sz="2400" dirty="0" smtClean="0">
              <a:latin typeface="Times New Roman" pitchFamily="18" charset="0"/>
              <a:cs typeface="Times New Roman" pitchFamily="18" charset="0"/>
            </a:endParaRPr>
          </a:p>
          <a:p>
            <a:pPr marL="342900" indent="-342900" fontAlgn="base">
              <a:buFont typeface="Arial" pitchFamily="34" charset="0"/>
              <a:buChar char="•"/>
            </a:pPr>
            <a:r>
              <a:rPr lang="en-US" sz="2400" b="1" dirty="0">
                <a:solidFill>
                  <a:schemeClr val="accent6">
                    <a:lumMod val="75000"/>
                  </a:schemeClr>
                </a:solidFill>
                <a:latin typeface="Times New Roman" pitchFamily="18" charset="0"/>
                <a:cs typeface="Times New Roman" pitchFamily="18" charset="0"/>
              </a:rPr>
              <a:t>Requirements:</a:t>
            </a:r>
            <a:r>
              <a:rPr lang="en-US" sz="2400" dirty="0">
                <a:latin typeface="Times New Roman" pitchFamily="18" charset="0"/>
                <a:cs typeface="Times New Roman" pitchFamily="18" charset="0"/>
              </a:rPr>
              <a:t> Requirements of a particular project from the client. </a:t>
            </a:r>
          </a:p>
          <a:p>
            <a:pPr marL="342900" indent="-342900" fontAlgn="base">
              <a:buFont typeface="Arial" pitchFamily="34" charset="0"/>
              <a:buChar char="•"/>
            </a:pPr>
            <a:r>
              <a:rPr lang="en-US" sz="2400" b="1" dirty="0">
                <a:solidFill>
                  <a:schemeClr val="accent6">
                    <a:lumMod val="75000"/>
                  </a:schemeClr>
                </a:solidFill>
                <a:latin typeface="Times New Roman" pitchFamily="18" charset="0"/>
                <a:cs typeface="Times New Roman" pitchFamily="18" charset="0"/>
              </a:rPr>
              <a:t>Traceability:</a:t>
            </a:r>
            <a:r>
              <a:rPr lang="en-US" sz="2400" dirty="0">
                <a:latin typeface="Times New Roman" pitchFamily="18" charset="0"/>
                <a:cs typeface="Times New Roman" pitchFamily="18" charset="0"/>
              </a:rPr>
              <a:t> The ability to trace the tests.</a:t>
            </a:r>
          </a:p>
          <a:p>
            <a:pPr marL="342900" indent="-342900" fontAlgn="base">
              <a:buFont typeface="Arial" pitchFamily="34" charset="0"/>
              <a:buChar char="•"/>
            </a:pPr>
            <a:r>
              <a:rPr lang="en-US" sz="2400" b="1" dirty="0">
                <a:solidFill>
                  <a:schemeClr val="accent6">
                    <a:lumMod val="75000"/>
                  </a:schemeClr>
                </a:solidFill>
                <a:latin typeface="Times New Roman" pitchFamily="18" charset="0"/>
                <a:cs typeface="Times New Roman" pitchFamily="18" charset="0"/>
              </a:rPr>
              <a:t>Matrix: </a:t>
            </a:r>
            <a:r>
              <a:rPr lang="en-US" sz="2400" dirty="0">
                <a:latin typeface="Times New Roman" pitchFamily="18" charset="0"/>
                <a:cs typeface="Times New Roman" pitchFamily="18" charset="0"/>
              </a:rPr>
              <a:t>The data which can be stored in rows and columns form</a:t>
            </a:r>
            <a:r>
              <a:rPr lang="en-US" sz="2400" dirty="0" smtClean="0">
                <a:latin typeface="Times New Roman" pitchFamily="18" charset="0"/>
                <a:cs typeface="Times New Roman" pitchFamily="18" charset="0"/>
              </a:rPr>
              <a:t>.</a:t>
            </a:r>
          </a:p>
          <a:p>
            <a:pPr marL="342900" indent="-342900" algn="just" fontAlgn="base">
              <a:buFont typeface="Arial" pitchFamily="34" charset="0"/>
              <a:buChar char="•"/>
            </a:pPr>
            <a:r>
              <a:rPr lang="en-US" sz="2400" dirty="0">
                <a:latin typeface="Times New Roman" pitchFamily="18" charset="0"/>
                <a:cs typeface="Times New Roman" pitchFamily="18" charset="0"/>
              </a:rPr>
              <a:t>The main purpose of the requirement traceability matrix is to verify that the all requirements of clients are covered in the test cases designed by the testers.</a:t>
            </a:r>
          </a:p>
        </p:txBody>
      </p:sp>
    </p:spTree>
    <p:extLst>
      <p:ext uri="{BB962C8B-B14F-4D97-AF65-F5344CB8AC3E}">
        <p14:creationId xmlns:p14="http://schemas.microsoft.com/office/powerpoint/2010/main" val="1261307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RTM</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533400" y="1143000"/>
            <a:ext cx="8991600" cy="3362459"/>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A Traceability Matrix is a document that maps or rather traces the relationship between two baseline documents. </a:t>
            </a: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Here, one of the documents has the requirement specifications, whereas the other one has test cases.</a:t>
            </a:r>
          </a:p>
          <a:p>
            <a:pPr marL="352425" marR="5080" indent="-340360" algn="just">
              <a:lnSpc>
                <a:spcPct val="100000"/>
              </a:lnSpc>
              <a:spcBef>
                <a:spcPts val="100"/>
              </a:spcBef>
              <a:buFont typeface="Arial MT"/>
              <a:buChar char="•"/>
              <a:tabLst>
                <a:tab pos="355600" algn="l"/>
              </a:tabLst>
            </a:pPr>
            <a:r>
              <a:rPr lang="en-US" sz="240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The Traceability Matrix is an essential document used during the software development lifecycle of a product, and it ensures completeness and transparency of the underlying </a:t>
            </a:r>
            <a:r>
              <a:rPr lang="en-US" sz="2400" smtClean="0">
                <a:latin typeface="Times New Roman" pitchFamily="18" charset="0"/>
                <a:cs typeface="Times New Roman" pitchFamily="18" charset="0"/>
              </a:rPr>
              <a:t>product.</a:t>
            </a:r>
          </a:p>
          <a:p>
            <a:pPr marL="352425" marR="5080" indent="-340360" algn="just">
              <a:lnSpc>
                <a:spcPct val="100000"/>
              </a:lnSpc>
              <a:spcBef>
                <a:spcPts val="100"/>
              </a:spcBef>
              <a:buFont typeface="Arial MT"/>
              <a:buChar char="•"/>
              <a:tabLst>
                <a:tab pos="355600" algn="l"/>
              </a:tabLst>
            </a:pPr>
            <a:r>
              <a:rPr lang="en-US" sz="240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It is also called Cross Reference Matrix (CRM) or  Requirement Traceability Matrix (RTM).</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414059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304800"/>
            <a:ext cx="9525000" cy="708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0891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smtClean="0">
                <a:solidFill>
                  <a:srgbClr val="7030A0"/>
                </a:solidFill>
                <a:latin typeface="Times New Roman" pitchFamily="18" charset="0"/>
                <a:cs typeface="Times New Roman" pitchFamily="18" charset="0"/>
              </a:rPr>
              <a:t>Bug </a:t>
            </a:r>
            <a:r>
              <a:rPr lang="en-US" sz="3200" b="1" dirty="0">
                <a:solidFill>
                  <a:srgbClr val="7030A0"/>
                </a:solidFill>
                <a:latin typeface="Times New Roman" pitchFamily="18" charset="0"/>
                <a:cs typeface="Times New Roman" pitchFamily="18" charset="0"/>
              </a:rPr>
              <a:t>life cycle</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152400" y="609600"/>
            <a:ext cx="9448800" cy="6737742"/>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Mainly bug life cycle refers to its entire state, starting from a new defect detected to the closing off of that defect by the tester. Alternatively, it is also called a Bug Life Cycle.</a:t>
            </a: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1. New</a:t>
            </a: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When any new defect is identified by the tester, it falls in the 'New’ state. It is the first state of the Bug Life Cycle. The tester provides a proper Defect document to the Development team so that the development team can refer to Defect Document and can fix the bug accordingly.</a:t>
            </a: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2. Assigned</a:t>
            </a: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Defects that are in the status of 'New' will be approved and that newly identified defect is assigned to the development team for working on the defect and to resolve that. When the defect is assigned to the developer team the status of the bug changes to the 'Assigned' state.</a:t>
            </a: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3. Open</a:t>
            </a: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In this 'Open' state the defect is being addressed by the developer team and the developer team works on the defect for fixing the bug. Based on some specific reason if the developer team feels that the defect is not appropriate then it is transferred to either the 'Rejected' or 'Deferred' state.</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637043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smtClean="0">
                <a:solidFill>
                  <a:srgbClr val="7030A0"/>
                </a:solidFill>
                <a:latin typeface="Times New Roman" pitchFamily="18" charset="0"/>
                <a:cs typeface="Times New Roman" pitchFamily="18" charset="0"/>
              </a:rPr>
              <a:t>Bug </a:t>
            </a:r>
            <a:r>
              <a:rPr lang="en-US" sz="3200" b="1" dirty="0">
                <a:solidFill>
                  <a:srgbClr val="7030A0"/>
                </a:solidFill>
                <a:latin typeface="Times New Roman" pitchFamily="18" charset="0"/>
                <a:cs typeface="Times New Roman" pitchFamily="18" charset="0"/>
              </a:rPr>
              <a:t>life cycle</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152400" y="609600"/>
            <a:ext cx="9448800" cy="4508927"/>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4. Fixed</a:t>
            </a: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After necessary changes of codes or after fixing identified bug developer team marks the state as 'Fixed'.</a:t>
            </a: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5. Pending Retest</a:t>
            </a: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During the fixing of the defect is completed, the developer team passes the new code to the testing team for retesting. And the code/application is pending for retesting on the Tester side so the status is assigned as 'Pending Retest'.</a:t>
            </a: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6. Retest</a:t>
            </a: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At this stage, the tester starts work of retesting the defect to check whether the defect is fixed by the developer or not, and the status is marked as 'Retesting</a:t>
            </a:r>
            <a:r>
              <a:rPr lang="en-US" sz="2400" dirty="0" smtClean="0">
                <a:latin typeface="Times New Roman" pitchFamily="18" charset="0"/>
                <a:cs typeface="Times New Roman" pitchFamily="18" charset="0"/>
              </a:rPr>
              <a:t>'.</a:t>
            </a:r>
          </a:p>
        </p:txBody>
      </p:sp>
    </p:spTree>
    <p:extLst>
      <p:ext uri="{BB962C8B-B14F-4D97-AF65-F5344CB8AC3E}">
        <p14:creationId xmlns:p14="http://schemas.microsoft.com/office/powerpoint/2010/main" val="1664814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smtClean="0">
                <a:solidFill>
                  <a:srgbClr val="7030A0"/>
                </a:solidFill>
                <a:latin typeface="Times New Roman" pitchFamily="18" charset="0"/>
                <a:cs typeface="Times New Roman" pitchFamily="18" charset="0"/>
              </a:rPr>
              <a:t>Bug </a:t>
            </a:r>
            <a:r>
              <a:rPr lang="en-US" sz="3200" b="1" dirty="0">
                <a:solidFill>
                  <a:srgbClr val="7030A0"/>
                </a:solidFill>
                <a:latin typeface="Times New Roman" pitchFamily="18" charset="0"/>
                <a:cs typeface="Times New Roman" pitchFamily="18" charset="0"/>
              </a:rPr>
              <a:t>life cycle</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166048" y="914400"/>
            <a:ext cx="9448800" cy="6011902"/>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7. Reopen</a:t>
            </a: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After 'Retesting' if the tester team found that the bug continues like previously even after the developer team has fixed the bug, then the status of the bug is again changed to 'Reopened'. Once again bug goes to the 'Open' state and goes through the life cycle again. This means it goes for Re-fixing by the developer team.</a:t>
            </a:r>
          </a:p>
          <a:p>
            <a:pPr marL="352425" marR="5080" indent="-340360" algn="just">
              <a:lnSpc>
                <a:spcPct val="100000"/>
              </a:lnSpc>
              <a:spcBef>
                <a:spcPts val="100"/>
              </a:spcBef>
              <a:buFont typeface="Arial MT"/>
              <a:buChar char="•"/>
              <a:tabLst>
                <a:tab pos="355600" algn="l"/>
              </a:tabLst>
            </a:pPr>
            <a:endParaRPr lang="en-US" sz="2400" b="1" dirty="0" smtClean="0">
              <a:solidFill>
                <a:schemeClr val="tx1"/>
              </a:solidFill>
              <a:latin typeface="Times New Roman" pitchFamily="18" charset="0"/>
              <a:cs typeface="Times New Roman" pitchFamily="18" charset="0"/>
            </a:endParaRP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8. Verified</a:t>
            </a:r>
          </a:p>
          <a:p>
            <a:pPr marL="352425" marR="5080" indent="-340360" algn="just">
              <a:spcBef>
                <a:spcPts val="100"/>
              </a:spcBef>
              <a:buFont typeface="Arial MT"/>
              <a:buChar char="•"/>
              <a:tabLst>
                <a:tab pos="355600" algn="l"/>
              </a:tabLst>
            </a:pPr>
            <a:r>
              <a:rPr lang="en-US" sz="2400" dirty="0">
                <a:latin typeface="Times New Roman" pitchFamily="18" charset="0"/>
                <a:cs typeface="Times New Roman" pitchFamily="18" charset="0"/>
              </a:rPr>
              <a:t>The tester re-tests the bug after it got fixed by the developer team and if the tester does not find any kind of defect/bug then the bug is fixed and the status assigned is 'Verified'.</a:t>
            </a:r>
          </a:p>
          <a:p>
            <a:pPr marL="352425" marR="5080" indent="-340360" algn="just">
              <a:lnSpc>
                <a:spcPct val="100000"/>
              </a:lnSpc>
              <a:spcBef>
                <a:spcPts val="100"/>
              </a:spcBef>
              <a:buFont typeface="Arial MT"/>
              <a:buChar char="•"/>
              <a:tabLst>
                <a:tab pos="355600" algn="l"/>
              </a:tabLst>
            </a:pPr>
            <a:endParaRPr lang="en-US" sz="2400" b="1" dirty="0" smtClean="0">
              <a:solidFill>
                <a:srgbClr val="7030A0"/>
              </a:solidFill>
              <a:latin typeface="Times New Roman" pitchFamily="18" charset="0"/>
              <a:cs typeface="Times New Roman" pitchFamily="18" charset="0"/>
            </a:endParaRP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9. Closed</a:t>
            </a: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It is the final state of the Defect Cycle, after fixing the defect by the developer team when testing found that the bug has been resolved and it does not persist then they mark the defect as a 'Closed' state.</a:t>
            </a:r>
          </a:p>
        </p:txBody>
      </p:sp>
    </p:spTree>
    <p:extLst>
      <p:ext uri="{BB962C8B-B14F-4D97-AF65-F5344CB8AC3E}">
        <p14:creationId xmlns:p14="http://schemas.microsoft.com/office/powerpoint/2010/main" val="3711926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Bug Tracking System</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166048" y="914400"/>
            <a:ext cx="9448800" cy="4903907"/>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A bug tracking system is software that keeps track of bugs that the user encountered in any software development or in any project.</a:t>
            </a: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Bug tracking is the process of logging and monitoring bugs or errors during software testing. It is also referred to as defect tracking or issue tracking. Large systems could have hundreds or thousands of defects. Each needs to be evaluated, monitored and prioritized for debugging.</a:t>
            </a:r>
          </a:p>
          <a:p>
            <a:pPr marL="352425" marR="5080" indent="-340360" algn="just">
              <a:lnSpc>
                <a:spcPct val="100000"/>
              </a:lnSpc>
              <a:spcBef>
                <a:spcPts val="100"/>
              </a:spcBef>
              <a:buFont typeface="Arial MT"/>
              <a:buChar char="•"/>
              <a:tabLst>
                <a:tab pos="355600" algn="l"/>
              </a:tabLst>
            </a:pPr>
            <a:endParaRPr lang="en-US" sz="2400" dirty="0">
              <a:latin typeface="Times New Roman" pitchFamily="18" charset="0"/>
              <a:cs typeface="Times New Roman" pitchFamily="18" charset="0"/>
            </a:endParaRPr>
          </a:p>
          <a:p>
            <a:pPr marL="352425" marR="5080" indent="-340360" algn="just">
              <a:lnSpc>
                <a:spcPct val="100000"/>
              </a:lnSpc>
              <a:spcBef>
                <a:spcPts val="100"/>
              </a:spcBef>
              <a:buFont typeface="Arial MT"/>
              <a:buChar char="•"/>
              <a:tabLst>
                <a:tab pos="355600" algn="l"/>
              </a:tabLst>
            </a:pPr>
            <a:r>
              <a:rPr lang="en-US" sz="2400" b="1" dirty="0">
                <a:latin typeface="Times New Roman" pitchFamily="18" charset="0"/>
                <a:cs typeface="Times New Roman" pitchFamily="18" charset="0"/>
              </a:rPr>
              <a:t>The three main functionalities of the Bug Tracking system is:</a:t>
            </a:r>
          </a:p>
          <a:p>
            <a:pPr marL="352425" marR="5080" indent="-340360" algn="just">
              <a:lnSpc>
                <a:spcPct val="100000"/>
              </a:lnSpc>
              <a:spcBef>
                <a:spcPts val="100"/>
              </a:spcBef>
              <a:buFont typeface="Arial MT"/>
              <a:buChar char="•"/>
              <a:tabLst>
                <a:tab pos="355600" algn="l"/>
              </a:tabLst>
            </a:pPr>
            <a:endParaRPr lang="en-US" sz="2400" dirty="0">
              <a:latin typeface="Times New Roman" pitchFamily="18" charset="0"/>
              <a:cs typeface="Times New Roman" pitchFamily="18" charset="0"/>
            </a:endParaRP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Creating a new text file and writing the details entered by the user into the text file.</a:t>
            </a: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Option to change the status of the bug.</a:t>
            </a: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Report of specific bug file.</a:t>
            </a:r>
          </a:p>
        </p:txBody>
      </p:sp>
    </p:spTree>
    <p:extLst>
      <p:ext uri="{BB962C8B-B14F-4D97-AF65-F5344CB8AC3E}">
        <p14:creationId xmlns:p14="http://schemas.microsoft.com/office/powerpoint/2010/main" val="3132301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Bug Tracking System</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166048" y="914400"/>
            <a:ext cx="9448800" cy="3893374"/>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3200" b="1" dirty="0" smtClean="0">
                <a:solidFill>
                  <a:srgbClr val="7030A0"/>
                </a:solidFill>
                <a:latin typeface="Times New Roman" pitchFamily="18" charset="0"/>
                <a:cs typeface="Times New Roman" pitchFamily="18" charset="0"/>
              </a:rPr>
              <a:t>Test Incident Report</a:t>
            </a:r>
          </a:p>
          <a:p>
            <a:pPr marL="352425" marR="5080" indent="-340360" algn="just">
              <a:lnSpc>
                <a:spcPct val="100000"/>
              </a:lnSpc>
              <a:spcBef>
                <a:spcPts val="100"/>
              </a:spcBef>
              <a:buFont typeface="Arial MT"/>
              <a:buChar char="•"/>
              <a:tabLst>
                <a:tab pos="355600" algn="l"/>
              </a:tabLst>
            </a:pPr>
            <a:r>
              <a:rPr lang="en-US" sz="2400" dirty="0">
                <a:latin typeface="Times New Roman" pitchFamily="18" charset="0"/>
                <a:cs typeface="Times New Roman" pitchFamily="18" charset="0"/>
              </a:rPr>
              <a:t>A test incident report is a formal document detailing a deviation from the expected behavior of software during testing. </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Purpose</a:t>
            </a:r>
            <a:r>
              <a:rPr lang="en-US" sz="2400" dirty="0">
                <a:latin typeface="Times New Roman" pitchFamily="18" charset="0"/>
                <a:cs typeface="Times New Roman" pitchFamily="18" charset="0"/>
              </a:rPr>
              <a:t>: To communicate issues, log defects, and monitor their status throughout the development lifecycle. </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Content:</a:t>
            </a:r>
            <a:r>
              <a:rPr lang="en-US" sz="2400" dirty="0">
                <a:latin typeface="Times New Roman" pitchFamily="18" charset="0"/>
                <a:cs typeface="Times New Roman" pitchFamily="18" charset="0"/>
              </a:rPr>
              <a:t> Includes test case information, steps taken, expected and actual outcomes, environment details, and potentially screenshots or logs. </a:t>
            </a:r>
          </a:p>
          <a:p>
            <a:pPr marL="352425" marR="5080" indent="-340360" algn="just">
              <a:lnSpc>
                <a:spcPct val="100000"/>
              </a:lnSpc>
              <a:spcBef>
                <a:spcPts val="100"/>
              </a:spcBef>
              <a:buFont typeface="Arial MT"/>
              <a:buChar char="•"/>
              <a:tabLst>
                <a:tab pos="355600" algn="l"/>
              </a:tabLst>
            </a:pPr>
            <a:r>
              <a:rPr lang="en-US" sz="2400" b="1" dirty="0">
                <a:solidFill>
                  <a:srgbClr val="7030A0"/>
                </a:solidFill>
                <a:latin typeface="Times New Roman" pitchFamily="18" charset="0"/>
                <a:cs typeface="Times New Roman" pitchFamily="18" charset="0"/>
              </a:rPr>
              <a:t>Categorization:</a:t>
            </a:r>
            <a:r>
              <a:rPr lang="en-US" sz="2400" dirty="0">
                <a:latin typeface="Times New Roman" pitchFamily="18" charset="0"/>
                <a:cs typeface="Times New Roman" pitchFamily="18" charset="0"/>
              </a:rPr>
              <a:t> Bugs are often categorized by severity (impact on the system) and priority (urgency of the fix)</a:t>
            </a:r>
          </a:p>
          <a:p>
            <a:pPr marL="352425" marR="5080" indent="-340360" algn="just">
              <a:lnSpc>
                <a:spcPct val="100000"/>
              </a:lnSpc>
              <a:spcBef>
                <a:spcPts val="100"/>
              </a:spcBef>
              <a:buFont typeface="Arial MT"/>
              <a:buChar char="•"/>
              <a:tabLst>
                <a:tab pos="355600" algn="l"/>
              </a:tabLst>
            </a:pPr>
            <a:endParaRPr lang="en-US" sz="2400" b="1"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84967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394017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7030A0"/>
                </a:solidFill>
                <a:latin typeface="Times New Roman" pitchFamily="18" charset="0"/>
                <a:cs typeface="Times New Roman" pitchFamily="18" charset="0"/>
              </a:rPr>
              <a:t>Bug Tracking System</a:t>
            </a:r>
            <a:endParaRPr sz="3200" b="1" dirty="0">
              <a:solidFill>
                <a:srgbClr val="7030A0"/>
              </a:solidFill>
              <a:latin typeface="Times New Roman" pitchFamily="18" charset="0"/>
              <a:cs typeface="Times New Roman" pitchFamily="18" charset="0"/>
            </a:endParaRPr>
          </a:p>
        </p:txBody>
      </p:sp>
      <p:sp>
        <p:nvSpPr>
          <p:cNvPr id="3" name="object 3"/>
          <p:cNvSpPr txBox="1"/>
          <p:nvPr/>
        </p:nvSpPr>
        <p:spPr>
          <a:xfrm>
            <a:off x="166048" y="914400"/>
            <a:ext cx="9448800" cy="5357877"/>
          </a:xfrm>
          <a:prstGeom prst="rect">
            <a:avLst/>
          </a:prstGeom>
        </p:spPr>
        <p:txBody>
          <a:bodyPr vert="horz" wrap="square" lIns="0" tIns="12700" rIns="0" bIns="0" rtlCol="0">
            <a:spAutoFit/>
          </a:bodyPr>
          <a:lstStyle/>
          <a:p>
            <a:pPr marL="352425" marR="5080" indent="-340360" algn="just">
              <a:lnSpc>
                <a:spcPct val="100000"/>
              </a:lnSpc>
              <a:spcBef>
                <a:spcPts val="100"/>
              </a:spcBef>
              <a:buFont typeface="Arial MT"/>
              <a:buChar char="•"/>
              <a:tabLst>
                <a:tab pos="355600" algn="l"/>
              </a:tabLst>
            </a:pPr>
            <a:r>
              <a:rPr lang="en-US" sz="3200" b="1" dirty="0" smtClean="0">
                <a:solidFill>
                  <a:srgbClr val="7030A0"/>
                </a:solidFill>
                <a:latin typeface="Times New Roman" pitchFamily="18" charset="0"/>
                <a:cs typeface="Times New Roman" pitchFamily="18" charset="0"/>
              </a:rPr>
              <a:t>Manual Bug Reporting and Tracking.</a:t>
            </a:r>
          </a:p>
          <a:p>
            <a:pPr marL="352425" marR="5080" indent="-340360" algn="just">
              <a:lnSpc>
                <a:spcPct val="100000"/>
              </a:lnSpc>
              <a:spcBef>
                <a:spcPts val="100"/>
              </a:spcBef>
              <a:buFont typeface="Arial MT"/>
              <a:buChar char="•"/>
              <a:tabLst>
                <a:tab pos="355600" algn="l"/>
              </a:tabLst>
            </a:pPr>
            <a:r>
              <a:rPr lang="en-US" sz="2400" dirty="0" smtClean="0">
                <a:latin typeface="Times New Roman" pitchFamily="18" charset="0"/>
                <a:cs typeface="Times New Roman" pitchFamily="18" charset="0"/>
              </a:rPr>
              <a:t>This refers to the human-driven process of identifying, documenting, and monitoring software defects. </a:t>
            </a: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Reporting:</a:t>
            </a:r>
            <a:r>
              <a:rPr lang="en-US" sz="2400" dirty="0" smtClean="0">
                <a:latin typeface="Times New Roman" pitchFamily="18" charset="0"/>
                <a:cs typeface="Times New Roman" pitchFamily="18" charset="0"/>
              </a:rPr>
              <a:t> When a tester encounters a bug, they manually create an incident report, often using a template that includes fields for the bug's summary, detailed description, steps to reproduce, severity, and environment. </a:t>
            </a: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Tracking:</a:t>
            </a:r>
            <a:r>
              <a:rPr lang="en-US" sz="2400" dirty="0" smtClean="0">
                <a:latin typeface="Times New Roman" pitchFamily="18" charset="0"/>
                <a:cs typeface="Times New Roman" pitchFamily="18" charset="0"/>
              </a:rPr>
              <a:t> After a bug is reported, it's tracked from its initial discovery through its resolution. Testers often assign a unique ID to the report for tracking purposes and monitor its status (e.g., open, in progress, fixed, closed). </a:t>
            </a:r>
          </a:p>
          <a:p>
            <a:pPr marL="352425" marR="5080" indent="-340360" algn="just">
              <a:lnSpc>
                <a:spcPct val="100000"/>
              </a:lnSpc>
              <a:spcBef>
                <a:spcPts val="100"/>
              </a:spcBef>
              <a:buFont typeface="Arial MT"/>
              <a:buChar char="•"/>
              <a:tabLst>
                <a:tab pos="355600" algn="l"/>
              </a:tabLst>
            </a:pPr>
            <a:r>
              <a:rPr lang="en-US" sz="2400" b="1" dirty="0" smtClean="0">
                <a:solidFill>
                  <a:srgbClr val="7030A0"/>
                </a:solidFill>
                <a:latin typeface="Times New Roman" pitchFamily="18" charset="0"/>
                <a:cs typeface="Times New Roman" pitchFamily="18" charset="0"/>
              </a:rPr>
              <a:t>Importance:</a:t>
            </a:r>
            <a:r>
              <a:rPr lang="en-US" sz="2400" dirty="0" smtClean="0">
                <a:latin typeface="Times New Roman" pitchFamily="18" charset="0"/>
                <a:cs typeface="Times New Roman" pitchFamily="18" charset="0"/>
              </a:rPr>
              <a:t> It provides developers and other stakeholders with comprehensive insights into observed defects, facilitating effective problem-solving and ensuring all issues are addressed before release. </a:t>
            </a:r>
            <a:endParaRPr lang="en-US" sz="2400" b="1" dirty="0" smtClean="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69995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E682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585</TotalTime>
  <Words>2030</Words>
  <Application>Microsoft Office PowerPoint</Application>
  <PresentationFormat>Custom</PresentationFormat>
  <Paragraphs>131</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Test Planning, Documentation and Bug Reporting</vt:lpstr>
      <vt:lpstr>Test Plan</vt:lpstr>
      <vt:lpstr>PowerPoint Presentation</vt:lpstr>
      <vt:lpstr>Test Plan: Goal of the Test Planning</vt:lpstr>
      <vt:lpstr>Resource requirements</vt:lpstr>
      <vt:lpstr>Resource requirements</vt:lpstr>
      <vt:lpstr>Tester Assignments</vt:lpstr>
      <vt:lpstr>Tester Assignments</vt:lpstr>
      <vt:lpstr>Tester Assignments</vt:lpstr>
      <vt:lpstr>Test Schedule</vt:lpstr>
      <vt:lpstr>Test Schedule</vt:lpstr>
      <vt:lpstr>Test Schedule</vt:lpstr>
      <vt:lpstr>Test Case</vt:lpstr>
      <vt:lpstr>Test Case Format</vt:lpstr>
      <vt:lpstr>RTM</vt:lpstr>
      <vt:lpstr>RTM</vt:lpstr>
      <vt:lpstr>PowerPoint Presentation</vt:lpstr>
      <vt:lpstr>Bug life cycle</vt:lpstr>
      <vt:lpstr>Bug life cycle</vt:lpstr>
      <vt:lpstr>Bug life cycle</vt:lpstr>
      <vt:lpstr>Bug Tracking System</vt:lpstr>
      <vt:lpstr>Bug Tracking System</vt:lpstr>
      <vt:lpstr>Bug Tracking System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CH-2 [Compatibility Mode]</dc:title>
  <dc:creator>AdminHODCO</dc:creator>
  <cp:lastModifiedBy>User11</cp:lastModifiedBy>
  <cp:revision>32</cp:revision>
  <dcterms:created xsi:type="dcterms:W3CDTF">2025-09-16T05:18:48Z</dcterms:created>
  <dcterms:modified xsi:type="dcterms:W3CDTF">2025-10-03T06:04:07Z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2025-08-21T00:00:00Z</vt:filetime>
  </property>
  <property fmtid="{D5CDD505-2E9C-101B-9397-08002B2CF9AE}" pid="3" name="Creator">
    <vt:lpwstr>Microsoft® PowerPoint® 2010</vt:lpwstr>
  </property>
  <property fmtid="{D5CDD505-2E9C-101B-9397-08002B2CF9AE}" pid="4" name="LastSaved">
    <vt:filetime>2025-09-16T00:00:00Z</vt:filetime>
  </property>
  <property fmtid="{D5CDD505-2E9C-101B-9397-08002B2CF9AE}" pid="5" name="Producer">
    <vt:lpwstr>Microsoft® PowerPoint® 2010</vt:lpwstr>
  </property>
</Properties>
</file>